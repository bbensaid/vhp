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87187" y="982980"/>
            <a:ext cx="1417320" cy="14173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6FB8"/>
                </a:solidFill>
              </a:rPr>
              <a:t>POLICY:</a:t>
            </a:r>
          </a:p>
          <a:p>
            <a:pPr algn="ctr"/>
            <a:r>
              <a:rPr sz="1100">
                <a:solidFill>
                  <a:srgbClr val="1A1A1A"/>
                </a:solidFill>
              </a:rPr>
              <a:t>Is it permissible?</a:t>
            </a:r>
          </a:p>
        </p:txBody>
      </p:sp>
      <p:sp>
        <p:nvSpPr>
          <p:cNvPr id="3" name="Oval 2"/>
          <p:cNvSpPr/>
          <p:nvPr/>
        </p:nvSpPr>
        <p:spPr>
          <a:xfrm>
            <a:off x="7010569" y="1920240"/>
            <a:ext cx="1417320" cy="14173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8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88B1B"/>
                </a:solidFill>
              </a:rPr>
              <a:t>TECHNOLOGY:</a:t>
            </a:r>
          </a:p>
          <a:p>
            <a:pPr algn="ctr"/>
            <a:r>
              <a:rPr sz="1100">
                <a:solidFill>
                  <a:srgbClr val="1A1A1A"/>
                </a:solidFill>
              </a:rPr>
              <a:t>Is it possible?</a:t>
            </a:r>
          </a:p>
        </p:txBody>
      </p:sp>
      <p:sp>
        <p:nvSpPr>
          <p:cNvPr id="4" name="Oval 3"/>
          <p:cNvSpPr/>
          <p:nvPr/>
        </p:nvSpPr>
        <p:spPr>
          <a:xfrm>
            <a:off x="7010569" y="3794759"/>
            <a:ext cx="1417320" cy="14173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8E4E"/>
                </a:solidFill>
              </a:rPr>
              <a:t>ECONOMICS:</a:t>
            </a:r>
          </a:p>
          <a:p>
            <a:pPr algn="ctr"/>
            <a:r>
              <a:rPr sz="1100">
                <a:solidFill>
                  <a:srgbClr val="1A1A1A"/>
                </a:solidFill>
              </a:rPr>
              <a:t>Is it sustainable?</a:t>
            </a:r>
          </a:p>
        </p:txBody>
      </p:sp>
      <p:sp>
        <p:nvSpPr>
          <p:cNvPr id="5" name="Oval 4"/>
          <p:cNvSpPr/>
          <p:nvPr/>
        </p:nvSpPr>
        <p:spPr>
          <a:xfrm>
            <a:off x="5387187" y="4732019"/>
            <a:ext cx="1417320" cy="14173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A3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7A3EA8"/>
                </a:solidFill>
              </a:rPr>
              <a:t>CLINICAL:</a:t>
            </a:r>
          </a:p>
          <a:p>
            <a:pPr algn="ctr"/>
            <a:r>
              <a:rPr sz="1100">
                <a:solidFill>
                  <a:srgbClr val="1A1A1A"/>
                </a:solidFill>
              </a:rPr>
              <a:t>Is it effective?</a:t>
            </a:r>
          </a:p>
        </p:txBody>
      </p:sp>
      <p:sp>
        <p:nvSpPr>
          <p:cNvPr id="6" name="Oval 5"/>
          <p:cNvSpPr/>
          <p:nvPr/>
        </p:nvSpPr>
        <p:spPr>
          <a:xfrm>
            <a:off x="3763805" y="3794760"/>
            <a:ext cx="1417320" cy="14173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2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22E8F"/>
                </a:solidFill>
              </a:rPr>
              <a:t>EQUITY:</a:t>
            </a:r>
          </a:p>
          <a:p>
            <a:pPr algn="ctr"/>
            <a:r>
              <a:rPr sz="1100">
                <a:solidFill>
                  <a:srgbClr val="1A1A1A"/>
                </a:solidFill>
              </a:rPr>
              <a:t>Is it just?</a:t>
            </a:r>
          </a:p>
        </p:txBody>
      </p:sp>
      <p:sp>
        <p:nvSpPr>
          <p:cNvPr id="7" name="Oval 6"/>
          <p:cNvSpPr/>
          <p:nvPr/>
        </p:nvSpPr>
        <p:spPr>
          <a:xfrm>
            <a:off x="3763805" y="1920240"/>
            <a:ext cx="1417320" cy="14173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E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E1B2A"/>
                </a:solidFill>
              </a:rPr>
              <a:t>OPERATIONS:</a:t>
            </a:r>
          </a:p>
          <a:p>
            <a:pPr algn="ctr"/>
            <a:r>
              <a:rPr sz="1100">
                <a:solidFill>
                  <a:srgbClr val="1A1A1A"/>
                </a:solidFill>
              </a:rPr>
              <a:t>Is it executable?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68465" y="2337033"/>
            <a:ext cx="878146" cy="1520993"/>
          </a:xfrm>
          <a:prstGeom prst="line">
            <a:avLst/>
          </a:prstGeom>
          <a:ln w="28575">
            <a:solidFill>
              <a:srgbClr val="1F6F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1F6FB8"/>
                </a:solidFill>
              </a:rPr>
              <a:t>Enables mandatory authority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Policy → Economics</a:t>
            </a:r>
          </a:p>
        </p:txBody>
      </p:cxnSp>
      <p:cxnSp>
        <p:nvCxnSpPr>
          <p:cNvPr id="9" name="Connector 8"/>
          <p:cNvCxnSpPr/>
          <p:nvPr/>
        </p:nvCxnSpPr>
        <p:spPr>
          <a:xfrm flipH="1">
            <a:off x="4718380" y="2263881"/>
            <a:ext cx="878146" cy="1520993"/>
          </a:xfrm>
          <a:prstGeom prst="line">
            <a:avLst/>
          </a:prstGeom>
          <a:ln w="28575">
            <a:solidFill>
              <a:srgbClr val="1F6F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1F6FB8"/>
                </a:solidFill>
              </a:rPr>
              <a:t>Enables accountability mandates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Policy → Equity</a:t>
            </a:r>
          </a:p>
        </p:txBody>
      </p:cxnSp>
      <p:cxnSp>
        <p:nvCxnSpPr>
          <p:cNvPr id="10" name="Connector 9"/>
          <p:cNvCxnSpPr/>
          <p:nvPr/>
        </p:nvCxnSpPr>
        <p:spPr>
          <a:xfrm flipH="1">
            <a:off x="5044706" y="1937555"/>
            <a:ext cx="332596" cy="192024"/>
          </a:xfrm>
          <a:prstGeom prst="line">
            <a:avLst/>
          </a:prstGeom>
          <a:ln w="28575">
            <a:solidFill>
              <a:srgbClr val="1F6F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1F6FB8"/>
                </a:solidFill>
              </a:rPr>
              <a:t>Requires statutory deadlines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Policy → Operations</a:t>
            </a:r>
          </a:p>
        </p:txBody>
      </p:cxnSp>
      <p:cxnSp>
        <p:nvCxnSpPr>
          <p:cNvPr id="11" name="Connector 10"/>
          <p:cNvCxnSpPr/>
          <p:nvPr/>
        </p:nvCxnSpPr>
        <p:spPr>
          <a:xfrm>
            <a:off x="7572925" y="3374136"/>
            <a:ext cx="0" cy="384047"/>
          </a:xfrm>
          <a:prstGeom prst="line">
            <a:avLst/>
          </a:prstGeom>
          <a:ln w="28575">
            <a:solidFill>
              <a:srgbClr val="E88B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E88B1B"/>
                </a:solidFill>
              </a:rPr>
              <a:t>Enables VBC financial management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Technology → Economics</a:t>
            </a:r>
          </a:p>
        </p:txBody>
      </p:cxnSp>
      <p:cxnSp>
        <p:nvCxnSpPr>
          <p:cNvPr id="12" name="Connector 11"/>
          <p:cNvCxnSpPr/>
          <p:nvPr/>
        </p:nvCxnSpPr>
        <p:spPr>
          <a:xfrm flipH="1">
            <a:off x="6468465" y="3274293"/>
            <a:ext cx="878146" cy="1520993"/>
          </a:xfrm>
          <a:prstGeom prst="line">
            <a:avLst/>
          </a:prstGeom>
          <a:ln w="28575">
            <a:solidFill>
              <a:srgbClr val="E88B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E88B1B"/>
                </a:solidFill>
              </a:rPr>
              <a:t>Enables risk stratification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Technology → Clinical</a:t>
            </a:r>
          </a:p>
        </p:txBody>
      </p:cxnSp>
      <p:cxnSp>
        <p:nvCxnSpPr>
          <p:cNvPr id="13" name="Connector 12"/>
          <p:cNvCxnSpPr/>
          <p:nvPr/>
        </p:nvCxnSpPr>
        <p:spPr>
          <a:xfrm flipH="1">
            <a:off x="5117858" y="3001518"/>
            <a:ext cx="1955978" cy="1129284"/>
          </a:xfrm>
          <a:prstGeom prst="line">
            <a:avLst/>
          </a:prstGeom>
          <a:ln w="28575">
            <a:solidFill>
              <a:srgbClr val="E88B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E88B1B"/>
                </a:solidFill>
              </a:rPr>
              <a:t>Enables demographic stratification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Technology → Equity</a:t>
            </a:r>
          </a:p>
        </p:txBody>
      </p:cxnSp>
      <p:cxnSp>
        <p:nvCxnSpPr>
          <p:cNvPr id="14" name="Connector 13"/>
          <p:cNvCxnSpPr/>
          <p:nvPr/>
        </p:nvCxnSpPr>
        <p:spPr>
          <a:xfrm flipV="1">
            <a:off x="7572925" y="3374136"/>
            <a:ext cx="0" cy="384047"/>
          </a:xfrm>
          <a:prstGeom prst="line">
            <a:avLst/>
          </a:prstGeom>
          <a:ln w="28575">
            <a:solidFill>
              <a:srgbClr val="1E8E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1E8E4E"/>
                </a:solidFill>
              </a:rPr>
              <a:t>Requires data infrastructure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Economics → Technology</a:t>
            </a:r>
          </a:p>
        </p:txBody>
      </p:cxnSp>
      <p:cxnSp>
        <p:nvCxnSpPr>
          <p:cNvPr id="15" name="Connector 14"/>
          <p:cNvCxnSpPr/>
          <p:nvPr/>
        </p:nvCxnSpPr>
        <p:spPr>
          <a:xfrm flipH="1">
            <a:off x="6741240" y="4876037"/>
            <a:ext cx="332596" cy="192025"/>
          </a:xfrm>
          <a:prstGeom prst="line">
            <a:avLst/>
          </a:prstGeom>
          <a:ln w="28575">
            <a:solidFill>
              <a:srgbClr val="1E8E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1E8E4E"/>
                </a:solidFill>
              </a:rPr>
              <a:t>Drives financial rationality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Economics → Clinical</a:t>
            </a:r>
          </a:p>
        </p:txBody>
      </p:cxnSp>
      <p:cxnSp>
        <p:nvCxnSpPr>
          <p:cNvPr id="16" name="Connector 15"/>
          <p:cNvCxnSpPr/>
          <p:nvPr/>
        </p:nvCxnSpPr>
        <p:spPr>
          <a:xfrm flipH="1">
            <a:off x="5217701" y="4503420"/>
            <a:ext cx="1756292" cy="0"/>
          </a:xfrm>
          <a:prstGeom prst="line">
            <a:avLst/>
          </a:prstGeom>
          <a:ln w="28575">
            <a:solidFill>
              <a:srgbClr val="1E8E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1E8E4E"/>
                </a:solidFill>
              </a:rPr>
              <a:t>Requires social risk adjustment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Economics → Equity</a:t>
            </a:r>
          </a:p>
        </p:txBody>
      </p:cxnSp>
      <p:cxnSp>
        <p:nvCxnSpPr>
          <p:cNvPr id="17" name="Connector 16"/>
          <p:cNvCxnSpPr/>
          <p:nvPr/>
        </p:nvCxnSpPr>
        <p:spPr>
          <a:xfrm flipH="1" flipV="1">
            <a:off x="5191010" y="4749335"/>
            <a:ext cx="332596" cy="192024"/>
          </a:xfrm>
          <a:prstGeom prst="line">
            <a:avLst/>
          </a:prstGeom>
          <a:ln w="28575">
            <a:solidFill>
              <a:srgbClr val="7A3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7A3EA8"/>
                </a:solidFill>
              </a:rPr>
              <a:t>Enables access expansion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Clinical → Equity</a:t>
            </a:r>
          </a:p>
        </p:txBody>
      </p:cxnSp>
      <p:cxnSp>
        <p:nvCxnSpPr>
          <p:cNvPr id="18" name="Connector 17"/>
          <p:cNvCxnSpPr/>
          <p:nvPr/>
        </p:nvCxnSpPr>
        <p:spPr>
          <a:xfrm flipH="1" flipV="1">
            <a:off x="4845083" y="3274293"/>
            <a:ext cx="878146" cy="1520993"/>
          </a:xfrm>
          <a:prstGeom prst="line">
            <a:avLst/>
          </a:prstGeom>
          <a:ln w="28575">
            <a:solidFill>
              <a:srgbClr val="7A3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7A3EA8"/>
                </a:solidFill>
              </a:rPr>
              <a:t>Requires execution infrastructure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Clinical → Operations</a:t>
            </a:r>
          </a:p>
        </p:txBody>
      </p:cxnSp>
      <p:cxnSp>
        <p:nvCxnSpPr>
          <p:cNvPr id="19" name="Connector 18"/>
          <p:cNvCxnSpPr/>
          <p:nvPr/>
        </p:nvCxnSpPr>
        <p:spPr>
          <a:xfrm flipV="1">
            <a:off x="4718380" y="2263881"/>
            <a:ext cx="878146" cy="1520993"/>
          </a:xfrm>
          <a:prstGeom prst="line">
            <a:avLst/>
          </a:prstGeom>
          <a:ln w="28575">
            <a:solidFill>
              <a:srgbClr val="C22E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C22E8F"/>
                </a:solidFill>
              </a:rPr>
              <a:t>Constrains with justice reviews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Equity → Policy</a:t>
            </a:r>
          </a:p>
        </p:txBody>
      </p:cxnSp>
      <p:cxnSp>
        <p:nvCxnSpPr>
          <p:cNvPr id="20" name="Connector 19"/>
          <p:cNvCxnSpPr/>
          <p:nvPr/>
        </p:nvCxnSpPr>
        <p:spPr>
          <a:xfrm>
            <a:off x="5191010" y="4749335"/>
            <a:ext cx="332596" cy="192024"/>
          </a:xfrm>
          <a:prstGeom prst="line">
            <a:avLst/>
          </a:prstGeom>
          <a:ln w="28575">
            <a:solidFill>
              <a:srgbClr val="C22E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C22E8F"/>
                </a:solidFill>
              </a:rPr>
              <a:t>Constrains with cultural competency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Equity → Clinical</a:t>
            </a:r>
          </a:p>
        </p:txBody>
      </p:cxnSp>
      <p:cxnSp>
        <p:nvCxnSpPr>
          <p:cNvPr id="21" name="Connector 20"/>
          <p:cNvCxnSpPr/>
          <p:nvPr/>
        </p:nvCxnSpPr>
        <p:spPr>
          <a:xfrm flipV="1">
            <a:off x="5044706" y="1937555"/>
            <a:ext cx="332596" cy="192024"/>
          </a:xfrm>
          <a:prstGeom prst="line">
            <a:avLst/>
          </a:prstGeom>
          <a:ln w="28575">
            <a:solidFill>
              <a:srgbClr val="8E1B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8E1B2A"/>
                </a:solidFill>
              </a:rPr>
              <a:t>Enables data feedback loops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Operations → Policy</a:t>
            </a:r>
          </a:p>
        </p:txBody>
      </p:cxnSp>
      <p:cxnSp>
        <p:nvCxnSpPr>
          <p:cNvPr id="22" name="Connector 21"/>
          <p:cNvCxnSpPr/>
          <p:nvPr/>
        </p:nvCxnSpPr>
        <p:spPr>
          <a:xfrm>
            <a:off x="5217701" y="2628900"/>
            <a:ext cx="1756292" cy="0"/>
          </a:xfrm>
          <a:prstGeom prst="line">
            <a:avLst/>
          </a:prstGeom>
          <a:ln w="28575">
            <a:solidFill>
              <a:srgbClr val="8E1B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/>
            <a:r>
              <a:rPr sz="850" b="1">
                <a:solidFill>
                  <a:srgbClr val="8E1B2A"/>
                </a:solidFill>
              </a:rPr>
              <a:t>Requires workforce to run infrastructure</a:t>
            </a:r>
          </a:p>
          <a:p>
            <a:pPr algn="ctr"/>
            <a:r>
              <a:rPr sz="700">
                <a:solidFill>
                  <a:srgbClr val="707884"/>
                </a:solidFill>
              </a:rPr>
              <a:t>Operations → Technology</a:t>
            </a:r>
          </a:p>
        </p:txBody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