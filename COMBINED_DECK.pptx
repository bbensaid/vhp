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0F2850"/>
                </a:solidFill>
              </a:rPr>
              <a:t>24 Appendix Tools by Platform Section</a:t>
            </a:r>
          </a:p>
        </c:rich>
      </c:tx>
      <c:layout/>
      <c:overlay val="0"/>
    </c:title>
    <c:autoTitleDeleted val="0"/>
    <c:plotArea>
      <c:barChart>
        <c:barDir val="col"/>
        <c:grouping val="clustered"/>
        <c:ser>
          <c:idx val="0"/>
          <c:order val="0"/>
          <c:tx>
            <c:strRef>
              <c:f>Sheet1!$B$1</c:f>
              <c:strCache>
                <c:ptCount val="1"/>
                <c:pt idx="0">
                  <c:v/>
                </c:pt>
              </c:strCache>
            </c:strRef>
          </c:tx>
          <c:dPt>
            <c:idx val="0"/>
            <c:spPr>
              <a:solidFill>
                <a:srgbClr val="10B981"/>
              </a:solidFill>
            </c:spPr>
          </c:dPt>
          <c:dPt>
            <c:idx val="1"/>
            <c:spPr>
              <a:solidFill>
                <a:srgbClr val="0EA5E9"/>
              </a:solidFill>
            </c:spPr>
          </c:dPt>
          <c:dPt>
            <c:idx val="2"/>
            <c:spPr>
              <a:solidFill>
                <a:srgbClr val="DC3232"/>
              </a:solidFill>
            </c:spPr>
          </c:dPt>
          <c:dPt>
            <c:idx val="3"/>
            <c:spPr>
              <a:solidFill>
                <a:srgbClr val="6366F1"/>
              </a:solidFill>
            </c:spPr>
          </c:dPt>
          <c:dPt>
            <c:idx val="4"/>
            <c:spPr>
              <a:solidFill>
                <a:srgbClr val="8B5CF6"/>
              </a:solidFill>
            </c:spPr>
          </c:dPt>
          <c:dPt>
            <c:idx val="5"/>
            <c:spPr>
              <a:solidFill>
                <a:srgbClr val="14B8A6"/>
              </a:solidFill>
            </c:spPr>
          </c:dPt>
          <c:dPt>
            <c:idx val="6"/>
            <c:spPr>
              <a:solidFill>
                <a:srgbClr val="0F2850"/>
              </a:solidFill>
            </c:spPr>
          </c:dPt>
          <c:cat>
            <c:strRef>
              <c:f>Sheet1!$A$2:$A$8</c:f>
              <c:strCache>
                <c:ptCount val="7"/>
                <c:pt idx="0">
                  <c:v>Payment Models</c:v>
                </c:pt>
                <c:pt idx="1">
                  <c:v>Policy &amp; Quality</c:v>
                </c:pt>
                <c:pt idx="2">
                  <c:v>VBC Clinical</c:v>
                </c:pt>
                <c:pt idx="3">
                  <c:v>Technology AI</c:v>
                </c:pt>
                <c:pt idx="4">
                  <c:v>Population Equity</c:v>
                </c:pt>
                <c:pt idx="5">
                  <c:v>Knowledge Workspace</c:v>
                </c:pt>
                <c:pt idx="6">
                  <c:v>Interoperability</c:v>
                </c:pt>
              </c:strCache>
            </c:strRef>
          </c:cat>
          <c:val>
            <c:numRef>
              <c:f>Sheet1!$B$2:$B$8</c:f>
              <c:numCache>
                <c:formatCode>General</c:formatCode>
                <c:ptCount val="7"/>
                <c:pt idx="0">
                  <c:v>5.0</c:v>
                </c:pt>
                <c:pt idx="1">
                  <c:v>4.0</c:v>
                </c:pt>
                <c:pt idx="2">
                  <c:v>5.0</c:v>
                </c:pt>
                <c:pt idx="3">
                  <c:v>4.0</c:v>
                </c:pt>
                <c:pt idx="4">
                  <c:v>3.0</c:v>
                </c:pt>
                <c:pt idx="5">
                  <c:v>2.0</c:v>
                </c:pt>
                <c:pt idx="6">
                  <c:v>1.0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HTR is built as a **system**, not a website or a book. This deck is the user manual for the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HTR system is a closed loop: framework + currency + connections. Policy → Technology → Economics → Clinical → Equity → Operations: that sequence is itself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they form a closed loop: read → test → question → read again. Technology before Economics: you cannot model a global budget without understanding the data infrastructure underneath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sits at the top. Book and platform are parallel expressions of it. Appendix G is the explicit connector.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tool lives in a Research Lab section. Tools E.20–E.24 are the newest: HTR Simulator, Transformation Friction Index, Investment Tracker, HTI Dashboard, Medicaid Eligibility Simulator.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is wrong. Most readers oscillate between all three. The system is designed to support any entry point. Technology comes before Economics because data infrastructure must exist before payment reform is measurable.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the book (Appendix G) and the platform `/book` page recommend a tailored entry path for each profile.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platform's pillar accent colors are deliberate — they match the book's section dividers and are applied consistently throughout the 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pillars, fifteen pairwise dependencies (6 × 5 ÷ 2). Book: Chapter 1 + Appendix B. Platform: `/about/framework` — an interactive dependency 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 the Simulator together replaces a semester of theoretical health policy in one afternoon. The dependency map is not decorative — it is predictive.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argues sequencing is causal, not preferential. Doing Economics before Technology is why OneCare failed — you cannot price what you cannot measure. The simulation makes that argument tactile.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chapter; then run a policy scenario through the simulator. Pick a real Vermont bill — the analysis transfers directly to any state with similar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H.R. 1 cliff scenario on your state's eligibility numbers — the chapter argument becomes a concrete budget memo in under an hour.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is dense — the FHIR Lab makes the abstract interoperability stack concrete. Technology comes before Economics because you cannot measure payment reform without data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AI Governance Lab to score an AI vendor against the lifecycle. The book's abstract framework becomes a procurement scorecard.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Budget Modeler is the book chapter's primary tool. Set up a Vermont hospital under Act 68 and watch the revenue regime shift.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VBC Readiness Assessment for your organization; then walk through Appendix D with your legal and finance teams.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 the VCCI Lab + the VCCI page is the most integrated book-platform pairing in the system. The SASH and DA sections are newly added in v28.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VCCI's four-tier model is Vermont's most operationally consequential clinical algorithm. The platform's VCCI Lab lets you walk synthetic patients through all four tiers interactively.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VBC Quality Measures lab to walk through a HEDIS rate side-by-side with the chapter's HEDIS strategy section.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Equity Studio operationalizes the chapter's SDOH framework — bring real population data, model stratified outcomes, calculate HEROI.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HEROI is the book's most-cited new metric. The platform is the only place you can calculate one. Pair with the VCCI Risk Stratification Lab to add the SDOH overlay to a real patient cohort.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Transformation Scorecard makes every operational dimension in Chapter 14 self-assessable in under 2 hours.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Vermont hospital from the dashboard. Walk it through the 30 levers. Use the financial stress test to estimate the impact of each lever gap. One afternoon of platform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is the program design. The Academy is the curriculum. The Library is the reading list. The Community is the cohort.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chapter with the HTI Dashboard open. The framework becomes a data-driven argument. No single state has solved transformation — the convergence of all three is the horizon.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is the most "soft" chapter. Read it with the legislative archive open — every abstract argument has a Vermont concrete instance.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Friction Index is the most underused tool in the platform. Chapter 19 explains why friction is structural not behavioral — the index makes that visible.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is written at the people who run Vermont's Vermont pages. If you are at AHS or GMCB this is your chapter and the platform is your instrument.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chapters × 1 week = a 5-month structured curriculum. The AI Analyst on Friday closes the loop across all chapters covered.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supports student-grade rigor without requiring local statistical infrastructure. Save-to-PDF outputs are citation-grade.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pillar sequence matters here too: if your lowest score is Economics, check Technology first — the data infrastructure gap is usually upstream of the payment gap.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Vermont's legislative archive is the canonical documentary source for any Vermont-relevant testimony. Everything from GMCB hospital reports to AHS Act 68 monthly updates is there.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Vermont practitioners get the highest-resolution experience on the platform. Most Vermont pages are written with implementers in mind, not just analysts.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Vermont is not the state we cover most — it is the integration mechanism. Every chapter has a Vermont section. Every Vermont program has a platform page. Every platform page cites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argues no single state has solved transformation completely. The platform lets you triangulate across all three live.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ask a question on /vermont-vcci the Analyst attaches that page context and the Clinical pillar tag — the answer is grounded in Chapter 10 + VCCI page + related Wire items. Use it for cross-chapter cross-pillar cross-state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Analyst is at its best on cross-chapter cross-pillar cross-state questions. It knows the pillar sequence and will trace dependencies if you ask it 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chapters (Policy → Technology → Economics), four tools, one weekend. Technology must come before Economics — you need to understand your data infrastructure before you can model your budget position.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a day of platform work anchored by one chapter. The Cliff Scenario and Work Requirements Calculator are the two most-used Policy tools for federal testimony.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VCCI Lab is the only interactive 4-tier risk stratification environment outside of Vermont's actual DVHA system. It supports graduate-level rigor without requiring local statistical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Vermont is your benchmark not because you are in Vermont but because Vermont is the most measured state. Your gap profile against Vermont is your transformation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Lowest-effort entry path — built for first-time users. The platform generates a sequence in the correct pillar order: Policy → Technology → Economics → Clinical → Equity →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discipline is the integration. Don't trust a Vermont stat without a source. Don't accept a tool output without reading the chapter that explains the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Minimum: one tool per chapter. The VCCI Lab the APM Calc and the H.R. 1 Cliff Scenario are the three highest-leverage starting points.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the theory. The tool is the experiment. Run no tool without reading at least one corresponding chapter.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 model Vermont you can model anywhere. The dependency map works the same in California — only the scale and the legislative architecture differ.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argues no single state has solved transformation completely. The platform lets you triangulate live across all five tiers.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book moves, the platform moves. When the platform moves, the next book draft incorporates it. The two stay aligned via Appendix 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access: request beta via `/beta`. Subscription tiers at `/pricing`.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network effect: more practitioners on the platform means richer peer knowledge, more current toolkits, and faster collective learning. The Community layer is new — it is not yet fully populated, which means early adopters shape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readers come for the book and stay for the platform; many come for the platform and discover the book matters.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is structured to support a semester without any additional course design. The 20-chapter book maps directly to a 15-week course with lab exercises built in.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is the syllabus; the platform is the lab; the consultant is the guide.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is the product. Neither piece alone is worth the investment. Most healthcare reform writing fails because it picks one — book without data, or data without framework. The pillar sequence (Policy → Technology → Economics → Clinical → Equity → Operations) is itself an argument: you cannot price what you cannot measure, and you cannot measure what you have not governed.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that is the question you are working on, this is the system for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end of day 1 you understand the system's shape. Everything after that is depth.</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mastery-level engagement. Most readers reach it in 4–6 months part-time. The pillar sequence (Policy → Technology → Economics → Clinical → Equity → Operations) will feel intuitive by this point.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a network effect — more practitioners on the platform means richer discussion, better toolkits, and faster learning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Library links to all of the above. The platform integrates these sources — it does not replace them. For primary data work use the Research Workspace to bring your own datasets 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that is the question you are working on — you have found the right system.</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can be wrong. The discipline is to triangulate. The AI Analyst can tell you when book and platform diverge — ask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pillar sequence is Policy → Technology → Economics → Clinical → Equity → Operations. That sequence is the argument. Start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 — Title</a:t>
            </a:r>
          </a:p>
        </p:txBody>
      </p:sp>
      <p:sp>
        <p:nvSpPr>
          <p:cNvPr id="5" name="TextBox 4"/>
          <p:cNvSpPr txBox="1"/>
          <p:nvPr/>
        </p:nvSpPr>
        <p:spPr>
          <a:xfrm>
            <a:off x="502920" y="1527048"/>
            <a:ext cx="11185855" cy="5166360"/>
          </a:xfrm>
          <a:prstGeom prst="rect">
            <a:avLst/>
          </a:prstGeom>
          <a:noFill/>
        </p:spPr>
        <p:txBody>
          <a:bodyPr wrap="square">
            <a:spAutoFit/>
          </a:bodyPr>
          <a:lstStyle/>
          <a:p>
            <a:pPr algn="l">
              <a:spcBef>
                <a:spcPts val="800"/>
              </a:spcBef>
            </a:pPr>
            <a:r>
              <a:rPr sz="3400" b="0">
                <a:solidFill>
                  <a:srgbClr val="141428"/>
                </a:solidFill>
                <a:latin typeface="Calibri"/>
              </a:rPr>
              <a:t>The HTR System</a:t>
            </a:r>
          </a:p>
          <a:p>
            <a:pPr>
              <a:spcBef>
                <a:spcPts val="400"/>
              </a:spcBef>
            </a:pPr>
          </a:p>
          <a:p>
            <a:pPr algn="l">
              <a:spcBef>
                <a:spcPts val="800"/>
              </a:spcBef>
            </a:pPr>
            <a:r>
              <a:rPr sz="3000" b="1">
                <a:solidFill>
                  <a:srgbClr val="141428"/>
                </a:solidFill>
                <a:latin typeface="Calibri"/>
              </a:rPr>
              <a:t>One framework. One book. One platform. Six pillars.</a:t>
            </a:r>
          </a:p>
          <a:p>
            <a:pPr>
              <a:spcBef>
                <a:spcPts val="400"/>
              </a:spcBef>
            </a:pPr>
          </a:p>
          <a:p>
            <a:pPr algn="l">
              <a:spcBef>
                <a:spcPts val="800"/>
              </a:spcBef>
            </a:pPr>
            <a:r>
              <a:rPr sz="2800" b="0">
                <a:solidFill>
                  <a:srgbClr val="141428"/>
                </a:solidFill>
                <a:latin typeface="Calibri"/>
              </a:rPr>
              <a:t>How to work with the book and the platform together to understand — and execute — healthcare transformation.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 — The thesis</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American healthcare is structurally failing. Reform must happen across six pillars together: Policy, Technology, Economics, Clinical, Equity, Operations.</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The HTR System — Two Pieces One Product</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Component</a:t>
                      </a:r>
                    </a:p>
                  </a:txBody>
                  <a:tcPr>
                    <a:solidFill>
                      <a:srgbClr val="0F2850"/>
                    </a:solidFill>
                  </a:tcPr>
                </a:tc>
                <a:tc>
                  <a:txBody>
                    <a:bodyPr/>
                    <a:lstStyle/>
                    <a:p>
                      <a:pPr algn="ctr"/>
                      <a:r>
                        <a:rPr b="1" sz="1400">
                          <a:solidFill>
                            <a:srgbClr val="FFFFFF"/>
                          </a:solidFill>
                          <a:latin typeface="Calibri"/>
                        </a:rPr>
                        <a:t>What It Is</a:t>
                      </a:r>
                    </a:p>
                  </a:txBody>
                  <a:tcPr>
                    <a:solidFill>
                      <a:srgbClr val="0F2850"/>
                    </a:solidFill>
                  </a:tcPr>
                </a:tc>
                <a:tc>
                  <a:txBody>
                    <a:bodyPr/>
                    <a:lstStyle/>
                    <a:p>
                      <a:pPr algn="ctr"/>
                      <a:r>
                        <a:rPr b="1" sz="1400">
                          <a:solidFill>
                            <a:srgbClr val="FFFFFF"/>
                          </a:solidFill>
                          <a:latin typeface="Calibri"/>
                        </a:rPr>
                        <a:t>What It Cannot Do Alone</a:t>
                      </a:r>
                    </a:p>
                  </a:txBody>
                  <a:tcPr>
                    <a:solidFill>
                      <a:srgbClr val="0F2850"/>
                    </a:solidFill>
                  </a:tcPr>
                </a:tc>
              </a:tr>
              <a:tr h="580644">
                <a:tc>
                  <a:txBody>
                    <a:bodyPr/>
                    <a:lstStyle/>
                    <a:p>
                      <a:pPr algn="l"/>
                      <a:r>
                        <a:rPr sz="1300" b="1">
                          <a:solidFill>
                            <a:srgbClr val="141428"/>
                          </a:solidFill>
                          <a:latin typeface="Calibri"/>
                        </a:rPr>
                        <a:t>The Book</a:t>
                      </a:r>
                    </a:p>
                  </a:txBody>
                  <a:tcPr>
                    <a:solidFill>
                      <a:srgbClr val="F0F4FC"/>
                    </a:solidFill>
                  </a:tcPr>
                </a:tc>
                <a:tc>
                  <a:txBody>
                    <a:bodyPr/>
                    <a:lstStyle/>
                    <a:p>
                      <a:pPr algn="l"/>
                      <a:r>
                        <a:rPr sz="1300" b="0">
                          <a:solidFill>
                            <a:srgbClr val="141428"/>
                          </a:solidFill>
                          <a:latin typeface="Calibri"/>
                        </a:rPr>
                        <a:t>20-chapter framework grounded in Vermont's complete reform case</a:t>
                      </a:r>
                    </a:p>
                  </a:txBody>
                  <a:tcPr>
                    <a:solidFill>
                      <a:srgbClr val="F0F4FC"/>
                    </a:solidFill>
                  </a:tcPr>
                </a:tc>
                <a:tc>
                  <a:txBody>
                    <a:bodyPr/>
                    <a:lstStyle/>
                    <a:p>
                      <a:pPr algn="l"/>
                      <a:r>
                        <a:rPr sz="1300" b="0">
                          <a:solidFill>
                            <a:srgbClr val="141428"/>
                          </a:solidFill>
                          <a:latin typeface="Calibri"/>
                        </a:rPr>
                        <a:t>Goes stale — policy changes monthly and data moves faster than print</a:t>
                      </a:r>
                    </a:p>
                  </a:txBody>
                  <a:tcPr>
                    <a:solidFill>
                      <a:srgbClr val="F0F4F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 — Why one without the other doesn't work</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The Failure Modes of Going It Alone</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Approach</a:t>
                      </a:r>
                    </a:p>
                  </a:txBody>
                  <a:tcPr>
                    <a:solidFill>
                      <a:srgbClr val="0F2850"/>
                    </a:solidFill>
                  </a:tcPr>
                </a:tc>
                <a:tc>
                  <a:txBody>
                    <a:bodyPr/>
                    <a:lstStyle/>
                    <a:p>
                      <a:pPr algn="ctr"/>
                      <a:r>
                        <a:rPr b="1" sz="1400">
                          <a:solidFill>
                            <a:srgbClr val="FFFFFF"/>
                          </a:solidFill>
                          <a:latin typeface="Calibri"/>
                        </a:rPr>
                        <a:t>What You Get</a:t>
                      </a:r>
                    </a:p>
                  </a:txBody>
                  <a:tcPr>
                    <a:solidFill>
                      <a:srgbClr val="0F2850"/>
                    </a:solidFill>
                  </a:tcPr>
                </a:tc>
                <a:tc>
                  <a:txBody>
                    <a:bodyPr/>
                    <a:lstStyle/>
                    <a:p>
                      <a:pPr algn="ctr"/>
                      <a:r>
                        <a:rPr b="1" sz="1400">
                          <a:solidFill>
                            <a:srgbClr val="FFFFFF"/>
                          </a:solidFill>
                          <a:latin typeface="Calibri"/>
                        </a:rPr>
                        <a:t>What You Miss</a:t>
                      </a:r>
                    </a:p>
                  </a:txBody>
                  <a:tcPr>
                    <a:solidFill>
                      <a:srgbClr val="0F2850"/>
                    </a:solidFill>
                  </a:tcPr>
                </a:tc>
                <a:tc>
                  <a:txBody>
                    <a:bodyPr/>
                    <a:lstStyle/>
                    <a:p>
                      <a:pPr algn="ctr"/>
                      <a:r>
                        <a:rPr b="1" sz="1400">
                          <a:solidFill>
                            <a:srgbClr val="FFFFFF"/>
                          </a:solidFill>
                          <a:latin typeface="Calibri"/>
                        </a:rPr>
                        <a:t>Consequence</a:t>
                      </a:r>
                    </a:p>
                  </a:txBody>
                  <a:tcPr>
                    <a:solidFill>
                      <a:srgbClr val="0F2850"/>
                    </a:solidFill>
                  </a:tcPr>
                </a:tc>
              </a:tr>
              <a:tr h="580644">
                <a:tc>
                  <a:txBody>
                    <a:bodyPr/>
                    <a:lstStyle/>
                    <a:p>
                      <a:pPr algn="l"/>
                      <a:r>
                        <a:rPr sz="1300" b="1">
                          <a:solidFill>
                            <a:srgbClr val="141428"/>
                          </a:solidFill>
                          <a:latin typeface="Calibri"/>
                        </a:rPr>
                        <a:t>Book only</a:t>
                      </a:r>
                    </a:p>
                  </a:txBody>
                  <a:tcPr>
                    <a:solidFill>
                      <a:srgbClr val="F0F4FC"/>
                    </a:solidFill>
                  </a:tcPr>
                </a:tc>
                <a:tc>
                  <a:txBody>
                    <a:bodyPr/>
                    <a:lstStyle/>
                    <a:p>
                      <a:pPr algn="l"/>
                      <a:r>
                        <a:rPr sz="1300" b="0">
                          <a:solidFill>
                            <a:srgbClr val="141428"/>
                          </a:solidFill>
                          <a:latin typeface="Calibri"/>
                        </a:rPr>
                        <a:t>Framework + argument + Vermont narrative</a:t>
                      </a:r>
                    </a:p>
                  </a:txBody>
                  <a:tcPr>
                    <a:solidFill>
                      <a:srgbClr val="F0F4FC"/>
                    </a:solidFill>
                  </a:tcPr>
                </a:tc>
                <a:tc>
                  <a:txBody>
                    <a:bodyPr/>
                    <a:lstStyle/>
                    <a:p>
                      <a:pPr algn="l"/>
                      <a:r>
                        <a:rPr sz="1300" b="0">
                          <a:solidFill>
                            <a:srgbClr val="141428"/>
                          </a:solidFill>
                          <a:latin typeface="Calibri"/>
                        </a:rPr>
                        <a:t>Cannot test on real data — no simulators no live policy</a:t>
                      </a:r>
                    </a:p>
                  </a:txBody>
                  <a:tcPr>
                    <a:solidFill>
                      <a:srgbClr val="F0F4FC"/>
                    </a:solidFill>
                  </a:tcPr>
                </a:tc>
                <a:tc>
                  <a:txBody>
                    <a:bodyPr/>
                    <a:lstStyle/>
                    <a:p>
                      <a:pPr algn="l"/>
                      <a:r>
                        <a:rPr sz="1300" b="0">
                          <a:solidFill>
                            <a:srgbClr val="141428"/>
                          </a:solidFill>
                          <a:latin typeface="Calibri"/>
                        </a:rPr>
                        <a:t>Stale within 12 months — you know the argument but cannot run it</a:t>
                      </a:r>
                    </a:p>
                  </a:txBody>
                  <a:tcPr>
                    <a:solidFill>
                      <a:srgbClr val="F0F4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 — The dual structure at a glance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The HTR System Architecture</a:t>
            </a:r>
          </a:p>
        </p:txBody>
      </p:sp>
      <p:sp>
        <p:nvSpPr>
          <p:cNvPr id="6" name="Rounded Rectangle 5"/>
          <p:cNvSpPr/>
          <p:nvPr/>
        </p:nvSpPr>
        <p:spPr>
          <a:xfrm>
            <a:off x="502920" y="1929384"/>
            <a:ext cx="2377440" cy="1097280"/>
          </a:xfrm>
          <a:prstGeom prst="roundRect">
            <a:avLst/>
          </a:prstGeom>
          <a:solidFill>
            <a:srgbClr val="0F2850"/>
          </a:solidFill>
          <a:ln w="6350">
            <a:solidFill>
              <a:srgbClr val="B4BED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Six-Pillar Framework</a:t>
            </a:r>
          </a:p>
        </p:txBody>
      </p:sp>
      <p:sp>
        <p:nvSpPr>
          <p:cNvPr id="7" name="Rounded Rectangle 6"/>
          <p:cNvSpPr/>
          <p:nvPr/>
        </p:nvSpPr>
        <p:spPr>
          <a:xfrm>
            <a:off x="3136392" y="1929384"/>
            <a:ext cx="2377440" cy="1097280"/>
          </a:xfrm>
          <a:prstGeom prst="roundRect">
            <a:avLst/>
          </a:prstGeom>
          <a:solidFill>
            <a:srgbClr val="0EA5E9"/>
          </a:solidFill>
          <a:ln w="6350">
            <a:solidFill>
              <a:srgbClr val="B4BED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The Book (20 chapters)</a:t>
            </a:r>
          </a:p>
        </p:txBody>
      </p:sp>
      <p:sp>
        <p:nvSpPr>
          <p:cNvPr id="8" name="Rectangle 7"/>
          <p:cNvSpPr/>
          <p:nvPr/>
        </p:nvSpPr>
        <p:spPr>
          <a:xfrm>
            <a:off x="1691640" y="2423160"/>
            <a:ext cx="2633472" cy="109728"/>
          </a:xfrm>
          <a:prstGeom prst="rect">
            <a:avLst/>
          </a:prstGeom>
          <a:solidFill>
            <a:srgbClr val="DC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4b — 24 Appendix Tools by Research Lab Section</a:t>
            </a:r>
          </a:p>
        </p:txBody>
      </p:sp>
      <p:graphicFrame>
        <p:nvGraphicFramePr>
          <p:cNvPr id="5" name="Chart 4"/>
          <p:cNvGraphicFramePr>
            <a:graphicFrameLocks noGrp="1"/>
          </p:cNvGraphicFramePr>
          <p:nvPr/>
        </p:nvGraphicFramePr>
        <p:xfrm>
          <a:off x="502920" y="1527048"/>
          <a:ext cx="11185855"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 — Three ways to use the system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Three Entry Paths Into the HTR System</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Entry Path</a:t>
                      </a:r>
                    </a:p>
                  </a:txBody>
                  <a:tcPr>
                    <a:solidFill>
                      <a:srgbClr val="0F2850"/>
                    </a:solidFill>
                  </a:tcPr>
                </a:tc>
                <a:tc>
                  <a:txBody>
                    <a:bodyPr/>
                    <a:lstStyle/>
                    <a:p>
                      <a:pPr algn="ctr"/>
                      <a:r>
                        <a:rPr b="1" sz="1400">
                          <a:solidFill>
                            <a:srgbClr val="FFFFFF"/>
                          </a:solidFill>
                          <a:latin typeface="Calibri"/>
                        </a:rPr>
                        <a:t>Start Here</a:t>
                      </a:r>
                    </a:p>
                  </a:txBody>
                  <a:tcPr>
                    <a:solidFill>
                      <a:srgbClr val="0F2850"/>
                    </a:solidFill>
                  </a:tcPr>
                </a:tc>
                <a:tc>
                  <a:txBody>
                    <a:bodyPr/>
                    <a:lstStyle/>
                    <a:p>
                      <a:pPr algn="ctr"/>
                      <a:r>
                        <a:rPr b="1" sz="1400">
                          <a:solidFill>
                            <a:srgbClr val="FFFFFF"/>
                          </a:solidFill>
                          <a:latin typeface="Calibri"/>
                        </a:rPr>
                        <a:t>Then Do This</a:t>
                      </a:r>
                    </a:p>
                  </a:txBody>
                  <a:tcPr>
                    <a:solidFill>
                      <a:srgbClr val="0F2850"/>
                    </a:solidFill>
                  </a:tcPr>
                </a:tc>
                <a:tc>
                  <a:txBody>
                    <a:bodyPr/>
                    <a:lstStyle/>
                    <a:p>
                      <a:pPr algn="ctr"/>
                      <a:r>
                        <a:rPr b="1" sz="1400">
                          <a:solidFill>
                            <a:srgbClr val="FFFFFF"/>
                          </a:solidFill>
                          <a:latin typeface="Calibri"/>
                        </a:rPr>
                        <a:t>Outcome</a:t>
                      </a:r>
                    </a:p>
                  </a:txBody>
                  <a:tcPr>
                    <a:solidFill>
                      <a:srgbClr val="0F2850"/>
                    </a:solidFill>
                  </a:tcPr>
                </a:tc>
              </a:tr>
              <a:tr h="580644">
                <a:tc>
                  <a:txBody>
                    <a:bodyPr/>
                    <a:lstStyle/>
                    <a:p>
                      <a:pPr algn="l"/>
                      <a:r>
                        <a:rPr sz="1300" b="1">
                          <a:solidFill>
                            <a:srgbClr val="141428"/>
                          </a:solidFill>
                          <a:latin typeface="Calibri"/>
                        </a:rPr>
                        <a:t>Read-First</a:t>
                      </a:r>
                    </a:p>
                  </a:txBody>
                  <a:tcPr>
                    <a:solidFill>
                      <a:srgbClr val="F0F4FC"/>
                    </a:solidFill>
                  </a:tcPr>
                </a:tc>
                <a:tc>
                  <a:txBody>
                    <a:bodyPr/>
                    <a:lstStyle/>
                    <a:p>
                      <a:pPr algn="l"/>
                      <a:r>
                        <a:rPr sz="1300" b="0">
                          <a:solidFill>
                            <a:srgbClr val="141428"/>
                          </a:solidFill>
                          <a:latin typeface="Calibri"/>
                        </a:rPr>
                        <a:t>Book: Preface + Chapter 1</a:t>
                      </a:r>
                    </a:p>
                  </a:txBody>
                  <a:tcPr>
                    <a:solidFill>
                      <a:srgbClr val="F0F4FC"/>
                    </a:solidFill>
                  </a:tcPr>
                </a:tc>
                <a:tc>
                  <a:txBody>
                    <a:bodyPr/>
                    <a:lstStyle/>
                    <a:p>
                      <a:pPr algn="l"/>
                      <a:r>
                        <a:rPr sz="1300" b="0">
                          <a:solidFill>
                            <a:srgbClr val="141428"/>
                          </a:solidFill>
                          <a:latin typeface="Calibri"/>
                        </a:rPr>
                        <a:t>Open platform tools chapter by chapter</a:t>
                      </a:r>
                    </a:p>
                  </a:txBody>
                  <a:tcPr>
                    <a:solidFill>
                      <a:srgbClr val="F0F4FC"/>
                    </a:solidFill>
                  </a:tcPr>
                </a:tc>
                <a:tc>
                  <a:txBody>
                    <a:bodyPr/>
                    <a:lstStyle/>
                    <a:p>
                      <a:pPr algn="l"/>
                      <a:r>
                        <a:rPr sz="1300" b="0">
                          <a:solidFill>
                            <a:srgbClr val="141428"/>
                          </a:solidFill>
                          <a:latin typeface="Calibri"/>
                        </a:rPr>
                        <a:t>Deep framework understanding + practical testing</a:t>
                      </a:r>
                    </a:p>
                  </a:txBody>
                  <a:tcPr>
                    <a:solidFill>
                      <a:srgbClr val="F0F4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 — Meet the four reader profiles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HTR Reader Profiles</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Profile</a:t>
                      </a:r>
                    </a:p>
                  </a:txBody>
                  <a:tcPr>
                    <a:solidFill>
                      <a:srgbClr val="0F2850"/>
                    </a:solidFill>
                  </a:tcPr>
                </a:tc>
                <a:tc>
                  <a:txBody>
                    <a:bodyPr/>
                    <a:lstStyle/>
                    <a:p>
                      <a:pPr algn="ctr"/>
                      <a:r>
                        <a:rPr b="1" sz="1400">
                          <a:solidFill>
                            <a:srgbClr val="FFFFFF"/>
                          </a:solidFill>
                          <a:latin typeface="Calibri"/>
                        </a:rPr>
                        <a:t>Primary Frame</a:t>
                      </a:r>
                    </a:p>
                  </a:txBody>
                  <a:tcPr>
                    <a:solidFill>
                      <a:srgbClr val="0F2850"/>
                    </a:solidFill>
                  </a:tcPr>
                </a:tc>
                <a:tc>
                  <a:txBody>
                    <a:bodyPr/>
                    <a:lstStyle/>
                    <a:p>
                      <a:pPr algn="ctr"/>
                      <a:r>
                        <a:rPr b="1" sz="1400">
                          <a:solidFill>
                            <a:srgbClr val="FFFFFF"/>
                          </a:solidFill>
                          <a:latin typeface="Calibri"/>
                        </a:rPr>
                        <a:t>Best Entry Path</a:t>
                      </a:r>
                    </a:p>
                  </a:txBody>
                  <a:tcPr>
                    <a:solidFill>
                      <a:srgbClr val="0F2850"/>
                    </a:solidFill>
                  </a:tcPr>
                </a:tc>
                <a:tc>
                  <a:txBody>
                    <a:bodyPr/>
                    <a:lstStyle/>
                    <a:p>
                      <a:pPr algn="ctr"/>
                      <a:r>
                        <a:rPr b="1" sz="1400">
                          <a:solidFill>
                            <a:srgbClr val="FFFFFF"/>
                          </a:solidFill>
                          <a:latin typeface="Calibri"/>
                        </a:rPr>
                        <a:t>Key Tools</a:t>
                      </a:r>
                    </a:p>
                  </a:txBody>
                  <a:tcPr>
                    <a:solidFill>
                      <a:srgbClr val="0F2850"/>
                    </a:solidFill>
                  </a:tcPr>
                </a:tc>
              </a:tr>
              <a:tr h="580644">
                <a:tc>
                  <a:txBody>
                    <a:bodyPr/>
                    <a:lstStyle/>
                    <a:p>
                      <a:pPr algn="l"/>
                      <a:r>
                        <a:rPr sz="1300" b="1">
                          <a:solidFill>
                            <a:srgbClr val="141428"/>
                          </a:solidFill>
                          <a:latin typeface="Calibri"/>
                        </a:rPr>
                        <a:t>Policy Professional</a:t>
                      </a:r>
                    </a:p>
                  </a:txBody>
                  <a:tcPr>
                    <a:solidFill>
                      <a:srgbClr val="F0F4FC"/>
                    </a:solidFill>
                  </a:tcPr>
                </a:tc>
                <a:tc>
                  <a:txBody>
                    <a:bodyPr/>
                    <a:lstStyle/>
                    <a:p>
                      <a:pPr algn="l"/>
                      <a:r>
                        <a:rPr sz="1300" b="0">
                          <a:solidFill>
                            <a:srgbClr val="141428"/>
                          </a:solidFill>
                          <a:latin typeface="Calibri"/>
                        </a:rPr>
                        <a:t>Legislative architecture and political sustainability</a:t>
                      </a:r>
                    </a:p>
                  </a:txBody>
                  <a:tcPr>
                    <a:solidFill>
                      <a:srgbClr val="F0F4FC"/>
                    </a:solidFill>
                  </a:tcPr>
                </a:tc>
                <a:tc>
                  <a:txBody>
                    <a:bodyPr/>
                    <a:lstStyle/>
                    <a:p>
                      <a:pPr algn="l"/>
                      <a:r>
                        <a:rPr sz="1300" b="0">
                          <a:solidFill>
                            <a:srgbClr val="141428"/>
                          </a:solidFill>
                          <a:latin typeface="Calibri"/>
                        </a:rPr>
                        <a:t>Chapter 4-5 then /policy</a:t>
                      </a:r>
                    </a:p>
                  </a:txBody>
                  <a:tcPr>
                    <a:solidFill>
                      <a:srgbClr val="F0F4FC"/>
                    </a:solidFill>
                  </a:tcPr>
                </a:tc>
                <a:tc>
                  <a:txBody>
                    <a:bodyPr/>
                    <a:lstStyle/>
                    <a:p>
                      <a:pPr algn="l"/>
                      <a:r>
                        <a:rPr sz="1300" b="0">
                          <a:solidFill>
                            <a:srgbClr val="141428"/>
                          </a:solidFill>
                          <a:latin typeface="Calibri"/>
                        </a:rPr>
                        <a:t>Policy Simulator + H.R.1 Cliff</a:t>
                      </a:r>
                    </a:p>
                  </a:txBody>
                  <a:tcPr>
                    <a:solidFill>
                      <a:srgbClr val="F0F4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7 — The Six Pillars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The Six-Pillar Framework</a:t>
            </a:r>
          </a:p>
        </p:txBody>
      </p:sp>
      <p:graphicFrame>
        <p:nvGraphicFramePr>
          <p:cNvPr id="6" name="Table 5"/>
          <p:cNvGraphicFramePr>
            <a:graphicFrameLocks noGrp="1"/>
          </p:cNvGraphicFramePr>
          <p:nvPr/>
        </p:nvGraphicFramePr>
        <p:xfrm>
          <a:off x="502920" y="1911096"/>
          <a:ext cx="11185855" cy="1161288"/>
        </p:xfrm>
        <a:graphic>
          <a:graphicData uri="http://schemas.openxmlformats.org/drawingml/2006/table">
            <a:tbl>
              <a:tblPr firstRow="1" bandRow="1">
                <a:tableStyleId>{5C22544A-7EE6-4342-B048-85BDC9FD1C3A}</a:tableStyleId>
              </a:tblPr>
              <a:tblGrid>
                <a:gridCol w="2237171"/>
                <a:gridCol w="2237171"/>
                <a:gridCol w="2237171"/>
                <a:gridCol w="2237171"/>
                <a:gridCol w="2237171"/>
              </a:tblGrid>
              <a:tr h="580644">
                <a:tc>
                  <a:txBody>
                    <a:bodyPr/>
                    <a:lstStyle/>
                    <a:p>
                      <a:pPr algn="ctr"/>
                      <a:r>
                        <a:rPr b="1" sz="1400">
                          <a:solidFill>
                            <a:srgbClr val="FFFFFF"/>
                          </a:solidFill>
                          <a:latin typeface="Calibri"/>
                        </a:rPr>
                        <a:t>Pillar</a:t>
                      </a:r>
                    </a:p>
                  </a:txBody>
                  <a:tcPr>
                    <a:solidFill>
                      <a:srgbClr val="0F2850"/>
                    </a:solidFill>
                  </a:tcPr>
                </a:tc>
                <a:tc>
                  <a:txBody>
                    <a:bodyPr/>
                    <a:lstStyle/>
                    <a:p>
                      <a:pPr algn="ctr"/>
                      <a:r>
                        <a:rPr b="1" sz="1400">
                          <a:solidFill>
                            <a:srgbClr val="FFFFFF"/>
                          </a:solidFill>
                          <a:latin typeface="Calibri"/>
                        </a:rPr>
                        <a:t>Brand Color</a:t>
                      </a:r>
                    </a:p>
                  </a:txBody>
                  <a:tcPr>
                    <a:solidFill>
                      <a:srgbClr val="0F2850"/>
                    </a:solidFill>
                  </a:tcPr>
                </a:tc>
                <a:tc>
                  <a:txBody>
                    <a:bodyPr/>
                    <a:lstStyle/>
                    <a:p>
                      <a:pPr algn="ctr"/>
                      <a:r>
                        <a:rPr b="1" sz="1400">
                          <a:solidFill>
                            <a:srgbClr val="FFFFFF"/>
                          </a:solidFill>
                          <a:latin typeface="Calibri"/>
                        </a:rPr>
                        <a:t>Book Chapters</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Research Lab Section</a:t>
                      </a:r>
                    </a:p>
                  </a:txBody>
                  <a:tcPr>
                    <a:solidFill>
                      <a:srgbClr val="0F2850"/>
                    </a:solidFill>
                  </a:tcPr>
                </a:tc>
              </a:tr>
              <a:tr h="580644">
                <a:tc>
                  <a:txBody>
                    <a:bodyPr/>
                    <a:lstStyle/>
                    <a:p>
                      <a:pPr algn="l"/>
                      <a:r>
                        <a:rPr sz="1300" b="1">
                          <a:solidFill>
                            <a:srgbClr val="141428"/>
                          </a:solidFill>
                          <a:latin typeface="Calibri"/>
                        </a:rPr>
                        <a:t>Policy</a:t>
                      </a:r>
                    </a:p>
                  </a:txBody>
                  <a:tcPr>
                    <a:solidFill>
                      <a:srgbClr val="F0F4FC"/>
                    </a:solidFill>
                  </a:tcPr>
                </a:tc>
                <a:tc>
                  <a:txBody>
                    <a:bodyPr/>
                    <a:lstStyle/>
                    <a:p>
                      <a:pPr algn="l"/>
                      <a:r>
                        <a:rPr sz="1300" b="0">
                          <a:solidFill>
                            <a:srgbClr val="141428"/>
                          </a:solidFill>
                          <a:latin typeface="Calibri"/>
                        </a:rPr>
                        <a:t>Sky</a:t>
                      </a:r>
                    </a:p>
                  </a:txBody>
                  <a:tcPr>
                    <a:solidFill>
                      <a:srgbClr val="F0F4FC"/>
                    </a:solidFill>
                  </a:tcPr>
                </a:tc>
                <a:tc>
                  <a:txBody>
                    <a:bodyPr/>
                    <a:lstStyle/>
                    <a:p>
                      <a:pPr algn="l"/>
                      <a:r>
                        <a:rPr sz="1300" b="0">
                          <a:solidFill>
                            <a:srgbClr val="141428"/>
                          </a:solidFill>
                          <a:latin typeface="Calibri"/>
                        </a:rPr>
                        <a:t>4-5</a:t>
                      </a:r>
                    </a:p>
                  </a:txBody>
                  <a:tcPr>
                    <a:solidFill>
                      <a:srgbClr val="F0F4FC"/>
                    </a:solidFill>
                  </a:tcPr>
                </a:tc>
                <a:tc>
                  <a:txBody>
                    <a:bodyPr/>
                    <a:lstStyle/>
                    <a:p>
                      <a:pPr algn="l"/>
                      <a:r>
                        <a:rPr sz="1300" b="0">
                          <a:solidFill>
                            <a:srgbClr val="141428"/>
                          </a:solidFill>
                          <a:latin typeface="Calibri"/>
                        </a:rPr>
                        <a:t>/policy</a:t>
                      </a:r>
                    </a:p>
                  </a:txBody>
                  <a:tcPr>
                    <a:solidFill>
                      <a:srgbClr val="F0F4FC"/>
                    </a:solidFill>
                  </a:tcPr>
                </a:tc>
                <a:tc>
                  <a:txBody>
                    <a:bodyPr/>
                    <a:lstStyle/>
                    <a:p>
                      <a:pPr algn="l"/>
                      <a:r>
                        <a:rPr sz="1300" b="0">
                          <a:solidFill>
                            <a:srgbClr val="141428"/>
                          </a:solidFill>
                          <a:latin typeface="Calibri"/>
                        </a:rPr>
                        <a:t>policy-quality</a:t>
                      </a:r>
                    </a:p>
                  </a:txBody>
                  <a:tcPr>
                    <a:solidFill>
                      <a:srgbClr val="F0F4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8 — The 15 Pillar Dependencies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Pillar Dependency Matrix (X = documented dependency in book)</a:t>
            </a:r>
          </a:p>
        </p:txBody>
      </p:sp>
      <p:graphicFrame>
        <p:nvGraphicFramePr>
          <p:cNvPr id="6" name="Table 5"/>
          <p:cNvGraphicFramePr>
            <a:graphicFrameLocks noGrp="1"/>
          </p:cNvGraphicFramePr>
          <p:nvPr/>
        </p:nvGraphicFramePr>
        <p:xfrm>
          <a:off x="502920" y="1929384"/>
          <a:ext cx="11185854" cy="4160520"/>
        </p:xfrm>
        <a:graphic>
          <a:graphicData uri="http://schemas.openxmlformats.org/drawingml/2006/table">
            <a:tbl>
              <a:tblPr firstRow="1" bandRow="1">
                <a:tableStyleId>{5C22544A-7EE6-4342-B048-85BDC9FD1C3A}</a:tableStyleId>
              </a:tblPr>
              <a:tblGrid>
                <a:gridCol w="1463040"/>
                <a:gridCol w="1620469"/>
                <a:gridCol w="1620469"/>
                <a:gridCol w="1620469"/>
                <a:gridCol w="1620469"/>
                <a:gridCol w="1620469"/>
                <a:gridCol w="1620469"/>
              </a:tblGrid>
              <a:tr h="594360">
                <a:tc>
                  <a:txBody>
                    <a:bodyPr/>
                    <a:lstStyle/>
                    <a:p/>
                  </a:txBody>
                  <a:tcPr>
                    <a:solidFill>
                      <a:srgbClr val="0F2850"/>
                    </a:solidFill>
                  </a:tcPr>
                </a:tc>
                <a:tc>
                  <a:txBody>
                    <a:bodyPr/>
                    <a:lstStyle/>
                    <a:p>
                      <a:pPr algn="ctr"/>
                      <a:r>
                        <a:rPr b="1" sz="1200">
                          <a:solidFill>
                            <a:srgbClr val="FFFFFF"/>
                          </a:solidFill>
                          <a:latin typeface="Calibri"/>
                        </a:rPr>
                        <a:t>Policy</a:t>
                      </a:r>
                    </a:p>
                  </a:txBody>
                  <a:tcPr>
                    <a:solidFill>
                      <a:srgbClr val="0F2850"/>
                    </a:solidFill>
                  </a:tcPr>
                </a:tc>
                <a:tc>
                  <a:txBody>
                    <a:bodyPr/>
                    <a:lstStyle/>
                    <a:p>
                      <a:pPr algn="ctr"/>
                      <a:r>
                        <a:rPr b="1" sz="1200">
                          <a:solidFill>
                            <a:srgbClr val="FFFFFF"/>
                          </a:solidFill>
                          <a:latin typeface="Calibri"/>
                        </a:rPr>
                        <a:t>Technology</a:t>
                      </a:r>
                    </a:p>
                  </a:txBody>
                  <a:tcPr>
                    <a:solidFill>
                      <a:srgbClr val="0F2850"/>
                    </a:solidFill>
                  </a:tcPr>
                </a:tc>
                <a:tc>
                  <a:txBody>
                    <a:bodyPr/>
                    <a:lstStyle/>
                    <a:p>
                      <a:pPr algn="ctr"/>
                      <a:r>
                        <a:rPr b="1" sz="1200">
                          <a:solidFill>
                            <a:srgbClr val="FFFFFF"/>
                          </a:solidFill>
                          <a:latin typeface="Calibri"/>
                        </a:rPr>
                        <a:t>Economics</a:t>
                      </a:r>
                    </a:p>
                  </a:txBody>
                  <a:tcPr>
                    <a:solidFill>
                      <a:srgbClr val="0F2850"/>
                    </a:solidFill>
                  </a:tcPr>
                </a:tc>
                <a:tc>
                  <a:txBody>
                    <a:bodyPr/>
                    <a:lstStyle/>
                    <a:p>
                      <a:pPr algn="ctr"/>
                      <a:r>
                        <a:rPr b="1" sz="1200">
                          <a:solidFill>
                            <a:srgbClr val="FFFFFF"/>
                          </a:solidFill>
                          <a:latin typeface="Calibri"/>
                        </a:rPr>
                        <a:t>Clinical</a:t>
                      </a:r>
                    </a:p>
                  </a:txBody>
                  <a:tcPr>
                    <a:solidFill>
                      <a:srgbClr val="0F2850"/>
                    </a:solidFill>
                  </a:tcPr>
                </a:tc>
                <a:tc>
                  <a:txBody>
                    <a:bodyPr/>
                    <a:lstStyle/>
                    <a:p>
                      <a:pPr algn="ctr"/>
                      <a:r>
                        <a:rPr b="1" sz="1200">
                          <a:solidFill>
                            <a:srgbClr val="FFFFFF"/>
                          </a:solidFill>
                          <a:latin typeface="Calibri"/>
                        </a:rPr>
                        <a:t>Equity</a:t>
                      </a:r>
                    </a:p>
                  </a:txBody>
                  <a:tcPr>
                    <a:solidFill>
                      <a:srgbClr val="0F2850"/>
                    </a:solidFill>
                  </a:tcPr>
                </a:tc>
                <a:tc>
                  <a:txBody>
                    <a:bodyPr/>
                    <a:lstStyle/>
                    <a:p>
                      <a:pPr algn="ctr"/>
                      <a:r>
                        <a:rPr b="1" sz="1200">
                          <a:solidFill>
                            <a:srgbClr val="FFFFFF"/>
                          </a:solidFill>
                          <a:latin typeface="Calibri"/>
                        </a:rPr>
                        <a:t>Operations</a:t>
                      </a:r>
                    </a:p>
                  </a:txBody>
                  <a:tcPr>
                    <a:solidFill>
                      <a:srgbClr val="0F2850"/>
                    </a:solidFill>
                  </a:tcPr>
                </a:tc>
              </a:tr>
              <a:tr h="594360">
                <a:tc>
                  <a:txBody>
                    <a:bodyPr/>
                    <a:lstStyle/>
                    <a:p>
                      <a:r>
                        <a:rPr b="1" sz="1200">
                          <a:solidFill>
                            <a:srgbClr val="FFFFFF"/>
                          </a:solidFill>
                          <a:latin typeface="Calibri"/>
                        </a:rPr>
                        <a:t>Policy</a:t>
                      </a:r>
                    </a:p>
                  </a:txBody>
                  <a:tcPr>
                    <a:solidFill>
                      <a:srgbClr val="0F2850"/>
                    </a:solidFill>
                  </a:tcPr>
                </a:tc>
                <a:tc>
                  <a:txBody>
                    <a:bodyPr/>
                    <a:lstStyle/>
                    <a:p>
                      <a:pPr algn="ctr"/>
                      <a:r>
                        <a:rPr sz="1300" b="0">
                          <a:solidFill>
                            <a:srgbClr val="828296"/>
                          </a:solidFill>
                          <a:latin typeface="Calibri"/>
                        </a:rPr>
                        <a:t>—</a:t>
                      </a:r>
                    </a:p>
                  </a:txBody>
                  <a:tcPr>
                    <a:solidFill>
                      <a:srgbClr val="C8CDD7"/>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r>
              <a:tr h="594360">
                <a:tc>
                  <a:txBody>
                    <a:bodyPr/>
                    <a:lstStyle/>
                    <a:p>
                      <a:r>
                        <a:rPr b="1" sz="1200">
                          <a:solidFill>
                            <a:srgbClr val="FFFFFF"/>
                          </a:solidFill>
                          <a:latin typeface="Calibri"/>
                        </a:rPr>
                        <a:t>Technology</a:t>
                      </a:r>
                    </a:p>
                  </a:txBody>
                  <a:tcPr>
                    <a:solidFill>
                      <a:srgbClr val="0F2850"/>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828296"/>
                          </a:solidFill>
                          <a:latin typeface="Calibri"/>
                        </a:rPr>
                        <a:t>—</a:t>
                      </a:r>
                    </a:p>
                  </a:txBody>
                  <a:tcPr>
                    <a:solidFill>
                      <a:srgbClr val="C8CDD7"/>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3C3C50"/>
                          </a:solidFill>
                          <a:latin typeface="Calibri"/>
                        </a:rPr>
                        <a:t>No</a:t>
                      </a:r>
                    </a:p>
                  </a:txBody>
                  <a:tcPr>
                    <a:solidFill>
                      <a:srgbClr val="F8F9FC"/>
                    </a:solidFill>
                  </a:tcPr>
                </a:tc>
                <a:tc>
                  <a:txBody>
                    <a:bodyPr/>
                    <a:lstStyle/>
                    <a:p>
                      <a:pPr algn="ctr"/>
                      <a:r>
                        <a:rPr sz="1300" b="1">
                          <a:solidFill>
                            <a:srgbClr val="FFFFFF"/>
                          </a:solidFill>
                          <a:latin typeface="Calibri"/>
                        </a:rPr>
                        <a:t>Yes</a:t>
                      </a:r>
                    </a:p>
                  </a:txBody>
                  <a:tcPr>
                    <a:solidFill>
                      <a:srgbClr val="10B981"/>
                    </a:solidFill>
                  </a:tcPr>
                </a:tc>
              </a:tr>
              <a:tr h="594360">
                <a:tc>
                  <a:txBody>
                    <a:bodyPr/>
                    <a:lstStyle/>
                    <a:p>
                      <a:r>
                        <a:rPr b="1" sz="1200">
                          <a:solidFill>
                            <a:srgbClr val="FFFFFF"/>
                          </a:solidFill>
                          <a:latin typeface="Calibri"/>
                        </a:rPr>
                        <a:t>Economics</a:t>
                      </a:r>
                    </a:p>
                  </a:txBody>
                  <a:tcPr>
                    <a:solidFill>
                      <a:srgbClr val="0F2850"/>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828296"/>
                          </a:solidFill>
                          <a:latin typeface="Calibri"/>
                        </a:rPr>
                        <a:t>—</a:t>
                      </a:r>
                    </a:p>
                  </a:txBody>
                  <a:tcPr>
                    <a:solidFill>
                      <a:srgbClr val="C8CDD7"/>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r>
              <a:tr h="594360">
                <a:tc>
                  <a:txBody>
                    <a:bodyPr/>
                    <a:lstStyle/>
                    <a:p>
                      <a:r>
                        <a:rPr b="1" sz="1200">
                          <a:solidFill>
                            <a:srgbClr val="FFFFFF"/>
                          </a:solidFill>
                          <a:latin typeface="Calibri"/>
                        </a:rPr>
                        <a:t>Clinical</a:t>
                      </a:r>
                    </a:p>
                  </a:txBody>
                  <a:tcPr>
                    <a:solidFill>
                      <a:srgbClr val="0F2850"/>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828296"/>
                          </a:solidFill>
                          <a:latin typeface="Calibri"/>
                        </a:rPr>
                        <a:t>—</a:t>
                      </a:r>
                    </a:p>
                  </a:txBody>
                  <a:tcPr>
                    <a:solidFill>
                      <a:srgbClr val="C8CDD7"/>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r>
              <a:tr h="594360">
                <a:tc>
                  <a:txBody>
                    <a:bodyPr/>
                    <a:lstStyle/>
                    <a:p>
                      <a:r>
                        <a:rPr b="1" sz="1200">
                          <a:solidFill>
                            <a:srgbClr val="FFFFFF"/>
                          </a:solidFill>
                          <a:latin typeface="Calibri"/>
                        </a:rPr>
                        <a:t>Equity</a:t>
                      </a:r>
                    </a:p>
                  </a:txBody>
                  <a:tcPr>
                    <a:solidFill>
                      <a:srgbClr val="0F2850"/>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3C3C50"/>
                          </a:solidFill>
                          <a:latin typeface="Calibri"/>
                        </a:rPr>
                        <a:t>No</a:t>
                      </a:r>
                    </a:p>
                  </a:txBody>
                  <a:tcPr>
                    <a:solidFill>
                      <a:srgbClr val="F8F9FC"/>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828296"/>
                          </a:solidFill>
                          <a:latin typeface="Calibri"/>
                        </a:rPr>
                        <a:t>—</a:t>
                      </a:r>
                    </a:p>
                  </a:txBody>
                  <a:tcPr>
                    <a:solidFill>
                      <a:srgbClr val="C8CDD7"/>
                    </a:solidFill>
                  </a:tcPr>
                </a:tc>
                <a:tc>
                  <a:txBody>
                    <a:bodyPr/>
                    <a:lstStyle/>
                    <a:p>
                      <a:pPr algn="ctr"/>
                      <a:r>
                        <a:rPr sz="1300" b="1">
                          <a:solidFill>
                            <a:srgbClr val="FFFFFF"/>
                          </a:solidFill>
                          <a:latin typeface="Calibri"/>
                        </a:rPr>
                        <a:t>Yes</a:t>
                      </a:r>
                    </a:p>
                  </a:txBody>
                  <a:tcPr>
                    <a:solidFill>
                      <a:srgbClr val="10B981"/>
                    </a:solidFill>
                  </a:tcPr>
                </a:tc>
              </a:tr>
              <a:tr h="594360">
                <a:tc>
                  <a:txBody>
                    <a:bodyPr/>
                    <a:lstStyle/>
                    <a:p>
                      <a:r>
                        <a:rPr b="1" sz="1200">
                          <a:solidFill>
                            <a:srgbClr val="FFFFFF"/>
                          </a:solidFill>
                          <a:latin typeface="Calibri"/>
                        </a:rPr>
                        <a:t>Operations</a:t>
                      </a:r>
                    </a:p>
                  </a:txBody>
                  <a:tcPr>
                    <a:solidFill>
                      <a:srgbClr val="0F2850"/>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1">
                          <a:solidFill>
                            <a:srgbClr val="FFFFFF"/>
                          </a:solidFill>
                          <a:latin typeface="Calibri"/>
                        </a:rPr>
                        <a:t>Yes</a:t>
                      </a:r>
                    </a:p>
                  </a:txBody>
                  <a:tcPr>
                    <a:solidFill>
                      <a:srgbClr val="10B981"/>
                    </a:solidFill>
                  </a:tcPr>
                </a:tc>
                <a:tc>
                  <a:txBody>
                    <a:bodyPr/>
                    <a:lstStyle/>
                    <a:p>
                      <a:pPr algn="ctr"/>
                      <a:r>
                        <a:rPr sz="1300" b="0">
                          <a:solidFill>
                            <a:srgbClr val="828296"/>
                          </a:solidFill>
                          <a:latin typeface="Calibri"/>
                        </a:rPr>
                        <a:t>—</a:t>
                      </a:r>
                    </a:p>
                  </a:txBody>
                  <a:tcPr>
                    <a:solidFill>
                      <a:srgbClr val="C8CDD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9 — How to read Chapter 1 (The Framework)</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Chapter 1 Workflow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Chapter 1 (~25 pages)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10 — How to read Chapter 2 (Sequencing)</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Chapter 2 Workflow — Why Sequencing Is Causal</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OneCare Vermont autopsy (book)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11 — How to read Chapter 4 (Policy Pillar)</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chapter covers Vermont Acts 167 &amp; 68, the Oliver Wyman blueprint, global budget architecture, reference-based pricing.</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Policy Pillar — Chapter 4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Topic</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Research Lab Tool</a:t>
                      </a:r>
                    </a:p>
                  </a:txBody>
                  <a:tcPr>
                    <a:solidFill>
                      <a:srgbClr val="0F2850"/>
                    </a:solidFill>
                  </a:tcPr>
                </a:tc>
              </a:tr>
              <a:tr h="580644">
                <a:tc>
                  <a:txBody>
                    <a:bodyPr/>
                    <a:lstStyle/>
                    <a:p>
                      <a:pPr algn="l"/>
                      <a:r>
                        <a:rPr sz="1300" b="1">
                          <a:solidFill>
                            <a:srgbClr val="141428"/>
                          </a:solidFill>
                          <a:latin typeface="Calibri"/>
                        </a:rPr>
                        <a:t>Vermont Act 167 (2022)</a:t>
                      </a:r>
                    </a:p>
                  </a:txBody>
                  <a:tcPr>
                    <a:solidFill>
                      <a:srgbClr val="F0F4FC"/>
                    </a:solidFill>
                  </a:tcPr>
                </a:tc>
                <a:tc>
                  <a:txBody>
                    <a:bodyPr/>
                    <a:lstStyle/>
                    <a:p>
                      <a:pPr algn="l"/>
                      <a:r>
                        <a:rPr sz="1300" b="0">
                          <a:solidFill>
                            <a:srgbClr val="141428"/>
                          </a:solidFill>
                          <a:latin typeface="Calibri"/>
                        </a:rPr>
                        <a:t>/vermont-act-167</a:t>
                      </a:r>
                    </a:p>
                  </a:txBody>
                  <a:tcPr>
                    <a:solidFill>
                      <a:srgbClr val="F0F4FC"/>
                    </a:solidFill>
                  </a:tcPr>
                </a:tc>
                <a:tc>
                  <a:txBody>
                    <a:bodyPr/>
                    <a:lstStyle/>
                    <a:p>
                      <a:pPr algn="l"/>
                      <a:r>
                        <a:rPr sz="1300" b="0">
                          <a:solidFill>
                            <a:srgbClr val="141428"/>
                          </a:solidFill>
                          <a:latin typeface="Calibri"/>
                        </a:rPr>
                        <a:t>Policy Simulator</a:t>
                      </a:r>
                    </a:p>
                  </a:txBody>
                  <a:tcPr>
                    <a:solidFill>
                      <a:srgbClr val="F0F4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12 — How to read Chapter 5 (Policy in Practice)</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CMMI models, 1115 waivers, H.R. 1 implications.</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Policy in Practice — Chapter 5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Topic</a:t>
                      </a:r>
                    </a:p>
                  </a:txBody>
                  <a:tcPr>
                    <a:solidFill>
                      <a:srgbClr val="0F2850"/>
                    </a:solidFill>
                  </a:tcPr>
                </a:tc>
                <a:tc>
                  <a:txBody>
                    <a:bodyPr/>
                    <a:lstStyle/>
                    <a:p>
                      <a:pPr algn="ctr"/>
                      <a:r>
                        <a:rPr b="1" sz="1400">
                          <a:solidFill>
                            <a:srgbClr val="FFFFFF"/>
                          </a:solidFill>
                          <a:latin typeface="Calibri"/>
                        </a:rPr>
                        <a:t>Platform Tool</a:t>
                      </a:r>
                    </a:p>
                  </a:txBody>
                  <a:tcPr>
                    <a:solidFill>
                      <a:srgbClr val="0F2850"/>
                    </a:solidFill>
                  </a:tcPr>
                </a:tc>
                <a:tc>
                  <a:txBody>
                    <a:bodyPr/>
                    <a:lstStyle/>
                    <a:p>
                      <a:pPr algn="ctr"/>
                      <a:r>
                        <a:rPr b="1" sz="1400">
                          <a:solidFill>
                            <a:srgbClr val="FFFFFF"/>
                          </a:solidFill>
                          <a:latin typeface="Calibri"/>
                        </a:rPr>
                        <a:t>What to Do With It</a:t>
                      </a:r>
                    </a:p>
                  </a:txBody>
                  <a:tcPr>
                    <a:solidFill>
                      <a:srgbClr val="0F2850"/>
                    </a:solidFill>
                  </a:tcPr>
                </a:tc>
              </a:tr>
              <a:tr h="580644">
                <a:tc>
                  <a:txBody>
                    <a:bodyPr/>
                    <a:lstStyle/>
                    <a:p>
                      <a:pPr algn="l"/>
                      <a:r>
                        <a:rPr sz="1300" b="1">
                          <a:solidFill>
                            <a:srgbClr val="141428"/>
                          </a:solidFill>
                          <a:latin typeface="Calibri"/>
                        </a:rPr>
                        <a:t>H.R. 1 Medicaid cuts</a:t>
                      </a:r>
                    </a:p>
                  </a:txBody>
                  <a:tcPr>
                    <a:solidFill>
                      <a:srgbClr val="F0F4FC"/>
                    </a:solidFill>
                  </a:tcPr>
                </a:tc>
                <a:tc>
                  <a:txBody>
                    <a:bodyPr/>
                    <a:lstStyle/>
                    <a:p>
                      <a:pPr algn="l"/>
                      <a:r>
                        <a:rPr sz="1300" b="0">
                          <a:solidFill>
                            <a:srgbClr val="141428"/>
                          </a:solidFill>
                          <a:latin typeface="Calibri"/>
                        </a:rPr>
                        <a:t>H.R. 1 Cliff Scenario (/research-lab/policy-quality?tab=hr1-cliff)</a:t>
                      </a:r>
                    </a:p>
                  </a:txBody>
                  <a:tcPr>
                    <a:solidFill>
                      <a:srgbClr val="F0F4FC"/>
                    </a:solidFill>
                  </a:tcPr>
                </a:tc>
                <a:tc>
                  <a:txBody>
                    <a:bodyPr/>
                    <a:lstStyle/>
                    <a:p>
                      <a:pPr algn="l"/>
                      <a:r>
                        <a:rPr sz="1300" b="0">
                          <a:solidFill>
                            <a:srgbClr val="141428"/>
                          </a:solidFill>
                          <a:latin typeface="Calibri"/>
                        </a:rPr>
                        <a:t>Model your state's coverage loss under each cut scenario</a:t>
                      </a:r>
                    </a:p>
                  </a:txBody>
                  <a:tcPr>
                    <a:solidFill>
                      <a:srgbClr val="F0F4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13 — How to read Chapter 6 (Technology Pillar)</a:t>
            </a:r>
          </a:p>
        </p:txBody>
      </p:sp>
      <p:sp>
        <p:nvSpPr>
          <p:cNvPr id="5" name="TextBox 4"/>
          <p:cNvSpPr txBox="1"/>
          <p:nvPr/>
        </p:nvSpPr>
        <p:spPr>
          <a:xfrm>
            <a:off x="502920" y="1527048"/>
            <a:ext cx="11185855" cy="2169871"/>
          </a:xfrm>
          <a:prstGeom prst="rect">
            <a:avLst/>
          </a:prstGeom>
          <a:noFill/>
        </p:spPr>
        <p:txBody>
          <a:bodyPr wrap="square">
            <a:spAutoFit/>
          </a:bodyPr>
          <a:lstStyle/>
          <a:p>
            <a:pPr algn="l">
              <a:spcBef>
                <a:spcPts val="800"/>
              </a:spcBef>
            </a:pPr>
            <a:r>
              <a:rPr sz="2000" b="0">
                <a:solidFill>
                  <a:srgbClr val="141428"/>
                </a:solidFill>
                <a:latin typeface="Calibri"/>
              </a:rPr>
              <a:t>Technology enables every other pillar — it is the data infrastructure, the interoperability layer, and the AI governance framework that makes all other reform measurable and accountable.</a:t>
            </a:r>
          </a:p>
          <a:p>
            <a:pPr>
              <a:spcBef>
                <a:spcPts val="400"/>
              </a:spcBef>
            </a:pPr>
          </a:p>
          <a:p>
            <a:pPr algn="l">
              <a:spcBef>
                <a:spcPts val="800"/>
              </a:spcBef>
            </a:pPr>
            <a:r>
              <a:rPr sz="2000" b="1">
                <a:solidFill>
                  <a:srgbClr val="141428"/>
                </a:solidFill>
                <a:latin typeface="Calibri"/>
              </a:rPr>
              <a:t>Book covers VHCURES, VITL, Act 62 governance, FHIR, the Vermont CIN, AI governance.</a:t>
            </a:r>
          </a:p>
          <a:p>
            <a:pPr>
              <a:spcBef>
                <a:spcPts val="400"/>
              </a:spcBef>
            </a:pPr>
          </a:p>
          <a:p>
            <a:pPr algn="l">
              <a:spcBef>
                <a:spcPts val="800"/>
              </a:spcBef>
            </a:pPr>
            <a:r>
              <a:rPr sz="2000" b="1">
                <a:solidFill>
                  <a:srgbClr val="141428"/>
                </a:solidFill>
                <a:latin typeface="Calibri"/>
              </a:rPr>
              <a:t>Platform companion:</a:t>
            </a:r>
          </a:p>
          <a:p>
            <a:pPr algn="l">
              <a:spcBef>
                <a:spcPts val="400"/>
              </a:spcBef>
            </a:pPr>
            <a:r>
              <a:rPr sz="2000" b="1">
                <a:solidFill>
                  <a:srgbClr val="0F2850"/>
                </a:solidFill>
                <a:latin typeface="Calibri"/>
              </a:rPr>
              <a:t>•  </a:t>
            </a:r>
            <a:r>
              <a:rPr sz="2000" b="0">
                <a:solidFill>
                  <a:srgbClr val="141428"/>
                </a:solidFill>
                <a:latin typeface="Calibri"/>
              </a:rPr>
              <a:t>/technology overview</a:t>
            </a:r>
          </a:p>
          <a:p>
            <a:pPr algn="l">
              <a:spcBef>
                <a:spcPts val="400"/>
              </a:spcBef>
            </a:pPr>
            <a:r>
              <a:rPr sz="2000" b="1">
                <a:solidFill>
                  <a:srgbClr val="0F2850"/>
                </a:solidFill>
                <a:latin typeface="Calibri"/>
              </a:rPr>
              <a:t>•  </a:t>
            </a:r>
            <a:r>
              <a:rPr sz="2000" b="0">
                <a:solidFill>
                  <a:srgbClr val="141428"/>
                </a:solidFill>
                <a:latin typeface="Calibri"/>
              </a:rPr>
              <a:t>/technology/security — data governance</a:t>
            </a:r>
          </a:p>
          <a:p>
            <a:pPr algn="l">
              <a:spcBef>
                <a:spcPts val="400"/>
              </a:spcBef>
            </a:pPr>
            <a:r>
              <a:rPr sz="2000" b="1">
                <a:solidFill>
                  <a:srgbClr val="0F2850"/>
                </a:solidFill>
                <a:latin typeface="Calibri"/>
              </a:rPr>
              <a:t>•  </a:t>
            </a:r>
            <a:r>
              <a:rPr sz="2000" b="1">
                <a:solidFill>
                  <a:srgbClr val="141428"/>
                </a:solidFill>
                <a:latin typeface="Calibri"/>
              </a:rPr>
              <a:t>Research Lab: FHIR Interoperability Lab (/research-lab/interoperability?tab=fhir)</a:t>
            </a:r>
          </a:p>
          <a:p>
            <a:pPr algn="l">
              <a:spcBef>
                <a:spcPts val="400"/>
              </a:spcBef>
            </a:pPr>
            <a:r>
              <a:rPr sz="2000" b="1">
                <a:solidFill>
                  <a:srgbClr val="0F2850"/>
                </a:solidFill>
                <a:latin typeface="Calibri"/>
              </a:rPr>
              <a:t>•  </a:t>
            </a:r>
            <a:r>
              <a:rPr sz="2000" b="1">
                <a:solidFill>
                  <a:srgbClr val="141428"/>
                </a:solidFill>
                <a:latin typeface="Calibri"/>
              </a:rPr>
              <a:t>Research Lab: AI Clinical Governance Lab (/research-lab/technology-ai?tab=ai)</a:t>
            </a:r>
          </a:p>
        </p:txBody>
      </p:sp>
      <p:sp>
        <p:nvSpPr>
          <p:cNvPr id="6" name="TextBox 5"/>
          <p:cNvSpPr txBox="1"/>
          <p:nvPr/>
        </p:nvSpPr>
        <p:spPr>
          <a:xfrm>
            <a:off x="502920" y="3806647"/>
            <a:ext cx="11185855" cy="347472"/>
          </a:xfrm>
          <a:prstGeom prst="rect">
            <a:avLst/>
          </a:prstGeom>
          <a:noFill/>
        </p:spPr>
        <p:txBody>
          <a:bodyPr wrap="none">
            <a:spAutoFit/>
          </a:bodyPr>
          <a:lstStyle/>
          <a:p>
            <a:r>
              <a:rPr b="1" sz="1600">
                <a:solidFill>
                  <a:srgbClr val="0F2850"/>
                </a:solidFill>
                <a:latin typeface="Calibri"/>
              </a:rPr>
              <a:t>Technology Pillar — Data Flow</a:t>
            </a:r>
          </a:p>
        </p:txBody>
      </p:sp>
      <p:sp>
        <p:nvSpPr>
          <p:cNvPr id="7" name="Rounded Rectangle 6"/>
          <p:cNvSpPr/>
          <p:nvPr/>
        </p:nvSpPr>
        <p:spPr>
          <a:xfrm>
            <a:off x="502920" y="4208983"/>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Data Collection (VHCURES + VITL)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14 — How to read Chapter 7 (Technology in Practice)</a:t>
            </a:r>
          </a:p>
        </p:txBody>
      </p:sp>
      <p:sp>
        <p:nvSpPr>
          <p:cNvPr id="5" name="TextBox 4"/>
          <p:cNvSpPr txBox="1"/>
          <p:nvPr/>
        </p:nvSpPr>
        <p:spPr>
          <a:xfrm>
            <a:off x="502920" y="1527048"/>
            <a:ext cx="11185855" cy="2169871"/>
          </a:xfrm>
          <a:prstGeom prst="rect">
            <a:avLst/>
          </a:prstGeom>
          <a:noFill/>
        </p:spPr>
        <p:txBody>
          <a:bodyPr wrap="square">
            <a:spAutoFit/>
          </a:bodyPr>
          <a:lstStyle/>
          <a:p>
            <a:pPr algn="l">
              <a:spcBef>
                <a:spcPts val="800"/>
              </a:spcBef>
            </a:pPr>
            <a:r>
              <a:rPr sz="2000" b="1">
                <a:solidFill>
                  <a:srgbClr val="141428"/>
                </a:solidFill>
                <a:latin typeface="Calibri"/>
              </a:rPr>
              <a:t>Book covers AI scribe, RPM, telehealth, diagnostic AI, the AI Clinical Governance Lifecycle, alert fatigue.</a:t>
            </a:r>
          </a:p>
          <a:p>
            <a:pPr>
              <a:spcBef>
                <a:spcPts val="400"/>
              </a:spcBef>
            </a:pPr>
          </a:p>
          <a:p>
            <a:pPr algn="l">
              <a:spcBef>
                <a:spcPts val="800"/>
              </a:spcBef>
            </a:pPr>
            <a:r>
              <a:rPr sz="2000" b="1">
                <a:solidFill>
                  <a:srgbClr val="141428"/>
                </a:solidFill>
                <a:latin typeface="Calibri"/>
              </a:rPr>
              <a:t>Platform companion:</a:t>
            </a:r>
          </a:p>
          <a:p>
            <a:pPr algn="l">
              <a:spcBef>
                <a:spcPts val="400"/>
              </a:spcBef>
            </a:pPr>
            <a:r>
              <a:rPr sz="2000" b="1">
                <a:solidFill>
                  <a:srgbClr val="0F2850"/>
                </a:solidFill>
                <a:latin typeface="Calibri"/>
              </a:rPr>
              <a:t>•  </a:t>
            </a:r>
            <a:r>
              <a:rPr sz="2000" b="0">
                <a:solidFill>
                  <a:srgbClr val="141428"/>
                </a:solidFill>
                <a:latin typeface="Calibri"/>
              </a:rPr>
              <a:t>/research-lab/technology-ai?tab=ai — AI Clinical Governance Lab</a:t>
            </a:r>
          </a:p>
          <a:p>
            <a:pPr algn="l">
              <a:spcBef>
                <a:spcPts val="400"/>
              </a:spcBef>
            </a:pPr>
            <a:r>
              <a:rPr sz="2000" b="1">
                <a:solidFill>
                  <a:srgbClr val="0F2850"/>
                </a:solidFill>
                <a:latin typeface="Calibri"/>
              </a:rPr>
              <a:t>•  </a:t>
            </a:r>
            <a:r>
              <a:rPr sz="2000" b="0">
                <a:solidFill>
                  <a:srgbClr val="141428"/>
                </a:solidFill>
                <a:latin typeface="Calibri"/>
              </a:rPr>
              <a:t>/research-lab/technology-ai?tab=digital — Digital Health Lab</a:t>
            </a:r>
          </a:p>
          <a:p>
            <a:pPr algn="l">
              <a:spcBef>
                <a:spcPts val="400"/>
              </a:spcBef>
            </a:pPr>
            <a:r>
              <a:rPr sz="2000" b="1">
                <a:solidFill>
                  <a:srgbClr val="0F2850"/>
                </a:solidFill>
                <a:latin typeface="Calibri"/>
              </a:rPr>
              <a:t>•  </a:t>
            </a:r>
            <a:r>
              <a:rPr sz="2000" b="0">
                <a:solidFill>
                  <a:srgbClr val="141428"/>
                </a:solidFill>
                <a:latin typeface="Calibri"/>
              </a:rPr>
              <a:t>/research-lab/vbc-clinical-quality?tab=hl7 — Clinical Data Exchange Lab</a:t>
            </a:r>
          </a:p>
          <a:p>
            <a:pPr algn="l">
              <a:spcBef>
                <a:spcPts val="400"/>
              </a:spcBef>
            </a:pPr>
            <a:r>
              <a:rPr sz="2000" b="1">
                <a:solidFill>
                  <a:srgbClr val="0F2850"/>
                </a:solidFill>
                <a:latin typeface="Calibri"/>
              </a:rPr>
              <a:t>•  </a:t>
            </a:r>
            <a:r>
              <a:rPr sz="2000" b="0">
                <a:solidFill>
                  <a:srgbClr val="141428"/>
                </a:solidFill>
                <a:latin typeface="Calibri"/>
              </a:rPr>
              <a:t>/research-lab/interoperability?tab=fhir — FHIR Interoperability Lab</a:t>
            </a:r>
          </a:p>
        </p:txBody>
      </p:sp>
      <p:sp>
        <p:nvSpPr>
          <p:cNvPr id="6" name="TextBox 5"/>
          <p:cNvSpPr txBox="1"/>
          <p:nvPr/>
        </p:nvSpPr>
        <p:spPr>
          <a:xfrm>
            <a:off x="502920" y="3806647"/>
            <a:ext cx="11185855" cy="347472"/>
          </a:xfrm>
          <a:prstGeom prst="rect">
            <a:avLst/>
          </a:prstGeom>
          <a:noFill/>
        </p:spPr>
        <p:txBody>
          <a:bodyPr wrap="none">
            <a:spAutoFit/>
          </a:bodyPr>
          <a:lstStyle/>
          <a:p>
            <a:r>
              <a:rPr b="1" sz="1600">
                <a:solidFill>
                  <a:srgbClr val="0F2850"/>
                </a:solidFill>
                <a:latin typeface="Calibri"/>
              </a:rPr>
              <a:t>Technology Tools — Chapter 7 Companion</a:t>
            </a:r>
          </a:p>
        </p:txBody>
      </p:sp>
      <p:graphicFrame>
        <p:nvGraphicFramePr>
          <p:cNvPr id="7" name="Table 6"/>
          <p:cNvGraphicFramePr>
            <a:graphicFrameLocks noGrp="1"/>
          </p:cNvGraphicFramePr>
          <p:nvPr/>
        </p:nvGraphicFramePr>
        <p:xfrm>
          <a:off x="502920" y="4190695"/>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Tool</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c>
                  <a:txBody>
                    <a:bodyPr/>
                    <a:lstStyle/>
                    <a:p>
                      <a:pPr algn="ctr"/>
                      <a:r>
                        <a:rPr b="1" sz="1400">
                          <a:solidFill>
                            <a:srgbClr val="FFFFFF"/>
                          </a:solidFill>
                          <a:latin typeface="Calibri"/>
                        </a:rPr>
                        <a:t>What It Does</a:t>
                      </a:r>
                    </a:p>
                  </a:txBody>
                  <a:tcPr>
                    <a:solidFill>
                      <a:srgbClr val="0F2850"/>
                    </a:solidFill>
                  </a:tcPr>
                </a:tc>
              </a:tr>
              <a:tr h="580644">
                <a:tc>
                  <a:txBody>
                    <a:bodyPr/>
                    <a:lstStyle/>
                    <a:p>
                      <a:pPr algn="l"/>
                      <a:r>
                        <a:rPr sz="1300" b="1">
                          <a:solidFill>
                            <a:srgbClr val="141428"/>
                          </a:solidFill>
                          <a:latin typeface="Calibri"/>
                        </a:rPr>
                        <a:t>AI Governance Lab</a:t>
                      </a:r>
                    </a:p>
                  </a:txBody>
                  <a:tcPr>
                    <a:solidFill>
                      <a:srgbClr val="F0F4FC"/>
                    </a:solidFill>
                  </a:tcPr>
                </a:tc>
                <a:tc>
                  <a:txBody>
                    <a:bodyPr/>
                    <a:lstStyle/>
                    <a:p>
                      <a:pPr algn="l"/>
                      <a:r>
                        <a:rPr sz="1300" b="0">
                          <a:solidFill>
                            <a:srgbClr val="141428"/>
                          </a:solidFill>
                          <a:latin typeface="Calibri"/>
                        </a:rPr>
                        <a:t>/research-lab/technology-ai?tab=ai</a:t>
                      </a:r>
                    </a:p>
                  </a:txBody>
                  <a:tcPr>
                    <a:solidFill>
                      <a:srgbClr val="F0F4FC"/>
                    </a:solidFill>
                  </a:tcPr>
                </a:tc>
                <a:tc>
                  <a:txBody>
                    <a:bodyPr/>
                    <a:lstStyle/>
                    <a:p>
                      <a:pPr algn="l"/>
                      <a:r>
                        <a:rPr sz="1300" b="0">
                          <a:solidFill>
                            <a:srgbClr val="141428"/>
                          </a:solidFill>
                          <a:latin typeface="Calibri"/>
                        </a:rPr>
                        <a:t>Score an AI vendor against the full governance lifecycle</a:t>
                      </a:r>
                    </a:p>
                  </a:txBody>
                  <a:tcPr>
                    <a:solidFill>
                      <a:srgbClr val="F0F4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15 — How to read Chapter 8 (Economics Pillar)</a:t>
            </a:r>
          </a:p>
        </p:txBody>
      </p:sp>
      <p:sp>
        <p:nvSpPr>
          <p:cNvPr id="5" name="TextBox 4"/>
          <p:cNvSpPr txBox="1"/>
          <p:nvPr/>
        </p:nvSpPr>
        <p:spPr>
          <a:xfrm>
            <a:off x="502920" y="1527048"/>
            <a:ext cx="11185855" cy="2169871"/>
          </a:xfrm>
          <a:prstGeom prst="rect">
            <a:avLst/>
          </a:prstGeom>
          <a:noFill/>
        </p:spPr>
        <p:txBody>
          <a:bodyPr wrap="square">
            <a:spAutoFit/>
          </a:bodyPr>
          <a:lstStyle/>
          <a:p>
            <a:pPr algn="l">
              <a:spcBef>
                <a:spcPts val="800"/>
              </a:spcBef>
            </a:pPr>
            <a:r>
              <a:rPr sz="2000" b="0">
                <a:solidFill>
                  <a:srgbClr val="141428"/>
                </a:solidFill>
                <a:latin typeface="Calibri"/>
              </a:rPr>
              <a:t>Economics follows Technology because global budgets are only possible once you have the data infrastructure to measure them. Act 68 is a payment reform built on top of Vermont's VHCURES data system.</a:t>
            </a:r>
          </a:p>
          <a:p>
            <a:pPr>
              <a:spcBef>
                <a:spcPts val="400"/>
              </a:spcBef>
            </a:pPr>
          </a:p>
          <a:p>
            <a:pPr algn="l">
              <a:spcBef>
                <a:spcPts val="800"/>
              </a:spcBef>
            </a:pPr>
            <a:r>
              <a:rPr sz="2000" b="1">
                <a:solidFill>
                  <a:srgbClr val="141428"/>
                </a:solidFill>
                <a:latin typeface="Calibri"/>
              </a:rPr>
              <a:t>Book covers the fee-for-service trap, Vermont's four global-budget attempts, Maryland's evidence, AHEAD integration.</a:t>
            </a:r>
          </a:p>
          <a:p>
            <a:pPr>
              <a:spcBef>
                <a:spcPts val="400"/>
              </a:spcBef>
            </a:pPr>
          </a:p>
          <a:p>
            <a:pPr algn="l">
              <a:spcBef>
                <a:spcPts val="800"/>
              </a:spcBef>
            </a:pPr>
            <a:r>
              <a:rPr sz="2000" b="1">
                <a:solidFill>
                  <a:srgbClr val="141428"/>
                </a:solidFill>
                <a:latin typeface="Calibri"/>
              </a:rPr>
              <a:t>Platform companion:</a:t>
            </a:r>
          </a:p>
          <a:p>
            <a:pPr algn="l">
              <a:spcBef>
                <a:spcPts val="400"/>
              </a:spcBef>
            </a:pPr>
            <a:r>
              <a:rPr sz="2000" b="1">
                <a:solidFill>
                  <a:srgbClr val="0F2850"/>
                </a:solidFill>
                <a:latin typeface="Calibri"/>
              </a:rPr>
              <a:t>•  </a:t>
            </a:r>
            <a:r>
              <a:rPr sz="2000" b="0">
                <a:solidFill>
                  <a:srgbClr val="141428"/>
                </a:solidFill>
                <a:latin typeface="Calibri"/>
              </a:rPr>
              <a:t>/ahead-model — full AHEAD page</a:t>
            </a:r>
          </a:p>
          <a:p>
            <a:pPr algn="l">
              <a:spcBef>
                <a:spcPts val="400"/>
              </a:spcBef>
            </a:pPr>
            <a:r>
              <a:rPr sz="2000" b="1">
                <a:solidFill>
                  <a:srgbClr val="0F2850"/>
                </a:solidFill>
                <a:latin typeface="Calibri"/>
              </a:rPr>
              <a:t>•  </a:t>
            </a:r>
            <a:r>
              <a:rPr sz="2000" b="0">
                <a:solidFill>
                  <a:srgbClr val="141428"/>
                </a:solidFill>
                <a:latin typeface="Calibri"/>
              </a:rPr>
              <a:t>/vermont-act-68 — the legislative mandate</a:t>
            </a:r>
          </a:p>
          <a:p>
            <a:pPr algn="l">
              <a:spcBef>
                <a:spcPts val="400"/>
              </a:spcBef>
            </a:pPr>
            <a:r>
              <a:rPr sz="2000" b="1">
                <a:solidFill>
                  <a:srgbClr val="0F2850"/>
                </a:solidFill>
                <a:latin typeface="Calibri"/>
              </a:rPr>
              <a:t>•  </a:t>
            </a:r>
            <a:r>
              <a:rPr sz="2000" b="1">
                <a:solidFill>
                  <a:srgbClr val="141428"/>
                </a:solidFill>
                <a:latin typeface="Calibri"/>
              </a:rPr>
              <a:t>Research Lab: APM Design Lab (/research-lab/payment-models?tab=apm-design)</a:t>
            </a:r>
          </a:p>
          <a:p>
            <a:pPr algn="l">
              <a:spcBef>
                <a:spcPts val="400"/>
              </a:spcBef>
            </a:pPr>
            <a:r>
              <a:rPr sz="2000" b="1">
                <a:solidFill>
                  <a:srgbClr val="0F2850"/>
                </a:solidFill>
                <a:latin typeface="Calibri"/>
              </a:rPr>
              <a:t>•  </a:t>
            </a:r>
            <a:r>
              <a:rPr sz="2000" b="1">
                <a:solidFill>
                  <a:srgbClr val="141428"/>
                </a:solidFill>
                <a:latin typeface="Calibri"/>
              </a:rPr>
              <a:t>Research Lab: Global Budget Transition Modeler</a:t>
            </a:r>
          </a:p>
        </p:txBody>
      </p:sp>
      <p:sp>
        <p:nvSpPr>
          <p:cNvPr id="6" name="TextBox 5"/>
          <p:cNvSpPr txBox="1"/>
          <p:nvPr/>
        </p:nvSpPr>
        <p:spPr>
          <a:xfrm>
            <a:off x="502920" y="3806647"/>
            <a:ext cx="11185855" cy="347472"/>
          </a:xfrm>
          <a:prstGeom prst="rect">
            <a:avLst/>
          </a:prstGeom>
          <a:noFill/>
        </p:spPr>
        <p:txBody>
          <a:bodyPr wrap="none">
            <a:spAutoFit/>
          </a:bodyPr>
          <a:lstStyle/>
          <a:p>
            <a:r>
              <a:rPr b="1" sz="1600">
                <a:solidFill>
                  <a:srgbClr val="0F2850"/>
                </a:solidFill>
                <a:latin typeface="Calibri"/>
              </a:rPr>
              <a:t>Economics Tools — Chapter 8 Companion</a:t>
            </a:r>
          </a:p>
        </p:txBody>
      </p:sp>
      <p:graphicFrame>
        <p:nvGraphicFramePr>
          <p:cNvPr id="7" name="Table 6"/>
          <p:cNvGraphicFramePr>
            <a:graphicFrameLocks noGrp="1"/>
          </p:cNvGraphicFramePr>
          <p:nvPr/>
        </p:nvGraphicFramePr>
        <p:xfrm>
          <a:off x="502920" y="4190695"/>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Tool</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c>
                  <a:txBody>
                    <a:bodyPr/>
                    <a:lstStyle/>
                    <a:p>
                      <a:pPr algn="ctr"/>
                      <a:r>
                        <a:rPr b="1" sz="1400">
                          <a:solidFill>
                            <a:srgbClr val="FFFFFF"/>
                          </a:solidFill>
                          <a:latin typeface="Calibri"/>
                        </a:rPr>
                        <a:t>What It Does</a:t>
                      </a:r>
                    </a:p>
                  </a:txBody>
                  <a:tcPr>
                    <a:solidFill>
                      <a:srgbClr val="0F2850"/>
                    </a:solidFill>
                  </a:tcPr>
                </a:tc>
              </a:tr>
              <a:tr h="580644">
                <a:tc>
                  <a:txBody>
                    <a:bodyPr/>
                    <a:lstStyle/>
                    <a:p>
                      <a:pPr algn="l"/>
                      <a:r>
                        <a:rPr sz="1300" b="1">
                          <a:solidFill>
                            <a:srgbClr val="141428"/>
                          </a:solidFill>
                          <a:latin typeface="Calibri"/>
                        </a:rPr>
                        <a:t>APM Design Lab</a:t>
                      </a:r>
                    </a:p>
                  </a:txBody>
                  <a:tcPr>
                    <a:solidFill>
                      <a:srgbClr val="F0F4FC"/>
                    </a:solidFill>
                  </a:tcPr>
                </a:tc>
                <a:tc>
                  <a:txBody>
                    <a:bodyPr/>
                    <a:lstStyle/>
                    <a:p>
                      <a:pPr algn="l"/>
                      <a:r>
                        <a:rPr sz="1300" b="0">
                          <a:solidFill>
                            <a:srgbClr val="141428"/>
                          </a:solidFill>
                          <a:latin typeface="Calibri"/>
                        </a:rPr>
                        <a:t>/research-lab/payment-models?tab=apm-design</a:t>
                      </a:r>
                    </a:p>
                  </a:txBody>
                  <a:tcPr>
                    <a:solidFill>
                      <a:srgbClr val="F0F4FC"/>
                    </a:solidFill>
                  </a:tcPr>
                </a:tc>
                <a:tc>
                  <a:txBody>
                    <a:bodyPr/>
                    <a:lstStyle/>
                    <a:p>
                      <a:pPr algn="l"/>
                      <a:r>
                        <a:rPr sz="1300" b="0">
                          <a:solidFill>
                            <a:srgbClr val="141428"/>
                          </a:solidFill>
                          <a:latin typeface="Calibri"/>
                        </a:rPr>
                        <a:t>Design alternative payment models from scratch</a:t>
                      </a:r>
                    </a:p>
                  </a:txBody>
                  <a:tcPr>
                    <a:solidFill>
                      <a:srgbClr val="F0F4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16 — How to read Chapter 9 (Economics in Practice)</a:t>
            </a:r>
          </a:p>
        </p:txBody>
      </p:sp>
      <p:sp>
        <p:nvSpPr>
          <p:cNvPr id="5" name="TextBox 4"/>
          <p:cNvSpPr txBox="1"/>
          <p:nvPr/>
        </p:nvSpPr>
        <p:spPr>
          <a:xfrm>
            <a:off x="502920" y="1527048"/>
            <a:ext cx="11185855" cy="2169871"/>
          </a:xfrm>
          <a:prstGeom prst="rect">
            <a:avLst/>
          </a:prstGeom>
          <a:noFill/>
        </p:spPr>
        <p:txBody>
          <a:bodyPr wrap="square">
            <a:spAutoFit/>
          </a:bodyPr>
          <a:lstStyle/>
          <a:p>
            <a:pPr algn="l">
              <a:spcBef>
                <a:spcPts val="800"/>
              </a:spcBef>
            </a:pPr>
            <a:r>
              <a:rPr sz="2000" b="1">
                <a:solidFill>
                  <a:srgbClr val="141428"/>
                </a:solidFill>
                <a:latin typeface="Calibri"/>
              </a:rPr>
              <a:t>Book has the 65-item VBC Contract Review Checklist (Appendix D) — most-cited operational tool in the book.</a:t>
            </a:r>
          </a:p>
          <a:p>
            <a:pPr>
              <a:spcBef>
                <a:spcPts val="400"/>
              </a:spcBef>
            </a:pPr>
          </a:p>
          <a:p>
            <a:pPr algn="l">
              <a:spcBef>
                <a:spcPts val="800"/>
              </a:spcBef>
            </a:pPr>
            <a:r>
              <a:rPr sz="2000" b="1">
                <a:solidFill>
                  <a:srgbClr val="141428"/>
                </a:solidFill>
                <a:latin typeface="Calibri"/>
              </a:rPr>
              <a:t>Platform companion:</a:t>
            </a:r>
          </a:p>
          <a:p>
            <a:pPr algn="l">
              <a:spcBef>
                <a:spcPts val="400"/>
              </a:spcBef>
            </a:pPr>
            <a:r>
              <a:rPr sz="2000" b="1">
                <a:solidFill>
                  <a:srgbClr val="0F2850"/>
                </a:solidFill>
                <a:latin typeface="Calibri"/>
              </a:rPr>
              <a:t>•  </a:t>
            </a:r>
            <a:r>
              <a:rPr sz="2000" b="1">
                <a:solidFill>
                  <a:srgbClr val="141428"/>
                </a:solidFill>
                <a:latin typeface="Calibri"/>
              </a:rPr>
              <a:t>Research Lab: Shared Savings Calculator (/research-lab/payment-models?tab=apm-calc)</a:t>
            </a:r>
          </a:p>
          <a:p>
            <a:pPr algn="l">
              <a:spcBef>
                <a:spcPts val="400"/>
              </a:spcBef>
            </a:pPr>
            <a:r>
              <a:rPr sz="2000" b="1">
                <a:solidFill>
                  <a:srgbClr val="0F2850"/>
                </a:solidFill>
                <a:latin typeface="Calibri"/>
              </a:rPr>
              <a:t>•  </a:t>
            </a:r>
            <a:r>
              <a:rPr sz="2000" b="1">
                <a:solidFill>
                  <a:srgbClr val="141428"/>
                </a:solidFill>
                <a:latin typeface="Calibri"/>
              </a:rPr>
              <a:t>Research Lab: CEA Calculator (/research-lab/payment-models?tab=cea)</a:t>
            </a:r>
          </a:p>
          <a:p>
            <a:pPr algn="l">
              <a:spcBef>
                <a:spcPts val="400"/>
              </a:spcBef>
            </a:pPr>
            <a:r>
              <a:rPr sz="2000" b="1">
                <a:solidFill>
                  <a:srgbClr val="0F2850"/>
                </a:solidFill>
                <a:latin typeface="Calibri"/>
              </a:rPr>
              <a:t>•  </a:t>
            </a:r>
            <a:r>
              <a:rPr sz="2000" b="1">
                <a:solidFill>
                  <a:srgbClr val="141428"/>
                </a:solidFill>
                <a:latin typeface="Calibri"/>
              </a:rPr>
              <a:t>VBC Readiness Assessment (/research-lab/knowledge-workspace?tab=readiness)</a:t>
            </a:r>
          </a:p>
          <a:p>
            <a:pPr algn="l">
              <a:spcBef>
                <a:spcPts val="400"/>
              </a:spcBef>
            </a:pPr>
            <a:r>
              <a:rPr sz="2000" b="1">
                <a:solidFill>
                  <a:srgbClr val="0F2850"/>
                </a:solidFill>
                <a:latin typeface="Calibri"/>
              </a:rPr>
              <a:t>•  </a:t>
            </a:r>
            <a:r>
              <a:rPr sz="2000" b="1">
                <a:solidFill>
                  <a:srgbClr val="141428"/>
                </a:solidFill>
                <a:latin typeface="Calibri"/>
              </a:rPr>
              <a:t>Hospital Financial Stress Test</a:t>
            </a:r>
          </a:p>
          <a:p>
            <a:pPr algn="l">
              <a:spcBef>
                <a:spcPts val="400"/>
              </a:spcBef>
            </a:pPr>
            <a:r>
              <a:rPr sz="2000" b="1">
                <a:solidFill>
                  <a:srgbClr val="0F2850"/>
                </a:solidFill>
                <a:latin typeface="Calibri"/>
              </a:rPr>
              <a:t>•  </a:t>
            </a:r>
            <a:r>
              <a:rPr sz="2000" b="1">
                <a:solidFill>
                  <a:srgbClr val="141428"/>
                </a:solidFill>
                <a:latin typeface="Calibri"/>
              </a:rPr>
              <a:t>Investment Tracker (/investment-tracker)</a:t>
            </a:r>
          </a:p>
        </p:txBody>
      </p:sp>
      <p:sp>
        <p:nvSpPr>
          <p:cNvPr id="6" name="TextBox 5"/>
          <p:cNvSpPr txBox="1"/>
          <p:nvPr/>
        </p:nvSpPr>
        <p:spPr>
          <a:xfrm>
            <a:off x="502920" y="3806647"/>
            <a:ext cx="11185855" cy="347472"/>
          </a:xfrm>
          <a:prstGeom prst="rect">
            <a:avLst/>
          </a:prstGeom>
          <a:noFill/>
        </p:spPr>
        <p:txBody>
          <a:bodyPr wrap="none">
            <a:spAutoFit/>
          </a:bodyPr>
          <a:lstStyle/>
          <a:p>
            <a:r>
              <a:rPr b="1" sz="1600">
                <a:solidFill>
                  <a:srgbClr val="0F2850"/>
                </a:solidFill>
                <a:latin typeface="Calibri"/>
              </a:rPr>
              <a:t>Economics in Practice — Tools by Task</a:t>
            </a:r>
          </a:p>
        </p:txBody>
      </p:sp>
      <p:graphicFrame>
        <p:nvGraphicFramePr>
          <p:cNvPr id="7" name="Table 6"/>
          <p:cNvGraphicFramePr>
            <a:graphicFrameLocks noGrp="1"/>
          </p:cNvGraphicFramePr>
          <p:nvPr/>
        </p:nvGraphicFramePr>
        <p:xfrm>
          <a:off x="502920" y="4190695"/>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Task</a:t>
                      </a:r>
                    </a:p>
                  </a:txBody>
                  <a:tcPr>
                    <a:solidFill>
                      <a:srgbClr val="0F2850"/>
                    </a:solidFill>
                  </a:tcPr>
                </a:tc>
                <a:tc>
                  <a:txBody>
                    <a:bodyPr/>
                    <a:lstStyle/>
                    <a:p>
                      <a:pPr algn="ctr"/>
                      <a:r>
                        <a:rPr b="1" sz="1400">
                          <a:solidFill>
                            <a:srgbClr val="FFFFFF"/>
                          </a:solidFill>
                          <a:latin typeface="Calibri"/>
                        </a:rPr>
                        <a:t>Tool</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r>
              <a:tr h="580644">
                <a:tc>
                  <a:txBody>
                    <a:bodyPr/>
                    <a:lstStyle/>
                    <a:p>
                      <a:pPr algn="l"/>
                      <a:r>
                        <a:rPr sz="1300" b="1">
                          <a:solidFill>
                            <a:srgbClr val="141428"/>
                          </a:solidFill>
                          <a:latin typeface="Calibri"/>
                        </a:rPr>
                        <a:t>Evaluate a shared savings contract</a:t>
                      </a:r>
                    </a:p>
                  </a:txBody>
                  <a:tcPr>
                    <a:solidFill>
                      <a:srgbClr val="F0F4FC"/>
                    </a:solidFill>
                  </a:tcPr>
                </a:tc>
                <a:tc>
                  <a:txBody>
                    <a:bodyPr/>
                    <a:lstStyle/>
                    <a:p>
                      <a:pPr algn="l"/>
                      <a:r>
                        <a:rPr sz="1300" b="0">
                          <a:solidFill>
                            <a:srgbClr val="141428"/>
                          </a:solidFill>
                          <a:latin typeface="Calibri"/>
                        </a:rPr>
                        <a:t>Shared Savings Calculator</a:t>
                      </a:r>
                    </a:p>
                  </a:txBody>
                  <a:tcPr>
                    <a:solidFill>
                      <a:srgbClr val="F0F4FC"/>
                    </a:solidFill>
                  </a:tcPr>
                </a:tc>
                <a:tc>
                  <a:txBody>
                    <a:bodyPr/>
                    <a:lstStyle/>
                    <a:p>
                      <a:pPr algn="l"/>
                      <a:r>
                        <a:rPr sz="1300" b="0">
                          <a:solidFill>
                            <a:srgbClr val="141428"/>
                          </a:solidFill>
                          <a:latin typeface="Calibri"/>
                        </a:rPr>
                        <a:t>/research-lab/payment-models?tab=apm-calc</a:t>
                      </a:r>
                    </a:p>
                  </a:txBody>
                  <a:tcPr>
                    <a:solidFill>
                      <a:srgbClr val="F0F4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17 — How to read Chapter 10 (Clinical Pillar)</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Blueprint for Health, VCCI, SASH Program, Designated Agencies, behavioral health architecture, Collaborative Care Model, PACE. Chapter 10 now includes full SASH, full DAs, and expanded VCCI sections.</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Clinical Pillar — Chapter 10 Platform Companion (Most Integrated Pairing)</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Section</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Research Lab Tool</a:t>
                      </a:r>
                    </a:p>
                  </a:txBody>
                  <a:tcPr>
                    <a:solidFill>
                      <a:srgbClr val="0F2850"/>
                    </a:solidFill>
                  </a:tcPr>
                </a:tc>
              </a:tr>
              <a:tr h="580644">
                <a:tc>
                  <a:txBody>
                    <a:bodyPr/>
                    <a:lstStyle/>
                    <a:p>
                      <a:pPr algn="l"/>
                      <a:r>
                        <a:rPr sz="1300" b="1">
                          <a:solidFill>
                            <a:srgbClr val="141428"/>
                          </a:solidFill>
                          <a:latin typeface="Calibri"/>
                        </a:rPr>
                        <a:t>Blueprint for Health</a:t>
                      </a:r>
                    </a:p>
                  </a:txBody>
                  <a:tcPr>
                    <a:solidFill>
                      <a:srgbClr val="F0F4FC"/>
                    </a:solidFill>
                  </a:tcPr>
                </a:tc>
                <a:tc>
                  <a:txBody>
                    <a:bodyPr/>
                    <a:lstStyle/>
                    <a:p>
                      <a:pPr algn="l"/>
                      <a:r>
                        <a:rPr sz="1300" b="0">
                          <a:solidFill>
                            <a:srgbClr val="141428"/>
                          </a:solidFill>
                          <a:latin typeface="Calibri"/>
                        </a:rPr>
                        <a:t>/vermont-blueprint</a:t>
                      </a:r>
                    </a:p>
                  </a:txBody>
                  <a:tcPr>
                    <a:solidFill>
                      <a:srgbClr val="F0F4FC"/>
                    </a:solidFill>
                  </a:tcPr>
                </a:tc>
                <a:tc>
                  <a:txBody>
                    <a:bodyPr/>
                    <a:lstStyle/>
                    <a:p>
                      <a:pPr algn="l"/>
                      <a:r>
                        <a:rPr sz="1300" b="0">
                          <a:solidFill>
                            <a:srgbClr val="141428"/>
                          </a:solidFill>
                          <a:latin typeface="Calibri"/>
                        </a:rPr>
                        <a:t>VBC Quality Measures + Clinical Quality Optimizer</a:t>
                      </a:r>
                    </a:p>
                  </a:txBody>
                  <a:tcPr>
                    <a:solidFill>
                      <a:srgbClr val="F0F4FC"/>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17b — VCCI Risk Stratification — the 4-Tier Model</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VCCI 4-Tier Risk Stratification 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Patient Data Intake (CDPS + SDOH)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18 — How to read Chapter 11 (Clinical in Practice)</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PCMH transformation, Blueprint field staff, HEDIS, Collaborative Care deployment.</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Clinical in Practice — Chapter 11 Tools</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Task</a:t>
                      </a:r>
                    </a:p>
                  </a:txBody>
                  <a:tcPr>
                    <a:solidFill>
                      <a:srgbClr val="0F2850"/>
                    </a:solidFill>
                  </a:tcPr>
                </a:tc>
                <a:tc>
                  <a:txBody>
                    <a:bodyPr/>
                    <a:lstStyle/>
                    <a:p>
                      <a:pPr algn="ctr"/>
                      <a:r>
                        <a:rPr b="1" sz="1400">
                          <a:solidFill>
                            <a:srgbClr val="FFFFFF"/>
                          </a:solidFill>
                          <a:latin typeface="Calibri"/>
                        </a:rPr>
                        <a:t>Tool</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r>
              <a:tr h="580644">
                <a:tc>
                  <a:txBody>
                    <a:bodyPr/>
                    <a:lstStyle/>
                    <a:p>
                      <a:pPr algn="l"/>
                      <a:r>
                        <a:rPr sz="1300" b="1">
                          <a:solidFill>
                            <a:srgbClr val="141428"/>
                          </a:solidFill>
                          <a:latin typeface="Calibri"/>
                        </a:rPr>
                        <a:t>Walk through a HEDIS rate</a:t>
                      </a:r>
                    </a:p>
                  </a:txBody>
                  <a:tcPr>
                    <a:solidFill>
                      <a:srgbClr val="F0F4FC"/>
                    </a:solidFill>
                  </a:tcPr>
                </a:tc>
                <a:tc>
                  <a:txBody>
                    <a:bodyPr/>
                    <a:lstStyle/>
                    <a:p>
                      <a:pPr algn="l"/>
                      <a:r>
                        <a:rPr sz="1300" b="0">
                          <a:solidFill>
                            <a:srgbClr val="141428"/>
                          </a:solidFill>
                          <a:latin typeface="Calibri"/>
                        </a:rPr>
                        <a:t>VBC Quality Measures</a:t>
                      </a:r>
                    </a:p>
                  </a:txBody>
                  <a:tcPr>
                    <a:solidFill>
                      <a:srgbClr val="F0F4FC"/>
                    </a:solidFill>
                  </a:tcPr>
                </a:tc>
                <a:tc>
                  <a:txBody>
                    <a:bodyPr/>
                    <a:lstStyle/>
                    <a:p>
                      <a:pPr algn="l"/>
                      <a:r>
                        <a:rPr sz="1300" b="0">
                          <a:solidFill>
                            <a:srgbClr val="141428"/>
                          </a:solidFill>
                          <a:latin typeface="Calibri"/>
                        </a:rPr>
                        <a:t>/research-lab/vbc-clinical-quality?tab=quality</a:t>
                      </a:r>
                    </a:p>
                  </a:txBody>
                  <a:tcPr>
                    <a:solidFill>
                      <a:srgbClr val="F0F4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19 — How to read Chapter 12 (Equity Pillar)</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SDOH as structural, Vermont's 8 SDOH domains, algorithmic bias, access disparity.</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Equity Pillar — Chapter 12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Topic</a:t>
                      </a:r>
                    </a:p>
                  </a:txBody>
                  <a:tcPr>
                    <a:solidFill>
                      <a:srgbClr val="0F2850"/>
                    </a:solidFill>
                  </a:tcPr>
                </a:tc>
                <a:tc>
                  <a:txBody>
                    <a:bodyPr/>
                    <a:lstStyle/>
                    <a:p>
                      <a:pPr algn="ctr"/>
                      <a:r>
                        <a:rPr b="1" sz="1400">
                          <a:solidFill>
                            <a:srgbClr val="FFFFFF"/>
                          </a:solidFill>
                          <a:latin typeface="Calibri"/>
                        </a:rPr>
                        <a:t>Platform Page / Tool</a:t>
                      </a:r>
                    </a:p>
                  </a:txBody>
                  <a:tcPr>
                    <a:solidFill>
                      <a:srgbClr val="0F2850"/>
                    </a:solidFill>
                  </a:tcPr>
                </a:tc>
                <a:tc>
                  <a:txBody>
                    <a:bodyPr/>
                    <a:lstStyle/>
                    <a:p>
                      <a:pPr algn="ctr"/>
                      <a:r>
                        <a:rPr b="1" sz="1400">
                          <a:solidFill>
                            <a:srgbClr val="FFFFFF"/>
                          </a:solidFill>
                          <a:latin typeface="Calibri"/>
                        </a:rPr>
                        <a:t>What to Do</a:t>
                      </a:r>
                    </a:p>
                  </a:txBody>
                  <a:tcPr>
                    <a:solidFill>
                      <a:srgbClr val="0F2850"/>
                    </a:solidFill>
                  </a:tcPr>
                </a:tc>
              </a:tr>
              <a:tr h="580644">
                <a:tc>
                  <a:txBody>
                    <a:bodyPr/>
                    <a:lstStyle/>
                    <a:p>
                      <a:pPr algn="l"/>
                      <a:r>
                        <a:rPr sz="1300" b="1">
                          <a:solidFill>
                            <a:srgbClr val="141428"/>
                          </a:solidFill>
                          <a:latin typeface="Calibri"/>
                        </a:rPr>
                        <a:t>Vermont's 8 SDOH domains</a:t>
                      </a:r>
                    </a:p>
                  </a:txBody>
                  <a:tcPr>
                    <a:solidFill>
                      <a:srgbClr val="F0F4FC"/>
                    </a:solidFill>
                  </a:tcPr>
                </a:tc>
                <a:tc>
                  <a:txBody>
                    <a:bodyPr/>
                    <a:lstStyle/>
                    <a:p>
                      <a:pPr algn="l"/>
                      <a:r>
                        <a:rPr sz="1300" b="0">
                          <a:solidFill>
                            <a:srgbClr val="141428"/>
                          </a:solidFill>
                          <a:latin typeface="Calibri"/>
                        </a:rPr>
                        <a:t>/vermont-sdoh</a:t>
                      </a:r>
                    </a:p>
                  </a:txBody>
                  <a:tcPr>
                    <a:solidFill>
                      <a:srgbClr val="F0F4FC"/>
                    </a:solidFill>
                  </a:tcPr>
                </a:tc>
                <a:tc>
                  <a:txBody>
                    <a:bodyPr/>
                    <a:lstStyle/>
                    <a:p>
                      <a:pPr algn="l"/>
                      <a:r>
                        <a:rPr sz="1300" b="0">
                          <a:solidFill>
                            <a:srgbClr val="141428"/>
                          </a:solidFill>
                          <a:latin typeface="Calibri"/>
                        </a:rPr>
                        <a:t>Map your population against all 8 domains</a:t>
                      </a:r>
                    </a:p>
                  </a:txBody>
                  <a:tcPr>
                    <a:solidFill>
                      <a:srgbClr val="F0F4FC"/>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20 — How to read Chapter 13 (Equity in Practice)</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introduces HEROI (Health Equity ROI Index) — the most operationally novel metric in the book.</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HEROI Calculation Workflow</a:t>
            </a:r>
          </a:p>
        </p:txBody>
      </p:sp>
      <p:sp>
        <p:nvSpPr>
          <p:cNvPr id="7" name="Rounded Rectangle 6"/>
          <p:cNvSpPr/>
          <p:nvPr/>
        </p:nvSpPr>
        <p:spPr>
          <a:xfrm>
            <a:off x="502920" y="256946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HEROI definition in Chapter 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21 — How to read Chapter 14 (Operations Pillar)</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revenue cycle under global budgets, HCC coding, workforce, supply chain, compliance.</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Operations Pillar — Chapter 14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Topic</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Tool</a:t>
                      </a:r>
                    </a:p>
                  </a:txBody>
                  <a:tcPr>
                    <a:solidFill>
                      <a:srgbClr val="0F2850"/>
                    </a:solidFill>
                  </a:tcPr>
                </a:tc>
              </a:tr>
              <a:tr h="580644">
                <a:tc>
                  <a:txBody>
                    <a:bodyPr/>
                    <a:lstStyle/>
                    <a:p>
                      <a:pPr algn="l"/>
                      <a:r>
                        <a:rPr sz="1300" b="1">
                          <a:solidFill>
                            <a:srgbClr val="141428"/>
                          </a:solidFill>
                          <a:latin typeface="Calibri"/>
                        </a:rPr>
                        <a:t>Revenue cycle under global budgets</a:t>
                      </a:r>
                    </a:p>
                  </a:txBody>
                  <a:tcPr>
                    <a:solidFill>
                      <a:srgbClr val="F0F4FC"/>
                    </a:solidFill>
                  </a:tcPr>
                </a:tc>
                <a:tc>
                  <a:txBody>
                    <a:bodyPr/>
                    <a:lstStyle/>
                    <a:p>
                      <a:pPr algn="l"/>
                      <a:r>
                        <a:rPr sz="1300" b="0">
                          <a:solidFill>
                            <a:srgbClr val="141428"/>
                          </a:solidFill>
                          <a:latin typeface="Calibri"/>
                        </a:rPr>
                        <a:t>/operations/revenue-cycle</a:t>
                      </a:r>
                    </a:p>
                  </a:txBody>
                  <a:tcPr>
                    <a:solidFill>
                      <a:srgbClr val="F0F4FC"/>
                    </a:solidFill>
                  </a:tcPr>
                </a:tc>
                <a:tc>
                  <a:txBody>
                    <a:bodyPr/>
                    <a:lstStyle/>
                    <a:p>
                      <a:pPr algn="l"/>
                      <a:r>
                        <a:rPr sz="1300" b="0">
                          <a:solidFill>
                            <a:srgbClr val="141428"/>
                          </a:solidFill>
                          <a:latin typeface="Calibri"/>
                        </a:rPr>
                        <a:t>Transformation Scorecard</a:t>
                      </a:r>
                    </a:p>
                  </a:txBody>
                  <a:tcPr>
                    <a:solidFill>
                      <a:srgbClr val="F0F4FC"/>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22 — How to read Chapter 15 (Operations in Practice)</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has the 30 operational levers and the HCC coding walkthrough.</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Operations in Practice — The 30-Lever Workflow</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Lever Category</a:t>
                      </a:r>
                    </a:p>
                  </a:txBody>
                  <a:tcPr>
                    <a:solidFill>
                      <a:srgbClr val="0F2850"/>
                    </a:solidFill>
                  </a:tcPr>
                </a:tc>
                <a:tc>
                  <a:txBody>
                    <a:bodyPr/>
                    <a:lstStyle/>
                    <a:p>
                      <a:pPr algn="ctr"/>
                      <a:r>
                        <a:rPr b="1" sz="1400">
                          <a:solidFill>
                            <a:srgbClr val="FFFFFF"/>
                          </a:solidFill>
                          <a:latin typeface="Calibri"/>
                        </a:rPr>
                        <a:t>Tool</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r>
              <a:tr h="580644">
                <a:tc>
                  <a:txBody>
                    <a:bodyPr/>
                    <a:lstStyle/>
                    <a:p>
                      <a:pPr algn="l"/>
                      <a:r>
                        <a:rPr sz="1300" b="1">
                          <a:solidFill>
                            <a:srgbClr val="141428"/>
                          </a:solidFill>
                          <a:latin typeface="Calibri"/>
                        </a:rPr>
                        <a:t>VBC contract readiness (levers 1-10)</a:t>
                      </a:r>
                    </a:p>
                  </a:txBody>
                  <a:tcPr>
                    <a:solidFill>
                      <a:srgbClr val="F0F4FC"/>
                    </a:solidFill>
                  </a:tcPr>
                </a:tc>
                <a:tc>
                  <a:txBody>
                    <a:bodyPr/>
                    <a:lstStyle/>
                    <a:p>
                      <a:pPr algn="l"/>
                      <a:r>
                        <a:rPr sz="1300" b="0">
                          <a:solidFill>
                            <a:srgbClr val="141428"/>
                          </a:solidFill>
                          <a:latin typeface="Calibri"/>
                        </a:rPr>
                        <a:t>VBC Readiness Assessment</a:t>
                      </a:r>
                    </a:p>
                  </a:txBody>
                  <a:tcPr>
                    <a:solidFill>
                      <a:srgbClr val="F0F4FC"/>
                    </a:solidFill>
                  </a:tcPr>
                </a:tc>
                <a:tc>
                  <a:txBody>
                    <a:bodyPr/>
                    <a:lstStyle/>
                    <a:p>
                      <a:pPr algn="l"/>
                      <a:r>
                        <a:rPr sz="1300" b="0">
                          <a:solidFill>
                            <a:srgbClr val="141428"/>
                          </a:solidFill>
                          <a:latin typeface="Calibri"/>
                        </a:rPr>
                        <a:t>/research-lab/knowledge-workspace?tab=readiness</a:t>
                      </a:r>
                    </a:p>
                  </a:txBody>
                  <a:tcPr>
                    <a:solidFill>
                      <a:srgbClr val="F0F4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23 — How to read Chapter 16 (Knowledge Transfer)</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argues transformation requires permanent organizational capability — not just expertise, but systems of learning.</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Knowledge Transfer — Chapter 16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Audience</a:t>
                      </a:r>
                    </a:p>
                  </a:txBody>
                  <a:tcPr>
                    <a:solidFill>
                      <a:srgbClr val="0F2850"/>
                    </a:solidFill>
                  </a:tcPr>
                </a:tc>
                <a:tc>
                  <a:txBody>
                    <a:bodyPr/>
                    <a:lstStyle/>
                    <a:p>
                      <a:pPr algn="ctr"/>
                      <a:r>
                        <a:rPr b="1" sz="1400">
                          <a:solidFill>
                            <a:srgbClr val="FFFFFF"/>
                          </a:solidFill>
                          <a:latin typeface="Calibri"/>
                        </a:rPr>
                        <a:t>Platform Path</a:t>
                      </a:r>
                    </a:p>
                  </a:txBody>
                  <a:tcPr>
                    <a:solidFill>
                      <a:srgbClr val="0F2850"/>
                    </a:solidFill>
                  </a:tcPr>
                </a:tc>
                <a:tc>
                  <a:txBody>
                    <a:bodyPr/>
                    <a:lstStyle/>
                    <a:p>
                      <a:pPr algn="ctr"/>
                      <a:r>
                        <a:rPr b="1" sz="1400">
                          <a:solidFill>
                            <a:srgbClr val="FFFFFF"/>
                          </a:solidFill>
                          <a:latin typeface="Calibri"/>
                        </a:rPr>
                        <a:t>What It Provides</a:t>
                      </a:r>
                    </a:p>
                  </a:txBody>
                  <a:tcPr>
                    <a:solidFill>
                      <a:srgbClr val="0F2850"/>
                    </a:solidFill>
                  </a:tcPr>
                </a:tc>
              </a:tr>
              <a:tr h="580644">
                <a:tc>
                  <a:txBody>
                    <a:bodyPr/>
                    <a:lstStyle/>
                    <a:p>
                      <a:pPr algn="l"/>
                      <a:r>
                        <a:rPr sz="1300" b="1">
                          <a:solidFill>
                            <a:srgbClr val="141428"/>
                          </a:solidFill>
                          <a:latin typeface="Calibri"/>
                        </a:rPr>
                        <a:t>Individual learner</a:t>
                      </a:r>
                    </a:p>
                  </a:txBody>
                  <a:tcPr>
                    <a:solidFill>
                      <a:srgbClr val="F0F4FC"/>
                    </a:solidFill>
                  </a:tcPr>
                </a:tc>
                <a:tc>
                  <a:txBody>
                    <a:bodyPr/>
                    <a:lstStyle/>
                    <a:p>
                      <a:pPr algn="l"/>
                      <a:r>
                        <a:rPr sz="1300" b="0">
                          <a:solidFill>
                            <a:srgbClr val="141428"/>
                          </a:solidFill>
                          <a:latin typeface="Calibri"/>
                        </a:rPr>
                        <a:t>/academy/personalized-learning</a:t>
                      </a:r>
                    </a:p>
                  </a:txBody>
                  <a:tcPr>
                    <a:solidFill>
                      <a:srgbClr val="F0F4FC"/>
                    </a:solidFill>
                  </a:tcPr>
                </a:tc>
                <a:tc>
                  <a:txBody>
                    <a:bodyPr/>
                    <a:lstStyle/>
                    <a:p>
                      <a:pPr algn="l"/>
                      <a:r>
                        <a:rPr sz="1300" b="0">
                          <a:solidFill>
                            <a:srgbClr val="141428"/>
                          </a:solidFill>
                          <a:latin typeface="Calibri"/>
                        </a:rPr>
                        <a:t>Adaptive role-based chapter + tool sequence</a:t>
                      </a:r>
                    </a:p>
                  </a:txBody>
                  <a:tcPr>
                    <a:solidFill>
                      <a:srgbClr val="F0F4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24 — How to read Chapter 17 (The Horizon)</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delivers the Vermont / Oregon CCO 3.0 / CalAIM triangulation.</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Chapter 17 — The Three-State Triangulation on Platform</a:t>
            </a:r>
          </a:p>
        </p:txBody>
      </p:sp>
      <p:graphicFrame>
        <p:nvGraphicFramePr>
          <p:cNvPr id="7" name="Table 6"/>
          <p:cNvGraphicFramePr>
            <a:graphicFrameLocks noGrp="1"/>
          </p:cNvGraphicFramePr>
          <p:nvPr/>
        </p:nvGraphicFramePr>
        <p:xfrm>
          <a:off x="502920" y="255117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State</a:t>
                      </a:r>
                    </a:p>
                  </a:txBody>
                  <a:tcPr>
                    <a:solidFill>
                      <a:srgbClr val="0F2850"/>
                    </a:solidFill>
                  </a:tcPr>
                </a:tc>
                <a:tc>
                  <a:txBody>
                    <a:bodyPr/>
                    <a:lstStyle/>
                    <a:p>
                      <a:pPr algn="ctr"/>
                      <a:r>
                        <a:rPr b="1" sz="1400">
                          <a:solidFill>
                            <a:srgbClr val="FFFFFF"/>
                          </a:solidFill>
                          <a:latin typeface="Calibri"/>
                        </a:rPr>
                        <a:t>Book Argument</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Key Data Point</a:t>
                      </a:r>
                    </a:p>
                  </a:txBody>
                  <a:tcPr>
                    <a:solidFill>
                      <a:srgbClr val="0F2850"/>
                    </a:solidFill>
                  </a:tcPr>
                </a:tc>
              </a:tr>
              <a:tr h="580644">
                <a:tc>
                  <a:txBody>
                    <a:bodyPr/>
                    <a:lstStyle/>
                    <a:p>
                      <a:pPr algn="l"/>
                      <a:r>
                        <a:rPr sz="1300" b="1">
                          <a:solidFill>
                            <a:srgbClr val="141428"/>
                          </a:solidFill>
                          <a:latin typeface="Calibri"/>
                        </a:rPr>
                        <a:t>Vermont</a:t>
                      </a:r>
                    </a:p>
                  </a:txBody>
                  <a:tcPr>
                    <a:solidFill>
                      <a:srgbClr val="F0F4FC"/>
                    </a:solidFill>
                  </a:tcPr>
                </a:tc>
                <a:tc>
                  <a:txBody>
                    <a:bodyPr/>
                    <a:lstStyle/>
                    <a:p>
                      <a:pPr algn="l"/>
                      <a:r>
                        <a:rPr sz="1300" b="0">
                          <a:solidFill>
                            <a:srgbClr val="141428"/>
                          </a:solidFill>
                          <a:latin typeface="Calibri"/>
                        </a:rPr>
                        <a:t>Most structurally complete — mandatory global budgets + AHEAD</a:t>
                      </a:r>
                    </a:p>
                  </a:txBody>
                  <a:tcPr>
                    <a:solidFill>
                      <a:srgbClr val="F0F4FC"/>
                    </a:solidFill>
                  </a:tcPr>
                </a:tc>
                <a:tc>
                  <a:txBody>
                    <a:bodyPr/>
                    <a:lstStyle/>
                    <a:p>
                      <a:pPr algn="l"/>
                      <a:r>
                        <a:rPr sz="1300" b="0">
                          <a:solidFill>
                            <a:srgbClr val="141428"/>
                          </a:solidFill>
                          <a:latin typeface="Calibri"/>
                        </a:rPr>
                        <a:t>/vermont-act-68 + /ahead-model</a:t>
                      </a:r>
                    </a:p>
                  </a:txBody>
                  <a:tcPr>
                    <a:solidFill>
                      <a:srgbClr val="F0F4FC"/>
                    </a:solidFill>
                  </a:tcPr>
                </a:tc>
                <a:tc>
                  <a:txBody>
                    <a:bodyPr/>
                    <a:lstStyle/>
                    <a:p>
                      <a:pPr algn="l"/>
                      <a:r>
                        <a:rPr sz="1300" b="0">
                          <a:solidFill>
                            <a:srgbClr val="141428"/>
                          </a:solidFill>
                          <a:latin typeface="Calibri"/>
                        </a:rPr>
                        <a:t>All-payer global budget architecture live</a:t>
                      </a:r>
                    </a:p>
                  </a:txBody>
                  <a:tcPr>
                    <a:solidFill>
                      <a:srgbClr val="F0F4FC"/>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25 — How to read Chapter 18 (Political Sustainability)</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covers coalition strategy, evidence production, institutional anchors, and the political economy of durable reform.</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Chapter 18 — Political Sustainability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Book Topic</a:t>
                      </a:r>
                    </a:p>
                  </a:txBody>
                  <a:tcPr>
                    <a:solidFill>
                      <a:srgbClr val="0F2850"/>
                    </a:solidFill>
                  </a:tcPr>
                </a:tc>
                <a:tc>
                  <a:txBody>
                    <a:bodyPr/>
                    <a:lstStyle/>
                    <a:p>
                      <a:pPr algn="ctr"/>
                      <a:r>
                        <a:rPr b="1" sz="1400">
                          <a:solidFill>
                            <a:srgbClr val="FFFFFF"/>
                          </a:solidFill>
                          <a:latin typeface="Calibri"/>
                        </a:rPr>
                        <a:t>Platform Resource</a:t>
                      </a:r>
                    </a:p>
                  </a:txBody>
                  <a:tcPr>
                    <a:solidFill>
                      <a:srgbClr val="0F2850"/>
                    </a:solidFill>
                  </a:tcPr>
                </a:tc>
                <a:tc>
                  <a:txBody>
                    <a:bodyPr/>
                    <a:lstStyle/>
                    <a:p>
                      <a:pPr algn="ctr"/>
                      <a:r>
                        <a:rPr b="1" sz="1400">
                          <a:solidFill>
                            <a:srgbClr val="FFFFFF"/>
                          </a:solidFill>
                          <a:latin typeface="Calibri"/>
                        </a:rPr>
                        <a:t>What It Shows</a:t>
                      </a:r>
                    </a:p>
                  </a:txBody>
                  <a:tcPr>
                    <a:solidFill>
                      <a:srgbClr val="0F2850"/>
                    </a:solidFill>
                  </a:tcPr>
                </a:tc>
              </a:tr>
              <a:tr h="580644">
                <a:tc>
                  <a:txBody>
                    <a:bodyPr/>
                    <a:lstStyle/>
                    <a:p>
                      <a:pPr algn="l"/>
                      <a:r>
                        <a:rPr sz="1300" b="1">
                          <a:solidFill>
                            <a:srgbClr val="141428"/>
                          </a:solidFill>
                          <a:latin typeface="Calibri"/>
                        </a:rPr>
                        <a:t>Coalition strategy</a:t>
                      </a:r>
                    </a:p>
                  </a:txBody>
                  <a:tcPr>
                    <a:solidFill>
                      <a:srgbClr val="F0F4FC"/>
                    </a:solidFill>
                  </a:tcPr>
                </a:tc>
                <a:tc>
                  <a:txBody>
                    <a:bodyPr/>
                    <a:lstStyle/>
                    <a:p>
                      <a:pPr algn="l"/>
                      <a:r>
                        <a:rPr sz="1300" b="0">
                          <a:solidFill>
                            <a:srgbClr val="141428"/>
                          </a:solidFill>
                          <a:latin typeface="Calibri"/>
                        </a:rPr>
                        <a:t>/vermont-legislative-resources</a:t>
                      </a:r>
                    </a:p>
                  </a:txBody>
                  <a:tcPr>
                    <a:solidFill>
                      <a:srgbClr val="F0F4FC"/>
                    </a:solidFill>
                  </a:tcPr>
                </a:tc>
                <a:tc>
                  <a:txBody>
                    <a:bodyPr/>
                    <a:lstStyle/>
                    <a:p>
                      <a:pPr algn="l"/>
                      <a:r>
                        <a:rPr sz="1300" b="0">
                          <a:solidFill>
                            <a:srgbClr val="141428"/>
                          </a:solidFill>
                          <a:latin typeface="Calibri"/>
                        </a:rPr>
                        <a:t>The actual coalition that passed Acts 167 and 68 — testimony + committee votes</a:t>
                      </a:r>
                    </a:p>
                  </a:txBody>
                  <a:tcPr>
                    <a:solidFill>
                      <a:srgbClr val="F0F4F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26 — How to read Chapter 19 (Portfolio Management)</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applies PMI discipline to transformation portfolio management.</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Chapter 19 — Portfolio Management Workflow</a:t>
            </a:r>
          </a:p>
        </p:txBody>
      </p:sp>
      <p:sp>
        <p:nvSpPr>
          <p:cNvPr id="7" name="Rounded Rectangle 6"/>
          <p:cNvSpPr/>
          <p:nvPr/>
        </p:nvSpPr>
        <p:spPr>
          <a:xfrm>
            <a:off x="502920" y="256946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Map your transformation initiatives against 6 pillars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27 — How to read Chapter 20 (AHS Restructuring)</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Book is the prescriptive chapter — operational policy advice for state leaders executing Act 68.</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Chapter 20 — AHS Restructuring Platform Companion</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Restructuring Domain</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Tool</a:t>
                      </a:r>
                    </a:p>
                  </a:txBody>
                  <a:tcPr>
                    <a:solidFill>
                      <a:srgbClr val="0F2850"/>
                    </a:solidFill>
                  </a:tcPr>
                </a:tc>
              </a:tr>
              <a:tr h="580644">
                <a:tc>
                  <a:txBody>
                    <a:bodyPr/>
                    <a:lstStyle/>
                    <a:p>
                      <a:pPr algn="l"/>
                      <a:r>
                        <a:rPr sz="1300" b="1">
                          <a:solidFill>
                            <a:srgbClr val="141428"/>
                          </a:solidFill>
                          <a:latin typeface="Calibri"/>
                        </a:rPr>
                        <a:t>Act 68 implementation mechanics</a:t>
                      </a:r>
                    </a:p>
                  </a:txBody>
                  <a:tcPr>
                    <a:solidFill>
                      <a:srgbClr val="F0F4FC"/>
                    </a:solidFill>
                  </a:tcPr>
                </a:tc>
                <a:tc>
                  <a:txBody>
                    <a:bodyPr/>
                    <a:lstStyle/>
                    <a:p>
                      <a:pPr algn="l"/>
                      <a:r>
                        <a:rPr sz="1300" b="0">
                          <a:solidFill>
                            <a:srgbClr val="141428"/>
                          </a:solidFill>
                          <a:latin typeface="Calibri"/>
                        </a:rPr>
                        <a:t>/vermont-act-68 + /vermont-act-68/simulator</a:t>
                      </a:r>
                    </a:p>
                  </a:txBody>
                  <a:tcPr>
                    <a:solidFill>
                      <a:srgbClr val="F0F4FC"/>
                    </a:solidFill>
                  </a:tcPr>
                </a:tc>
                <a:tc>
                  <a:txBody>
                    <a:bodyPr/>
                    <a:lstStyle/>
                    <a:p>
                      <a:pPr algn="l"/>
                      <a:r>
                        <a:rPr sz="1300" b="0">
                          <a:solidFill>
                            <a:srgbClr val="141428"/>
                          </a:solidFill>
                          <a:latin typeface="Calibri"/>
                        </a:rPr>
                        <a:t>Act 68 Simulator + APM Design Lab</a:t>
                      </a:r>
                    </a:p>
                  </a:txBody>
                  <a:tcPr>
                    <a:solidFill>
                      <a:srgbClr val="F0F4FC"/>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28 — The "study workflow" — one chapter, one week</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Weekly Study Workflow (One Chapter Per Week)</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Monday: Read the chapter (1.5-2 hrs)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29 — The "research workflow"</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Research Workflow — Students and Researchers</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Identify your pillar(s) and read Ch. 1 (dependency map)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30 — The "executive briefing workflow"</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Executive Briefing Workflow — Board-Ready in Under a Day</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HTR Simulator (/htr-simulator): get 6-pillar org score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31 — The "policy briefing workflow"</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Policy Briefing Workflow — Testimony or Memo</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Ch. 4-5 for the structural argument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32 — The "Vermont implementer workflow"</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Vermont Implementer — Daily Platform Workflow</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Task</a:t>
                      </a:r>
                    </a:p>
                  </a:txBody>
                  <a:tcPr>
                    <a:solidFill>
                      <a:srgbClr val="0F2850"/>
                    </a:solidFill>
                  </a:tcPr>
                </a:tc>
                <a:tc>
                  <a:txBody>
                    <a:bodyPr/>
                    <a:lstStyle/>
                    <a:p>
                      <a:pPr algn="ctr"/>
                      <a:r>
                        <a:rPr b="1" sz="1400">
                          <a:solidFill>
                            <a:srgbClr val="FFFFFF"/>
                          </a:solidFill>
                          <a:latin typeface="Calibri"/>
                        </a:rPr>
                        <a:t>Platform Tool</a:t>
                      </a:r>
                    </a:p>
                  </a:txBody>
                  <a:tcPr>
                    <a:solidFill>
                      <a:srgbClr val="0F2850"/>
                    </a:solidFill>
                  </a:tcPr>
                </a:tc>
                <a:tc>
                  <a:txBody>
                    <a:bodyPr/>
                    <a:lstStyle/>
                    <a:p>
                      <a:pPr algn="ctr"/>
                      <a:r>
                        <a:rPr b="1" sz="1400">
                          <a:solidFill>
                            <a:srgbClr val="FFFFFF"/>
                          </a:solidFill>
                          <a:latin typeface="Calibri"/>
                        </a:rPr>
                        <a:t>Why</a:t>
                      </a:r>
                    </a:p>
                  </a:txBody>
                  <a:tcPr>
                    <a:solidFill>
                      <a:srgbClr val="0F2850"/>
                    </a:solidFill>
                  </a:tcPr>
                </a:tc>
              </a:tr>
              <a:tr h="580644">
                <a:tc>
                  <a:txBody>
                    <a:bodyPr/>
                    <a:lstStyle/>
                    <a:p>
                      <a:pPr algn="l"/>
                      <a:r>
                        <a:rPr sz="1300" b="1">
                          <a:solidFill>
                            <a:srgbClr val="141428"/>
                          </a:solidFill>
                          <a:latin typeface="Calibri"/>
                        </a:rPr>
                        <a:t>Morning: policy currency</a:t>
                      </a:r>
                    </a:p>
                  </a:txBody>
                  <a:tcPr>
                    <a:solidFill>
                      <a:srgbClr val="F0F4FC"/>
                    </a:solidFill>
                  </a:tcPr>
                </a:tc>
                <a:tc>
                  <a:txBody>
                    <a:bodyPr/>
                    <a:lstStyle/>
                    <a:p>
                      <a:pPr algn="l"/>
                      <a:r>
                        <a:rPr sz="1300" b="0">
                          <a:solidFill>
                            <a:srgbClr val="141428"/>
                          </a:solidFill>
                          <a:latin typeface="Calibri"/>
                        </a:rPr>
                        <a:t>/the-wire (Vermont filter)</a:t>
                      </a:r>
                    </a:p>
                  </a:txBody>
                  <a:tcPr>
                    <a:solidFill>
                      <a:srgbClr val="F0F4FC"/>
                    </a:solidFill>
                  </a:tcPr>
                </a:tc>
                <a:tc>
                  <a:txBody>
                    <a:bodyPr/>
                    <a:lstStyle/>
                    <a:p>
                      <a:pPr algn="l"/>
                      <a:r>
                        <a:rPr sz="1300" b="0">
                          <a:solidFill>
                            <a:srgbClr val="141428"/>
                          </a:solidFill>
                          <a:latin typeface="Calibri"/>
                        </a:rPr>
                        <a:t>Daily policy developments affecting Act 68 and AHEAD</a:t>
                      </a:r>
                    </a:p>
                  </a:txBody>
                  <a:tcPr>
                    <a:solidFill>
                      <a:srgbClr val="F0F4FC"/>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33 — Vermont as the connective tissue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Vermont — The Integration Mechanism</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Vermont Program</a:t>
                      </a:r>
                    </a:p>
                  </a:txBody>
                  <a:tcPr>
                    <a:solidFill>
                      <a:srgbClr val="0F2850"/>
                    </a:solidFill>
                  </a:tcPr>
                </a:tc>
                <a:tc>
                  <a:txBody>
                    <a:bodyPr/>
                    <a:lstStyle/>
                    <a:p>
                      <a:pPr algn="ctr"/>
                      <a:r>
                        <a:rPr b="1" sz="1400">
                          <a:solidFill>
                            <a:srgbClr val="FFFFFF"/>
                          </a:solidFill>
                          <a:latin typeface="Calibri"/>
                        </a:rPr>
                        <a:t>Book Chapter(s)</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Research Lab Tool</a:t>
                      </a:r>
                    </a:p>
                  </a:txBody>
                  <a:tcPr>
                    <a:solidFill>
                      <a:srgbClr val="0F2850"/>
                    </a:solidFill>
                  </a:tcPr>
                </a:tc>
              </a:tr>
              <a:tr h="580644">
                <a:tc>
                  <a:txBody>
                    <a:bodyPr/>
                    <a:lstStyle/>
                    <a:p>
                      <a:pPr algn="l"/>
                      <a:r>
                        <a:rPr sz="1300" b="1">
                          <a:solidFill>
                            <a:srgbClr val="141428"/>
                          </a:solidFill>
                          <a:latin typeface="Calibri"/>
                        </a:rPr>
                        <a:t>Act 167 (2022)</a:t>
                      </a:r>
                    </a:p>
                  </a:txBody>
                  <a:tcPr>
                    <a:solidFill>
                      <a:srgbClr val="F0F4FC"/>
                    </a:solidFill>
                  </a:tcPr>
                </a:tc>
                <a:tc>
                  <a:txBody>
                    <a:bodyPr/>
                    <a:lstStyle/>
                    <a:p>
                      <a:pPr algn="l"/>
                      <a:r>
                        <a:rPr sz="1300" b="0">
                          <a:solidFill>
                            <a:srgbClr val="141428"/>
                          </a:solidFill>
                          <a:latin typeface="Calibri"/>
                        </a:rPr>
                        <a:t>4</a:t>
                      </a:r>
                    </a:p>
                  </a:txBody>
                  <a:tcPr>
                    <a:solidFill>
                      <a:srgbClr val="F0F4FC"/>
                    </a:solidFill>
                  </a:tcPr>
                </a:tc>
                <a:tc>
                  <a:txBody>
                    <a:bodyPr/>
                    <a:lstStyle/>
                    <a:p>
                      <a:pPr algn="l"/>
                      <a:r>
                        <a:rPr sz="1300" b="0">
                          <a:solidFill>
                            <a:srgbClr val="141428"/>
                          </a:solidFill>
                          <a:latin typeface="Calibri"/>
                        </a:rPr>
                        <a:t>/vermont-act-167</a:t>
                      </a:r>
                    </a:p>
                  </a:txBody>
                  <a:tcPr>
                    <a:solidFill>
                      <a:srgbClr val="F0F4FC"/>
                    </a:solidFill>
                  </a:tcPr>
                </a:tc>
                <a:tc>
                  <a:txBody>
                    <a:bodyPr/>
                    <a:lstStyle/>
                    <a:p>
                      <a:pPr algn="l"/>
                      <a:r>
                        <a:rPr sz="1300" b="0">
                          <a:solidFill>
                            <a:srgbClr val="141428"/>
                          </a:solidFill>
                          <a:latin typeface="Calibri"/>
                        </a:rPr>
                        <a:t>Policy Simulator</a:t>
                      </a:r>
                    </a:p>
                  </a:txBody>
                  <a:tcPr>
                    <a:solidFill>
                      <a:srgbClr val="F0F4FC"/>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34 — Cross-state comparison — Oregon CCO 3.0 + CalAIM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Cross-State Transformation Comparison (Chapter 17)</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Dimension</a:t>
                      </a:r>
                    </a:p>
                  </a:txBody>
                  <a:tcPr>
                    <a:solidFill>
                      <a:srgbClr val="0F2850"/>
                    </a:solidFill>
                  </a:tcPr>
                </a:tc>
                <a:tc>
                  <a:txBody>
                    <a:bodyPr/>
                    <a:lstStyle/>
                    <a:p>
                      <a:pPr algn="ctr"/>
                      <a:r>
                        <a:rPr b="1" sz="1400">
                          <a:solidFill>
                            <a:srgbClr val="FFFFFF"/>
                          </a:solidFill>
                          <a:latin typeface="Calibri"/>
                        </a:rPr>
                        <a:t>Vermont (AHEAD)</a:t>
                      </a:r>
                    </a:p>
                  </a:txBody>
                  <a:tcPr>
                    <a:solidFill>
                      <a:srgbClr val="0F2850"/>
                    </a:solidFill>
                  </a:tcPr>
                </a:tc>
                <a:tc>
                  <a:txBody>
                    <a:bodyPr/>
                    <a:lstStyle/>
                    <a:p>
                      <a:pPr algn="ctr"/>
                      <a:r>
                        <a:rPr b="1" sz="1400">
                          <a:solidFill>
                            <a:srgbClr val="FFFFFF"/>
                          </a:solidFill>
                          <a:latin typeface="Calibri"/>
                        </a:rPr>
                        <a:t>Oregon CCO 3.0</a:t>
                      </a:r>
                    </a:p>
                  </a:txBody>
                  <a:tcPr>
                    <a:solidFill>
                      <a:srgbClr val="0F2850"/>
                    </a:solidFill>
                  </a:tcPr>
                </a:tc>
                <a:tc>
                  <a:txBody>
                    <a:bodyPr/>
                    <a:lstStyle/>
                    <a:p>
                      <a:pPr algn="ctr"/>
                      <a:r>
                        <a:rPr b="1" sz="1400">
                          <a:solidFill>
                            <a:srgbClr val="FFFFFF"/>
                          </a:solidFill>
                          <a:latin typeface="Calibri"/>
                        </a:rPr>
                        <a:t>California (CalAIM)</a:t>
                      </a:r>
                    </a:p>
                  </a:txBody>
                  <a:tcPr>
                    <a:solidFill>
                      <a:srgbClr val="0F2850"/>
                    </a:solidFill>
                  </a:tcPr>
                </a:tc>
              </a:tr>
              <a:tr h="580644">
                <a:tc>
                  <a:txBody>
                    <a:bodyPr/>
                    <a:lstStyle/>
                    <a:p>
                      <a:pPr algn="l"/>
                      <a:r>
                        <a:rPr sz="1300" b="1">
                          <a:solidFill>
                            <a:srgbClr val="141428"/>
                          </a:solidFill>
                          <a:latin typeface="Calibri"/>
                        </a:rPr>
                        <a:t>Legislative basis</a:t>
                      </a:r>
                    </a:p>
                  </a:txBody>
                  <a:tcPr>
                    <a:solidFill>
                      <a:srgbClr val="F0F4FC"/>
                    </a:solidFill>
                  </a:tcPr>
                </a:tc>
                <a:tc>
                  <a:txBody>
                    <a:bodyPr/>
                    <a:lstStyle/>
                    <a:p>
                      <a:pPr algn="l"/>
                      <a:r>
                        <a:rPr sz="1300" b="0">
                          <a:solidFill>
                            <a:srgbClr val="141428"/>
                          </a:solidFill>
                          <a:latin typeface="Calibri"/>
                        </a:rPr>
                        <a:t>Act 68 (2025)</a:t>
                      </a:r>
                    </a:p>
                  </a:txBody>
                  <a:tcPr>
                    <a:solidFill>
                      <a:srgbClr val="F0F4FC"/>
                    </a:solidFill>
                  </a:tcPr>
                </a:tc>
                <a:tc>
                  <a:txBody>
                    <a:bodyPr/>
                    <a:lstStyle/>
                    <a:p>
                      <a:pPr algn="l"/>
                      <a:r>
                        <a:rPr sz="1300" b="0">
                          <a:solidFill>
                            <a:srgbClr val="141428"/>
                          </a:solidFill>
                          <a:latin typeface="Calibri"/>
                        </a:rPr>
                        <a:t>ORS 414 + CCO contracts</a:t>
                      </a:r>
                    </a:p>
                  </a:txBody>
                  <a:tcPr>
                    <a:solidFill>
                      <a:srgbClr val="F0F4FC"/>
                    </a:solidFill>
                  </a:tcPr>
                </a:tc>
                <a:tc>
                  <a:txBody>
                    <a:bodyPr/>
                    <a:lstStyle/>
                    <a:p>
                      <a:pPr algn="l"/>
                      <a:r>
                        <a:rPr sz="1300" b="0">
                          <a:solidFill>
                            <a:srgbClr val="141428"/>
                          </a:solidFill>
                          <a:latin typeface="Calibri"/>
                        </a:rPr>
                        <a:t>DHCS Medi-Cal Transformation</a:t>
                      </a:r>
                    </a:p>
                  </a:txBody>
                  <a:tcPr>
                    <a:solidFill>
                      <a:srgbClr val="F0F4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35 — How the AI Analyst threads everything</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AI Analyst — What It Knows and How It Uses It</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Knowledge Source</a:t>
                      </a:r>
                    </a:p>
                  </a:txBody>
                  <a:tcPr>
                    <a:solidFill>
                      <a:srgbClr val="0F2850"/>
                    </a:solidFill>
                  </a:tcPr>
                </a:tc>
                <a:tc>
                  <a:txBody>
                    <a:bodyPr/>
                    <a:lstStyle/>
                    <a:p>
                      <a:pPr algn="ctr"/>
                      <a:r>
                        <a:rPr b="1" sz="1400">
                          <a:solidFill>
                            <a:srgbClr val="FFFFFF"/>
                          </a:solidFill>
                          <a:latin typeface="Calibri"/>
                        </a:rPr>
                        <a:t>What It Contains</a:t>
                      </a:r>
                    </a:p>
                  </a:txBody>
                  <a:tcPr>
                    <a:solidFill>
                      <a:srgbClr val="0F2850"/>
                    </a:solidFill>
                  </a:tcPr>
                </a:tc>
                <a:tc>
                  <a:txBody>
                    <a:bodyPr/>
                    <a:lstStyle/>
                    <a:p>
                      <a:pPr algn="ctr"/>
                      <a:r>
                        <a:rPr b="1" sz="1400">
                          <a:solidFill>
                            <a:srgbClr val="FFFFFF"/>
                          </a:solidFill>
                          <a:latin typeface="Calibri"/>
                        </a:rPr>
                        <a:t>How Analyst Uses It</a:t>
                      </a:r>
                    </a:p>
                  </a:txBody>
                  <a:tcPr>
                    <a:solidFill>
                      <a:srgbClr val="0F2850"/>
                    </a:solidFill>
                  </a:tcPr>
                </a:tc>
              </a:tr>
              <a:tr h="580644">
                <a:tc>
                  <a:txBody>
                    <a:bodyPr/>
                    <a:lstStyle/>
                    <a:p>
                      <a:pPr algn="l"/>
                      <a:r>
                        <a:rPr sz="1300" b="1">
                          <a:solidFill>
                            <a:srgbClr val="141428"/>
                          </a:solidFill>
                          <a:latin typeface="Calibri"/>
                        </a:rPr>
                        <a:t>Full book (indexed)</a:t>
                      </a:r>
                    </a:p>
                  </a:txBody>
                  <a:tcPr>
                    <a:solidFill>
                      <a:srgbClr val="F0F4FC"/>
                    </a:solidFill>
                  </a:tcPr>
                </a:tc>
                <a:tc>
                  <a:txBody>
                    <a:bodyPr/>
                    <a:lstStyle/>
                    <a:p>
                      <a:pPr algn="l"/>
                      <a:r>
                        <a:rPr sz="1300" b="0">
                          <a:solidFill>
                            <a:srgbClr val="141428"/>
                          </a:solidFill>
                          <a:latin typeface="Calibri"/>
                        </a:rPr>
                        <a:t>All 20 chapters + appendices</a:t>
                      </a:r>
                    </a:p>
                  </a:txBody>
                  <a:tcPr>
                    <a:solidFill>
                      <a:srgbClr val="F0F4FC"/>
                    </a:solidFill>
                  </a:tcPr>
                </a:tc>
                <a:tc>
                  <a:txBody>
                    <a:bodyPr/>
                    <a:lstStyle/>
                    <a:p>
                      <a:pPr algn="l"/>
                      <a:r>
                        <a:rPr sz="1300" b="0">
                          <a:solidFill>
                            <a:srgbClr val="141428"/>
                          </a:solidFill>
                          <a:latin typeface="Calibri"/>
                        </a:rPr>
                        <a:t>Grounds answers in framework and chapter argument</a:t>
                      </a:r>
                    </a:p>
                  </a:txBody>
                  <a:tcPr>
                    <a:solidFill>
                      <a:srgbClr val="F0F4FC"/>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36 — The "ask the Analyst" pattern</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Analyst Question Quality Guide</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Question Type</a:t>
                      </a:r>
                    </a:p>
                  </a:txBody>
                  <a:tcPr>
                    <a:solidFill>
                      <a:srgbClr val="0F2850"/>
                    </a:solidFill>
                  </a:tcPr>
                </a:tc>
                <a:tc>
                  <a:txBody>
                    <a:bodyPr/>
                    <a:lstStyle/>
                    <a:p>
                      <a:pPr algn="ctr"/>
                      <a:r>
                        <a:rPr b="1" sz="1400">
                          <a:solidFill>
                            <a:srgbClr val="FFFFFF"/>
                          </a:solidFill>
                          <a:latin typeface="Calibri"/>
                        </a:rPr>
                        <a:t>Example</a:t>
                      </a:r>
                    </a:p>
                  </a:txBody>
                  <a:tcPr>
                    <a:solidFill>
                      <a:srgbClr val="0F2850"/>
                    </a:solidFill>
                  </a:tcPr>
                </a:tc>
                <a:tc>
                  <a:txBody>
                    <a:bodyPr/>
                    <a:lstStyle/>
                    <a:p>
                      <a:pPr algn="ctr"/>
                      <a:r>
                        <a:rPr b="1" sz="1400">
                          <a:solidFill>
                            <a:srgbClr val="FFFFFF"/>
                          </a:solidFill>
                          <a:latin typeface="Calibri"/>
                        </a:rPr>
                        <a:t>Why It Works</a:t>
                      </a:r>
                    </a:p>
                  </a:txBody>
                  <a:tcPr>
                    <a:solidFill>
                      <a:srgbClr val="0F2850"/>
                    </a:solidFill>
                  </a:tcPr>
                </a:tc>
              </a:tr>
              <a:tr h="580644">
                <a:tc>
                  <a:txBody>
                    <a:bodyPr/>
                    <a:lstStyle/>
                    <a:p>
                      <a:pPr algn="l"/>
                      <a:r>
                        <a:rPr sz="1300" b="1">
                          <a:solidFill>
                            <a:srgbClr val="141428"/>
                          </a:solidFill>
                          <a:latin typeface="Calibri"/>
                        </a:rPr>
                        <a:t>Cross-pillar</a:t>
                      </a:r>
                    </a:p>
                  </a:txBody>
                  <a:tcPr>
                    <a:solidFill>
                      <a:srgbClr val="F0F4FC"/>
                    </a:solidFill>
                  </a:tcPr>
                </a:tc>
                <a:tc>
                  <a:txBody>
                    <a:bodyPr/>
                    <a:lstStyle/>
                    <a:p>
                      <a:pPr algn="l"/>
                      <a:r>
                        <a:rPr sz="1300" b="0">
                          <a:solidFill>
                            <a:srgbClr val="141428"/>
                          </a:solidFill>
                          <a:latin typeface="Calibri"/>
                        </a:rPr>
                        <a:t>Show me the dependency between Technology and Equity with Vermont examples</a:t>
                      </a:r>
                    </a:p>
                  </a:txBody>
                  <a:tcPr>
                    <a:solidFill>
                      <a:srgbClr val="F0F4FC"/>
                    </a:solidFill>
                  </a:tcPr>
                </a:tc>
                <a:tc>
                  <a:txBody>
                    <a:bodyPr/>
                    <a:lstStyle/>
                    <a:p>
                      <a:pPr algn="l"/>
                      <a:r>
                        <a:rPr sz="1300" b="0">
                          <a:solidFill>
                            <a:srgbClr val="141428"/>
                          </a:solidFill>
                          <a:latin typeface="Calibri"/>
                        </a:rPr>
                        <a:t>Forces the Analyst to draw on Ch. 6 + Ch. 12 + /vermont-sdoh simultaneously</a:t>
                      </a:r>
                    </a:p>
                  </a:txBody>
                  <a:tcPr>
                    <a:solidFill>
                      <a:srgbClr val="F0F4FC"/>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37 — When to use the book vs. the platform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Book vs. Platform Decision Guide</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You Want To...</a:t>
                      </a:r>
                    </a:p>
                  </a:txBody>
                  <a:tcPr>
                    <a:solidFill>
                      <a:srgbClr val="0F2850"/>
                    </a:solidFill>
                  </a:tcPr>
                </a:tc>
                <a:tc>
                  <a:txBody>
                    <a:bodyPr/>
                    <a:lstStyle/>
                    <a:p>
                      <a:pPr algn="ctr"/>
                      <a:r>
                        <a:rPr b="1" sz="1400">
                          <a:solidFill>
                            <a:srgbClr val="FFFFFF"/>
                          </a:solidFill>
                          <a:latin typeface="Calibri"/>
                        </a:rPr>
                        <a:t>Start Here</a:t>
                      </a:r>
                    </a:p>
                  </a:txBody>
                  <a:tcPr>
                    <a:solidFill>
                      <a:srgbClr val="0F2850"/>
                    </a:solidFill>
                  </a:tcPr>
                </a:tc>
                <a:tc>
                  <a:txBody>
                    <a:bodyPr/>
                    <a:lstStyle/>
                    <a:p>
                      <a:pPr algn="ctr"/>
                      <a:r>
                        <a:rPr b="1" sz="1400">
                          <a:solidFill>
                            <a:srgbClr val="FFFFFF"/>
                          </a:solidFill>
                          <a:latin typeface="Calibri"/>
                        </a:rPr>
                        <a:t>Tool / Page</a:t>
                      </a:r>
                    </a:p>
                  </a:txBody>
                  <a:tcPr>
                    <a:solidFill>
                      <a:srgbClr val="0F2850"/>
                    </a:solidFill>
                  </a:tcPr>
                </a:tc>
              </a:tr>
              <a:tr h="580644">
                <a:tc>
                  <a:txBody>
                    <a:bodyPr/>
                    <a:lstStyle/>
                    <a:p>
                      <a:pPr algn="l"/>
                      <a:r>
                        <a:rPr sz="1300" b="1">
                          <a:solidFill>
                            <a:srgbClr val="141428"/>
                          </a:solidFill>
                          <a:latin typeface="Calibri"/>
                        </a:rPr>
                        <a:t>Understand a concept</a:t>
                      </a:r>
                    </a:p>
                  </a:txBody>
                  <a:tcPr>
                    <a:solidFill>
                      <a:srgbClr val="F0F4FC"/>
                    </a:solidFill>
                  </a:tcPr>
                </a:tc>
                <a:tc>
                  <a:txBody>
                    <a:bodyPr/>
                    <a:lstStyle/>
                    <a:p>
                      <a:pPr algn="l"/>
                      <a:r>
                        <a:rPr sz="1300" b="0">
                          <a:solidFill>
                            <a:srgbClr val="141428"/>
                          </a:solidFill>
                          <a:latin typeface="Calibri"/>
                        </a:rPr>
                        <a:t>The book</a:t>
                      </a:r>
                    </a:p>
                  </a:txBody>
                  <a:tcPr>
                    <a:solidFill>
                      <a:srgbClr val="F0F4FC"/>
                    </a:solidFill>
                  </a:tcPr>
                </a:tc>
                <a:tc>
                  <a:txBody>
                    <a:bodyPr/>
                    <a:lstStyle/>
                    <a:p>
                      <a:pPr algn="l"/>
                      <a:r>
                        <a:rPr sz="1300" b="0">
                          <a:solidFill>
                            <a:srgbClr val="141428"/>
                          </a:solidFill>
                          <a:latin typeface="Calibri"/>
                        </a:rPr>
                        <a:t>Chapter browser + /read</a:t>
                      </a:r>
                    </a:p>
                  </a:txBody>
                  <a:tcPr>
                    <a:solidFill>
                      <a:srgbClr val="F0F4FC"/>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38 — Worked example — "I run a Vermont hospital under Act 68"</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Vermont Hospital Under Act 68 — Weekend Workflow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Ch. 4 (Policy: Act 68 mandate)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39 — Worked example — "I'm writing testimony on H.R. 1 implications"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H.R. 1 Testimony Workflow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Ch. 5 (H.R. 1 + Medicaid landscape)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40 — Worked example — "I'm writing a paper on risk stratification"</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Risk Stratification Research Workflow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Read Ch. 10 (VCCI + SASH + DA framework)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41 — Worked example — "I'm an executive at a non-Vermont hospital"</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Non-Vermont Executive Workflow</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Step</a:t>
                      </a:r>
                    </a:p>
                  </a:txBody>
                  <a:tcPr>
                    <a:solidFill>
                      <a:srgbClr val="0F2850"/>
                    </a:solidFill>
                  </a:tcPr>
                </a:tc>
                <a:tc>
                  <a:txBody>
                    <a:bodyPr/>
                    <a:lstStyle/>
                    <a:p>
                      <a:pPr algn="ctr"/>
                      <a:r>
                        <a:rPr b="1" sz="1400">
                          <a:solidFill>
                            <a:srgbClr val="FFFFFF"/>
                          </a:solidFill>
                          <a:latin typeface="Calibri"/>
                        </a:rPr>
                        <a:t>Action</a:t>
                      </a:r>
                    </a:p>
                  </a:txBody>
                  <a:tcPr>
                    <a:solidFill>
                      <a:srgbClr val="0F2850"/>
                    </a:solidFill>
                  </a:tcPr>
                </a:tc>
                <a:tc>
                  <a:txBody>
                    <a:bodyPr/>
                    <a:lstStyle/>
                    <a:p>
                      <a:pPr algn="ctr"/>
                      <a:r>
                        <a:rPr b="1" sz="1400">
                          <a:solidFill>
                            <a:srgbClr val="FFFFFF"/>
                          </a:solidFill>
                          <a:latin typeface="Calibri"/>
                        </a:rPr>
                        <a:t>Why</a:t>
                      </a:r>
                    </a:p>
                  </a:txBody>
                  <a:tcPr>
                    <a:solidFill>
                      <a:srgbClr val="0F2850"/>
                    </a:solidFill>
                  </a:tcPr>
                </a:tc>
              </a:tr>
              <a:tr h="580644">
                <a:tc>
                  <a:txBody>
                    <a:bodyPr/>
                    <a:lstStyle/>
                    <a:p>
                      <a:pPr algn="l"/>
                      <a:r>
                        <a:rPr sz="1300" b="1">
                          <a:solidFill>
                            <a:srgbClr val="141428"/>
                          </a:solidFill>
                          <a:latin typeface="Calibri"/>
                        </a:rPr>
                        <a:t>1</a:t>
                      </a:r>
                    </a:p>
                  </a:txBody>
                  <a:tcPr>
                    <a:solidFill>
                      <a:srgbClr val="F0F4FC"/>
                    </a:solidFill>
                  </a:tcPr>
                </a:tc>
                <a:tc>
                  <a:txBody>
                    <a:bodyPr/>
                    <a:lstStyle/>
                    <a:p>
                      <a:pPr algn="l"/>
                      <a:r>
                        <a:rPr sz="1300" b="0">
                          <a:solidFill>
                            <a:srgbClr val="141428"/>
                          </a:solidFill>
                          <a:latin typeface="Calibri"/>
                        </a:rPr>
                        <a:t>Read Ch. 1 + Ch. 2 (framework + sequencing)</a:t>
                      </a:r>
                    </a:p>
                  </a:txBody>
                  <a:tcPr>
                    <a:solidFill>
                      <a:srgbClr val="F0F4FC"/>
                    </a:solidFill>
                  </a:tcPr>
                </a:tc>
                <a:tc>
                  <a:txBody>
                    <a:bodyPr/>
                    <a:lstStyle/>
                    <a:p>
                      <a:pPr algn="l"/>
                      <a:r>
                        <a:rPr sz="1300" b="0">
                          <a:solidFill>
                            <a:srgbClr val="141428"/>
                          </a:solidFill>
                          <a:latin typeface="Calibri"/>
                        </a:rPr>
                        <a:t>Understand the six pillars and why order matters before scoring yourself</a:t>
                      </a:r>
                    </a:p>
                  </a:txBody>
                  <a:tcPr>
                    <a:solidFill>
                      <a:srgbClr val="F0F4FC"/>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42 — Worked example — "I'm building a Personalized Learning path"</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Personalized Learning Path Workflow</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Open /academy/personalized-learning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43 — The integration discipline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The Four Integration Rules</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Rule</a:t>
                      </a:r>
                    </a:p>
                  </a:txBody>
                  <a:tcPr>
                    <a:solidFill>
                      <a:srgbClr val="0F2850"/>
                    </a:solidFill>
                  </a:tcPr>
                </a:tc>
                <a:tc>
                  <a:txBody>
                    <a:bodyPr/>
                    <a:lstStyle/>
                    <a:p>
                      <a:pPr algn="ctr"/>
                      <a:r>
                        <a:rPr b="1" sz="1400">
                          <a:solidFill>
                            <a:srgbClr val="FFFFFF"/>
                          </a:solidFill>
                          <a:latin typeface="Calibri"/>
                        </a:rPr>
                        <a:t>In the Book</a:t>
                      </a:r>
                    </a:p>
                  </a:txBody>
                  <a:tcPr>
                    <a:solidFill>
                      <a:srgbClr val="0F2850"/>
                    </a:solidFill>
                  </a:tcPr>
                </a:tc>
                <a:tc>
                  <a:txBody>
                    <a:bodyPr/>
                    <a:lstStyle/>
                    <a:p>
                      <a:pPr algn="ctr"/>
                      <a:r>
                        <a:rPr b="1" sz="1400">
                          <a:solidFill>
                            <a:srgbClr val="FFFFFF"/>
                          </a:solidFill>
                          <a:latin typeface="Calibri"/>
                        </a:rPr>
                        <a:t>On the Platform</a:t>
                      </a:r>
                    </a:p>
                  </a:txBody>
                  <a:tcPr>
                    <a:solidFill>
                      <a:srgbClr val="0F2850"/>
                    </a:solidFill>
                  </a:tcPr>
                </a:tc>
              </a:tr>
              <a:tr h="580644">
                <a:tc>
                  <a:txBody>
                    <a:bodyPr/>
                    <a:lstStyle/>
                    <a:p>
                      <a:pPr algn="l"/>
                      <a:r>
                        <a:rPr sz="1300" b="1">
                          <a:solidFill>
                            <a:srgbClr val="141428"/>
                          </a:solidFill>
                          <a:latin typeface="Calibri"/>
                        </a:rPr>
                        <a:t>Every claim is sourced</a:t>
                      </a:r>
                    </a:p>
                  </a:txBody>
                  <a:tcPr>
                    <a:solidFill>
                      <a:srgbClr val="F0F4FC"/>
                    </a:solidFill>
                  </a:tcPr>
                </a:tc>
                <a:tc>
                  <a:txBody>
                    <a:bodyPr/>
                    <a:lstStyle/>
                    <a:p>
                      <a:pPr algn="l"/>
                      <a:r>
                        <a:rPr sz="1300" b="0">
                          <a:solidFill>
                            <a:srgbClr val="141428"/>
                          </a:solidFill>
                          <a:latin typeface="Calibri"/>
                        </a:rPr>
                        <a:t>Every claim footnoted to primary source</a:t>
                      </a:r>
                    </a:p>
                  </a:txBody>
                  <a:tcPr>
                    <a:solidFill>
                      <a:srgbClr val="F0F4FC"/>
                    </a:solidFill>
                  </a:tcPr>
                </a:tc>
                <a:tc>
                  <a:txBody>
                    <a:bodyPr/>
                    <a:lstStyle/>
                    <a:p>
                      <a:pPr algn="l"/>
                      <a:r>
                        <a:rPr sz="1300" b="0">
                          <a:solidFill>
                            <a:srgbClr val="141428"/>
                          </a:solidFill>
                          <a:latin typeface="Calibri"/>
                        </a:rPr>
                        <a:t>Every stat links to GMCB / CMS / HSCRC / DVHA data</a:t>
                      </a:r>
                    </a:p>
                  </a:txBody>
                  <a:tcPr>
                    <a:solidFill>
                      <a:srgbClr val="F0F4FC"/>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44 — Common mistakes (1/3) — Reading without testing</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Reading Without Testing — What You Miss</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You Know</a:t>
                      </a:r>
                    </a:p>
                  </a:txBody>
                  <a:tcPr>
                    <a:solidFill>
                      <a:srgbClr val="0F2850"/>
                    </a:solidFill>
                  </a:tcPr>
                </a:tc>
                <a:tc>
                  <a:txBody>
                    <a:bodyPr/>
                    <a:lstStyle/>
                    <a:p>
                      <a:pPr algn="ctr"/>
                      <a:r>
                        <a:rPr b="1" sz="1400">
                          <a:solidFill>
                            <a:srgbClr val="FFFFFF"/>
                          </a:solidFill>
                          <a:latin typeface="Calibri"/>
                        </a:rPr>
                        <a:t>You Cannot Do</a:t>
                      </a:r>
                    </a:p>
                  </a:txBody>
                  <a:tcPr>
                    <a:solidFill>
                      <a:srgbClr val="0F2850"/>
                    </a:solidFill>
                  </a:tcPr>
                </a:tc>
                <a:tc>
                  <a:txBody>
                    <a:bodyPr/>
                    <a:lstStyle/>
                    <a:p>
                      <a:pPr algn="ctr"/>
                      <a:r>
                        <a:rPr b="1" sz="1400">
                          <a:solidFill>
                            <a:srgbClr val="FFFFFF"/>
                          </a:solidFill>
                          <a:latin typeface="Calibri"/>
                        </a:rPr>
                        <a:t>Fix</a:t>
                      </a:r>
                    </a:p>
                  </a:txBody>
                  <a:tcPr>
                    <a:solidFill>
                      <a:srgbClr val="0F2850"/>
                    </a:solidFill>
                  </a:tcPr>
                </a:tc>
              </a:tr>
              <a:tr h="580644">
                <a:tc>
                  <a:txBody>
                    <a:bodyPr/>
                    <a:lstStyle/>
                    <a:p>
                      <a:pPr algn="l"/>
                      <a:r>
                        <a:rPr sz="1300" b="1">
                          <a:solidFill>
                            <a:srgbClr val="141428"/>
                          </a:solidFill>
                          <a:latin typeface="Calibri"/>
                        </a:rPr>
                        <a:t>The six-pillar framework</a:t>
                      </a:r>
                    </a:p>
                  </a:txBody>
                  <a:tcPr>
                    <a:solidFill>
                      <a:srgbClr val="F0F4FC"/>
                    </a:solidFill>
                  </a:tcPr>
                </a:tc>
                <a:tc>
                  <a:txBody>
                    <a:bodyPr/>
                    <a:lstStyle/>
                    <a:p>
                      <a:pPr algn="l"/>
                      <a:r>
                        <a:rPr sz="1300" b="0">
                          <a:solidFill>
                            <a:srgbClr val="141428"/>
                          </a:solidFill>
                          <a:latin typeface="Calibri"/>
                        </a:rPr>
                        <a:t>Score a real organization and get a defensible gap profile</a:t>
                      </a:r>
                    </a:p>
                  </a:txBody>
                  <a:tcPr>
                    <a:solidFill>
                      <a:srgbClr val="F0F4FC"/>
                    </a:solidFill>
                  </a:tcPr>
                </a:tc>
                <a:tc>
                  <a:txBody>
                    <a:bodyPr/>
                    <a:lstStyle/>
                    <a:p>
                      <a:pPr algn="l"/>
                      <a:r>
                        <a:rPr sz="1300" b="0">
                          <a:solidFill>
                            <a:srgbClr val="141428"/>
                          </a:solidFill>
                          <a:latin typeface="Calibri"/>
                        </a:rPr>
                        <a:t>Run the HTR Simulator after Chapter 1</a:t>
                      </a:r>
                    </a:p>
                  </a:txBody>
                  <a:tcPr>
                    <a:solidFill>
                      <a:srgbClr val="F0F4FC"/>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45 — Common mistakes (2/3) — Tooling without theory</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Tooling Without Theory — What You Cannot Do</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You Ran</a:t>
                      </a:r>
                    </a:p>
                  </a:txBody>
                  <a:tcPr>
                    <a:solidFill>
                      <a:srgbClr val="0F2850"/>
                    </a:solidFill>
                  </a:tcPr>
                </a:tc>
                <a:tc>
                  <a:txBody>
                    <a:bodyPr/>
                    <a:lstStyle/>
                    <a:p>
                      <a:pPr algn="ctr"/>
                      <a:r>
                        <a:rPr b="1" sz="1400">
                          <a:solidFill>
                            <a:srgbClr val="FFFFFF"/>
                          </a:solidFill>
                          <a:latin typeface="Calibri"/>
                        </a:rPr>
                        <a:t>You See</a:t>
                      </a:r>
                    </a:p>
                  </a:txBody>
                  <a:tcPr>
                    <a:solidFill>
                      <a:srgbClr val="0F2850"/>
                    </a:solidFill>
                  </a:tcPr>
                </a:tc>
                <a:tc>
                  <a:txBody>
                    <a:bodyPr/>
                    <a:lstStyle/>
                    <a:p>
                      <a:pPr algn="ctr"/>
                      <a:r>
                        <a:rPr b="1" sz="1400">
                          <a:solidFill>
                            <a:srgbClr val="FFFFFF"/>
                          </a:solidFill>
                          <a:latin typeface="Calibri"/>
                        </a:rPr>
                        <a:t>You Cannot Explain</a:t>
                      </a:r>
                    </a:p>
                  </a:txBody>
                  <a:tcPr>
                    <a:solidFill>
                      <a:srgbClr val="0F2850"/>
                    </a:solidFill>
                  </a:tcPr>
                </a:tc>
                <a:tc>
                  <a:txBody>
                    <a:bodyPr/>
                    <a:lstStyle/>
                    <a:p>
                      <a:pPr algn="ctr"/>
                      <a:r>
                        <a:rPr b="1" sz="1400">
                          <a:solidFill>
                            <a:srgbClr val="FFFFFF"/>
                          </a:solidFill>
                          <a:latin typeface="Calibri"/>
                        </a:rPr>
                        <a:t>Read First</a:t>
                      </a:r>
                    </a:p>
                  </a:txBody>
                  <a:tcPr>
                    <a:solidFill>
                      <a:srgbClr val="0F2850"/>
                    </a:solidFill>
                  </a:tcPr>
                </a:tc>
              </a:tr>
              <a:tr h="580644">
                <a:tc>
                  <a:txBody>
                    <a:bodyPr/>
                    <a:lstStyle/>
                    <a:p>
                      <a:pPr algn="l"/>
                      <a:r>
                        <a:rPr sz="1300" b="1">
                          <a:solidFill>
                            <a:srgbClr val="141428"/>
                          </a:solidFill>
                          <a:latin typeface="Calibri"/>
                        </a:rPr>
                        <a:t>HTR Simulator</a:t>
                      </a:r>
                    </a:p>
                  </a:txBody>
                  <a:tcPr>
                    <a:solidFill>
                      <a:srgbClr val="F0F4FC"/>
                    </a:solidFill>
                  </a:tcPr>
                </a:tc>
                <a:tc>
                  <a:txBody>
                    <a:bodyPr/>
                    <a:lstStyle/>
                    <a:p>
                      <a:pPr algn="l"/>
                      <a:r>
                        <a:rPr sz="1300" b="0">
                          <a:solidFill>
                            <a:srgbClr val="141428"/>
                          </a:solidFill>
                          <a:latin typeface="Calibri"/>
                        </a:rPr>
                        <a:t>A six-pillar gap score</a:t>
                      </a:r>
                    </a:p>
                  </a:txBody>
                  <a:tcPr>
                    <a:solidFill>
                      <a:srgbClr val="F0F4FC"/>
                    </a:solidFill>
                  </a:tcPr>
                </a:tc>
                <a:tc>
                  <a:txBody>
                    <a:bodyPr/>
                    <a:lstStyle/>
                    <a:p>
                      <a:pPr algn="l"/>
                      <a:r>
                        <a:rPr sz="1300" b="0">
                          <a:solidFill>
                            <a:srgbClr val="141428"/>
                          </a:solidFill>
                          <a:latin typeface="Calibri"/>
                        </a:rPr>
                        <a:t>Why the pillar order matters or what drives each gap</a:t>
                      </a:r>
                    </a:p>
                  </a:txBody>
                  <a:tcPr>
                    <a:solidFill>
                      <a:srgbClr val="F0F4FC"/>
                    </a:solidFill>
                  </a:tcPr>
                </a:tc>
                <a:tc>
                  <a:txBody>
                    <a:bodyPr/>
                    <a:lstStyle/>
                    <a:p>
                      <a:pPr algn="l"/>
                      <a:r>
                        <a:rPr sz="1300" b="0">
                          <a:solidFill>
                            <a:srgbClr val="141428"/>
                          </a:solidFill>
                          <a:latin typeface="Calibri"/>
                        </a:rPr>
                        <a:t>Ch. 1 (framework) + Ch. 2 (sequencing)</a:t>
                      </a:r>
                    </a:p>
                  </a:txBody>
                  <a:tcPr>
                    <a:solidFill>
                      <a:srgbClr val="F0F4FC"/>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46 — Common mistakes (3/3) — Reading Vermont as parochial</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Why Vermont Is Not Small — It Is Structurally Complete</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Objection</a:t>
                      </a:r>
                    </a:p>
                  </a:txBody>
                  <a:tcPr>
                    <a:solidFill>
                      <a:srgbClr val="0F2850"/>
                    </a:solidFill>
                  </a:tcPr>
                </a:tc>
                <a:tc>
                  <a:txBody>
                    <a:bodyPr/>
                    <a:lstStyle/>
                    <a:p>
                      <a:pPr algn="ctr"/>
                      <a:r>
                        <a:rPr b="1" sz="1400">
                          <a:solidFill>
                            <a:srgbClr val="FFFFFF"/>
                          </a:solidFill>
                          <a:latin typeface="Calibri"/>
                        </a:rPr>
                        <a:t>Why It Is Wrong</a:t>
                      </a:r>
                    </a:p>
                  </a:txBody>
                  <a:tcPr>
                    <a:solidFill>
                      <a:srgbClr val="0F2850"/>
                    </a:solidFill>
                  </a:tcPr>
                </a:tc>
                <a:tc>
                  <a:txBody>
                    <a:bodyPr/>
                    <a:lstStyle/>
                    <a:p>
                      <a:pPr algn="ctr"/>
                      <a:r>
                        <a:rPr b="1" sz="1400">
                          <a:solidFill>
                            <a:srgbClr val="FFFFFF"/>
                          </a:solidFill>
                          <a:latin typeface="Calibri"/>
                        </a:rPr>
                        <a:t>What Vermont Actually Provides</a:t>
                      </a:r>
                    </a:p>
                  </a:txBody>
                  <a:tcPr>
                    <a:solidFill>
                      <a:srgbClr val="0F2850"/>
                    </a:solidFill>
                  </a:tcPr>
                </a:tc>
              </a:tr>
              <a:tr h="580644">
                <a:tc>
                  <a:txBody>
                    <a:bodyPr/>
                    <a:lstStyle/>
                    <a:p>
                      <a:pPr algn="l"/>
                      <a:r>
                        <a:rPr sz="1300" b="1">
                          <a:solidFill>
                            <a:srgbClr val="141428"/>
                          </a:solidFill>
                          <a:latin typeface="Calibri"/>
                        </a:rPr>
                        <a:t>Vermont is too small to matter</a:t>
                      </a:r>
                    </a:p>
                  </a:txBody>
                  <a:tcPr>
                    <a:solidFill>
                      <a:srgbClr val="F0F4FC"/>
                    </a:solidFill>
                  </a:tcPr>
                </a:tc>
                <a:tc>
                  <a:txBody>
                    <a:bodyPr/>
                    <a:lstStyle/>
                    <a:p>
                      <a:pPr algn="l"/>
                      <a:r>
                        <a:rPr sz="1300" b="0">
                          <a:solidFill>
                            <a:srgbClr val="141428"/>
                          </a:solidFill>
                          <a:latin typeface="Calibri"/>
                        </a:rPr>
                        <a:t>Size is irrelevant — structural completeness is what matters</a:t>
                      </a:r>
                    </a:p>
                  </a:txBody>
                  <a:tcPr>
                    <a:solidFill>
                      <a:srgbClr val="F0F4FC"/>
                    </a:solidFill>
                  </a:tcPr>
                </a:tc>
                <a:tc>
                  <a:txBody>
                    <a:bodyPr/>
                    <a:lstStyle/>
                    <a:p>
                      <a:pPr algn="l"/>
                      <a:r>
                        <a:rPr sz="1300" b="0">
                          <a:solidFill>
                            <a:srgbClr val="141428"/>
                          </a:solidFill>
                          <a:latin typeface="Calibri"/>
                        </a:rPr>
                        <a:t>The only state with mandatory all-payer global budgets + AHEAD + Act 68 simultaneously live</a:t>
                      </a:r>
                    </a:p>
                  </a:txBody>
                  <a:tcPr>
                    <a:solidFill>
                      <a:srgbClr val="F0F4FC"/>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47 — The Vermont thread in one slide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Vermont Programs — Full Book-Platform Map</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Vermont Program</a:t>
                      </a:r>
                    </a:p>
                  </a:txBody>
                  <a:tcPr>
                    <a:solidFill>
                      <a:srgbClr val="0F2850"/>
                    </a:solidFill>
                  </a:tcPr>
                </a:tc>
                <a:tc>
                  <a:txBody>
                    <a:bodyPr/>
                    <a:lstStyle/>
                    <a:p>
                      <a:pPr algn="ctr"/>
                      <a:r>
                        <a:rPr b="1" sz="1400">
                          <a:solidFill>
                            <a:srgbClr val="FFFFFF"/>
                          </a:solidFill>
                          <a:latin typeface="Calibri"/>
                        </a:rPr>
                        <a:t>Book Chapters</a:t>
                      </a:r>
                    </a:p>
                  </a:txBody>
                  <a:tcPr>
                    <a:solidFill>
                      <a:srgbClr val="0F2850"/>
                    </a:solidFill>
                  </a:tcPr>
                </a:tc>
                <a:tc>
                  <a:txBody>
                    <a:bodyPr/>
                    <a:lstStyle/>
                    <a:p>
                      <a:pPr algn="ctr"/>
                      <a:r>
                        <a:rPr b="1" sz="1400">
                          <a:solidFill>
                            <a:srgbClr val="FFFFFF"/>
                          </a:solidFill>
                          <a:latin typeface="Calibri"/>
                        </a:rPr>
                        <a:t>Platform Page</a:t>
                      </a:r>
                    </a:p>
                  </a:txBody>
                  <a:tcPr>
                    <a:solidFill>
                      <a:srgbClr val="0F2850"/>
                    </a:solidFill>
                  </a:tcPr>
                </a:tc>
                <a:tc>
                  <a:txBody>
                    <a:bodyPr/>
                    <a:lstStyle/>
                    <a:p>
                      <a:pPr algn="ctr"/>
                      <a:r>
                        <a:rPr b="1" sz="1400">
                          <a:solidFill>
                            <a:srgbClr val="FFFFFF"/>
                          </a:solidFill>
                          <a:latin typeface="Calibri"/>
                        </a:rPr>
                        <a:t>Research Lab Connection</a:t>
                      </a:r>
                    </a:p>
                  </a:txBody>
                  <a:tcPr>
                    <a:solidFill>
                      <a:srgbClr val="0F2850"/>
                    </a:solidFill>
                  </a:tcPr>
                </a:tc>
              </a:tr>
              <a:tr h="580644">
                <a:tc>
                  <a:txBody>
                    <a:bodyPr/>
                    <a:lstStyle/>
                    <a:p>
                      <a:pPr algn="l"/>
                      <a:r>
                        <a:rPr sz="1300" b="1">
                          <a:solidFill>
                            <a:srgbClr val="141428"/>
                          </a:solidFill>
                          <a:latin typeface="Calibri"/>
                        </a:rPr>
                        <a:t>Act 167 (2022)</a:t>
                      </a:r>
                    </a:p>
                  </a:txBody>
                  <a:tcPr>
                    <a:solidFill>
                      <a:srgbClr val="F0F4FC"/>
                    </a:solidFill>
                  </a:tcPr>
                </a:tc>
                <a:tc>
                  <a:txBody>
                    <a:bodyPr/>
                    <a:lstStyle/>
                    <a:p>
                      <a:pPr algn="l"/>
                      <a:r>
                        <a:rPr sz="1300" b="0">
                          <a:solidFill>
                            <a:srgbClr val="141428"/>
                          </a:solidFill>
                          <a:latin typeface="Calibri"/>
                        </a:rPr>
                        <a:t>4</a:t>
                      </a:r>
                    </a:p>
                  </a:txBody>
                  <a:tcPr>
                    <a:solidFill>
                      <a:srgbClr val="F0F4FC"/>
                    </a:solidFill>
                  </a:tcPr>
                </a:tc>
                <a:tc>
                  <a:txBody>
                    <a:bodyPr/>
                    <a:lstStyle/>
                    <a:p>
                      <a:pPr algn="l"/>
                      <a:r>
                        <a:rPr sz="1300" b="0">
                          <a:solidFill>
                            <a:srgbClr val="141428"/>
                          </a:solidFill>
                          <a:latin typeface="Calibri"/>
                        </a:rPr>
                        <a:t>/vermont-act-167</a:t>
                      </a:r>
                    </a:p>
                  </a:txBody>
                  <a:tcPr>
                    <a:solidFill>
                      <a:srgbClr val="F0F4FC"/>
                    </a:solidFill>
                  </a:tcPr>
                </a:tc>
                <a:tc>
                  <a:txBody>
                    <a:bodyPr/>
                    <a:lstStyle/>
                    <a:p>
                      <a:pPr algn="l"/>
                      <a:r>
                        <a:rPr sz="1300" b="0">
                          <a:solidFill>
                            <a:srgbClr val="141428"/>
                          </a:solidFill>
                          <a:latin typeface="Calibri"/>
                        </a:rPr>
                        <a:t>Policy Simulator</a:t>
                      </a:r>
                    </a:p>
                  </a:txBody>
                  <a:tcPr>
                    <a:solidFill>
                      <a:srgbClr val="F0F4FC"/>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48 — The cross-state thread</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Cross-State Coverage Map</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State</a:t>
                      </a:r>
                    </a:p>
                  </a:txBody>
                  <a:tcPr>
                    <a:solidFill>
                      <a:srgbClr val="0F2850"/>
                    </a:solidFill>
                  </a:tcPr>
                </a:tc>
                <a:tc>
                  <a:txBody>
                    <a:bodyPr/>
                    <a:lstStyle/>
                    <a:p>
                      <a:pPr algn="ctr"/>
                      <a:r>
                        <a:rPr b="1" sz="1400">
                          <a:solidFill>
                            <a:srgbClr val="FFFFFF"/>
                          </a:solidFill>
                          <a:latin typeface="Calibri"/>
                        </a:rPr>
                        <a:t>Book Treatment</a:t>
                      </a:r>
                    </a:p>
                  </a:txBody>
                  <a:tcPr>
                    <a:solidFill>
                      <a:srgbClr val="0F2850"/>
                    </a:solidFill>
                  </a:tcPr>
                </a:tc>
                <a:tc>
                  <a:txBody>
                    <a:bodyPr/>
                    <a:lstStyle/>
                    <a:p>
                      <a:pPr algn="ctr"/>
                      <a:r>
                        <a:rPr b="1" sz="1400">
                          <a:solidFill>
                            <a:srgbClr val="FFFFFF"/>
                          </a:solidFill>
                          <a:latin typeface="Calibri"/>
                        </a:rPr>
                        <a:t>Platform Pages</a:t>
                      </a:r>
                    </a:p>
                  </a:txBody>
                  <a:tcPr>
                    <a:solidFill>
                      <a:srgbClr val="0F2850"/>
                    </a:solidFill>
                  </a:tcPr>
                </a:tc>
                <a:tc>
                  <a:txBody>
                    <a:bodyPr/>
                    <a:lstStyle/>
                    <a:p>
                      <a:pPr algn="ctr"/>
                      <a:r>
                        <a:rPr b="1" sz="1400">
                          <a:solidFill>
                            <a:srgbClr val="FFFFFF"/>
                          </a:solidFill>
                          <a:latin typeface="Calibri"/>
                        </a:rPr>
                        <a:t>Key Metric</a:t>
                      </a:r>
                    </a:p>
                  </a:txBody>
                  <a:tcPr>
                    <a:solidFill>
                      <a:srgbClr val="0F2850"/>
                    </a:solidFill>
                  </a:tcPr>
                </a:tc>
              </a:tr>
              <a:tr h="580644">
                <a:tc>
                  <a:txBody>
                    <a:bodyPr/>
                    <a:lstStyle/>
                    <a:p>
                      <a:pPr algn="l"/>
                      <a:r>
                        <a:rPr sz="1300" b="1">
                          <a:solidFill>
                            <a:srgbClr val="141428"/>
                          </a:solidFill>
                          <a:latin typeface="Calibri"/>
                        </a:rPr>
                        <a:t>Vermont</a:t>
                      </a:r>
                    </a:p>
                  </a:txBody>
                  <a:tcPr>
                    <a:solidFill>
                      <a:srgbClr val="F0F4FC"/>
                    </a:solidFill>
                  </a:tcPr>
                </a:tc>
                <a:tc>
                  <a:txBody>
                    <a:bodyPr/>
                    <a:lstStyle/>
                    <a:p>
                      <a:pPr algn="l"/>
                      <a:r>
                        <a:rPr sz="1300" b="0">
                          <a:solidFill>
                            <a:srgbClr val="141428"/>
                          </a:solidFill>
                          <a:latin typeface="Calibri"/>
                        </a:rPr>
                        <a:t>Central case (every chapter)</a:t>
                      </a:r>
                    </a:p>
                  </a:txBody>
                  <a:tcPr>
                    <a:solidFill>
                      <a:srgbClr val="F0F4FC"/>
                    </a:solidFill>
                  </a:tcPr>
                </a:tc>
                <a:tc>
                  <a:txBody>
                    <a:bodyPr/>
                    <a:lstStyle/>
                    <a:p>
                      <a:pPr algn="l"/>
                      <a:r>
                        <a:rPr sz="1300" b="0">
                          <a:solidFill>
                            <a:srgbClr val="141428"/>
                          </a:solidFill>
                          <a:latin typeface="Calibri"/>
                        </a:rPr>
                        <a:t>12+ dedicated pages</a:t>
                      </a:r>
                    </a:p>
                  </a:txBody>
                  <a:tcPr>
                    <a:solidFill>
                      <a:srgbClr val="F0F4FC"/>
                    </a:solidFill>
                  </a:tcPr>
                </a:tc>
                <a:tc>
                  <a:txBody>
                    <a:bodyPr/>
                    <a:lstStyle/>
                    <a:p>
                      <a:pPr algn="l"/>
                      <a:r>
                        <a:rPr sz="1300" b="0">
                          <a:solidFill>
                            <a:srgbClr val="141428"/>
                          </a:solidFill>
                          <a:latin typeface="Calibri"/>
                        </a:rPr>
                        <a:t>AHEAD global budget lab</a:t>
                      </a:r>
                    </a:p>
                  </a:txBody>
                  <a:tcPr>
                    <a:solidFill>
                      <a:srgbClr val="F0F4FC"/>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49 — How the system evolves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Book vs. Platform — Update Cadence</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System</a:t>
                      </a:r>
                    </a:p>
                  </a:txBody>
                  <a:tcPr>
                    <a:solidFill>
                      <a:srgbClr val="0F2850"/>
                    </a:solidFill>
                  </a:tcPr>
                </a:tc>
                <a:tc>
                  <a:txBody>
                    <a:bodyPr/>
                    <a:lstStyle/>
                    <a:p>
                      <a:pPr algn="ctr"/>
                      <a:r>
                        <a:rPr b="1" sz="1400">
                          <a:solidFill>
                            <a:srgbClr val="FFFFFF"/>
                          </a:solidFill>
                          <a:latin typeface="Calibri"/>
                        </a:rPr>
                        <a:t>Cadence</a:t>
                      </a:r>
                    </a:p>
                  </a:txBody>
                  <a:tcPr>
                    <a:solidFill>
                      <a:srgbClr val="0F2850"/>
                    </a:solidFill>
                  </a:tcPr>
                </a:tc>
                <a:tc>
                  <a:txBody>
                    <a:bodyPr/>
                    <a:lstStyle/>
                    <a:p>
                      <a:pPr algn="ctr"/>
                      <a:r>
                        <a:rPr b="1" sz="1400">
                          <a:solidFill>
                            <a:srgbClr val="FFFFFF"/>
                          </a:solidFill>
                          <a:latin typeface="Calibri"/>
                        </a:rPr>
                        <a:t>Current State</a:t>
                      </a:r>
                    </a:p>
                  </a:txBody>
                  <a:tcPr>
                    <a:solidFill>
                      <a:srgbClr val="0F2850"/>
                    </a:solidFill>
                  </a:tcPr>
                </a:tc>
                <a:tc>
                  <a:txBody>
                    <a:bodyPr/>
                    <a:lstStyle/>
                    <a:p>
                      <a:pPr algn="ctr"/>
                      <a:r>
                        <a:rPr b="1" sz="1400">
                          <a:solidFill>
                            <a:srgbClr val="FFFFFF"/>
                          </a:solidFill>
                          <a:latin typeface="Calibri"/>
                        </a:rPr>
                        <a:t>What Changes</a:t>
                      </a:r>
                    </a:p>
                  </a:txBody>
                  <a:tcPr>
                    <a:solidFill>
                      <a:srgbClr val="0F2850"/>
                    </a:solidFill>
                  </a:tcPr>
                </a:tc>
              </a:tr>
              <a:tr h="580644">
                <a:tc>
                  <a:txBody>
                    <a:bodyPr/>
                    <a:lstStyle/>
                    <a:p>
                      <a:pPr algn="l"/>
                      <a:r>
                        <a:rPr sz="1300" b="1">
                          <a:solidFill>
                            <a:srgbClr val="141428"/>
                          </a:solidFill>
                          <a:latin typeface="Calibri"/>
                        </a:rPr>
                        <a:t>Book (v28)</a:t>
                      </a:r>
                    </a:p>
                  </a:txBody>
                  <a:tcPr>
                    <a:solidFill>
                      <a:srgbClr val="F0F4FC"/>
                    </a:solidFill>
                  </a:tcPr>
                </a:tc>
                <a:tc>
                  <a:txBody>
                    <a:bodyPr/>
                    <a:lstStyle/>
                    <a:p>
                      <a:pPr algn="l"/>
                      <a:r>
                        <a:rPr sz="1300" b="0">
                          <a:solidFill>
                            <a:srgbClr val="141428"/>
                          </a:solidFill>
                          <a:latin typeface="Calibri"/>
                        </a:rPr>
                        <a:t>Annual</a:t>
                      </a:r>
                    </a:p>
                  </a:txBody>
                  <a:tcPr>
                    <a:solidFill>
                      <a:srgbClr val="F0F4FC"/>
                    </a:solidFill>
                  </a:tcPr>
                </a:tc>
                <a:tc>
                  <a:txBody>
                    <a:bodyPr/>
                    <a:lstStyle/>
                    <a:p>
                      <a:pPr algn="l"/>
                      <a:r>
                        <a:rPr sz="1300" b="0">
                          <a:solidFill>
                            <a:srgbClr val="141428"/>
                          </a:solidFill>
                          <a:latin typeface="Calibri"/>
                        </a:rPr>
                        <a:t>Canonical — SASH + DAs + VCCI + Oregon/CalAIM added</a:t>
                      </a:r>
                    </a:p>
                  </a:txBody>
                  <a:tcPr>
                    <a:solidFill>
                      <a:srgbClr val="F0F4FC"/>
                    </a:solidFill>
                  </a:tcPr>
                </a:tc>
                <a:tc>
                  <a:txBody>
                    <a:bodyPr/>
                    <a:lstStyle/>
                    <a:p>
                      <a:pPr algn="l"/>
                      <a:r>
                        <a:rPr sz="1300" b="0">
                          <a:solidFill>
                            <a:srgbClr val="141428"/>
                          </a:solidFill>
                          <a:latin typeface="Calibri"/>
                        </a:rPr>
                        <a:t>Framework + Vermont program sections + Appendix E/G</a:t>
                      </a:r>
                    </a:p>
                  </a:txBody>
                  <a:tcPr>
                    <a:solidFill>
                      <a:srgbClr val="F0F4FC"/>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50 — Current platform state (v28-aligned)</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Platform State — What Is Live Today</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Area</a:t>
                      </a:r>
                    </a:p>
                  </a:txBody>
                  <a:tcPr>
                    <a:solidFill>
                      <a:srgbClr val="0F2850"/>
                    </a:solidFill>
                  </a:tcPr>
                </a:tc>
                <a:tc>
                  <a:txBody>
                    <a:bodyPr/>
                    <a:lstStyle/>
                    <a:p>
                      <a:pPr algn="ctr"/>
                      <a:r>
                        <a:rPr b="1" sz="1400">
                          <a:solidFill>
                            <a:srgbClr val="FFFFFF"/>
                          </a:solidFill>
                          <a:latin typeface="Calibri"/>
                        </a:rPr>
                        <a:t>Count / Status</a:t>
                      </a:r>
                    </a:p>
                  </a:txBody>
                  <a:tcPr>
                    <a:solidFill>
                      <a:srgbClr val="0F2850"/>
                    </a:solidFill>
                  </a:tcPr>
                </a:tc>
                <a:tc>
                  <a:txBody>
                    <a:bodyPr/>
                    <a:lstStyle/>
                    <a:p>
                      <a:pPr algn="ctr"/>
                      <a:r>
                        <a:rPr b="1" sz="1400">
                          <a:solidFill>
                            <a:srgbClr val="FFFFFF"/>
                          </a:solidFill>
                          <a:latin typeface="Calibri"/>
                        </a:rPr>
                        <a:t>Key Routes</a:t>
                      </a:r>
                    </a:p>
                  </a:txBody>
                  <a:tcPr>
                    <a:solidFill>
                      <a:srgbClr val="0F2850"/>
                    </a:solidFill>
                  </a:tcPr>
                </a:tc>
              </a:tr>
              <a:tr h="580644">
                <a:tc>
                  <a:txBody>
                    <a:bodyPr/>
                    <a:lstStyle/>
                    <a:p>
                      <a:pPr algn="l"/>
                      <a:r>
                        <a:rPr sz="1300" b="1">
                          <a:solidFill>
                            <a:srgbClr val="141428"/>
                          </a:solidFill>
                          <a:latin typeface="Calibri"/>
                        </a:rPr>
                        <a:t>Total routes</a:t>
                      </a:r>
                    </a:p>
                  </a:txBody>
                  <a:tcPr>
                    <a:solidFill>
                      <a:srgbClr val="F0F4FC"/>
                    </a:solidFill>
                  </a:tcPr>
                </a:tc>
                <a:tc>
                  <a:txBody>
                    <a:bodyPr/>
                    <a:lstStyle/>
                    <a:p>
                      <a:pPr algn="l"/>
                      <a:r>
                        <a:rPr sz="1300" b="0">
                          <a:solidFill>
                            <a:srgbClr val="141428"/>
                          </a:solidFill>
                          <a:latin typeface="Calibri"/>
                        </a:rPr>
                        <a:t>200+</a:t>
                      </a:r>
                    </a:p>
                  </a:txBody>
                  <a:tcPr>
                    <a:solidFill>
                      <a:srgbClr val="F0F4FC"/>
                    </a:solidFill>
                  </a:tcPr>
                </a:tc>
                <a:tc>
                  <a:txBody>
                    <a:bodyPr/>
                    <a:lstStyle/>
                    <a:p>
                      <a:pPr algn="l"/>
                      <a:r>
                        <a:rPr sz="1300" b="0">
                          <a:solidFill>
                            <a:srgbClr val="141428"/>
                          </a:solidFill>
                          <a:latin typeface="Calibri"/>
                        </a:rPr>
                        <a:t>/policy /technology /economics /clinical /equity /operations + all sub-pages</a:t>
                      </a:r>
                    </a:p>
                  </a:txBody>
                  <a:tcPr>
                    <a:solidFill>
                      <a:srgbClr val="F0F4FC"/>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51 — Community + Connect — what's new</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The Community Layer — How Practitioners Connect</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Discover: /connect/directory (find peers by pillar + state)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52 — Subscription / access tiers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HTR Access Tiers</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Tier</a:t>
                      </a:r>
                    </a:p>
                  </a:txBody>
                  <a:tcPr>
                    <a:solidFill>
                      <a:srgbClr val="0F2850"/>
                    </a:solidFill>
                  </a:tcPr>
                </a:tc>
                <a:tc>
                  <a:txBody>
                    <a:bodyPr/>
                    <a:lstStyle/>
                    <a:p>
                      <a:pPr algn="ctr"/>
                      <a:r>
                        <a:rPr b="1" sz="1400">
                          <a:solidFill>
                            <a:srgbClr val="FFFFFF"/>
                          </a:solidFill>
                          <a:latin typeface="Calibri"/>
                        </a:rPr>
                        <a:t>Book Access</a:t>
                      </a:r>
                    </a:p>
                  </a:txBody>
                  <a:tcPr>
                    <a:solidFill>
                      <a:srgbClr val="0F2850"/>
                    </a:solidFill>
                  </a:tcPr>
                </a:tc>
                <a:tc>
                  <a:txBody>
                    <a:bodyPr/>
                    <a:lstStyle/>
                    <a:p>
                      <a:pPr algn="ctr"/>
                      <a:r>
                        <a:rPr b="1" sz="1400">
                          <a:solidFill>
                            <a:srgbClr val="FFFFFF"/>
                          </a:solidFill>
                          <a:latin typeface="Calibri"/>
                        </a:rPr>
                        <a:t>Platform Access</a:t>
                      </a:r>
                    </a:p>
                  </a:txBody>
                  <a:tcPr>
                    <a:solidFill>
                      <a:srgbClr val="0F2850"/>
                    </a:solidFill>
                  </a:tcPr>
                </a:tc>
                <a:tc>
                  <a:txBody>
                    <a:bodyPr/>
                    <a:lstStyle/>
                    <a:p>
                      <a:pPr algn="ctr"/>
                      <a:r>
                        <a:rPr b="1" sz="1400">
                          <a:solidFill>
                            <a:srgbClr val="FFFFFF"/>
                          </a:solidFill>
                          <a:latin typeface="Calibri"/>
                        </a:rPr>
                        <a:t>Best For</a:t>
                      </a:r>
                    </a:p>
                  </a:txBody>
                  <a:tcPr>
                    <a:solidFill>
                      <a:srgbClr val="0F2850"/>
                    </a:solidFill>
                  </a:tcPr>
                </a:tc>
              </a:tr>
              <a:tr h="580644">
                <a:tc>
                  <a:txBody>
                    <a:bodyPr/>
                    <a:lstStyle/>
                    <a:p>
                      <a:pPr algn="l"/>
                      <a:r>
                        <a:rPr sz="1300" b="1">
                          <a:solidFill>
                            <a:srgbClr val="141428"/>
                          </a:solidFill>
                          <a:latin typeface="Calibri"/>
                        </a:rPr>
                        <a:t>Free</a:t>
                      </a:r>
                    </a:p>
                  </a:txBody>
                  <a:tcPr>
                    <a:solidFill>
                      <a:srgbClr val="F0F4FC"/>
                    </a:solidFill>
                  </a:tcPr>
                </a:tc>
                <a:tc>
                  <a:txBody>
                    <a:bodyPr/>
                    <a:lstStyle/>
                    <a:p>
                      <a:pPr algn="l"/>
                      <a:r>
                        <a:rPr sz="1300" b="0">
                          <a:solidFill>
                            <a:srgbClr val="141428"/>
                          </a:solidFill>
                          <a:latin typeface="Calibri"/>
                        </a:rPr>
                        <a:t>PDF download</a:t>
                      </a:r>
                    </a:p>
                  </a:txBody>
                  <a:tcPr>
                    <a:solidFill>
                      <a:srgbClr val="F0F4FC"/>
                    </a:solidFill>
                  </a:tcPr>
                </a:tc>
                <a:tc>
                  <a:txBody>
                    <a:bodyPr/>
                    <a:lstStyle/>
                    <a:p>
                      <a:pPr algn="l"/>
                      <a:r>
                        <a:rPr sz="1300" b="0">
                          <a:solidFill>
                            <a:srgbClr val="141428"/>
                          </a:solidFill>
                          <a:latin typeface="Calibri"/>
                        </a:rPr>
                        <a:t>Pillar overviews + basic Wire</a:t>
                      </a:r>
                    </a:p>
                  </a:txBody>
                  <a:tcPr>
                    <a:solidFill>
                      <a:srgbClr val="F0F4FC"/>
                    </a:solidFill>
                  </a:tcPr>
                </a:tc>
                <a:tc>
                  <a:txBody>
                    <a:bodyPr/>
                    <a:lstStyle/>
                    <a:p>
                      <a:pPr algn="l"/>
                      <a:r>
                        <a:rPr sz="1300" b="0">
                          <a:solidFill>
                            <a:srgbClr val="141428"/>
                          </a:solidFill>
                          <a:latin typeface="Calibri"/>
                        </a:rPr>
                        <a:t>First-time visitors</a:t>
                      </a:r>
                    </a:p>
                  </a:txBody>
                  <a:tcPr>
                    <a:solidFill>
                      <a:srgbClr val="F0F4FC"/>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53 — How instructors use the system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Instructor Adoption Map — 15-Week Semester</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Component</a:t>
                      </a:r>
                    </a:p>
                  </a:txBody>
                  <a:tcPr>
                    <a:solidFill>
                      <a:srgbClr val="0F2850"/>
                    </a:solidFill>
                  </a:tcPr>
                </a:tc>
                <a:tc>
                  <a:txBody>
                    <a:bodyPr/>
                    <a:lstStyle/>
                    <a:p>
                      <a:pPr algn="ctr"/>
                      <a:r>
                        <a:rPr b="1" sz="1400">
                          <a:solidFill>
                            <a:srgbClr val="FFFFFF"/>
                          </a:solidFill>
                          <a:latin typeface="Calibri"/>
                        </a:rPr>
                        <a:t>Semester Role</a:t>
                      </a:r>
                    </a:p>
                  </a:txBody>
                  <a:tcPr>
                    <a:solidFill>
                      <a:srgbClr val="0F2850"/>
                    </a:solidFill>
                  </a:tcPr>
                </a:tc>
                <a:tc>
                  <a:txBody>
                    <a:bodyPr/>
                    <a:lstStyle/>
                    <a:p>
                      <a:pPr algn="ctr"/>
                      <a:r>
                        <a:rPr b="1" sz="1400">
                          <a:solidFill>
                            <a:srgbClr val="FFFFFF"/>
                          </a:solidFill>
                          <a:latin typeface="Calibri"/>
                        </a:rPr>
                        <a:t>Notes</a:t>
                      </a:r>
                    </a:p>
                  </a:txBody>
                  <a:tcPr>
                    <a:solidFill>
                      <a:srgbClr val="0F2850"/>
                    </a:solidFill>
                  </a:tcPr>
                </a:tc>
              </a:tr>
              <a:tr h="580644">
                <a:tc>
                  <a:txBody>
                    <a:bodyPr/>
                    <a:lstStyle/>
                    <a:p>
                      <a:pPr algn="l"/>
                      <a:r>
                        <a:rPr sz="1300" b="1">
                          <a:solidFill>
                            <a:srgbClr val="141428"/>
                          </a:solidFill>
                          <a:latin typeface="Calibri"/>
                        </a:rPr>
                        <a:t>Book (20 chapters)</a:t>
                      </a:r>
                    </a:p>
                  </a:txBody>
                  <a:tcPr>
                    <a:solidFill>
                      <a:srgbClr val="F0F4FC"/>
                    </a:solidFill>
                  </a:tcPr>
                </a:tc>
                <a:tc>
                  <a:txBody>
                    <a:bodyPr/>
                    <a:lstStyle/>
                    <a:p>
                      <a:pPr algn="l"/>
                      <a:r>
                        <a:rPr sz="1300" b="0">
                          <a:solidFill>
                            <a:srgbClr val="141428"/>
                          </a:solidFill>
                          <a:latin typeface="Calibri"/>
                        </a:rPr>
                        <a:t>Textbook — 1-2 chapters per week</a:t>
                      </a:r>
                    </a:p>
                  </a:txBody>
                  <a:tcPr>
                    <a:solidFill>
                      <a:srgbClr val="F0F4FC"/>
                    </a:solidFill>
                  </a:tcPr>
                </a:tc>
                <a:tc>
                  <a:txBody>
                    <a:bodyPr/>
                    <a:lstStyle/>
                    <a:p>
                      <a:pPr algn="l"/>
                      <a:r>
                        <a:rPr sz="1300" b="0">
                          <a:solidFill>
                            <a:srgbClr val="141428"/>
                          </a:solidFill>
                          <a:latin typeface="Calibri"/>
                        </a:rPr>
                        <a:t>Natural 15-week fit: Ch. 1-3 foundation + 6 pillar pairs + Ch. 16-20 capstone</a:t>
                      </a:r>
                    </a:p>
                  </a:txBody>
                  <a:tcPr>
                    <a:solidFill>
                      <a:srgbClr val="F0F4FC"/>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54 — How advisory clients use the system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HTR Advisory Engagement Model</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Joint Diagnostic: HTR scores the client on 6-pillar framework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55 — Why the integration matters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What Each Piece Compensates For</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Piece</a:t>
                      </a:r>
                    </a:p>
                  </a:txBody>
                  <a:tcPr>
                    <a:solidFill>
                      <a:srgbClr val="0F2850"/>
                    </a:solidFill>
                  </a:tcPr>
                </a:tc>
                <a:tc>
                  <a:txBody>
                    <a:bodyPr/>
                    <a:lstStyle/>
                    <a:p>
                      <a:pPr algn="ctr"/>
                      <a:r>
                        <a:rPr b="1" sz="1400">
                          <a:solidFill>
                            <a:srgbClr val="FFFFFF"/>
                          </a:solidFill>
                          <a:latin typeface="Calibri"/>
                        </a:rPr>
                        <a:t>What It Provides</a:t>
                      </a:r>
                    </a:p>
                  </a:txBody>
                  <a:tcPr>
                    <a:solidFill>
                      <a:srgbClr val="0F2850"/>
                    </a:solidFill>
                  </a:tcPr>
                </a:tc>
                <a:tc>
                  <a:txBody>
                    <a:bodyPr/>
                    <a:lstStyle/>
                    <a:p>
                      <a:pPr algn="ctr"/>
                      <a:r>
                        <a:rPr b="1" sz="1400">
                          <a:solidFill>
                            <a:srgbClr val="FFFFFF"/>
                          </a:solidFill>
                          <a:latin typeface="Calibri"/>
                        </a:rPr>
                        <a:t>What It Cannot Do Alone</a:t>
                      </a:r>
                    </a:p>
                  </a:txBody>
                  <a:tcPr>
                    <a:solidFill>
                      <a:srgbClr val="0F2850"/>
                    </a:solidFill>
                  </a:tcPr>
                </a:tc>
                <a:tc>
                  <a:txBody>
                    <a:bodyPr/>
                    <a:lstStyle/>
                    <a:p>
                      <a:pPr algn="ctr"/>
                      <a:r>
                        <a:rPr b="1" sz="1400">
                          <a:solidFill>
                            <a:srgbClr val="FFFFFF"/>
                          </a:solidFill>
                          <a:latin typeface="Calibri"/>
                        </a:rPr>
                        <a:t>What the Other Provides</a:t>
                      </a:r>
                    </a:p>
                  </a:txBody>
                  <a:tcPr>
                    <a:solidFill>
                      <a:srgbClr val="0F2850"/>
                    </a:solidFill>
                  </a:tcPr>
                </a:tc>
              </a:tr>
              <a:tr h="580644">
                <a:tc>
                  <a:txBody>
                    <a:bodyPr/>
                    <a:lstStyle/>
                    <a:p>
                      <a:pPr algn="l"/>
                      <a:r>
                        <a:rPr sz="1300" b="1">
                          <a:solidFill>
                            <a:srgbClr val="141428"/>
                          </a:solidFill>
                          <a:latin typeface="Calibri"/>
                        </a:rPr>
                        <a:t>Book</a:t>
                      </a:r>
                    </a:p>
                  </a:txBody>
                  <a:tcPr>
                    <a:solidFill>
                      <a:srgbClr val="F0F4FC"/>
                    </a:solidFill>
                  </a:tcPr>
                </a:tc>
                <a:tc>
                  <a:txBody>
                    <a:bodyPr/>
                    <a:lstStyle/>
                    <a:p>
                      <a:pPr algn="l"/>
                      <a:r>
                        <a:rPr sz="1300" b="0">
                          <a:solidFill>
                            <a:srgbClr val="141428"/>
                          </a:solidFill>
                          <a:latin typeface="Calibri"/>
                        </a:rPr>
                        <a:t>Structural framework — durable across editions</a:t>
                      </a:r>
                    </a:p>
                  </a:txBody>
                  <a:tcPr>
                    <a:solidFill>
                      <a:srgbClr val="F0F4FC"/>
                    </a:solidFill>
                  </a:tcPr>
                </a:tc>
                <a:tc>
                  <a:txBody>
                    <a:bodyPr/>
                    <a:lstStyle/>
                    <a:p>
                      <a:pPr algn="l"/>
                      <a:r>
                        <a:rPr sz="1300" b="0">
                          <a:solidFill>
                            <a:srgbClr val="141428"/>
                          </a:solidFill>
                          <a:latin typeface="Calibri"/>
                        </a:rPr>
                        <a:t>Goes stale on data and policy within months</a:t>
                      </a:r>
                    </a:p>
                  </a:txBody>
                  <a:tcPr>
                    <a:solidFill>
                      <a:srgbClr val="F0F4FC"/>
                    </a:solidFill>
                  </a:tcPr>
                </a:tc>
                <a:tc>
                  <a:txBody>
                    <a:bodyPr/>
                    <a:lstStyle/>
                    <a:p>
                      <a:pPr algn="l"/>
                      <a:r>
                        <a:rPr sz="1300" b="0">
                          <a:solidFill>
                            <a:srgbClr val="141428"/>
                          </a:solidFill>
                          <a:latin typeface="Calibri"/>
                        </a:rPr>
                        <a:t>Platform provides live currency</a:t>
                      </a:r>
                    </a:p>
                  </a:txBody>
                  <a:tcPr>
                    <a:solidFill>
                      <a:srgbClr val="F0F4FC"/>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56 — The user's promise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What You Get By Committing to the System</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5592927"/>
                <a:gridCol w="5592927"/>
              </a:tblGrid>
              <a:tr h="580644">
                <a:tc>
                  <a:txBody>
                    <a:bodyPr/>
                    <a:lstStyle/>
                    <a:p>
                      <a:pPr algn="ctr"/>
                      <a:r>
                        <a:rPr b="1" sz="1400">
                          <a:solidFill>
                            <a:srgbClr val="FFFFFF"/>
                          </a:solidFill>
                          <a:latin typeface="Calibri"/>
                        </a:rPr>
                        <a:t>Capability</a:t>
                      </a:r>
                    </a:p>
                  </a:txBody>
                  <a:tcPr>
                    <a:solidFill>
                      <a:srgbClr val="0F2850"/>
                    </a:solidFill>
                  </a:tcPr>
                </a:tc>
                <a:tc>
                  <a:txBody>
                    <a:bodyPr/>
                    <a:lstStyle/>
                    <a:p>
                      <a:pPr algn="ctr"/>
                      <a:r>
                        <a:rPr b="1" sz="1400">
                          <a:solidFill>
                            <a:srgbClr val="FFFFFF"/>
                          </a:solidFill>
                          <a:latin typeface="Calibri"/>
                        </a:rPr>
                        <a:t>What That Means In Practice</a:t>
                      </a:r>
                    </a:p>
                  </a:txBody>
                  <a:tcPr>
                    <a:solidFill>
                      <a:srgbClr val="0F2850"/>
                    </a:solidFill>
                  </a:tcPr>
                </a:tc>
              </a:tr>
              <a:tr h="580644">
                <a:tc>
                  <a:txBody>
                    <a:bodyPr/>
                    <a:lstStyle/>
                    <a:p>
                      <a:pPr algn="l"/>
                      <a:r>
                        <a:rPr sz="1300" b="1">
                          <a:solidFill>
                            <a:srgbClr val="141428"/>
                          </a:solidFill>
                          <a:latin typeface="Calibri"/>
                        </a:rPr>
                        <a:t>Read transformation as system behavior</a:t>
                      </a:r>
                    </a:p>
                  </a:txBody>
                  <a:tcPr>
                    <a:solidFill>
                      <a:srgbClr val="F0F4FC"/>
                    </a:solidFill>
                  </a:tcPr>
                </a:tc>
                <a:tc>
                  <a:txBody>
                    <a:bodyPr/>
                    <a:lstStyle/>
                    <a:p>
                      <a:pPr algn="l"/>
                      <a:r>
                        <a:rPr sz="1300" b="0">
                          <a:solidFill>
                            <a:srgbClr val="141428"/>
                          </a:solidFill>
                          <a:latin typeface="Calibri"/>
                        </a:rPr>
                        <a:t>Not headlines — you will see pillar gaps before they become crises</a:t>
                      </a:r>
                    </a:p>
                  </a:txBody>
                  <a:tcPr>
                    <a:solidFill>
                      <a:srgbClr val="F0F4FC"/>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57 — How to start — first 90 minutes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First 90 Minutes</a:t>
            </a:r>
          </a:p>
        </p:txBody>
      </p:sp>
      <p:sp>
        <p:nvSpPr>
          <p:cNvPr id="6" name="Rounded Rectangle 5"/>
          <p:cNvSpPr/>
          <p:nvPr/>
        </p:nvSpPr>
        <p:spPr>
          <a:xfrm>
            <a:off x="502920" y="1929384"/>
            <a:ext cx="11185855" cy="1280160"/>
          </a:xfrm>
          <a:prstGeom prst="roundRect">
            <a:avLst/>
          </a:prstGeom>
          <a:solidFill>
            <a:srgbClr val="0F2850"/>
          </a:solidFill>
          <a:ln w="6350">
            <a:solidFill>
              <a:srgbClr val="C8C8D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1800" b="1">
                <a:solidFill>
                  <a:srgbClr val="FFFFFF"/>
                </a:solidFill>
                <a:latin typeface="Calibri"/>
              </a:rPr>
              <a:t>1
</a:t>
            </a:r>
          </a:p>
          <a:p>
            <a:pPr algn="ctr"/>
            <a:r>
              <a:rPr sz="1300" b="0">
                <a:solidFill>
                  <a:srgbClr val="E6F0FF"/>
                </a:solidFill>
                <a:latin typeface="Calibri"/>
              </a:rPr>
              <a:t>Open /book — pick your reader profile (10 min)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58 — How to start — first week</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First Week Schedule</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Day</a:t>
                      </a:r>
                    </a:p>
                  </a:txBody>
                  <a:tcPr>
                    <a:solidFill>
                      <a:srgbClr val="0F2850"/>
                    </a:solidFill>
                  </a:tcPr>
                </a:tc>
                <a:tc>
                  <a:txBody>
                    <a:bodyPr/>
                    <a:lstStyle/>
                    <a:p>
                      <a:pPr algn="ctr"/>
                      <a:r>
                        <a:rPr b="1" sz="1400">
                          <a:solidFill>
                            <a:srgbClr val="FFFFFF"/>
                          </a:solidFill>
                          <a:latin typeface="Calibri"/>
                        </a:rPr>
                        <a:t>Book</a:t>
                      </a:r>
                    </a:p>
                  </a:txBody>
                  <a:tcPr>
                    <a:solidFill>
                      <a:srgbClr val="0F2850"/>
                    </a:solidFill>
                  </a:tcPr>
                </a:tc>
                <a:tc>
                  <a:txBody>
                    <a:bodyPr/>
                    <a:lstStyle/>
                    <a:p>
                      <a:pPr algn="ctr"/>
                      <a:r>
                        <a:rPr b="1" sz="1400">
                          <a:solidFill>
                            <a:srgbClr val="FFFFFF"/>
                          </a:solidFill>
                          <a:latin typeface="Calibri"/>
                        </a:rPr>
                        <a:t>Platform</a:t>
                      </a:r>
                    </a:p>
                  </a:txBody>
                  <a:tcPr>
                    <a:solidFill>
                      <a:srgbClr val="0F2850"/>
                    </a:solidFill>
                  </a:tcPr>
                </a:tc>
              </a:tr>
              <a:tr h="580644">
                <a:tc>
                  <a:txBody>
                    <a:bodyPr/>
                    <a:lstStyle/>
                    <a:p>
                      <a:pPr algn="l"/>
                      <a:r>
                        <a:rPr sz="1300" b="1">
                          <a:solidFill>
                            <a:srgbClr val="141428"/>
                          </a:solidFill>
                          <a:latin typeface="Calibri"/>
                        </a:rPr>
                        <a:t>Day 1</a:t>
                      </a:r>
                    </a:p>
                  </a:txBody>
                  <a:tcPr>
                    <a:solidFill>
                      <a:srgbClr val="F0F4FC"/>
                    </a:solidFill>
                  </a:tcPr>
                </a:tc>
                <a:tc>
                  <a:txBody>
                    <a:bodyPr/>
                    <a:lstStyle/>
                    <a:p>
                      <a:pPr algn="l"/>
                      <a:r>
                        <a:rPr sz="1300" b="0">
                          <a:solidFill>
                            <a:srgbClr val="141428"/>
                          </a:solidFill>
                          <a:latin typeface="Calibri"/>
                        </a:rPr>
                        <a:t>Preface + Introduction + Chapter 1</a:t>
                      </a:r>
                    </a:p>
                  </a:txBody>
                  <a:tcPr>
                    <a:solidFill>
                      <a:srgbClr val="F0F4FC"/>
                    </a:solidFill>
                  </a:tcPr>
                </a:tc>
                <a:tc>
                  <a:txBody>
                    <a:bodyPr/>
                    <a:lstStyle/>
                    <a:p>
                      <a:pPr algn="l"/>
                      <a:r>
                        <a:rPr sz="1300" b="0">
                          <a:solidFill>
                            <a:srgbClr val="141428"/>
                          </a:solidFill>
                          <a:latin typeface="Calibri"/>
                        </a:rPr>
                        <a:t>Platform tour + /about/framework</a:t>
                      </a:r>
                    </a:p>
                  </a:txBody>
                  <a:tcPr>
                    <a:solidFill>
                      <a:srgbClr val="F0F4FC"/>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59 — How to start — first month</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End-of-Month-1 Checklist</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Milestone</a:t>
                      </a:r>
                    </a:p>
                  </a:txBody>
                  <a:tcPr>
                    <a:solidFill>
                      <a:srgbClr val="0F2850"/>
                    </a:solidFill>
                  </a:tcPr>
                </a:tc>
                <a:tc>
                  <a:txBody>
                    <a:bodyPr/>
                    <a:lstStyle/>
                    <a:p>
                      <a:pPr algn="ctr"/>
                      <a:r>
                        <a:rPr b="1" sz="1400">
                          <a:solidFill>
                            <a:srgbClr val="FFFFFF"/>
                          </a:solidFill>
                          <a:latin typeface="Calibri"/>
                        </a:rPr>
                        <a:t>Target</a:t>
                      </a:r>
                    </a:p>
                  </a:txBody>
                  <a:tcPr>
                    <a:solidFill>
                      <a:srgbClr val="0F2850"/>
                    </a:solidFill>
                  </a:tcPr>
                </a:tc>
                <a:tc>
                  <a:txBody>
                    <a:bodyPr/>
                    <a:lstStyle/>
                    <a:p>
                      <a:pPr algn="ctr"/>
                      <a:r>
                        <a:rPr b="1" sz="1400">
                          <a:solidFill>
                            <a:srgbClr val="FFFFFF"/>
                          </a:solidFill>
                          <a:latin typeface="Calibri"/>
                        </a:rPr>
                        <a:t>Why It Matters</a:t>
                      </a:r>
                    </a:p>
                  </a:txBody>
                  <a:tcPr>
                    <a:solidFill>
                      <a:srgbClr val="0F2850"/>
                    </a:solidFill>
                  </a:tcPr>
                </a:tc>
              </a:tr>
              <a:tr h="580644">
                <a:tc>
                  <a:txBody>
                    <a:bodyPr/>
                    <a:lstStyle/>
                    <a:p>
                      <a:pPr algn="l"/>
                      <a:r>
                        <a:rPr sz="1300" b="1">
                          <a:solidFill>
                            <a:srgbClr val="141428"/>
                          </a:solidFill>
                          <a:latin typeface="Calibri"/>
                        </a:rPr>
                        <a:t>Foundational reading</a:t>
                      </a:r>
                    </a:p>
                  </a:txBody>
                  <a:tcPr>
                    <a:solidFill>
                      <a:srgbClr val="F0F4FC"/>
                    </a:solidFill>
                  </a:tcPr>
                </a:tc>
                <a:tc>
                  <a:txBody>
                    <a:bodyPr/>
                    <a:lstStyle/>
                    <a:p>
                      <a:pPr algn="l"/>
                      <a:r>
                        <a:rPr sz="1300" b="0">
                          <a:solidFill>
                            <a:srgbClr val="141428"/>
                          </a:solidFill>
                          <a:latin typeface="Calibri"/>
                        </a:rPr>
                        <a:t>Preface + Intro + Ch. 1-3 + your 2 primary pillar chapters</a:t>
                      </a:r>
                    </a:p>
                  </a:txBody>
                  <a:tcPr>
                    <a:solidFill>
                      <a:srgbClr val="F0F4FC"/>
                    </a:solidFill>
                  </a:tcPr>
                </a:tc>
                <a:tc>
                  <a:txBody>
                    <a:bodyPr/>
                    <a:lstStyle/>
                    <a:p>
                      <a:pPr algn="l"/>
                      <a:r>
                        <a:rPr sz="1300" b="0">
                          <a:solidFill>
                            <a:srgbClr val="141428"/>
                          </a:solidFill>
                          <a:latin typeface="Calibri"/>
                        </a:rPr>
                        <a:t>Framework without foundation doesn't hold</a:t>
                      </a:r>
                    </a:p>
                  </a:txBody>
                  <a:tcPr>
                    <a:solidFill>
                      <a:srgbClr val="F0F4FC"/>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60 — How to start — first quarter</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End-of-Quarter-1 Mastery Checklist</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5592927"/>
                <a:gridCol w="5592927"/>
              </a:tblGrid>
              <a:tr h="580644">
                <a:tc>
                  <a:txBody>
                    <a:bodyPr/>
                    <a:lstStyle/>
                    <a:p>
                      <a:pPr algn="ctr"/>
                      <a:r>
                        <a:rPr b="1" sz="1400">
                          <a:solidFill>
                            <a:srgbClr val="FFFFFF"/>
                          </a:solidFill>
                          <a:latin typeface="Calibri"/>
                        </a:rPr>
                        <a:t>Capability</a:t>
                      </a:r>
                    </a:p>
                  </a:txBody>
                  <a:tcPr>
                    <a:solidFill>
                      <a:srgbClr val="0F2850"/>
                    </a:solidFill>
                  </a:tcPr>
                </a:tc>
                <a:tc>
                  <a:txBody>
                    <a:bodyPr/>
                    <a:lstStyle/>
                    <a:p>
                      <a:pPr algn="ctr"/>
                      <a:r>
                        <a:rPr b="1" sz="1400">
                          <a:solidFill>
                            <a:srgbClr val="FFFFFF"/>
                          </a:solidFill>
                          <a:latin typeface="Calibri"/>
                        </a:rPr>
                        <a:t>Evidence You Have It</a:t>
                      </a:r>
                    </a:p>
                  </a:txBody>
                  <a:tcPr>
                    <a:solidFill>
                      <a:srgbClr val="0F2850"/>
                    </a:solidFill>
                  </a:tcPr>
                </a:tc>
              </a:tr>
              <a:tr h="580644">
                <a:tc>
                  <a:txBody>
                    <a:bodyPr/>
                    <a:lstStyle/>
                    <a:p>
                      <a:pPr algn="l"/>
                      <a:r>
                        <a:rPr sz="1300" b="1">
                          <a:solidFill>
                            <a:srgbClr val="141428"/>
                          </a:solidFill>
                          <a:latin typeface="Calibri"/>
                        </a:rPr>
                        <a:t>All 20 chapters read</a:t>
                      </a:r>
                    </a:p>
                  </a:txBody>
                  <a:tcPr>
                    <a:solidFill>
                      <a:srgbClr val="F0F4FC"/>
                    </a:solidFill>
                  </a:tcPr>
                </a:tc>
                <a:tc>
                  <a:txBody>
                    <a:bodyPr/>
                    <a:lstStyle/>
                    <a:p>
                      <a:pPr algn="l"/>
                      <a:r>
                        <a:rPr sz="1300" b="0">
                          <a:solidFill>
                            <a:srgbClr val="141428"/>
                          </a:solidFill>
                          <a:latin typeface="Calibri"/>
                        </a:rPr>
                        <a:t>Can narrate the six-pillar argument from any pillar's perspective</a:t>
                      </a:r>
                    </a:p>
                  </a:txBody>
                  <a:tcPr>
                    <a:solidFill>
                      <a:srgbClr val="F0F4FC"/>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61 — Pitfalls to avoid</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Common Pitfalls and Corrections</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Pitfall</a:t>
                      </a:r>
                    </a:p>
                  </a:txBody>
                  <a:tcPr>
                    <a:solidFill>
                      <a:srgbClr val="0F2850"/>
                    </a:solidFill>
                  </a:tcPr>
                </a:tc>
                <a:tc>
                  <a:txBody>
                    <a:bodyPr/>
                    <a:lstStyle/>
                    <a:p>
                      <a:pPr algn="ctr"/>
                      <a:r>
                        <a:rPr b="1" sz="1400">
                          <a:solidFill>
                            <a:srgbClr val="FFFFFF"/>
                          </a:solidFill>
                          <a:latin typeface="Calibri"/>
                        </a:rPr>
                        <a:t>Why It Hurts</a:t>
                      </a:r>
                    </a:p>
                  </a:txBody>
                  <a:tcPr>
                    <a:solidFill>
                      <a:srgbClr val="0F2850"/>
                    </a:solidFill>
                  </a:tcPr>
                </a:tc>
                <a:tc>
                  <a:txBody>
                    <a:bodyPr/>
                    <a:lstStyle/>
                    <a:p>
                      <a:pPr algn="ctr"/>
                      <a:r>
                        <a:rPr b="1" sz="1400">
                          <a:solidFill>
                            <a:srgbClr val="FFFFFF"/>
                          </a:solidFill>
                          <a:latin typeface="Calibri"/>
                        </a:rPr>
                        <a:t>Correction</a:t>
                      </a:r>
                    </a:p>
                  </a:txBody>
                  <a:tcPr>
                    <a:solidFill>
                      <a:srgbClr val="0F2850"/>
                    </a:solidFill>
                  </a:tcPr>
                </a:tc>
              </a:tr>
              <a:tr h="580644">
                <a:tc>
                  <a:txBody>
                    <a:bodyPr/>
                    <a:lstStyle/>
                    <a:p>
                      <a:pPr algn="l"/>
                      <a:r>
                        <a:rPr sz="1300" b="1">
                          <a:solidFill>
                            <a:srgbClr val="141428"/>
                          </a:solidFill>
                          <a:latin typeface="Calibri"/>
                        </a:rPr>
                        <a:t>Reading all 20 chapters without touching the platform</a:t>
                      </a:r>
                    </a:p>
                  </a:txBody>
                  <a:tcPr>
                    <a:solidFill>
                      <a:srgbClr val="F0F4FC"/>
                    </a:solidFill>
                  </a:tcPr>
                </a:tc>
                <a:tc>
                  <a:txBody>
                    <a:bodyPr/>
                    <a:lstStyle/>
                    <a:p>
                      <a:pPr algn="l"/>
                      <a:r>
                        <a:rPr sz="1300" b="0">
                          <a:solidFill>
                            <a:srgbClr val="141428"/>
                          </a:solidFill>
                          <a:latin typeface="Calibri"/>
                        </a:rPr>
                        <a:t>Framework knowledge without application — cannot defend results</a:t>
                      </a:r>
                    </a:p>
                  </a:txBody>
                  <a:tcPr>
                    <a:solidFill>
                      <a:srgbClr val="F0F4FC"/>
                    </a:solidFill>
                  </a:tcPr>
                </a:tc>
                <a:tc>
                  <a:txBody>
                    <a:bodyPr/>
                    <a:lstStyle/>
                    <a:p>
                      <a:pPr algn="l"/>
                      <a:r>
                        <a:rPr sz="1300" b="0">
                          <a:solidFill>
                            <a:srgbClr val="141428"/>
                          </a:solidFill>
                          <a:latin typeface="Calibri"/>
                        </a:rPr>
                        <a:t>Use one Research Lab tool per chapter minimum</a:t>
                      </a:r>
                    </a:p>
                  </a:txBody>
                  <a:tcPr>
                    <a:solidFill>
                      <a:srgbClr val="F0F4FC"/>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62 — The community of practice</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Community and Connect Layer — What's Live</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Feature</a:t>
                      </a:r>
                    </a:p>
                  </a:txBody>
                  <a:tcPr>
                    <a:solidFill>
                      <a:srgbClr val="0F2850"/>
                    </a:solidFill>
                  </a:tcPr>
                </a:tc>
                <a:tc>
                  <a:txBody>
                    <a:bodyPr/>
                    <a:lstStyle/>
                    <a:p>
                      <a:pPr algn="ctr"/>
                      <a:r>
                        <a:rPr b="1" sz="1400">
                          <a:solidFill>
                            <a:srgbClr val="FFFFFF"/>
                          </a:solidFill>
                          <a:latin typeface="Calibri"/>
                        </a:rPr>
                        <a:t>URL</a:t>
                      </a:r>
                    </a:p>
                  </a:txBody>
                  <a:tcPr>
                    <a:solidFill>
                      <a:srgbClr val="0F2850"/>
                    </a:solidFill>
                  </a:tcPr>
                </a:tc>
                <a:tc>
                  <a:txBody>
                    <a:bodyPr/>
                    <a:lstStyle/>
                    <a:p>
                      <a:pPr algn="ctr"/>
                      <a:r>
                        <a:rPr b="1" sz="1400">
                          <a:solidFill>
                            <a:srgbClr val="FFFFFF"/>
                          </a:solidFill>
                          <a:latin typeface="Calibri"/>
                        </a:rPr>
                        <a:t>What It Does</a:t>
                      </a:r>
                    </a:p>
                  </a:txBody>
                  <a:tcPr>
                    <a:solidFill>
                      <a:srgbClr val="0F2850"/>
                    </a:solidFill>
                  </a:tcPr>
                </a:tc>
              </a:tr>
              <a:tr h="580644">
                <a:tc>
                  <a:txBody>
                    <a:bodyPr/>
                    <a:lstStyle/>
                    <a:p>
                      <a:pPr algn="l"/>
                      <a:r>
                        <a:rPr sz="1300" b="1">
                          <a:solidFill>
                            <a:srgbClr val="141428"/>
                          </a:solidFill>
                          <a:latin typeface="Calibri"/>
                        </a:rPr>
                        <a:t>Discussion Threads</a:t>
                      </a:r>
                    </a:p>
                  </a:txBody>
                  <a:tcPr>
                    <a:solidFill>
                      <a:srgbClr val="F0F4FC"/>
                    </a:solidFill>
                  </a:tcPr>
                </a:tc>
                <a:tc>
                  <a:txBody>
                    <a:bodyPr/>
                    <a:lstStyle/>
                    <a:p>
                      <a:pPr algn="l"/>
                      <a:r>
                        <a:rPr sz="1300" b="0">
                          <a:solidFill>
                            <a:srgbClr val="141428"/>
                          </a:solidFill>
                          <a:latin typeface="Calibri"/>
                        </a:rPr>
                        <a:t>/community</a:t>
                      </a:r>
                    </a:p>
                  </a:txBody>
                  <a:tcPr>
                    <a:solidFill>
                      <a:srgbClr val="F0F4FC"/>
                    </a:solidFill>
                  </a:tcPr>
                </a:tc>
                <a:tc>
                  <a:txBody>
                    <a:bodyPr/>
                    <a:lstStyle/>
                    <a:p>
                      <a:pPr algn="l"/>
                      <a:r>
                        <a:rPr sz="1300" b="0">
                          <a:solidFill>
                            <a:srgbClr val="141428"/>
                          </a:solidFill>
                          <a:latin typeface="Calibri"/>
                        </a:rPr>
                        <a:t>Pillar- and topic-based peer discussion</a:t>
                      </a:r>
                    </a:p>
                  </a:txBody>
                  <a:tcPr>
                    <a:solidFill>
                      <a:srgbClr val="F0F4FC"/>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63 — Beyond the system</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Primary Sources Beyond the HTR System</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Need</a:t>
                      </a:r>
                    </a:p>
                  </a:txBody>
                  <a:tcPr>
                    <a:solidFill>
                      <a:srgbClr val="0F2850"/>
                    </a:solidFill>
                  </a:tcPr>
                </a:tc>
                <a:tc>
                  <a:txBody>
                    <a:bodyPr/>
                    <a:lstStyle/>
                    <a:p>
                      <a:pPr algn="ctr"/>
                      <a:r>
                        <a:rPr b="1" sz="1400">
                          <a:solidFill>
                            <a:srgbClr val="FFFFFF"/>
                          </a:solidFill>
                          <a:latin typeface="Calibri"/>
                        </a:rPr>
                        <a:t>Source</a:t>
                      </a:r>
                    </a:p>
                  </a:txBody>
                  <a:tcPr>
                    <a:solidFill>
                      <a:srgbClr val="0F2850"/>
                    </a:solidFill>
                  </a:tcPr>
                </a:tc>
                <a:tc>
                  <a:txBody>
                    <a:bodyPr/>
                    <a:lstStyle/>
                    <a:p>
                      <a:pPr algn="ctr"/>
                      <a:r>
                        <a:rPr b="1" sz="1400">
                          <a:solidFill>
                            <a:srgbClr val="FFFFFF"/>
                          </a:solidFill>
                          <a:latin typeface="Calibri"/>
                        </a:rPr>
                        <a:t>How HTR Connects</a:t>
                      </a:r>
                    </a:p>
                  </a:txBody>
                  <a:tcPr>
                    <a:solidFill>
                      <a:srgbClr val="0F2850"/>
                    </a:solidFill>
                  </a:tcPr>
                </a:tc>
              </a:tr>
              <a:tr h="580644">
                <a:tc>
                  <a:txBody>
                    <a:bodyPr/>
                    <a:lstStyle/>
                    <a:p>
                      <a:pPr algn="l"/>
                      <a:r>
                        <a:rPr sz="1300" b="1">
                          <a:solidFill>
                            <a:srgbClr val="141428"/>
                          </a:solidFill>
                          <a:latin typeface="Calibri"/>
                        </a:rPr>
                        <a:t>Vermont primary data</a:t>
                      </a:r>
                    </a:p>
                  </a:txBody>
                  <a:tcPr>
                    <a:solidFill>
                      <a:srgbClr val="F0F4FC"/>
                    </a:solidFill>
                  </a:tcPr>
                </a:tc>
                <a:tc>
                  <a:txBody>
                    <a:bodyPr/>
                    <a:lstStyle/>
                    <a:p>
                      <a:pPr algn="l"/>
                      <a:r>
                        <a:rPr sz="1300" b="0">
                          <a:solidFill>
                            <a:srgbClr val="141428"/>
                          </a:solidFill>
                          <a:latin typeface="Calibri"/>
                        </a:rPr>
                        <a:t>VHCURES + GMCB hospital reports</a:t>
                      </a:r>
                    </a:p>
                  </a:txBody>
                  <a:tcPr>
                    <a:solidFill>
                      <a:srgbClr val="F0F4FC"/>
                    </a:solidFill>
                  </a:tcPr>
                </a:tc>
                <a:tc>
                  <a:txBody>
                    <a:bodyPr/>
                    <a:lstStyle/>
                    <a:p>
                      <a:pPr algn="l"/>
                      <a:r>
                        <a:rPr sz="1300" b="0">
                          <a:solidFill>
                            <a:srgbClr val="141428"/>
                          </a:solidFill>
                          <a:latin typeface="Calibri"/>
                        </a:rPr>
                        <a:t>Platform pulls from GMCB — Evidence Library links to VHCURES</a:t>
                      </a:r>
                    </a:p>
                  </a:txBody>
                  <a:tcPr>
                    <a:solidFill>
                      <a:srgbClr val="F0F4FC"/>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64 — Final framing</a:t>
            </a:r>
          </a:p>
        </p:txBody>
      </p:sp>
      <p:sp>
        <p:nvSpPr>
          <p:cNvPr id="5" name="TextBox 4"/>
          <p:cNvSpPr txBox="1"/>
          <p:nvPr/>
        </p:nvSpPr>
        <p:spPr>
          <a:xfrm>
            <a:off x="502920" y="1527048"/>
            <a:ext cx="11185855" cy="530352"/>
          </a:xfrm>
          <a:prstGeom prst="rect">
            <a:avLst/>
          </a:prstGeom>
          <a:noFill/>
        </p:spPr>
        <p:txBody>
          <a:bodyPr wrap="square">
            <a:spAutoFit/>
          </a:bodyPr>
          <a:lstStyle/>
          <a:p>
            <a:pPr algn="l">
              <a:spcBef>
                <a:spcPts val="800"/>
              </a:spcBef>
            </a:pPr>
            <a:r>
              <a:rPr sz="2000" b="1">
                <a:solidFill>
                  <a:srgbClr val="141428"/>
                </a:solidFill>
                <a:latin typeface="Calibri"/>
              </a:rPr>
              <a:t>The question: How do you train a generation of healthcare leaders to do transformation, when transformation has no precedent at scale and no standard textbook?</a:t>
            </a:r>
          </a:p>
        </p:txBody>
      </p:sp>
      <p:sp>
        <p:nvSpPr>
          <p:cNvPr id="6" name="TextBox 5"/>
          <p:cNvSpPr txBox="1"/>
          <p:nvPr/>
        </p:nvSpPr>
        <p:spPr>
          <a:xfrm>
            <a:off x="502920" y="2167128"/>
            <a:ext cx="11185855" cy="347472"/>
          </a:xfrm>
          <a:prstGeom prst="rect">
            <a:avLst/>
          </a:prstGeom>
          <a:noFill/>
        </p:spPr>
        <p:txBody>
          <a:bodyPr wrap="none">
            <a:spAutoFit/>
          </a:bodyPr>
          <a:lstStyle/>
          <a:p>
            <a:r>
              <a:rPr b="1" sz="1600">
                <a:solidFill>
                  <a:srgbClr val="0F2850"/>
                </a:solidFill>
                <a:latin typeface="Calibri"/>
              </a:rPr>
              <a:t>The HTR Answer</a:t>
            </a:r>
          </a:p>
        </p:txBody>
      </p:sp>
      <p:graphicFrame>
        <p:nvGraphicFramePr>
          <p:cNvPr id="7" name="Table 6"/>
          <p:cNvGraphicFramePr>
            <a:graphicFrameLocks noGrp="1"/>
          </p:cNvGraphicFramePr>
          <p:nvPr/>
        </p:nvGraphicFramePr>
        <p:xfrm>
          <a:off x="502920" y="2551176"/>
          <a:ext cx="11185854" cy="1161288"/>
        </p:xfrm>
        <a:graphic>
          <a:graphicData uri="http://schemas.openxmlformats.org/drawingml/2006/table">
            <a:tbl>
              <a:tblPr firstRow="1" bandRow="1">
                <a:tableStyleId>{5C22544A-7EE6-4342-B048-85BDC9FD1C3A}</a:tableStyleId>
              </a:tblPr>
              <a:tblGrid>
                <a:gridCol w="5592927"/>
                <a:gridCol w="5592927"/>
              </a:tblGrid>
              <a:tr h="580644">
                <a:tc>
                  <a:txBody>
                    <a:bodyPr/>
                    <a:lstStyle/>
                    <a:p>
                      <a:pPr algn="ctr"/>
                      <a:r>
                        <a:rPr b="1" sz="1400">
                          <a:solidFill>
                            <a:srgbClr val="FFFFFF"/>
                          </a:solidFill>
                          <a:latin typeface="Calibri"/>
                        </a:rPr>
                        <a:t>The Problem</a:t>
                      </a:r>
                    </a:p>
                  </a:txBody>
                  <a:tcPr>
                    <a:solidFill>
                      <a:srgbClr val="0F2850"/>
                    </a:solidFill>
                  </a:tcPr>
                </a:tc>
                <a:tc>
                  <a:txBody>
                    <a:bodyPr/>
                    <a:lstStyle/>
                    <a:p>
                      <a:pPr algn="ctr"/>
                      <a:r>
                        <a:rPr b="1" sz="1400">
                          <a:solidFill>
                            <a:srgbClr val="FFFFFF"/>
                          </a:solidFill>
                          <a:latin typeface="Calibri"/>
                        </a:rPr>
                        <a:t>The HTR Solution</a:t>
                      </a:r>
                    </a:p>
                  </a:txBody>
                  <a:tcPr>
                    <a:solidFill>
                      <a:srgbClr val="0F2850"/>
                    </a:solidFill>
                  </a:tcPr>
                </a:tc>
              </a:tr>
              <a:tr h="580644">
                <a:tc>
                  <a:txBody>
                    <a:bodyPr/>
                    <a:lstStyle/>
                    <a:p>
                      <a:pPr algn="l"/>
                      <a:r>
                        <a:rPr sz="1300" b="1">
                          <a:solidFill>
                            <a:srgbClr val="141428"/>
                          </a:solidFill>
                          <a:latin typeface="Calibri"/>
                        </a:rPr>
                        <a:t>No textbook survives contact with a changing policy environment</a:t>
                      </a:r>
                    </a:p>
                  </a:txBody>
                  <a:tcPr>
                    <a:solidFill>
                      <a:srgbClr val="F0F4FC"/>
                    </a:solidFill>
                  </a:tcPr>
                </a:tc>
                <a:tc>
                  <a:txBody>
                    <a:bodyPr/>
                    <a:lstStyle/>
                    <a:p>
                      <a:pPr algn="l"/>
                      <a:r>
                        <a:rPr sz="1300" b="0">
                          <a:solidFill>
                            <a:srgbClr val="141428"/>
                          </a:solidFill>
                          <a:latin typeface="Calibri"/>
                        </a:rPr>
                        <a:t>Book provides durable structural framework — platform provides live currency</a:t>
                      </a:r>
                    </a:p>
                  </a:txBody>
                  <a:tcPr>
                    <a:solidFill>
                      <a:srgbClr val="F0F4FC"/>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65 — The 24 Appendix E tools — complete list</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All 24 Appendix E Tools — Ordered by Pillar Sequence</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Tool ID</a:t>
                      </a:r>
                    </a:p>
                  </a:txBody>
                  <a:tcPr>
                    <a:solidFill>
                      <a:srgbClr val="0F2850"/>
                    </a:solidFill>
                  </a:tcPr>
                </a:tc>
                <a:tc>
                  <a:txBody>
                    <a:bodyPr/>
                    <a:lstStyle/>
                    <a:p>
                      <a:pPr algn="ctr"/>
                      <a:r>
                        <a:rPr b="1" sz="1400">
                          <a:solidFill>
                            <a:srgbClr val="FFFFFF"/>
                          </a:solidFill>
                          <a:latin typeface="Calibri"/>
                        </a:rPr>
                        <a:t>Tool Name</a:t>
                      </a:r>
                    </a:p>
                  </a:txBody>
                  <a:tcPr>
                    <a:solidFill>
                      <a:srgbClr val="0F2850"/>
                    </a:solidFill>
                  </a:tcPr>
                </a:tc>
                <a:tc>
                  <a:txBody>
                    <a:bodyPr/>
                    <a:lstStyle/>
                    <a:p>
                      <a:pPr algn="ctr"/>
                      <a:r>
                        <a:rPr b="1" sz="1400">
                          <a:solidFill>
                            <a:srgbClr val="FFFFFF"/>
                          </a:solidFill>
                          <a:latin typeface="Calibri"/>
                        </a:rPr>
                        <a:t>Platform Location</a:t>
                      </a:r>
                    </a:p>
                  </a:txBody>
                  <a:tcPr>
                    <a:solidFill>
                      <a:srgbClr val="0F2850"/>
                    </a:solidFill>
                  </a:tcPr>
                </a:tc>
                <a:tc>
                  <a:txBody>
                    <a:bodyPr/>
                    <a:lstStyle/>
                    <a:p>
                      <a:pPr algn="ctr"/>
                      <a:r>
                        <a:rPr b="1" sz="1400">
                          <a:solidFill>
                            <a:srgbClr val="FFFFFF"/>
                          </a:solidFill>
                          <a:latin typeface="Calibri"/>
                        </a:rPr>
                        <a:t>Pillar</a:t>
                      </a:r>
                    </a:p>
                  </a:txBody>
                  <a:tcPr>
                    <a:solidFill>
                      <a:srgbClr val="0F2850"/>
                    </a:solidFill>
                  </a:tcPr>
                </a:tc>
              </a:tr>
              <a:tr h="580644">
                <a:tc>
                  <a:txBody>
                    <a:bodyPr/>
                    <a:lstStyle/>
                    <a:p>
                      <a:pPr algn="l"/>
                      <a:r>
                        <a:rPr sz="1300" b="1">
                          <a:solidFill>
                            <a:srgbClr val="141428"/>
                          </a:solidFill>
                          <a:latin typeface="Calibri"/>
                        </a:rPr>
                        <a:t>E.6</a:t>
                      </a:r>
                    </a:p>
                  </a:txBody>
                  <a:tcPr>
                    <a:solidFill>
                      <a:srgbClr val="F0F4FC"/>
                    </a:solidFill>
                  </a:tcPr>
                </a:tc>
                <a:tc>
                  <a:txBody>
                    <a:bodyPr/>
                    <a:lstStyle/>
                    <a:p>
                      <a:pPr algn="l"/>
                      <a:r>
                        <a:rPr sz="1300" b="0">
                          <a:solidFill>
                            <a:srgbClr val="141428"/>
                          </a:solidFill>
                          <a:latin typeface="Calibri"/>
                        </a:rPr>
                        <a:t>Policy Simulator</a:t>
                      </a:r>
                    </a:p>
                  </a:txBody>
                  <a:tcPr>
                    <a:solidFill>
                      <a:srgbClr val="F0F4FC"/>
                    </a:solidFill>
                  </a:tcPr>
                </a:tc>
                <a:tc>
                  <a:txBody>
                    <a:bodyPr/>
                    <a:lstStyle/>
                    <a:p>
                      <a:pPr algn="l"/>
                      <a:r>
                        <a:rPr sz="1300" b="0">
                          <a:solidFill>
                            <a:srgbClr val="141428"/>
                          </a:solidFill>
                          <a:latin typeface="Calibri"/>
                        </a:rPr>
                        <a:t>/research-lab/policy-quality?tab=policy</a:t>
                      </a:r>
                    </a:p>
                  </a:txBody>
                  <a:tcPr>
                    <a:solidFill>
                      <a:srgbClr val="F0F4FC"/>
                    </a:solidFill>
                  </a:tcPr>
                </a:tc>
                <a:tc>
                  <a:txBody>
                    <a:bodyPr/>
                    <a:lstStyle/>
                    <a:p>
                      <a:pPr algn="l"/>
                      <a:r>
                        <a:rPr sz="1300" b="0">
                          <a:solidFill>
                            <a:srgbClr val="141428"/>
                          </a:solidFill>
                          <a:latin typeface="Calibri"/>
                        </a:rPr>
                        <a:t>Policy</a:t>
                      </a:r>
                    </a:p>
                  </a:txBody>
                  <a:tcPr>
                    <a:solidFill>
                      <a:srgbClr val="F0F4FC"/>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66 — Research Lab sections — the seven sections</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Research Lab Sections and Key Tabs</a:t>
            </a:r>
          </a:p>
        </p:txBody>
      </p:sp>
      <p:graphicFrame>
        <p:nvGraphicFramePr>
          <p:cNvPr id="6" name="Table 5"/>
          <p:cNvGraphicFramePr>
            <a:graphicFrameLocks noGrp="1"/>
          </p:cNvGraphicFramePr>
          <p:nvPr/>
        </p:nvGraphicFramePr>
        <p:xfrm>
          <a:off x="502920" y="1911096"/>
          <a:ext cx="11185852" cy="1161288"/>
        </p:xfrm>
        <a:graphic>
          <a:graphicData uri="http://schemas.openxmlformats.org/drawingml/2006/table">
            <a:tbl>
              <a:tblPr firstRow="1" bandRow="1">
                <a:tableStyleId>{5C22544A-7EE6-4342-B048-85BDC9FD1C3A}</a:tableStyleId>
              </a:tblPr>
              <a:tblGrid>
                <a:gridCol w="2796463"/>
                <a:gridCol w="2796463"/>
                <a:gridCol w="2796463"/>
                <a:gridCol w="2796463"/>
              </a:tblGrid>
              <a:tr h="580644">
                <a:tc>
                  <a:txBody>
                    <a:bodyPr/>
                    <a:lstStyle/>
                    <a:p>
                      <a:pPr algn="ctr"/>
                      <a:r>
                        <a:rPr b="1" sz="1400">
                          <a:solidFill>
                            <a:srgbClr val="FFFFFF"/>
                          </a:solidFill>
                          <a:latin typeface="Calibri"/>
                        </a:rPr>
                        <a:t>Section</a:t>
                      </a:r>
                    </a:p>
                  </a:txBody>
                  <a:tcPr>
                    <a:solidFill>
                      <a:srgbClr val="0F2850"/>
                    </a:solidFill>
                  </a:tcPr>
                </a:tc>
                <a:tc>
                  <a:txBody>
                    <a:bodyPr/>
                    <a:lstStyle/>
                    <a:p>
                      <a:pPr algn="ctr"/>
                      <a:r>
                        <a:rPr b="1" sz="1400">
                          <a:solidFill>
                            <a:srgbClr val="FFFFFF"/>
                          </a:solidFill>
                          <a:latin typeface="Calibri"/>
                        </a:rPr>
                        <a:t>URL</a:t>
                      </a:r>
                    </a:p>
                  </a:txBody>
                  <a:tcPr>
                    <a:solidFill>
                      <a:srgbClr val="0F2850"/>
                    </a:solidFill>
                  </a:tcPr>
                </a:tc>
                <a:tc>
                  <a:txBody>
                    <a:bodyPr/>
                    <a:lstStyle/>
                    <a:p>
                      <a:pPr algn="ctr"/>
                      <a:r>
                        <a:rPr b="1" sz="1400">
                          <a:solidFill>
                            <a:srgbClr val="FFFFFF"/>
                          </a:solidFill>
                          <a:latin typeface="Calibri"/>
                        </a:rPr>
                        <a:t>Key Tabs</a:t>
                      </a:r>
                    </a:p>
                  </a:txBody>
                  <a:tcPr>
                    <a:solidFill>
                      <a:srgbClr val="0F2850"/>
                    </a:solidFill>
                  </a:tcPr>
                </a:tc>
                <a:tc>
                  <a:txBody>
                    <a:bodyPr/>
                    <a:lstStyle/>
                    <a:p>
                      <a:pPr algn="ctr"/>
                      <a:r>
                        <a:rPr b="1" sz="1400">
                          <a:solidFill>
                            <a:srgbClr val="FFFFFF"/>
                          </a:solidFill>
                          <a:latin typeface="Calibri"/>
                        </a:rPr>
                        <a:t>Primary Pillar</a:t>
                      </a:r>
                    </a:p>
                  </a:txBody>
                  <a:tcPr>
                    <a:solidFill>
                      <a:srgbClr val="0F2850"/>
                    </a:solidFill>
                  </a:tcPr>
                </a:tc>
              </a:tr>
              <a:tr h="580644">
                <a:tc>
                  <a:txBody>
                    <a:bodyPr/>
                    <a:lstStyle/>
                    <a:p>
                      <a:pPr algn="l"/>
                      <a:r>
                        <a:rPr sz="1300" b="1">
                          <a:solidFill>
                            <a:srgbClr val="141428"/>
                          </a:solidFill>
                          <a:latin typeface="Calibri"/>
                        </a:rPr>
                        <a:t>Policy &amp; Quality</a:t>
                      </a:r>
                    </a:p>
                  </a:txBody>
                  <a:tcPr>
                    <a:solidFill>
                      <a:srgbClr val="F0F4FC"/>
                    </a:solidFill>
                  </a:tcPr>
                </a:tc>
                <a:tc>
                  <a:txBody>
                    <a:bodyPr/>
                    <a:lstStyle/>
                    <a:p>
                      <a:pPr algn="l"/>
                      <a:r>
                        <a:rPr sz="1300" b="0">
                          <a:solidFill>
                            <a:srgbClr val="141428"/>
                          </a:solidFill>
                          <a:latin typeface="Calibri"/>
                        </a:rPr>
                        <a:t>/research-lab/policy-quality</a:t>
                      </a:r>
                    </a:p>
                  </a:txBody>
                  <a:tcPr>
                    <a:solidFill>
                      <a:srgbClr val="F0F4FC"/>
                    </a:solidFill>
                  </a:tcPr>
                </a:tc>
                <a:tc>
                  <a:txBody>
                    <a:bodyPr/>
                    <a:lstStyle/>
                    <a:p>
                      <a:pPr algn="l"/>
                      <a:r>
                        <a:rPr sz="1300" b="0">
                          <a:solidFill>
                            <a:srgbClr val="141428"/>
                          </a:solidFill>
                          <a:latin typeface="Calibri"/>
                        </a:rPr>
                        <a:t>policy + hr1-cliff + medicaid-wr + leaderboard</a:t>
                      </a:r>
                    </a:p>
                  </a:txBody>
                  <a:tcPr>
                    <a:solidFill>
                      <a:srgbClr val="F0F4FC"/>
                    </a:solidFill>
                  </a:tcPr>
                </a:tc>
                <a:tc>
                  <a:txBody>
                    <a:bodyPr/>
                    <a:lstStyle/>
                    <a:p>
                      <a:pPr algn="l"/>
                      <a:r>
                        <a:rPr sz="1300" b="0">
                          <a:solidFill>
                            <a:srgbClr val="141428"/>
                          </a:solidFill>
                          <a:latin typeface="Calibri"/>
                        </a:rPr>
                        <a:t>Policy</a:t>
                      </a:r>
                    </a:p>
                  </a:txBody>
                  <a:tcPr>
                    <a:solidFill>
                      <a:srgbClr val="F0F4FC"/>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67 — A note on currency</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When Book and Platform Disagree — What to Trust</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Type of Disagreement</a:t>
                      </a:r>
                    </a:p>
                  </a:txBody>
                  <a:tcPr>
                    <a:solidFill>
                      <a:srgbClr val="0F2850"/>
                    </a:solidFill>
                  </a:tcPr>
                </a:tc>
                <a:tc>
                  <a:txBody>
                    <a:bodyPr/>
                    <a:lstStyle/>
                    <a:p>
                      <a:pPr algn="ctr"/>
                      <a:r>
                        <a:rPr b="1" sz="1400">
                          <a:solidFill>
                            <a:srgbClr val="FFFFFF"/>
                          </a:solidFill>
                          <a:latin typeface="Calibri"/>
                        </a:rPr>
                        <a:t>Trust</a:t>
                      </a:r>
                    </a:p>
                  </a:txBody>
                  <a:tcPr>
                    <a:solidFill>
                      <a:srgbClr val="0F2850"/>
                    </a:solidFill>
                  </a:tcPr>
                </a:tc>
                <a:tc>
                  <a:txBody>
                    <a:bodyPr/>
                    <a:lstStyle/>
                    <a:p>
                      <a:pPr algn="ctr"/>
                      <a:r>
                        <a:rPr b="1" sz="1400">
                          <a:solidFill>
                            <a:srgbClr val="FFFFFF"/>
                          </a:solidFill>
                          <a:latin typeface="Calibri"/>
                        </a:rPr>
                        <a:t>Why</a:t>
                      </a:r>
                    </a:p>
                  </a:txBody>
                  <a:tcPr>
                    <a:solidFill>
                      <a:srgbClr val="0F2850"/>
                    </a:solidFill>
                  </a:tcPr>
                </a:tc>
              </a:tr>
              <a:tr h="580644">
                <a:tc>
                  <a:txBody>
                    <a:bodyPr/>
                    <a:lstStyle/>
                    <a:p>
                      <a:pPr algn="l"/>
                      <a:r>
                        <a:rPr sz="1300" b="1">
                          <a:solidFill>
                            <a:srgbClr val="141428"/>
                          </a:solidFill>
                          <a:latin typeface="Calibri"/>
                        </a:rPr>
                        <a:t>A number has changed (enrollment counts premiums rates)</a:t>
                      </a:r>
                    </a:p>
                  </a:txBody>
                  <a:tcPr>
                    <a:solidFill>
                      <a:srgbClr val="F0F4FC"/>
                    </a:solidFill>
                  </a:tcPr>
                </a:tc>
                <a:tc>
                  <a:txBody>
                    <a:bodyPr/>
                    <a:lstStyle/>
                    <a:p>
                      <a:pPr algn="l"/>
                      <a:r>
                        <a:rPr sz="1300" b="0">
                          <a:solidFill>
                            <a:srgbClr val="141428"/>
                          </a:solidFill>
                          <a:latin typeface="Calibri"/>
                        </a:rPr>
                        <a:t>The platform</a:t>
                      </a:r>
                    </a:p>
                  </a:txBody>
                  <a:tcPr>
                    <a:solidFill>
                      <a:srgbClr val="F0F4FC"/>
                    </a:solidFill>
                  </a:tcPr>
                </a:tc>
                <a:tc>
                  <a:txBody>
                    <a:bodyPr/>
                    <a:lstStyle/>
                    <a:p>
                      <a:pPr algn="l"/>
                      <a:r>
                        <a:rPr sz="1300" b="0">
                          <a:solidFill>
                            <a:srgbClr val="141428"/>
                          </a:solidFill>
                          <a:latin typeface="Calibri"/>
                        </a:rPr>
                        <a:t>Book numbers are fixed at print date — platform pulls from live sources</a:t>
                      </a:r>
                    </a:p>
                  </a:txBody>
                  <a:tcPr>
                    <a:solidFill>
                      <a:srgbClr val="F0F4FC"/>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0F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325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734495" cy="1051560"/>
          </a:xfrm>
          <a:prstGeom prst="rect">
            <a:avLst/>
          </a:prstGeom>
          <a:noFill/>
        </p:spPr>
        <p:txBody>
          <a:bodyPr wrap="square">
            <a:spAutoFit/>
          </a:bodyPr>
          <a:lstStyle/>
          <a:p>
            <a:pPr algn="l"/>
            <a:r>
              <a:rPr b="1" sz="3400">
                <a:solidFill>
                  <a:srgbClr val="FFFFFF"/>
                </a:solidFill>
                <a:latin typeface="Calibri"/>
              </a:rPr>
              <a:t>Slide 68 — Get started</a:t>
            </a:r>
          </a:p>
        </p:txBody>
      </p:sp>
      <p:sp>
        <p:nvSpPr>
          <p:cNvPr id="5" name="TextBox 4"/>
          <p:cNvSpPr txBox="1"/>
          <p:nvPr/>
        </p:nvSpPr>
        <p:spPr>
          <a:xfrm>
            <a:off x="502920" y="1527048"/>
            <a:ext cx="11185855" cy="347472"/>
          </a:xfrm>
          <a:prstGeom prst="rect">
            <a:avLst/>
          </a:prstGeom>
          <a:noFill/>
        </p:spPr>
        <p:txBody>
          <a:bodyPr wrap="none">
            <a:spAutoFit/>
          </a:bodyPr>
          <a:lstStyle/>
          <a:p>
            <a:r>
              <a:rPr b="1" sz="1600">
                <a:solidFill>
                  <a:srgbClr val="0F2850"/>
                </a:solidFill>
                <a:latin typeface="Calibri"/>
              </a:rPr>
              <a:t>How to Access the HTR System</a:t>
            </a:r>
          </a:p>
        </p:txBody>
      </p:sp>
      <p:graphicFrame>
        <p:nvGraphicFramePr>
          <p:cNvPr id="6" name="Table 5"/>
          <p:cNvGraphicFramePr>
            <a:graphicFrameLocks noGrp="1"/>
          </p:cNvGraphicFramePr>
          <p:nvPr/>
        </p:nvGraphicFramePr>
        <p:xfrm>
          <a:off x="502920" y="1911096"/>
          <a:ext cx="11185854" cy="1161288"/>
        </p:xfrm>
        <a:graphic>
          <a:graphicData uri="http://schemas.openxmlformats.org/drawingml/2006/table">
            <a:tbl>
              <a:tblPr firstRow="1" bandRow="1">
                <a:tableStyleId>{5C22544A-7EE6-4342-B048-85BDC9FD1C3A}</a:tableStyleId>
              </a:tblPr>
              <a:tblGrid>
                <a:gridCol w="3728618"/>
                <a:gridCol w="3728618"/>
                <a:gridCol w="3728618"/>
              </a:tblGrid>
              <a:tr h="580644">
                <a:tc>
                  <a:txBody>
                    <a:bodyPr/>
                    <a:lstStyle/>
                    <a:p>
                      <a:pPr algn="ctr"/>
                      <a:r>
                        <a:rPr b="1" sz="1400">
                          <a:solidFill>
                            <a:srgbClr val="FFFFFF"/>
                          </a:solidFill>
                          <a:latin typeface="Calibri"/>
                        </a:rPr>
                        <a:t>Component</a:t>
                      </a:r>
                    </a:p>
                  </a:txBody>
                  <a:tcPr>
                    <a:solidFill>
                      <a:srgbClr val="0F2850"/>
                    </a:solidFill>
                  </a:tcPr>
                </a:tc>
                <a:tc>
                  <a:txBody>
                    <a:bodyPr/>
                    <a:lstStyle/>
                    <a:p>
                      <a:pPr algn="ctr"/>
                      <a:r>
                        <a:rPr b="1" sz="1400">
                          <a:solidFill>
                            <a:srgbClr val="FFFFFF"/>
                          </a:solidFill>
                          <a:latin typeface="Calibri"/>
                        </a:rPr>
                        <a:t>Path</a:t>
                      </a:r>
                    </a:p>
                  </a:txBody>
                  <a:tcPr>
                    <a:solidFill>
                      <a:srgbClr val="0F2850"/>
                    </a:solidFill>
                  </a:tcPr>
                </a:tc>
                <a:tc>
                  <a:txBody>
                    <a:bodyPr/>
                    <a:lstStyle/>
                    <a:p>
                      <a:pPr algn="ctr"/>
                      <a:r>
                        <a:rPr b="1" sz="1400">
                          <a:solidFill>
                            <a:srgbClr val="FFFFFF"/>
                          </a:solidFill>
                          <a:latin typeface="Calibri"/>
                        </a:rPr>
                        <a:t>Notes</a:t>
                      </a:r>
                    </a:p>
                  </a:txBody>
                  <a:tcPr>
                    <a:solidFill>
                      <a:srgbClr val="0F2850"/>
                    </a:solidFill>
                  </a:tcPr>
                </a:tc>
              </a:tr>
              <a:tr h="580644">
                <a:tc>
                  <a:txBody>
                    <a:bodyPr/>
                    <a:lstStyle/>
                    <a:p>
                      <a:pPr algn="l"/>
                      <a:r>
                        <a:rPr sz="1300" b="1">
                          <a:solidFill>
                            <a:srgbClr val="141428"/>
                          </a:solidFill>
                          <a:latin typeface="Calibri"/>
                        </a:rPr>
                        <a:t>Book</a:t>
                      </a:r>
                    </a:p>
                  </a:txBody>
                  <a:tcPr>
                    <a:solidFill>
                      <a:srgbClr val="F0F4FC"/>
                    </a:solidFill>
                  </a:tcPr>
                </a:tc>
                <a:tc>
                  <a:txBody>
                    <a:bodyPr/>
                    <a:lstStyle/>
                    <a:p>
                      <a:pPr algn="l"/>
                      <a:r>
                        <a:rPr sz="1300" b="0">
                          <a:solidFill>
                            <a:srgbClr val="141428"/>
                          </a:solidFill>
                          <a:latin typeface="Calibri"/>
                        </a:rPr>
                        <a:t>/book (download) or /read (online)</a:t>
                      </a:r>
                    </a:p>
                  </a:txBody>
                  <a:tcPr>
                    <a:solidFill>
                      <a:srgbClr val="F0F4FC"/>
                    </a:solidFill>
                  </a:tcPr>
                </a:tc>
                <a:tc>
                  <a:txBody>
                    <a:bodyPr/>
                    <a:lstStyle/>
                    <a:p>
                      <a:pPr algn="l"/>
                      <a:r>
                        <a:rPr sz="1300" b="0">
                          <a:solidFill>
                            <a:srgbClr val="141428"/>
                          </a:solidFill>
                          <a:latin typeface="Calibri"/>
                        </a:rPr>
                        <a:t>Print edition via Advisory</a:t>
                      </a:r>
                    </a:p>
                  </a:txBody>
                  <a:tcPr>
                    <a:solidFill>
                      <a:srgbClr val="F0F4FC"/>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