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20040" y="182880"/>
            <a:ext cx="11521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Six-Pillar Execution Sequence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11465" y="842593"/>
            <a:ext cx="1152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Each stage is a prerequisite for the next. Skipping or weakening any stage creates structural failure downstream.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12648" y="3799968"/>
            <a:ext cx="10936200" cy="54900"/>
          </a:xfrm>
          <a:prstGeom prst="rect">
            <a:avLst/>
          </a:prstGeom>
          <a:solidFill>
            <a:srgbClr val="BBBBB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2002536" y="3827400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" name="Google Shape;20;p3"/>
          <p:cNvCxnSpPr/>
          <p:nvPr/>
        </p:nvCxnSpPr>
        <p:spPr>
          <a:xfrm>
            <a:off x="3922776" y="3827400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" name="Google Shape;21;p3"/>
          <p:cNvCxnSpPr/>
          <p:nvPr/>
        </p:nvCxnSpPr>
        <p:spPr>
          <a:xfrm>
            <a:off x="5843016" y="3827400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2" name="Google Shape;22;p3"/>
          <p:cNvCxnSpPr/>
          <p:nvPr/>
        </p:nvCxnSpPr>
        <p:spPr>
          <a:xfrm>
            <a:off x="7763256" y="3827400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" name="Google Shape;23;p3"/>
          <p:cNvCxnSpPr/>
          <p:nvPr/>
        </p:nvCxnSpPr>
        <p:spPr>
          <a:xfrm>
            <a:off x="9683496" y="3827400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" name="Google Shape;24;p3"/>
          <p:cNvSpPr/>
          <p:nvPr/>
        </p:nvSpPr>
        <p:spPr>
          <a:xfrm>
            <a:off x="987552" y="3534792"/>
            <a:ext cx="585300" cy="585300"/>
          </a:xfrm>
          <a:prstGeom prst="ellipse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87552" y="3534792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907792" y="3534792"/>
            <a:ext cx="585300" cy="585300"/>
          </a:xfrm>
          <a:prstGeom prst="ellipse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907792" y="3534792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828032" y="3534792"/>
            <a:ext cx="585300" cy="585300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828032" y="3534792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48272" y="3534792"/>
            <a:ext cx="585300" cy="585300"/>
          </a:xfrm>
          <a:prstGeom prst="ellipse">
            <a:avLst/>
          </a:prstGeom>
          <a:solidFill>
            <a:srgbClr val="7A4510"/>
          </a:solidFill>
          <a:ln cap="flat" cmpd="sng" w="1270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748272" y="3534792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668512" y="3534792"/>
            <a:ext cx="585300" cy="585300"/>
          </a:xfrm>
          <a:prstGeom prst="ellipse">
            <a:avLst/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8668512" y="3534792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0588752" y="3534792"/>
            <a:ext cx="585300" cy="585300"/>
          </a:xfrm>
          <a:prstGeom prst="ellipse">
            <a:avLst/>
          </a:prstGeom>
          <a:solidFill>
            <a:srgbClr val="6B1F3A"/>
          </a:solidFill>
          <a:ln cap="flat" cmpd="sng" w="1270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0588752" y="3534792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11480" y="2090040"/>
            <a:ext cx="1737300" cy="2340900"/>
          </a:xfrm>
          <a:prstGeom prst="roundRect">
            <a:avLst>
              <a:gd fmla="val 3684" name="adj"/>
            </a:avLst>
          </a:prstGeom>
          <a:solidFill>
            <a:srgbClr val="EBEBEB"/>
          </a:solidFill>
          <a:ln cap="flat" cmpd="sng" w="1905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11480" y="2090040"/>
            <a:ext cx="1737300" cy="402300"/>
          </a:xfrm>
          <a:prstGeom prst="rect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411480" y="2090040"/>
            <a:ext cx="1737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11480" y="252895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Is it permissible?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3"/>
          <p:cNvCxnSpPr/>
          <p:nvPr/>
        </p:nvCxnSpPr>
        <p:spPr>
          <a:xfrm>
            <a:off x="548640" y="2858136"/>
            <a:ext cx="1463100" cy="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3"/>
          <p:cNvSpPr/>
          <p:nvPr/>
        </p:nvSpPr>
        <p:spPr>
          <a:xfrm>
            <a:off x="502920" y="2949576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Establish enforceable authority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and mandate participation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3"/>
          <p:cNvCxnSpPr/>
          <p:nvPr/>
        </p:nvCxnSpPr>
        <p:spPr>
          <a:xfrm rot="10800000">
            <a:off x="1280160" y="3534804"/>
            <a:ext cx="0" cy="8961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" name="Google Shape;43;p3"/>
          <p:cNvSpPr/>
          <p:nvPr/>
        </p:nvSpPr>
        <p:spPr>
          <a:xfrm>
            <a:off x="411480" y="4599438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Legal foundation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 other stages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2331720" y="2090040"/>
            <a:ext cx="1737300" cy="2340900"/>
          </a:xfrm>
          <a:prstGeom prst="roundRect">
            <a:avLst>
              <a:gd fmla="val 3684" name="adj"/>
            </a:avLst>
          </a:prstGeom>
          <a:solidFill>
            <a:srgbClr val="D6EFE7"/>
          </a:solidFill>
          <a:ln cap="flat" cmpd="sng" w="190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2331720" y="2090040"/>
            <a:ext cx="1737300" cy="402300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2331720" y="2090040"/>
            <a:ext cx="1737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2331720" y="252895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Is it sustainable?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3"/>
          <p:cNvCxnSpPr/>
          <p:nvPr/>
        </p:nvCxnSpPr>
        <p:spPr>
          <a:xfrm>
            <a:off x="2468880" y="2858136"/>
            <a:ext cx="1463100" cy="0"/>
          </a:xfrm>
          <a:prstGeom prst="straightConnector1">
            <a:avLst/>
          </a:prstGeom>
          <a:noFill/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"/>
          <p:cNvSpPr/>
          <p:nvPr/>
        </p:nvSpPr>
        <p:spPr>
          <a:xfrm>
            <a:off x="2423160" y="2949576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Design payment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and fund the technology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3"/>
          <p:cNvCxnSpPr/>
          <p:nvPr/>
        </p:nvCxnSpPr>
        <p:spPr>
          <a:xfrm rot="10800000">
            <a:off x="3200400" y="3534804"/>
            <a:ext cx="0" cy="896100"/>
          </a:xfrm>
          <a:prstGeom prst="straightConnector1">
            <a:avLst/>
          </a:prstGeom>
          <a:noFill/>
          <a:ln cap="flat" cmpd="sng" w="9525">
            <a:solidFill>
              <a:srgbClr val="0F6E5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1" name="Google Shape;51;p3"/>
          <p:cNvSpPr/>
          <p:nvPr/>
        </p:nvSpPr>
        <p:spPr>
          <a:xfrm>
            <a:off x="2331720" y="4599438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what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must do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251960" y="2090040"/>
            <a:ext cx="1737300" cy="2340900"/>
          </a:xfrm>
          <a:prstGeom prst="roundRect">
            <a:avLst>
              <a:gd fmla="val 3684" name="adj"/>
            </a:avLst>
          </a:prstGeom>
          <a:solidFill>
            <a:srgbClr val="E4E2F8"/>
          </a:solidFill>
          <a:ln cap="flat" cmpd="sng" w="1905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251960" y="2090040"/>
            <a:ext cx="1737300" cy="402300"/>
          </a:xfrm>
          <a:prstGeom prst="rect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251960" y="2090040"/>
            <a:ext cx="1737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251960" y="252895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Is it possible?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4389120" y="2858136"/>
            <a:ext cx="1463100" cy="0"/>
          </a:xfrm>
          <a:prstGeom prst="straightConnector1">
            <a:avLst/>
          </a:prstGeom>
          <a:noFill/>
          <a:ln cap="flat" cmpd="sng" w="952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4343400" y="2949576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Build integrated clinical 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claims data infrastructure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3"/>
          <p:cNvCxnSpPr/>
          <p:nvPr/>
        </p:nvCxnSpPr>
        <p:spPr>
          <a:xfrm rot="10800000">
            <a:off x="5120640" y="3534804"/>
            <a:ext cx="0" cy="896100"/>
          </a:xfrm>
          <a:prstGeom prst="straightConnector1">
            <a:avLst/>
          </a:prstGeom>
          <a:noFill/>
          <a:ln cap="flat" cmpd="sng" w="9525">
            <a:solidFill>
              <a:srgbClr val="534AB7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9" name="Google Shape;59;p3"/>
          <p:cNvSpPr/>
          <p:nvPr/>
        </p:nvSpPr>
        <p:spPr>
          <a:xfrm>
            <a:off x="4251960" y="4599438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system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Operations + Clinical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172200" y="2090040"/>
            <a:ext cx="1737300" cy="2340900"/>
          </a:xfrm>
          <a:prstGeom prst="roundRect">
            <a:avLst>
              <a:gd fmla="val 3684" name="adj"/>
            </a:avLst>
          </a:prstGeom>
          <a:solidFill>
            <a:srgbClr val="F5E6D3"/>
          </a:solidFill>
          <a:ln cap="flat" cmpd="sng" w="1905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172200" y="2090040"/>
            <a:ext cx="1737300" cy="402300"/>
          </a:xfrm>
          <a:prstGeom prst="rect">
            <a:avLst/>
          </a:prstGeom>
          <a:solidFill>
            <a:srgbClr val="7A4510"/>
          </a:solidFill>
          <a:ln cap="flat" cmpd="sng" w="1270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172200" y="2090040"/>
            <a:ext cx="1737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172200" y="252895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Is it executable?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6309360" y="2858136"/>
            <a:ext cx="1463100" cy="0"/>
          </a:xfrm>
          <a:prstGeom prst="straightConnector1">
            <a:avLst/>
          </a:prstGeom>
          <a:noFill/>
          <a:ln cap="flat" cmpd="sng" w="9525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"/>
          <p:cNvSpPr/>
          <p:nvPr/>
        </p:nvSpPr>
        <p:spPr>
          <a:xfrm>
            <a:off x="6263640" y="2949576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Deploy workforce, care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coordination and admin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3"/>
          <p:cNvCxnSpPr/>
          <p:nvPr/>
        </p:nvCxnSpPr>
        <p:spPr>
          <a:xfrm rot="10800000">
            <a:off x="7040880" y="3534804"/>
            <a:ext cx="0" cy="896100"/>
          </a:xfrm>
          <a:prstGeom prst="straightConnector1">
            <a:avLst/>
          </a:prstGeom>
          <a:noFill/>
          <a:ln cap="flat" cmpd="sng" w="9525">
            <a:solidFill>
              <a:srgbClr val="7A451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7" name="Google Shape;67;p3"/>
          <p:cNvSpPr/>
          <p:nvPr/>
        </p:nvSpPr>
        <p:spPr>
          <a:xfrm>
            <a:off x="6172200" y="4599438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on Technology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092440" y="2090040"/>
            <a:ext cx="1737300" cy="2340900"/>
          </a:xfrm>
          <a:prstGeom prst="roundRect">
            <a:avLst>
              <a:gd fmla="val 3684" name="adj"/>
            </a:avLst>
          </a:prstGeom>
          <a:solidFill>
            <a:srgbClr val="F5DDD9"/>
          </a:solidFill>
          <a:ln cap="flat" cmpd="sng" w="1905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092440" y="2090040"/>
            <a:ext cx="1737300" cy="402300"/>
          </a:xfrm>
          <a:prstGeom prst="rect">
            <a:avLst/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092440" y="2090040"/>
            <a:ext cx="1737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092440" y="252895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Is it effective?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8229600" y="2858136"/>
            <a:ext cx="1463100" cy="0"/>
          </a:xfrm>
          <a:prstGeom prst="straightConnector1">
            <a:avLst/>
          </a:prstGeom>
          <a:noFill/>
          <a:ln cap="flat" cmpd="sng" w="9525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3"/>
          <p:cNvSpPr/>
          <p:nvPr/>
        </p:nvSpPr>
        <p:spPr>
          <a:xfrm>
            <a:off x="8183880" y="2949576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Redesign care delivery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and transform clinical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3"/>
          <p:cNvCxnSpPr/>
          <p:nvPr/>
        </p:nvCxnSpPr>
        <p:spPr>
          <a:xfrm rot="10800000">
            <a:off x="8961120" y="3534804"/>
            <a:ext cx="0" cy="896100"/>
          </a:xfrm>
          <a:prstGeom prst="straightConnector1">
            <a:avLst/>
          </a:prstGeom>
          <a:noFill/>
          <a:ln cap="flat" cmpd="sng" w="9525">
            <a:solidFill>
              <a:srgbClr val="7B1D0E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5" name="Google Shape;75;p3"/>
          <p:cNvSpPr/>
          <p:nvPr/>
        </p:nvSpPr>
        <p:spPr>
          <a:xfrm>
            <a:off x="8092440" y="4599438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aligned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payment + operations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0012680" y="2090040"/>
            <a:ext cx="1737300" cy="2340900"/>
          </a:xfrm>
          <a:prstGeom prst="roundRect">
            <a:avLst>
              <a:gd fmla="val 3684" name="adj"/>
            </a:avLst>
          </a:prstGeom>
          <a:solidFill>
            <a:srgbClr val="F4D9E4"/>
          </a:solidFill>
          <a:ln cap="flat" cmpd="sng" w="1905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10012680" y="2090040"/>
            <a:ext cx="1737300" cy="402300"/>
          </a:xfrm>
          <a:prstGeom prst="rect">
            <a:avLst/>
          </a:prstGeom>
          <a:solidFill>
            <a:srgbClr val="6B1F3A"/>
          </a:solidFill>
          <a:ln cap="flat" cmpd="sng" w="1270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0012680" y="2090040"/>
            <a:ext cx="1737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012680" y="252895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Is it just?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10149840" y="2858136"/>
            <a:ext cx="1463100" cy="0"/>
          </a:xfrm>
          <a:prstGeom prst="straightConnector1">
            <a:avLst/>
          </a:prstGeom>
          <a:noFill/>
          <a:ln cap="flat" cmpd="sng" w="9525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3"/>
          <p:cNvSpPr/>
          <p:nvPr/>
        </p:nvSpPr>
        <p:spPr>
          <a:xfrm>
            <a:off x="10104120" y="2949576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Audit, calibrate and correct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for population disparities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3"/>
          <p:cNvCxnSpPr/>
          <p:nvPr/>
        </p:nvCxnSpPr>
        <p:spPr>
          <a:xfrm rot="10800000">
            <a:off x="10881360" y="3534804"/>
            <a:ext cx="0" cy="896100"/>
          </a:xfrm>
          <a:prstGeom prst="straightConnector1">
            <a:avLst/>
          </a:prstGeom>
          <a:noFill/>
          <a:ln cap="flat" cmpd="sng" w="9525">
            <a:solidFill>
              <a:srgbClr val="6B1F3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3" name="Google Shape;83;p3"/>
          <p:cNvSpPr/>
          <p:nvPr/>
        </p:nvSpPr>
        <p:spPr>
          <a:xfrm>
            <a:off x="10012680" y="4599438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a functioning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to audit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20040" y="6601968"/>
            <a:ext cx="11521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Slide 1 of 2  |  See Slide 2 for Vermont implementation anchors and OneCare failure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12648" y="1575943"/>
            <a:ext cx="10936200" cy="54900"/>
          </a:xfrm>
          <a:prstGeom prst="rect">
            <a:avLst/>
          </a:prstGeom>
          <a:solidFill>
            <a:srgbClr val="BBBBB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3"/>
          <p:cNvCxnSpPr/>
          <p:nvPr/>
        </p:nvCxnSpPr>
        <p:spPr>
          <a:xfrm>
            <a:off x="2002536" y="1603375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7" name="Google Shape;87;p3"/>
          <p:cNvCxnSpPr/>
          <p:nvPr/>
        </p:nvCxnSpPr>
        <p:spPr>
          <a:xfrm>
            <a:off x="3922776" y="1603375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" name="Google Shape;88;p3"/>
          <p:cNvCxnSpPr/>
          <p:nvPr/>
        </p:nvCxnSpPr>
        <p:spPr>
          <a:xfrm>
            <a:off x="5843016" y="1603375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9" name="Google Shape;89;p3"/>
          <p:cNvCxnSpPr/>
          <p:nvPr/>
        </p:nvCxnSpPr>
        <p:spPr>
          <a:xfrm>
            <a:off x="7763256" y="1603375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0" name="Google Shape;90;p3"/>
          <p:cNvCxnSpPr/>
          <p:nvPr/>
        </p:nvCxnSpPr>
        <p:spPr>
          <a:xfrm>
            <a:off x="9683496" y="1603375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1" name="Google Shape;91;p3"/>
          <p:cNvSpPr/>
          <p:nvPr/>
        </p:nvSpPr>
        <p:spPr>
          <a:xfrm>
            <a:off x="987552" y="1310767"/>
            <a:ext cx="585300" cy="585300"/>
          </a:xfrm>
          <a:prstGeom prst="ellipse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987552" y="1310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907792" y="1310767"/>
            <a:ext cx="585300" cy="585300"/>
          </a:xfrm>
          <a:prstGeom prst="ellipse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2907792" y="1310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828032" y="1310767"/>
            <a:ext cx="585300" cy="585300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828032" y="1310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748272" y="1310767"/>
            <a:ext cx="585300" cy="585300"/>
          </a:xfrm>
          <a:prstGeom prst="ellipse">
            <a:avLst/>
          </a:prstGeom>
          <a:solidFill>
            <a:srgbClr val="7A4510"/>
          </a:solidFill>
          <a:ln cap="flat" cmpd="sng" w="1270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748272" y="1310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8668512" y="1310767"/>
            <a:ext cx="585300" cy="585300"/>
          </a:xfrm>
          <a:prstGeom prst="ellipse">
            <a:avLst/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8668512" y="1310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0588752" y="1310767"/>
            <a:ext cx="585300" cy="585300"/>
          </a:xfrm>
          <a:prstGeom prst="ellipse">
            <a:avLst/>
          </a:prstGeom>
          <a:solidFill>
            <a:srgbClr val="6B1F3A"/>
          </a:solidFill>
          <a:ln cap="flat" cmpd="sng" w="1270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10588752" y="1310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320040" y="182880"/>
            <a:ext cx="11521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Vermont Evidence &amp; OneCare Sequencing Failures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20040" y="658368"/>
            <a:ext cx="11521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Vermont anchors show what correct sequencing achieves. OneCare failure flags show what happens when foundational stages are skipped.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17148" y="2127943"/>
            <a:ext cx="10936200" cy="54900"/>
          </a:xfrm>
          <a:prstGeom prst="rect">
            <a:avLst/>
          </a:prstGeom>
          <a:solidFill>
            <a:srgbClr val="BBBBB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4"/>
          <p:cNvCxnSpPr/>
          <p:nvPr/>
        </p:nvCxnSpPr>
        <p:spPr>
          <a:xfrm>
            <a:off x="2107036" y="2155375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2" name="Google Shape;112;p4"/>
          <p:cNvCxnSpPr/>
          <p:nvPr/>
        </p:nvCxnSpPr>
        <p:spPr>
          <a:xfrm>
            <a:off x="4027276" y="2155375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3" name="Google Shape;113;p4"/>
          <p:cNvCxnSpPr/>
          <p:nvPr/>
        </p:nvCxnSpPr>
        <p:spPr>
          <a:xfrm>
            <a:off x="5947516" y="2155375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4" name="Google Shape;114;p4"/>
          <p:cNvCxnSpPr/>
          <p:nvPr/>
        </p:nvCxnSpPr>
        <p:spPr>
          <a:xfrm>
            <a:off x="7867756" y="2155375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5" name="Google Shape;115;p4"/>
          <p:cNvCxnSpPr/>
          <p:nvPr/>
        </p:nvCxnSpPr>
        <p:spPr>
          <a:xfrm>
            <a:off x="9787996" y="2155375"/>
            <a:ext cx="201300" cy="0"/>
          </a:xfrm>
          <a:prstGeom prst="straightConnector1">
            <a:avLst/>
          </a:prstGeom>
          <a:noFill/>
          <a:ln cap="flat" cmpd="sng" w="22850">
            <a:solidFill>
              <a:srgbClr val="88888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6" name="Google Shape;116;p4"/>
          <p:cNvSpPr/>
          <p:nvPr/>
        </p:nvSpPr>
        <p:spPr>
          <a:xfrm>
            <a:off x="1092052" y="1862767"/>
            <a:ext cx="585300" cy="585300"/>
          </a:xfrm>
          <a:prstGeom prst="ellipse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1092052" y="1862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012292" y="1862767"/>
            <a:ext cx="585300" cy="585300"/>
          </a:xfrm>
          <a:prstGeom prst="ellipse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012292" y="1862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932532" y="1862767"/>
            <a:ext cx="585300" cy="585300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932532" y="1862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852772" y="1862767"/>
            <a:ext cx="585300" cy="585300"/>
          </a:xfrm>
          <a:prstGeom prst="ellipse">
            <a:avLst/>
          </a:prstGeom>
          <a:solidFill>
            <a:srgbClr val="7A4510"/>
          </a:solidFill>
          <a:ln cap="flat" cmpd="sng" w="1270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6852772" y="1862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8773012" y="1862767"/>
            <a:ext cx="585300" cy="585300"/>
          </a:xfrm>
          <a:prstGeom prst="ellipse">
            <a:avLst/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8773012" y="1862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0693252" y="1862767"/>
            <a:ext cx="585300" cy="585300"/>
          </a:xfrm>
          <a:prstGeom prst="ellipse">
            <a:avLst/>
          </a:prstGeom>
          <a:solidFill>
            <a:srgbClr val="6B1F3A"/>
          </a:solidFill>
          <a:ln cap="flat" cmpd="sng" w="1270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0693252" y="1862767"/>
            <a:ext cx="5853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15980" y="1186111"/>
            <a:ext cx="1737300" cy="512100"/>
          </a:xfrm>
          <a:prstGeom prst="roundRect">
            <a:avLst>
              <a:gd fmla="val 10714" name="adj"/>
            </a:avLst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15980" y="1186111"/>
            <a:ext cx="1737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1384660" y="1698175"/>
            <a:ext cx="0" cy="1647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31" name="Google Shape;131;p4"/>
          <p:cNvSpPr/>
          <p:nvPr/>
        </p:nvSpPr>
        <p:spPr>
          <a:xfrm>
            <a:off x="515975" y="2612575"/>
            <a:ext cx="1737300" cy="153810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cap="flat" cmpd="sng" w="152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15980" y="2612575"/>
            <a:ext cx="1737300" cy="292500"/>
          </a:xfrm>
          <a:prstGeom prst="rect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515980" y="2612575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07425" y="2941748"/>
            <a:ext cx="15546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AHEAD Model agreement with CMS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Acts 167 and 68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Mandatory provider reporting requirements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15925" y="4359000"/>
            <a:ext cx="1737300" cy="1721400"/>
          </a:xfrm>
          <a:prstGeom prst="roundRect">
            <a:avLst>
              <a:gd fmla="val 4000" name="adj"/>
            </a:avLst>
          </a:prstGeom>
          <a:solidFill>
            <a:srgbClr val="FEF0EF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515930" y="4359002"/>
            <a:ext cx="1737300" cy="292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15930" y="4359002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OneCare failure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07370" y="4688186"/>
            <a:ext cx="15546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Optional participation — no policy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foundation to enforce accountability.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High-cost providers opted out, leaving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OneCare unable to control total cost.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436220" y="1186111"/>
            <a:ext cx="1737300" cy="512100"/>
          </a:xfrm>
          <a:prstGeom prst="roundRect">
            <a:avLst>
              <a:gd fmla="val 10714" name="adj"/>
            </a:avLst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2436220" y="1186111"/>
            <a:ext cx="1737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4"/>
          <p:cNvCxnSpPr/>
          <p:nvPr/>
        </p:nvCxnSpPr>
        <p:spPr>
          <a:xfrm>
            <a:off x="3304900" y="1698175"/>
            <a:ext cx="0" cy="164700"/>
          </a:xfrm>
          <a:prstGeom prst="straightConnector1">
            <a:avLst/>
          </a:prstGeom>
          <a:noFill/>
          <a:ln cap="flat" cmpd="sng" w="9525">
            <a:solidFill>
              <a:srgbClr val="0F6E5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2" name="Google Shape;142;p4"/>
          <p:cNvSpPr/>
          <p:nvPr/>
        </p:nvSpPr>
        <p:spPr>
          <a:xfrm>
            <a:off x="2436225" y="2612575"/>
            <a:ext cx="1737300" cy="153810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cap="flat" cmpd="sng" w="152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2436220" y="2612575"/>
            <a:ext cx="1737300" cy="292500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2436220" y="2612575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2527660" y="2941759"/>
            <a:ext cx="1554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Total Cost of Care model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Global budget parameters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Blueprint PMPM payment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AHEAD federal funding commitments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436175" y="4359000"/>
            <a:ext cx="1737300" cy="1701900"/>
          </a:xfrm>
          <a:prstGeom prst="roundRect">
            <a:avLst>
              <a:gd fmla="val 4000" name="adj"/>
            </a:avLst>
          </a:prstGeom>
          <a:solidFill>
            <a:srgbClr val="FEF0EF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2436170" y="4359002"/>
            <a:ext cx="1737300" cy="292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2436170" y="4359002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OneCare failure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2527610" y="4688186"/>
            <a:ext cx="15546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Payment model launched without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funding integrated technology.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Economics-as-management attempted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before infrastructure existed.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356460" y="1186111"/>
            <a:ext cx="1737300" cy="512100"/>
          </a:xfrm>
          <a:prstGeom prst="roundRect">
            <a:avLst>
              <a:gd fmla="val 10714" name="adj"/>
            </a:avLst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4356460" y="1186111"/>
            <a:ext cx="1737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4"/>
          <p:cNvCxnSpPr/>
          <p:nvPr/>
        </p:nvCxnSpPr>
        <p:spPr>
          <a:xfrm>
            <a:off x="5225140" y="1698175"/>
            <a:ext cx="0" cy="164700"/>
          </a:xfrm>
          <a:prstGeom prst="straightConnector1">
            <a:avLst/>
          </a:prstGeom>
          <a:noFill/>
          <a:ln cap="flat" cmpd="sng" w="9525">
            <a:solidFill>
              <a:srgbClr val="534AB7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53" name="Google Shape;153;p4"/>
          <p:cNvSpPr/>
          <p:nvPr/>
        </p:nvSpPr>
        <p:spPr>
          <a:xfrm>
            <a:off x="4356450" y="2612575"/>
            <a:ext cx="1737300" cy="153810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cap="flat" cmpd="sng" w="1522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356460" y="2612575"/>
            <a:ext cx="1737300" cy="292500"/>
          </a:xfrm>
          <a:prstGeom prst="rect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4356460" y="2612575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447900" y="2941759"/>
            <a:ext cx="1554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Clinical registry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SDOH screening platforms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Integrated claims + clinical data feeds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Care management systems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356400" y="4359000"/>
            <a:ext cx="1737300" cy="1701900"/>
          </a:xfrm>
          <a:prstGeom prst="roundRect">
            <a:avLst>
              <a:gd fmla="val 4000" name="adj"/>
            </a:avLst>
          </a:prstGeom>
          <a:solidFill>
            <a:srgbClr val="FEF0EF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4356410" y="4359002"/>
            <a:ext cx="1737300" cy="292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4356410" y="4359002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OneCare failure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447850" y="4688186"/>
            <a:ext cx="15546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No integrated, real-time clinical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and claims data. Care managers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worked from data 60–90 days old 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0A0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0A0A"/>
                </a:solidFill>
                <a:latin typeface="Calibri"/>
                <a:ea typeface="Calibri"/>
                <a:cs typeface="Calibri"/>
                <a:sym typeface="Calibri"/>
              </a:rPr>
              <a:t>retrospective, not proactive.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276700" y="1186111"/>
            <a:ext cx="1737300" cy="512100"/>
          </a:xfrm>
          <a:prstGeom prst="roundRect">
            <a:avLst>
              <a:gd fmla="val 10714" name="adj"/>
            </a:avLst>
          </a:prstGeom>
          <a:solidFill>
            <a:srgbClr val="7A4510"/>
          </a:solidFill>
          <a:ln cap="flat" cmpd="sng" w="1270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276700" y="1186111"/>
            <a:ext cx="1737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4"/>
          <p:cNvCxnSpPr/>
          <p:nvPr/>
        </p:nvCxnSpPr>
        <p:spPr>
          <a:xfrm>
            <a:off x="7145380" y="1698175"/>
            <a:ext cx="0" cy="164700"/>
          </a:xfrm>
          <a:prstGeom prst="straightConnector1">
            <a:avLst/>
          </a:prstGeom>
          <a:noFill/>
          <a:ln cap="flat" cmpd="sng" w="9525">
            <a:solidFill>
              <a:srgbClr val="7A451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64" name="Google Shape;164;p4"/>
          <p:cNvSpPr/>
          <p:nvPr/>
        </p:nvSpPr>
        <p:spPr>
          <a:xfrm>
            <a:off x="6276700" y="2612575"/>
            <a:ext cx="1737300" cy="25056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5225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6276700" y="2612575"/>
            <a:ext cx="1737300" cy="292500"/>
          </a:xfrm>
          <a:prstGeom prst="rect">
            <a:avLst/>
          </a:prstGeom>
          <a:solidFill>
            <a:srgbClr val="7A4510"/>
          </a:solidFill>
          <a:ln cap="flat" cmpd="sng" w="12700">
            <a:solidFill>
              <a:srgbClr val="7A45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276700" y="2612575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368140" y="2941759"/>
            <a:ext cx="15546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Blueprint Hub &amp; Spoke 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Community Health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Rural Health Transformation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workforce expansion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8196940" y="1186111"/>
            <a:ext cx="1737300" cy="512100"/>
          </a:xfrm>
          <a:prstGeom prst="roundRect">
            <a:avLst>
              <a:gd fmla="val 10714" name="adj"/>
            </a:avLst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8196940" y="1186111"/>
            <a:ext cx="1737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4"/>
          <p:cNvCxnSpPr/>
          <p:nvPr/>
        </p:nvCxnSpPr>
        <p:spPr>
          <a:xfrm>
            <a:off x="9065620" y="1698175"/>
            <a:ext cx="0" cy="164700"/>
          </a:xfrm>
          <a:prstGeom prst="straightConnector1">
            <a:avLst/>
          </a:prstGeom>
          <a:noFill/>
          <a:ln cap="flat" cmpd="sng" w="9525">
            <a:solidFill>
              <a:srgbClr val="7B1D0E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71" name="Google Shape;171;p4"/>
          <p:cNvSpPr/>
          <p:nvPr/>
        </p:nvSpPr>
        <p:spPr>
          <a:xfrm>
            <a:off x="8196940" y="2612575"/>
            <a:ext cx="1737300" cy="25056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5225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8196940" y="2612575"/>
            <a:ext cx="1737300" cy="292500"/>
          </a:xfrm>
          <a:prstGeom prst="rect">
            <a:avLst/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8196940" y="2612575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288380" y="2941759"/>
            <a:ext cx="15546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PCMH transformation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Collaborative Care Model (CoCM)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CCBHC expansion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Blueprint 5.8:1 ROI from primary care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10117180" y="1186111"/>
            <a:ext cx="1737300" cy="512100"/>
          </a:xfrm>
          <a:prstGeom prst="roundRect">
            <a:avLst>
              <a:gd fmla="val 10714" name="adj"/>
            </a:avLst>
          </a:prstGeom>
          <a:solidFill>
            <a:srgbClr val="6B1F3A"/>
          </a:solidFill>
          <a:ln cap="flat" cmpd="sng" w="1270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10117180" y="1186111"/>
            <a:ext cx="1737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4"/>
          <p:cNvCxnSpPr/>
          <p:nvPr/>
        </p:nvCxnSpPr>
        <p:spPr>
          <a:xfrm>
            <a:off x="10985860" y="1698175"/>
            <a:ext cx="0" cy="164700"/>
          </a:xfrm>
          <a:prstGeom prst="straightConnector1">
            <a:avLst/>
          </a:prstGeom>
          <a:noFill/>
          <a:ln cap="flat" cmpd="sng" w="9525">
            <a:solidFill>
              <a:srgbClr val="6B1F3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78" name="Google Shape;178;p4"/>
          <p:cNvSpPr/>
          <p:nvPr/>
        </p:nvSpPr>
        <p:spPr>
          <a:xfrm>
            <a:off x="10117180" y="2612575"/>
            <a:ext cx="1737300" cy="25056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5225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10117180" y="2612575"/>
            <a:ext cx="1737300" cy="292500"/>
          </a:xfrm>
          <a:prstGeom prst="rect">
            <a:avLst/>
          </a:prstGeom>
          <a:solidFill>
            <a:srgbClr val="6B1F3A"/>
          </a:solidFill>
          <a:ln cap="flat" cmpd="sng" w="12700">
            <a:solidFill>
              <a:srgbClr val="6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10117180" y="2612575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10208620" y="2941759"/>
            <a:ext cx="15546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HRSN screening at 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Targeted outreach in high-uninsurance areas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Language access across Blueprint 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24490" y="6315818"/>
            <a:ext cx="1152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Slide 2 of 2  |  OneCare Vermont wound down after ~10 years. Failure was architectural, not operational.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