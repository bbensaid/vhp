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The Six-Pillar Execution Sequence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Each stage is a prerequisite for the next. Skipping or weakening any stage creates structural failure downstream.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449324"/>
            <a:ext cx="10936224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388620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80644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72668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964692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EBEBEB"/>
          </a:solidFill>
          <a:ln w="22860">
            <a:solidFill>
              <a:srgbClr val="3D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938528"/>
            <a:ext cx="1737360" cy="3840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Policy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permissible?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" y="2670048"/>
            <a:ext cx="1481328" cy="0"/>
          </a:xfrm>
          <a:prstGeom prst="line">
            <a:avLst/>
          </a:prstGeom>
          <a:noFill/>
          <a:ln w="9525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Establish enforceable authority and mandate participation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Legal foundation for all other stages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7792" y="1188720"/>
            <a:ext cx="585216" cy="5852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33172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D4EDE3"/>
          </a:solidFill>
          <a:ln w="2286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1938528"/>
            <a:ext cx="173736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Economics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0487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sustainable?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59736" y="2670048"/>
            <a:ext cx="1481328" cy="0"/>
          </a:xfrm>
          <a:prstGeom prst="line">
            <a:avLst/>
          </a:prstGeom>
          <a:noFill/>
          <a:ln w="9525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Design payment architecture and fund the technology build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Defines what technology must 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1188720"/>
            <a:ext cx="585216" cy="585216"/>
          </a:xfrm>
          <a:prstGeom prst="ellipse">
            <a:avLst/>
          </a:prstGeom>
          <a:solidFill>
            <a:srgbClr val="4A41B0"/>
          </a:solidFill>
          <a:ln w="12700">
            <a:solidFill>
              <a:srgbClr val="4A41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25196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E2E0F5"/>
          </a:solidFill>
          <a:ln w="22860">
            <a:solidFill>
              <a:srgbClr val="4A41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1938528"/>
            <a:ext cx="1737360" cy="384048"/>
          </a:xfrm>
          <a:prstGeom prst="rect">
            <a:avLst/>
          </a:prstGeom>
          <a:solidFill>
            <a:srgbClr val="4A41B0"/>
          </a:solidFill>
          <a:ln w="12700">
            <a:solidFill>
              <a:srgbClr val="4A41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Technology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2511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possible?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79976" y="2670048"/>
            <a:ext cx="1481328" cy="0"/>
          </a:xfrm>
          <a:prstGeom prst="line">
            <a:avLst/>
          </a:prstGeom>
          <a:noFill/>
          <a:ln w="9525">
            <a:solidFill>
              <a:srgbClr val="4A41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Build integrated clinical + claims data infrastructure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5196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Operating system for Operations + Clinical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748272" y="1188720"/>
            <a:ext cx="585216" cy="585216"/>
          </a:xfrm>
          <a:prstGeom prst="ellipse">
            <a:avLst/>
          </a:prstGeom>
          <a:solidFill>
            <a:srgbClr val="7A4510"/>
          </a:solidFill>
          <a:ln w="12700">
            <a:solidFill>
              <a:srgbClr val="7A45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17220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F2E4D0"/>
          </a:solidFill>
          <a:ln w="22860">
            <a:solidFill>
              <a:srgbClr val="7A45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1938528"/>
            <a:ext cx="1737360" cy="384048"/>
          </a:xfrm>
          <a:prstGeom prst="rect">
            <a:avLst/>
          </a:prstGeom>
          <a:solidFill>
            <a:srgbClr val="7A4510"/>
          </a:solidFill>
          <a:ln w="12700">
            <a:solidFill>
              <a:srgbClr val="7A45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4535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executable?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0216" y="2670048"/>
            <a:ext cx="1481328" cy="0"/>
          </a:xfrm>
          <a:prstGeom prst="line">
            <a:avLst/>
          </a:prstGeom>
          <a:noFill/>
          <a:ln w="9525">
            <a:solidFill>
              <a:srgbClr val="7A45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Deploy workforce, care coordination and admin systems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7220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Runs on Technology infrastructure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68512" y="1188720"/>
            <a:ext cx="585216" cy="585216"/>
          </a:xfrm>
          <a:prstGeom prst="ellipse">
            <a:avLst/>
          </a:prstGeom>
          <a:solidFill>
            <a:srgbClr val="7B1D0E"/>
          </a:solidFill>
          <a:ln w="12700">
            <a:solidFill>
              <a:srgbClr val="7B1D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6851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809244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F2D9D6"/>
          </a:solidFill>
          <a:ln w="22860">
            <a:solidFill>
              <a:srgbClr val="7B1D0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92440" y="1938528"/>
            <a:ext cx="1737360" cy="384048"/>
          </a:xfrm>
          <a:prstGeom prst="rect">
            <a:avLst/>
          </a:prstGeom>
          <a:solidFill>
            <a:srgbClr val="7B1D0E"/>
          </a:solidFill>
          <a:ln w="12700">
            <a:solidFill>
              <a:srgbClr val="7B1D0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Clinical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16559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effective?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0456" y="2670048"/>
            <a:ext cx="1481328" cy="0"/>
          </a:xfrm>
          <a:prstGeom prst="line">
            <a:avLst/>
          </a:prstGeom>
          <a:noFill/>
          <a:ln w="9525">
            <a:solidFill>
              <a:srgbClr val="7B1D0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8388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Redesign care delivery and transform clinical practice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9244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Requires aligned payment + operations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588752" y="1188720"/>
            <a:ext cx="585216" cy="585216"/>
          </a:xfrm>
          <a:prstGeom prst="ellipse">
            <a:avLst/>
          </a:prstGeom>
          <a:solidFill>
            <a:srgbClr val="6B1F3A"/>
          </a:solidFill>
          <a:ln w="12700">
            <a:solidFill>
              <a:srgbClr val="6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8875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0012680" y="1938528"/>
            <a:ext cx="1737360" cy="2834640"/>
          </a:xfrm>
          <a:prstGeom prst="roundRect">
            <a:avLst>
              <a:gd name="adj" fmla="val 3158"/>
            </a:avLst>
          </a:prstGeom>
          <a:solidFill>
            <a:srgbClr val="F0D6E2"/>
          </a:solidFill>
          <a:ln w="22860">
            <a:solidFill>
              <a:srgbClr val="6B1F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012680" y="1938528"/>
            <a:ext cx="1737360" cy="384048"/>
          </a:xfrm>
          <a:prstGeom prst="rect">
            <a:avLst/>
          </a:prstGeom>
          <a:solidFill>
            <a:srgbClr val="6B1F3A"/>
          </a:solidFill>
          <a:ln w="12700">
            <a:solidFill>
              <a:srgbClr val="6B1F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12680" y="1938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Equity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0858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2222"/>
                </a:solidFill>
              </a:rPr>
              <a:t>Is it just?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140696" y="2670048"/>
            <a:ext cx="1481328" cy="0"/>
          </a:xfrm>
          <a:prstGeom prst="line">
            <a:avLst/>
          </a:prstGeom>
          <a:noFill/>
          <a:ln w="9525">
            <a:solidFill>
              <a:srgbClr val="6B1F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04120" y="2743200"/>
            <a:ext cx="1554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Audit, calibrate and correct for population disparities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012680" y="48646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11111"/>
                </a:solidFill>
              </a:rPr>
              <a:t>Requires a functioning system to audit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</a:rPr>
              <a:t>Vermont Evidence &amp; OneCare Sequencing Failures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Vermont anchors show what correct sequencing achieves. OneCare failure flags show what happens when foundational stages are skipped.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12648" y="1449324"/>
            <a:ext cx="10936224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388620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80644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72668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9646920" y="1481328"/>
            <a:ext cx="22860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22576"/>
            <a:ext cx="1737360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AHEAD Model agreement with CMS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Acts 167 and 68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Mandatory provider reporting requirements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07792" y="1188720"/>
            <a:ext cx="585216" cy="58521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33172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Economics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3172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2322576"/>
            <a:ext cx="17373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Total Cost of Care model design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Global budget parameters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Blueprint PMPM payment structure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AHEAD federal funding commitments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1188720"/>
            <a:ext cx="585216" cy="585216"/>
          </a:xfrm>
          <a:prstGeom prst="ellipse">
            <a:avLst/>
          </a:prstGeom>
          <a:solidFill>
            <a:srgbClr val="4A41B0"/>
          </a:solidFill>
          <a:ln w="12700">
            <a:solidFill>
              <a:srgbClr val="4A41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25196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4A41B0"/>
          </a:solidFill>
          <a:ln w="12700">
            <a:solidFill>
              <a:srgbClr val="4A41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5196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4A41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2322576"/>
            <a:ext cx="1737360" cy="274320"/>
          </a:xfrm>
          <a:prstGeom prst="rect">
            <a:avLst/>
          </a:prstGeom>
          <a:solidFill>
            <a:srgbClr val="4A41B0"/>
          </a:solidFill>
          <a:ln w="12700">
            <a:solidFill>
              <a:srgbClr val="4A41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Clinical registry development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SDOH screening platforms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Integrated claims + clinical data feeds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Care management systems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48272" y="1188720"/>
            <a:ext cx="585216" cy="585216"/>
          </a:xfrm>
          <a:prstGeom prst="ellipse">
            <a:avLst/>
          </a:prstGeom>
          <a:solidFill>
            <a:srgbClr val="7A4510"/>
          </a:solidFill>
          <a:ln w="12700">
            <a:solidFill>
              <a:srgbClr val="7A45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17220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7A4510"/>
          </a:solidFill>
          <a:ln w="12700">
            <a:solidFill>
              <a:srgbClr val="7A451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A451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322576"/>
            <a:ext cx="1737360" cy="274320"/>
          </a:xfrm>
          <a:prstGeom prst="rect">
            <a:avLst/>
          </a:prstGeom>
          <a:solidFill>
            <a:srgbClr val="7A4510"/>
          </a:solidFill>
          <a:ln w="12700">
            <a:solidFill>
              <a:srgbClr val="7A451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Blueprint Hub &amp; Spoke network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Community Health Teams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Rural Health Transformation workforce expansion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68512" y="1188720"/>
            <a:ext cx="585216" cy="585216"/>
          </a:xfrm>
          <a:prstGeom prst="ellipse">
            <a:avLst/>
          </a:prstGeom>
          <a:solidFill>
            <a:srgbClr val="7B1D0E"/>
          </a:solidFill>
          <a:ln w="12700">
            <a:solidFill>
              <a:srgbClr val="7B1D0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851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809244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7B1D0E"/>
          </a:solidFill>
          <a:ln w="12700">
            <a:solidFill>
              <a:srgbClr val="7B1D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Clinical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9244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7B1D0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2322576"/>
            <a:ext cx="1737360" cy="274320"/>
          </a:xfrm>
          <a:prstGeom prst="rect">
            <a:avLst/>
          </a:prstGeom>
          <a:solidFill>
            <a:srgbClr val="7B1D0E"/>
          </a:solidFill>
          <a:ln w="12700">
            <a:solidFill>
              <a:srgbClr val="7B1D0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8388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PCMH transformation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Collaborative Care Model (CoCM)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CCBHC expansion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Blueprint 5.8:1 ROI from primary care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588752" y="1188720"/>
            <a:ext cx="585216" cy="585216"/>
          </a:xfrm>
          <a:prstGeom prst="ellipse">
            <a:avLst/>
          </a:prstGeom>
          <a:solidFill>
            <a:srgbClr val="6B1F3A"/>
          </a:solidFill>
          <a:ln w="12700">
            <a:solidFill>
              <a:srgbClr val="6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8875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0012680" y="186537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6B1F3A"/>
          </a:solidFill>
          <a:ln w="12700">
            <a:solidFill>
              <a:srgbClr val="6B1F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0" y="1865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Equity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012680" y="2322576"/>
            <a:ext cx="173736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9050">
            <a:solidFill>
              <a:srgbClr val="6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12680" y="2322576"/>
            <a:ext cx="1737360" cy="274320"/>
          </a:xfrm>
          <a:prstGeom prst="rect">
            <a:avLst/>
          </a:prstGeom>
          <a:solidFill>
            <a:srgbClr val="6B1F3A"/>
          </a:solidFill>
          <a:ln w="12700">
            <a:solidFill>
              <a:srgbClr val="6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1268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Vermont anchor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104120" y="2633472"/>
            <a:ext cx="155448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HRSN screening at scale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Targeted outreach in high-uninsurance areas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</a:rPr>
              <a:t>Language access across Blueprint network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078224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0782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OneCare failure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0040" y="4517136"/>
            <a:ext cx="115214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Stage 1 — Policy: Optional participation — no policy foundation to enforce accountability. High-cost providers opted out, leaving OneCare unable to control total cost.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0040" y="4901184"/>
            <a:ext cx="115214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Stage 2 — Economics: Payment model launched without funding integrated technology. Economics-as-management attempted before infrastructure existed.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20040" y="5285232"/>
            <a:ext cx="1152144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Stage 3 — Technology: No integrated, real-time clinical and claims data. Care managers worked from data 60–90 days old — retrospective, not proactive.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2026-04-23T05:25:39Z</dcterms:created>
  <dcterms:modified xsi:type="dcterms:W3CDTF">2026-04-23T05:25:39Z</dcterms:modified>
</cp:coreProperties>
</file>