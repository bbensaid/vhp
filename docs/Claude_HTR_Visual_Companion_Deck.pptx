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4.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5.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6.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charts/chart8.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charts/chart9.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charts/chart11.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Profit / Adj. Discharge ($)</c:v>
                </c:pt>
              </c:strCache>
            </c:strRef>
          </c:tx>
          <c:spPr>
            <a:solidFill>
              <a:srgbClr val="1F5C8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F5C8B"/>
              </a:solidFill>
              <a:effectLst/>
            </c:spPr>
          </c:dPt>
          <c:dPt>
            <c:idx val="1"/>
            <c:invertIfNegative val="0"/>
            <c:bubble3D val="0"/>
            <c:spPr>
              <a:solidFill>
                <a:srgbClr val="1F5C8B"/>
              </a:solidFill>
              <a:effectLst/>
            </c:spPr>
          </c:dPt>
          <c:dPt>
            <c:idx val="2"/>
            <c:invertIfNegative val="0"/>
            <c:bubble3D val="0"/>
            <c:spPr>
              <a:solidFill>
                <a:srgbClr val="1F5C8B"/>
              </a:solidFill>
              <a:effectLst/>
            </c:spPr>
          </c:dPt>
          <c:dPt>
            <c:idx val="3"/>
            <c:invertIfNegative val="0"/>
            <c:bubble3D val="0"/>
            <c:spPr>
              <a:solidFill>
                <a:srgbClr val="1F5C8B"/>
              </a:solidFill>
              <a:effectLst/>
            </c:spPr>
          </c:dPt>
          <c:dPt>
            <c:idx val="4"/>
            <c:invertIfNegative val="0"/>
            <c:bubble3D val="0"/>
            <c:spPr>
              <a:solidFill>
                <a:srgbClr val="1F5C8B"/>
              </a:solidFill>
              <a:effectLst/>
            </c:spPr>
          </c:dPt>
          <c:dPt>
            <c:idx val="5"/>
            <c:invertIfNegative val="0"/>
            <c:bubble3D val="0"/>
            <c:spPr>
              <a:solidFill>
                <a:srgbClr val="8B1A1A"/>
              </a:solidFill>
              <a:effectLst/>
            </c:spPr>
          </c:dPt>
          <c:dPt>
            <c:idx val="6"/>
            <c:invertIfNegative val="0"/>
            <c:bubble3D val="0"/>
            <c:spPr>
              <a:solidFill>
                <a:srgbClr val="444444"/>
              </a:solidFill>
              <a:effectLst/>
            </c:spPr>
          </c:dPt>
          <c:dPt>
            <c:idx val="7"/>
            <c:invertIfNegative val="0"/>
            <c:bubble3D val="0"/>
            <c:spPr>
              <a:solidFill>
                <a:srgbClr val="1E6B3C"/>
              </a:solidFill>
              <a:effectLst/>
            </c:spPr>
          </c:dPt>
          <c:dPt>
            <c:idx val="8"/>
            <c:invertIfNegative val="0"/>
            <c:bubble3D val="0"/>
            <c:spPr>
              <a:solidFill>
                <a:srgbClr val="1E6B3C"/>
              </a:solidFill>
              <a:effectLst/>
            </c:spPr>
          </c:dPt>
          <c:cat>
            <c:multiLvlStrRef>
              <c:f>Sheet1!$A$2:$A$10</c:f>
              <c:multiLvlStrCache>
                <c:ptCount val="9"/>
                <c:lvl>
                  <c:pt idx="0">
                    <c:v>UVMMC</c:v>
                  </c:pt>
                  <c:pt idx="1">
                    <c:v>SWVMC</c:v>
                  </c:pt>
                  <c:pt idx="2">
                    <c:v>Brattleboro
Memorial</c:v>
                  </c:pt>
                  <c:pt idx="3">
                    <c:v>Rutland
Regional</c:v>
                  </c:pt>
                  <c:pt idx="4">
                    <c:v>Central VT
Medical</c:v>
                  </c:pt>
                  <c:pt idx="5">
                    <c:v>Springfield
Hospital</c:v>
                  </c:pt>
                  <c:pt idx="6">
                    <c:v>CAH
Avg.</c:v>
                  </c:pt>
                  <c:pt idx="7">
                    <c:v>PPS
Benchmark</c:v>
                  </c:pt>
                  <c:pt idx="8">
                    <c:v>CAH
Benchmark</c:v>
                  </c:pt>
                </c:lvl>
              </c:multiLvlStrCache>
            </c:multiLvlStrRef>
          </c:cat>
          <c:val>
            <c:numRef>
              <c:f>Sheet1!$B$2:$B$10</c:f>
              <c:numCache>
                <c:formatCode>General</c:formatCode>
                <c:ptCount val="9"/>
                <c:pt idx="0">
                  <c:v>11043</c:v>
                </c:pt>
                <c:pt idx="1">
                  <c:v>3800</c:v>
                </c:pt>
                <c:pt idx="2">
                  <c:v>1200</c:v>
                </c:pt>
                <c:pt idx="3">
                  <c:v>900</c:v>
                </c:pt>
                <c:pt idx="4">
                  <c:v>1100</c:v>
                </c:pt>
                <c:pt idx="5">
                  <c:v>-2100</c:v>
                </c:pt>
                <c:pt idx="6">
                  <c:v>938</c:v>
                </c:pt>
                <c:pt idx="7">
                  <c:v>4162</c:v>
                </c:pt>
                <c:pt idx="8">
                  <c:v>2784</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Monthly Premium ($)</c:v>
                </c:pt>
              </c:strCache>
            </c:strRef>
          </c:tx>
          <c:spPr>
            <a:solidFill>
              <a:srgbClr val="8B1A1A"/>
            </a:solidFill>
            <a:ln w="38100" cap="flat">
              <a:solidFill>
                <a:srgbClr val="8B1A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1A1A"/>
              </a:solidFill>
              <a:ln w="9525" cap="flat">
                <a:solidFill>
                  <a:srgbClr val="8B1A1A"/>
                </a:solidFill>
                <a:prstDash val="solid"/>
                <a:round/>
              </a:ln>
              <a:effectLst/>
            </c:spPr>
          </c:marker>
          <c:cat>
            <c:multiLvlStrRef>
              <c:f>Sheet1!$A$2:$A$8</c:f>
              <c:multiLvlStrCache>
                <c:ptCount val="7"/>
                <c:lvl>
                  <c:pt idx="0">
                    <c:v>2018</c:v>
                  </c:pt>
                  <c:pt idx="1">
                    <c:v>2019</c:v>
                  </c:pt>
                  <c:pt idx="2">
                    <c:v>2020</c:v>
                  </c:pt>
                  <c:pt idx="3">
                    <c:v>2021</c:v>
                  </c:pt>
                  <c:pt idx="4">
                    <c:v>2022</c:v>
                  </c:pt>
                  <c:pt idx="5">
                    <c:v>2023</c:v>
                  </c:pt>
                  <c:pt idx="6">
                    <c:v>2024</c:v>
                  </c:pt>
                </c:lvl>
              </c:multiLvlStrCache>
            </c:multiLvlStrRef>
          </c:cat>
          <c:val>
            <c:numRef>
              <c:f>Sheet1!$B$2:$B$8</c:f>
              <c:numCache>
                <c:formatCode>General</c:formatCode>
                <c:ptCount val="7"/>
                <c:pt idx="0">
                  <c:v>456</c:v>
                </c:pt>
                <c:pt idx="1">
                  <c:v>540</c:v>
                </c:pt>
                <c:pt idx="2">
                  <c:v>630</c:v>
                </c:pt>
                <c:pt idx="3">
                  <c:v>710</c:v>
                </c:pt>
                <c:pt idx="4">
                  <c:v>790</c:v>
                </c:pt>
                <c:pt idx="5">
                  <c:v>875</c:v>
                </c:pt>
                <c:pt idx="6">
                  <c:v>948</c:v>
                </c:pt>
              </c:numCache>
            </c:numRef>
          </c:val>
          <c:smooth val="0"/>
        </c:ser>
        <c:ser>
          <c:idx val="1"/>
          <c:order val="1"/>
          <c:tx>
            <c:strRef>
              <c:f>Sheet1!$C$1</c:f>
              <c:strCache>
                <c:ptCount val="1"/>
                <c:pt idx="0">
                  <c:v>Median Household Income (Index: 2018=100)</c:v>
                </c:pt>
              </c:strCache>
            </c:strRef>
          </c:tx>
          <c:spPr>
            <a:solidFill>
              <a:srgbClr val="1E6B3C"/>
            </a:solidFill>
            <a:ln w="38100" cap="flat">
              <a:solidFill>
                <a:srgbClr val="1E6B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6B3C"/>
              </a:solidFill>
              <a:ln w="9525" cap="flat">
                <a:solidFill>
                  <a:srgbClr val="1E6B3C"/>
                </a:solidFill>
                <a:prstDash val="solid"/>
                <a:round/>
              </a:ln>
              <a:effectLst/>
            </c:spPr>
          </c:marker>
          <c:cat>
            <c:multiLvlStrRef>
              <c:f>Sheet1!$A$2:$A$8</c:f>
              <c:multiLvlStrCache>
                <c:ptCount val="7"/>
                <c:lvl>
                  <c:pt idx="0">
                    <c:v>2018</c:v>
                  </c:pt>
                  <c:pt idx="1">
                    <c:v>2019</c:v>
                  </c:pt>
                  <c:pt idx="2">
                    <c:v>2020</c:v>
                  </c:pt>
                  <c:pt idx="3">
                    <c:v>2021</c:v>
                  </c:pt>
                  <c:pt idx="4">
                    <c:v>2022</c:v>
                  </c:pt>
                  <c:pt idx="5">
                    <c:v>2023</c:v>
                  </c:pt>
                  <c:pt idx="6">
                    <c:v>2024</c:v>
                  </c:pt>
                </c:lvl>
              </c:multiLvlStrCache>
            </c:multiLvlStrRef>
          </c:cat>
          <c:val>
            <c:numRef>
              <c:f>Sheet1!$C$2:$C$8</c:f>
              <c:numCache>
                <c:formatCode>General</c:formatCode>
                <c:ptCount val="7"/>
                <c:pt idx="0">
                  <c:v>100</c:v>
                </c:pt>
                <c:pt idx="1">
                  <c:v>105</c:v>
                </c:pt>
                <c:pt idx="2">
                  <c:v>108</c:v>
                </c:pt>
                <c:pt idx="3">
                  <c:v>113</c:v>
                </c:pt>
                <c:pt idx="4">
                  <c:v>118</c:v>
                </c:pt>
                <c:pt idx="5">
                  <c:v>120</c:v>
                </c:pt>
                <c:pt idx="6">
                  <c:v>122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Price as % of Medicare</c:v>
                </c:pt>
              </c:strCache>
            </c:strRef>
          </c:tx>
          <c:spPr>
            <a:solidFill>
              <a:srgbClr val="1E6B3C"/>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E6B3C"/>
              </a:solidFill>
              <a:effectLst/>
            </c:spPr>
          </c:dPt>
          <c:dPt>
            <c:idx val="1"/>
            <c:invertIfNegative val="0"/>
            <c:bubble3D val="0"/>
            <c:spPr>
              <a:solidFill>
                <a:srgbClr val="7B4A00"/>
              </a:solidFill>
              <a:effectLst/>
            </c:spPr>
          </c:dPt>
          <c:dPt>
            <c:idx val="2"/>
            <c:invertIfNegative val="0"/>
            <c:bubble3D val="0"/>
            <c:spPr>
              <a:solidFill>
                <a:srgbClr val="8B1A1A"/>
              </a:solidFill>
              <a:effectLst/>
            </c:spPr>
          </c:dPt>
          <c:dPt>
            <c:idx val="3"/>
            <c:invertIfNegative val="0"/>
            <c:bubble3D val="0"/>
            <c:spPr>
              <a:solidFill>
                <a:srgbClr val="8B1A1A"/>
              </a:solidFill>
              <a:effectLst/>
            </c:spPr>
          </c:dPt>
          <c:dPt>
            <c:idx val="4"/>
            <c:invertIfNegative val="0"/>
            <c:bubble3D val="0"/>
            <c:spPr>
              <a:solidFill>
                <a:srgbClr val="0D5F6B"/>
              </a:solidFill>
              <a:effectLst/>
            </c:spPr>
          </c:dPt>
          <c:cat>
            <c:multiLvlStrRef>
              <c:f>Sheet1!$A$2:$A$6</c:f>
              <c:multiLvlStrCache>
                <c:ptCount val="5"/>
                <c:lvl>
                  <c:pt idx="0">
                    <c:v>Break-even
(~136%)</c:v>
                  </c:pt>
                  <c:pt idx="1">
                    <c:v>Vermont
Average
(250-300%)</c:v>
                  </c:pt>
                  <c:pt idx="2">
                    <c:v>UVMMC
Outpatient
(417%)</c:v>
                  </c:pt>
                  <c:pt idx="3">
                    <c:v>Highest VT
Imaging
(~944%)</c:v>
                  </c:pt>
                  <c:pt idx="4">
                    <c:v>Oregon 200%
Cap (savings:
$107.5M/27mo)</c:v>
                  </c:pt>
                </c:lvl>
              </c:multiLvlStrCache>
            </c:multiLvlStrRef>
          </c:cat>
          <c:val>
            <c:numRef>
              <c:f>Sheet1!$B$2:$B$6</c:f>
              <c:numCache>
                <c:formatCode>General</c:formatCode>
                <c:ptCount val="5"/>
                <c:pt idx="0">
                  <c:v>136</c:v>
                </c:pt>
                <c:pt idx="1">
                  <c:v>275</c:v>
                </c:pt>
                <c:pt idx="2">
                  <c:v>417</c:v>
                </c:pt>
                <c:pt idx="3">
                  <c:v>944</c:v>
                </c:pt>
                <c:pt idx="4">
                  <c:v>200</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ROI ($ saved per $1 invested)</c:v>
                </c:pt>
              </c:strCache>
            </c:strRef>
          </c:tx>
          <c:spPr>
            <a:solidFill>
              <a:srgbClr val="1E6B3C"/>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1E6B3C"/>
              </a:solidFill>
              <a:effectLst/>
            </c:spPr>
          </c:dPt>
          <c:dPt>
            <c:idx val="1"/>
            <c:invertIfNegative val="0"/>
            <c:bubble3D val="0"/>
            <c:spPr>
              <a:solidFill>
                <a:srgbClr val="0D5F6B"/>
              </a:solidFill>
              <a:effectLst/>
            </c:spPr>
          </c:dPt>
          <c:dPt>
            <c:idx val="2"/>
            <c:invertIfNegative val="0"/>
            <c:bubble3D val="0"/>
            <c:spPr>
              <a:solidFill>
                <a:srgbClr val="2E75B6"/>
              </a:solidFill>
              <a:effectLst/>
            </c:spPr>
          </c:dPt>
          <c:dPt>
            <c:idx val="3"/>
            <c:invertIfNegative val="0"/>
            <c:bubble3D val="0"/>
            <c:spPr>
              <a:solidFill>
                <a:srgbClr val="1F5C8B"/>
              </a:solidFill>
              <a:effectLst/>
            </c:spPr>
          </c:dPt>
          <c:dPt>
            <c:idx val="4"/>
            <c:invertIfNegative val="0"/>
            <c:bubble3D val="0"/>
            <c:spPr>
              <a:solidFill>
                <a:srgbClr val="4A2070"/>
              </a:solidFill>
              <a:effectLst/>
            </c:spPr>
          </c:dPt>
          <c:cat>
            <c:multiLvlStrRef>
              <c:f>Sheet1!$A$2:$A$6</c:f>
              <c:multiLvlStrCache>
                <c:ptCount val="5"/>
                <c:lvl>
                  <c:pt idx="0">
                    <c:v>Blueprint Primary
Care (Vermont)</c:v>
                  </c:pt>
                  <c:pt idx="1">
                    <c:v>CHT Care
Management
(est.)</c:v>
                  </c:pt>
                  <c:pt idx="2">
                    <c:v>CoCM Behavioral
Health Integration</c:v>
                  </c:pt>
                  <c:pt idx="3">
                    <c:v>RPM for CHF
(est.)</c:v>
                  </c:pt>
                  <c:pt idx="4">
                    <c:v>AI Scribe
(productivity)</c:v>
                  </c:pt>
                </c:lvl>
              </c:multiLvlStrCache>
            </c:multiLvlStrRef>
          </c:cat>
          <c:val>
            <c:numRef>
              <c:f>Sheet1!$B$2:$B$6</c:f>
              <c:numCache>
                <c:formatCode>General</c:formatCode>
                <c:ptCount val="5"/>
                <c:pt idx="0">
                  <c:v>5.8</c:v>
                </c:pt>
                <c:pt idx="1">
                  <c:v>3</c:v>
                </c:pt>
                <c:pt idx="2">
                  <c:v>4.5</c:v>
                </c:pt>
                <c:pt idx="3">
                  <c:v>4</c:v>
                </c:pt>
                <c:pt idx="4">
                  <c:v>2.5</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7"/>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COE Specialty Designations</c:v>
                </c:pt>
              </c:strCache>
            </c:strRef>
          </c:tx>
          <c:spPr>
            <a:solidFill>
              <a:srgbClr val="1F5C8B"/>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1F5C8B"/>
              </a:solidFill>
              <a:effectLst/>
            </c:spPr>
          </c:dPt>
          <c:dPt>
            <c:idx val="1"/>
            <c:invertIfNegative val="0"/>
            <c:bubble3D val="0"/>
            <c:spPr>
              <a:solidFill>
                <a:srgbClr val="1F5C8B"/>
              </a:solidFill>
              <a:effectLst/>
            </c:spPr>
          </c:dPt>
          <c:dPt>
            <c:idx val="2"/>
            <c:invertIfNegative val="0"/>
            <c:bubble3D val="0"/>
            <c:spPr>
              <a:solidFill>
                <a:srgbClr val="2E75B6"/>
              </a:solidFill>
              <a:effectLst/>
            </c:spPr>
          </c:dPt>
          <c:dPt>
            <c:idx val="3"/>
            <c:invertIfNegative val="0"/>
            <c:bubble3D val="0"/>
            <c:spPr>
              <a:solidFill>
                <a:srgbClr val="2E75B6"/>
              </a:solidFill>
              <a:effectLst/>
            </c:spPr>
          </c:dPt>
          <c:dPt>
            <c:idx val="4"/>
            <c:invertIfNegative val="0"/>
            <c:bubble3D val="0"/>
            <c:spPr>
              <a:solidFill>
                <a:srgbClr val="2E75B6"/>
              </a:solidFill>
              <a:effectLst/>
            </c:spPr>
          </c:dPt>
          <c:dPt>
            <c:idx val="5"/>
            <c:invertIfNegative val="0"/>
            <c:bubble3D val="0"/>
            <c:spPr>
              <a:solidFill>
                <a:srgbClr val="2E75B6"/>
              </a:solidFill>
              <a:effectLst/>
            </c:spPr>
          </c:dPt>
          <c:dPt>
            <c:idx val="6"/>
            <c:invertIfNegative val="0"/>
            <c:bubble3D val="0"/>
            <c:spPr>
              <a:solidFill>
                <a:srgbClr val="2E75B6"/>
              </a:solidFill>
              <a:effectLst/>
            </c:spPr>
          </c:dPt>
          <c:dPt>
            <c:idx val="7"/>
            <c:invertIfNegative val="0"/>
            <c:bubble3D val="0"/>
            <c:spPr>
              <a:solidFill>
                <a:srgbClr val="6B3A00"/>
              </a:solidFill>
              <a:effectLst/>
            </c:spPr>
          </c:dPt>
          <c:dPt>
            <c:idx val="8"/>
            <c:invertIfNegative val="0"/>
            <c:bubble3D val="0"/>
            <c:spPr>
              <a:solidFill>
                <a:srgbClr val="6B3A00"/>
              </a:solidFill>
              <a:effectLst/>
            </c:spPr>
          </c:dPt>
          <c:dPt>
            <c:idx val="9"/>
            <c:invertIfNegative val="0"/>
            <c:bubble3D val="0"/>
            <c:spPr>
              <a:solidFill>
                <a:srgbClr val="6B3A00"/>
              </a:solidFill>
              <a:effectLst/>
            </c:spPr>
          </c:dPt>
          <c:cat>
            <c:multiLvlStrRef>
              <c:f>Sheet1!$A$2:$A$11</c:f>
              <c:multiLvlStrCache>
                <c:ptCount val="10"/>
                <c:lvl>
                  <c:pt idx="0">
                    <c:v>UVMMC</c:v>
                  </c:pt>
                  <c:pt idx="1">
                    <c:v>SW Vermont</c:v>
                  </c:pt>
                  <c:pt idx="2">
                    <c:v>Brattleboro
Memorial</c:v>
                  </c:pt>
                  <c:pt idx="3">
                    <c:v>Rutland
Regional</c:v>
                  </c:pt>
                  <c:pt idx="4">
                    <c:v>Central VT
Medical</c:v>
                  </c:pt>
                  <c:pt idx="5">
                    <c:v>NW Medical</c:v>
                  </c:pt>
                  <c:pt idx="6">
                    <c:v>NE VT
Regional</c:v>
                  </c:pt>
                  <c:pt idx="7">
                    <c:v>Springfield</c:v>
                  </c:pt>
                  <c:pt idx="8">
                    <c:v>Copley</c:v>
                  </c:pt>
                  <c:pt idx="9">
                    <c:v>Mt. Ascutney</c:v>
                  </c:pt>
                </c:lvl>
              </c:multiLvlStrCache>
            </c:multiLvlStrRef>
          </c:cat>
          <c:val>
            <c:numRef>
              <c:f>Sheet1!$B$2:$B$11</c:f>
              <c:numCache>
                <c:formatCode>General</c:formatCode>
                <c:ptCount val="10"/>
                <c:pt idx="0">
                  <c:v>16</c:v>
                </c:pt>
                <c:pt idx="1">
                  <c:v>9</c:v>
                </c:pt>
                <c:pt idx="2">
                  <c:v>6</c:v>
                </c:pt>
                <c:pt idx="3">
                  <c:v>5</c:v>
                </c:pt>
                <c:pt idx="4">
                  <c:v>5</c:v>
                </c:pt>
                <c:pt idx="5">
                  <c:v>4</c:v>
                </c:pt>
                <c:pt idx="6">
                  <c:v>4</c:v>
                </c:pt>
                <c:pt idx="7">
                  <c:v>2</c:v>
                </c:pt>
                <c:pt idx="8">
                  <c:v>2</c:v>
                </c:pt>
                <c:pt idx="9">
                  <c:v>1</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Management &amp; Administrative Cost per Adjusted Discharge ($)</c:v>
                </c:pt>
              </c:strCache>
            </c:strRef>
          </c:tx>
          <c:spPr>
            <a:solidFill>
              <a:srgbClr val="8B1A1A"/>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8B1A1A"/>
              </a:solidFill>
              <a:effectLst/>
            </c:spPr>
          </c:dPt>
          <c:dPt>
            <c:idx val="1"/>
            <c:invertIfNegative val="0"/>
            <c:bubble3D val="0"/>
            <c:spPr>
              <a:solidFill>
                <a:srgbClr val="7B4A00"/>
              </a:solidFill>
              <a:effectLst/>
            </c:spPr>
          </c:dPt>
          <c:dPt>
            <c:idx val="2"/>
            <c:invertIfNegative val="0"/>
            <c:bubble3D val="0"/>
            <c:spPr>
              <a:solidFill>
                <a:srgbClr val="1E6B3C"/>
              </a:solidFill>
              <a:effectLst/>
            </c:spPr>
          </c:dPt>
          <c:dPt>
            <c:idx val="3"/>
            <c:invertIfNegative val="0"/>
            <c:bubble3D val="0"/>
            <c:spPr>
              <a:solidFill>
                <a:srgbClr val="CCCCCC"/>
              </a:solidFill>
              <a:effectLst/>
            </c:spPr>
          </c:dPt>
          <c:cat>
            <c:multiLvlStrRef>
              <c:f>Sheet1!$A$2:$A$5</c:f>
              <c:multiLvlStrCache>
                <c:ptCount val="4"/>
                <c:lvl>
                  <c:pt idx="0">
                    <c:v>UVMMC
($3,826)</c:v>
                  </c:pt>
                  <c:pt idx="1">
                    <c:v>Vermont PPS
Avg. ($2,730)</c:v>
                  </c:pt>
                  <c:pt idx="2">
                    <c:v>National 75th
Percentile
Benchmark ($1,427)</c:v>
                  </c:pt>
                  <c:pt idx="3">
                    <c:v>Gap from
Benchmark
($1,303)</c:v>
                  </c:pt>
                </c:lvl>
              </c:multiLvlStrCache>
            </c:multiLvlStrRef>
          </c:cat>
          <c:val>
            <c:numRef>
              <c:f>Sheet1!$B$2:$B$5</c:f>
              <c:numCache>
                <c:formatCode>General</c:formatCode>
                <c:ptCount val="4"/>
                <c:pt idx="0">
                  <c:v>3826</c:v>
                </c:pt>
                <c:pt idx="1">
                  <c:v>2730</c:v>
                </c:pt>
                <c:pt idx="2">
                  <c:v>1427</c:v>
                </c:pt>
                <c:pt idx="3">
                  <c:v>1303</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5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Suicide Ideation/Self-Harm ED visits per 10K</c:v>
                </c:pt>
              </c:strCache>
            </c:strRef>
          </c:tx>
          <c:spPr>
            <a:solidFill>
              <a:srgbClr val="8B1A1A"/>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Vermont
Statewide</c:v>
                  </c:pt>
                  <c:pt idx="1">
                    <c:v>Rutland
County</c:v>
                  </c:pt>
                  <c:pt idx="2">
                    <c:v>Windham
County</c:v>
                  </c:pt>
                  <c:pt idx="3">
                    <c:v>Ages
15-44
(statewide)</c:v>
                  </c:pt>
                  <c:pt idx="4">
                    <c:v>Essex
County</c:v>
                  </c:pt>
                </c:lvl>
              </c:multiLvlStrCache>
            </c:multiLvlStrRef>
          </c:cat>
          <c:val>
            <c:numRef>
              <c:f>Sheet1!$B$2:$B$6</c:f>
              <c:numCache>
                <c:formatCode>General</c:formatCode>
                <c:ptCount val="5"/>
                <c:pt idx="0">
                  <c:v>245.5</c:v>
                </c:pt>
                <c:pt idx="1">
                  <c:v>310</c:v>
                </c:pt>
                <c:pt idx="2">
                  <c:v>295</c:v>
                </c:pt>
                <c:pt idx="3">
                  <c:v>380</c:v>
                </c:pt>
                <c:pt idx="4">
                  <c:v>220</c:v>
                </c:pt>
              </c:numCache>
            </c:numRef>
          </c:val>
        </c:ser>
        <c:ser>
          <c:idx val="1"/>
          <c:order val="1"/>
          <c:tx>
            <c:strRef>
              <c:f>Sheet1!$C$1</c:f>
              <c:strCache>
                <c:ptCount val="1"/>
                <c:pt idx="0">
                  <c:v>National context (est.)</c:v>
                </c:pt>
              </c:strCache>
            </c:strRef>
          </c:tx>
          <c:spPr>
            <a:solidFill>
              <a:srgbClr val="CCCCCC"/>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cat>
            <c:multiLvlStrRef>
              <c:f>Sheet1!$A$2:$A$6</c:f>
              <c:multiLvlStrCache>
                <c:ptCount val="5"/>
                <c:lvl>
                  <c:pt idx="0">
                    <c:v>Vermont
Statewide</c:v>
                  </c:pt>
                  <c:pt idx="1">
                    <c:v>Rutland
County</c:v>
                  </c:pt>
                  <c:pt idx="2">
                    <c:v>Windham
County</c:v>
                  </c:pt>
                  <c:pt idx="3">
                    <c:v>Ages
15-44
(statewide)</c:v>
                  </c:pt>
                  <c:pt idx="4">
                    <c:v>Essex
County</c:v>
                  </c:pt>
                </c:lvl>
              </c:multiLvlStrCache>
            </c:multiLvlStrRef>
          </c:cat>
          <c:val>
            <c:numRef>
              <c:f>Sheet1!$C$2:$C$6</c:f>
              <c:numCache>
                <c:formatCode>General</c:formatCode>
                <c:ptCount val="5"/>
                <c:pt idx="0">
                  <c:v/>
                </c:pt>
                <c:pt idx="1">
                  <c:v/>
                </c:pt>
                <c:pt idx="2">
                  <c:v/>
                </c:pt>
                <c:pt idx="3">
                  <c:v/>
                </c:pt>
                <c:pt idx="4">
                  <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3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Committee Members (18 total)</c:v>
                </c:pt>
              </c:strCache>
            </c:strRef>
          </c:tx>
          <c:spPr>
            <a:solidFill>
              <a:schemeClr val="accent1"/>
            </a:solidFill>
            <a:ln w="9525" cap="flat">
              <a:solidFill>
                <a:srgbClr val="F9F9F9"/>
              </a:solidFill>
              <a:prstDash val="solid"/>
              <a:round/>
            </a:ln>
            <a:effectLst/>
          </c:spPr>
          <c:dPt>
            <c:idx val="0"/>
            <c:bubble3D val="0"/>
            <c:spPr>
              <a:solidFill>
                <a:srgbClr val="1F5C8B"/>
              </a:solidFill>
              <a:effectLst/>
            </c:spPr>
          </c:dPt>
          <c:dPt>
            <c:idx val="1"/>
            <c:bubble3D val="0"/>
            <c:spPr>
              <a:solidFill>
                <a:srgbClr val="2E75B6"/>
              </a:solidFill>
              <a:effectLst/>
            </c:spPr>
          </c:dPt>
          <c:dPt>
            <c:idx val="2"/>
            <c:bubble3D val="0"/>
            <c:spPr>
              <a:solidFill>
                <a:srgbClr val="0D5F6B"/>
              </a:solidFill>
              <a:effectLst/>
            </c:spPr>
          </c:dPt>
          <c:dPt>
            <c:idx val="3"/>
            <c:bubble3D val="0"/>
            <c:spPr>
              <a:solidFill>
                <a:srgbClr val="1E6B3C"/>
              </a:solidFill>
              <a:effectLst/>
            </c:spPr>
          </c:dPt>
          <c:dPt>
            <c:idx val="4"/>
            <c:bubble3D val="0"/>
            <c:spPr>
              <a:solidFill>
                <a:srgbClr val="7B4A00"/>
              </a:solidFill>
              <a:effectLst/>
            </c:spPr>
          </c:dPt>
          <c:dPt>
            <c:idx val="5"/>
            <c:bubble3D val="0"/>
            <c:spPr>
              <a:solidFill>
                <a:srgbClr val="4A2070"/>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State Government
(AHS, GMCB, HCA)</c:v>
                </c:pt>
                <c:pt idx="1">
                  <c:v>Hospitals &amp;
Health Centers</c:v>
                </c:pt>
                <c:pt idx="2">
                  <c:v>Health Insurers</c:v>
                </c:pt>
                <c:pt idx="3">
                  <c:v>Health Professions
(MD, NP, RN, etc.)</c:v>
                </c:pt>
                <c:pt idx="4">
                  <c:v>Small Business</c:v>
                </c:pt>
                <c:pt idx="5">
                  <c:v>Long-Term Care</c:v>
                </c:pt>
              </c:strCache>
            </c:strRef>
          </c:cat>
          <c:val>
            <c:numRef>
              <c:f>Sheet1!$B$2:$B$7</c:f>
              <c:numCache>
                <c:ptCount val="6"/>
                <c:pt idx="0">
                  <c:v>3</c:v>
                </c:pt>
                <c:pt idx="1">
                  <c:v>4</c:v>
                </c:pt>
                <c:pt idx="2">
                  <c:v>3</c:v>
                </c:pt>
                <c:pt idx="3">
                  <c:v>4</c:v>
                </c:pt>
                <c:pt idx="4">
                  <c:v>2</c:v>
                </c:pt>
                <c:pt idx="5">
                  <c:v>2</c:v>
                </c:pt>
              </c:numCache>
            </c:numRef>
          </c:val>
        </c:ser>
        <c:firstSliceAng val="0"/>
      </c:pieChart>
      <c:spPr>
        <a:noFill/>
        <a:ln>
          <a:noFill/>
        </a:ln>
        <a:effectLst/>
      </c:spPr>
    </c:plotArea>
    <c:legend>
      <c:legendPos val="b"/>
      <c:overlay val="0"/>
    </c:legend>
    <c:plotVisOnly val="1"/>
    <c:dispBlanksAs val="span"/>
  </c:chart>
  <c:spPr>
    <a:solidFill>
      <a:srgbClr val="F7FAFB"/>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 states covering GLP-1s for obesity in Medicaid</c:v>
                </c:pt>
              </c:strCache>
            </c:strRef>
          </c:tx>
          <c:spPr>
            <a:solidFill>
              <a:srgbClr val="2E75B6"/>
            </a:solidFill>
            <a:effectLst/>
          </c:spPr>
          <c:invertIfNegative val="0"/>
          <c:dLbls>
            <c:numFmt formatCode="#,##0" sourceLinked="0"/>
            <c:txPr>
              <a:bodyPr/>
              <a:lstStyle/>
              <a:p>
                <a:pPr>
                  <a:defRPr b="0" i="0" strike="noStrike" sz="14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E75B6"/>
              </a:solidFill>
              <a:effectLst/>
            </c:spPr>
          </c:dPt>
          <c:dPt>
            <c:idx val="1"/>
            <c:invertIfNegative val="0"/>
            <c:bubble3D val="0"/>
            <c:spPr>
              <a:solidFill>
                <a:srgbClr val="1E6B3C"/>
              </a:solidFill>
              <a:effectLst/>
            </c:spPr>
          </c:dPt>
          <c:dPt>
            <c:idx val="2"/>
            <c:invertIfNegative val="0"/>
            <c:bubble3D val="0"/>
            <c:spPr>
              <a:solidFill>
                <a:srgbClr val="7B4A00"/>
              </a:solidFill>
              <a:effectLst/>
            </c:spPr>
          </c:dPt>
          <c:cat>
            <c:multiLvlStrRef>
              <c:f>Sheet1!$A$2:$A$4</c:f>
              <c:multiLvlStrCache>
                <c:ptCount val="3"/>
                <c:lvl>
                  <c:pt idx="0">
                    <c:v>Jan 2025
(~16 states)</c:v>
                  </c:pt>
                  <c:pt idx="1">
                    <c:v>Oct 2025
(16 states, peak)</c:v>
                  </c:pt>
                  <c:pt idx="2">
                    <c:v>Jan 2026
(13 states after
4 eliminated)</c:v>
                  </c:pt>
                </c:lvl>
              </c:multiLvlStrCache>
            </c:multiLvlStrRef>
          </c:cat>
          <c:val>
            <c:numRef>
              <c:f>Sheet1!$B$2:$B$4</c:f>
              <c:numCache>
                <c:formatCode>General</c:formatCode>
                <c:ptCount val="3"/>
                <c:pt idx="0">
                  <c:v>14</c:v>
                </c:pt>
                <c:pt idx="1">
                  <c:v>16</c:v>
                </c:pt>
                <c:pt idx="2">
                  <c:v>13</c:v>
                </c:pt>
              </c:numCache>
            </c:numRef>
          </c:val>
        </c:ser>
        <c:dLbls>
          <c:numFmt formatCode="#,##0" sourceLinked="0"/>
          <c:txPr>
            <a:bodyPr/>
            <a:lstStyle/>
            <a:p>
              <a:pPr>
                <a:defRPr b="0" i="0" strike="noStrike" sz="14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Vermont population coverage in VHCURES</c:v>
                </c:pt>
              </c:strCache>
            </c:strRef>
          </c:tx>
          <c:spPr>
            <a:solidFill>
              <a:schemeClr val="accent1"/>
            </a:solidFill>
            <a:ln w="9525" cap="flat">
              <a:solidFill>
                <a:srgbClr val="F9F9F9"/>
              </a:solidFill>
              <a:prstDash val="solid"/>
              <a:round/>
            </a:ln>
            <a:effectLst/>
          </c:spPr>
          <c:dPt>
            <c:idx val="0"/>
            <c:bubble3D val="0"/>
            <c:spPr>
              <a:solidFill>
                <a:srgbClr val="1F5C8B"/>
              </a:solidFill>
              <a:effectLst/>
            </c:spPr>
          </c:dPt>
          <c:dPt>
            <c:idx val="1"/>
            <c:bubble3D val="0"/>
            <c:spPr>
              <a:solidFill>
                <a:srgbClr val="1E6B3C"/>
              </a:solidFill>
              <a:effectLst/>
            </c:spPr>
          </c:dPt>
          <c:dPt>
            <c:idx val="2"/>
            <c:bubble3D val="0"/>
            <c:spPr>
              <a:solidFill>
                <a:srgbClr val="2E75B6"/>
              </a:solidFill>
              <a:effectLst/>
            </c:spPr>
          </c:dPt>
          <c:dPt>
            <c:idx val="3"/>
            <c:bubble3D val="0"/>
            <c:spPr>
              <a:solidFill>
                <a:srgbClr val="CCCCCC"/>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Medicare (100%
of enrollees)</c:v>
                </c:pt>
                <c:pt idx="1">
                  <c:v>Medicaid (100%
of enrollees)</c:v>
                </c:pt>
                <c:pt idx="2">
                  <c:v>Commercial
(~60% — ERISA
gap)</c:v>
                </c:pt>
                <c:pt idx="3">
                  <c:v>Not in VHCURES
(~10% of state)</c:v>
                </c:pt>
              </c:strCache>
            </c:strRef>
          </c:cat>
          <c:val>
            <c:numRef>
              <c:f>Sheet1!$B$2:$B$5</c:f>
              <c:numCache>
                <c:ptCount val="4"/>
                <c:pt idx="0">
                  <c:v>19</c:v>
                </c:pt>
                <c:pt idx="1">
                  <c:v>19</c:v>
                </c:pt>
                <c:pt idx="2">
                  <c:v>52</c:v>
                </c:pt>
                <c:pt idx="3">
                  <c:v>10</c:v>
                </c:pt>
              </c:numCache>
            </c:numRef>
          </c:val>
        </c:ser>
        <c:firstSliceAng val="0"/>
      </c:pieChart>
      <c:spPr>
        <a:noFill/>
        <a:ln>
          <a:noFill/>
        </a:ln>
        <a:effectLst/>
      </c:spPr>
    </c:plotArea>
    <c:legend>
      <c:legendPos val="b"/>
      <c:overlay val="0"/>
    </c:legend>
    <c:plotVisOnly val="1"/>
    <c:dispBlanksAs val="span"/>
  </c:chart>
  <c:spPr>
    <a:solidFill>
      <a:srgbClr val="F7FAFB"/>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Annual RHT Program Funds Available ($B)</c:v>
                </c:pt>
              </c:strCache>
            </c:strRef>
          </c:tx>
          <c:spPr>
            <a:solidFill>
              <a:srgbClr val="1E6B3C"/>
            </a:solidFill>
            <a:ln w="38100" cap="flat">
              <a:solidFill>
                <a:srgbClr val="1E6B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6B3C"/>
              </a:solidFill>
              <a:ln w="9525" cap="flat">
                <a:solidFill>
                  <a:srgbClr val="1E6B3C"/>
                </a:solidFill>
                <a:prstDash val="solid"/>
                <a:round/>
              </a:ln>
              <a:effectLst/>
            </c:spPr>
          </c:marker>
          <c:cat>
            <c:multiLvlStrRef>
              <c:f>Sheet1!$A$2:$A$11</c:f>
              <c:multiLvlStrCache>
                <c:ptCount val="10"/>
                <c:lvl>
                  <c:pt idx="0">
                    <c:v>2026</c:v>
                  </c:pt>
                  <c:pt idx="1">
                    <c:v>2027</c:v>
                  </c:pt>
                  <c:pt idx="2">
                    <c:v>2028</c:v>
                  </c:pt>
                  <c:pt idx="3">
                    <c:v>2029</c:v>
                  </c:pt>
                  <c:pt idx="4">
                    <c:v>2030</c:v>
                  </c:pt>
                  <c:pt idx="5">
                    <c:v>2031</c:v>
                  </c:pt>
                  <c:pt idx="6">
                    <c:v>2032</c:v>
                  </c:pt>
                  <c:pt idx="7">
                    <c:v>2033</c:v>
                  </c:pt>
                  <c:pt idx="8">
                    <c:v>2034</c:v>
                  </c:pt>
                  <c:pt idx="9">
                    <c:v>2035</c:v>
                  </c:pt>
                </c:lvl>
              </c:multiLvlStrCache>
            </c:multiLvlStrRef>
          </c:cat>
          <c:val>
            <c:numRef>
              <c:f>Sheet1!$B$2:$B$11</c:f>
              <c:numCache>
                <c:formatCode>General</c:formatCode>
                <c:ptCount val="10"/>
                <c:pt idx="0">
                  <c:v>10</c:v>
                </c:pt>
                <c:pt idx="1">
                  <c:v>10</c:v>
                </c:pt>
                <c:pt idx="2">
                  <c:v>10</c:v>
                </c:pt>
                <c:pt idx="3">
                  <c:v>10</c:v>
                </c:pt>
                <c:pt idx="4">
                  <c:v>10</c:v>
                </c:pt>
                <c:pt idx="5">
                  <c:v>0</c:v>
                </c:pt>
                <c:pt idx="6">
                  <c:v>0</c:v>
                </c:pt>
                <c:pt idx="7">
                  <c:v>0</c:v>
                </c:pt>
                <c:pt idx="8">
                  <c:v>0</c:v>
                </c:pt>
                <c:pt idx="9">
                  <c:v>0</c:v>
                </c:pt>
              </c:numCache>
            </c:numRef>
          </c:val>
          <c:smooth val="0"/>
        </c:ser>
        <c:ser>
          <c:idx val="1"/>
          <c:order val="1"/>
          <c:tx>
            <c:strRef>
              <c:f>Sheet1!$C$1</c:f>
              <c:strCache>
                <c:ptCount val="1"/>
                <c:pt idx="0">
                  <c:v>Cumulative Federal Medicaid Spending Reduction ($B, annual pace)</c:v>
                </c:pt>
              </c:strCache>
            </c:strRef>
          </c:tx>
          <c:spPr>
            <a:solidFill>
              <a:srgbClr val="8B1A1A"/>
            </a:solidFill>
            <a:ln w="38100" cap="flat">
              <a:solidFill>
                <a:srgbClr val="8B1A1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1A1A"/>
              </a:solidFill>
              <a:ln w="9525" cap="flat">
                <a:solidFill>
                  <a:srgbClr val="8B1A1A"/>
                </a:solidFill>
                <a:prstDash val="solid"/>
                <a:round/>
              </a:ln>
              <a:effectLst/>
            </c:spPr>
          </c:marker>
          <c:cat>
            <c:multiLvlStrRef>
              <c:f>Sheet1!$A$2:$A$11</c:f>
              <c:multiLvlStrCache>
                <c:ptCount val="10"/>
                <c:lvl>
                  <c:pt idx="0">
                    <c:v>2026</c:v>
                  </c:pt>
                  <c:pt idx="1">
                    <c:v>2027</c:v>
                  </c:pt>
                  <c:pt idx="2">
                    <c:v>2028</c:v>
                  </c:pt>
                  <c:pt idx="3">
                    <c:v>2029</c:v>
                  </c:pt>
                  <c:pt idx="4">
                    <c:v>2030</c:v>
                  </c:pt>
                  <c:pt idx="5">
                    <c:v>2031</c:v>
                  </c:pt>
                  <c:pt idx="6">
                    <c:v>2032</c:v>
                  </c:pt>
                  <c:pt idx="7">
                    <c:v>2033</c:v>
                  </c:pt>
                  <c:pt idx="8">
                    <c:v>2034</c:v>
                  </c:pt>
                  <c:pt idx="9">
                    <c:v>2035</c:v>
                  </c:pt>
                </c:lvl>
              </c:multiLvlStrCache>
            </c:multiLvlStrRef>
          </c:cat>
          <c:val>
            <c:numRef>
              <c:f>Sheet1!$C$2:$C$11</c:f>
              <c:numCache>
                <c:formatCode>General</c:formatCode>
                <c:ptCount val="10"/>
                <c:pt idx="0">
                  <c:v>20</c:v>
                </c:pt>
                <c:pt idx="1">
                  <c:v>40</c:v>
                </c:pt>
                <c:pt idx="2">
                  <c:v>65</c:v>
                </c:pt>
                <c:pt idx="3">
                  <c:v>90</c:v>
                </c:pt>
                <c:pt idx="4">
                  <c:v>120</c:v>
                </c:pt>
                <c:pt idx="5">
                  <c:v>170</c:v>
                </c:pt>
                <c:pt idx="6">
                  <c:v>230</c:v>
                </c:pt>
                <c:pt idx="7">
                  <c:v>300</c:v>
                </c:pt>
                <c:pt idx="8">
                  <c:v>380</c:v>
                </c:pt>
                <c:pt idx="9">
                  <c:v>460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5C8B"/>
        </a:solidFill>
      </p:bgPr>
    </p:bg>
    <p:spTree>
      <p:nvGrpSpPr>
        <p:cNvPr id="1" name=""/>
        <p:cNvGrpSpPr/>
        <p:nvPr/>
      </p:nvGrpSpPr>
      <p:grpSpPr>
        <a:xfrm>
          <a:off x="0" y="0"/>
          <a:ext cx="0" cy="0"/>
          <a:chOff x="0" y="0"/>
          <a:chExt cx="0" cy="0"/>
        </a:xfrm>
      </p:grpSpPr>
      <p:sp>
        <p:nvSpPr>
          <p:cNvPr id="2" name="Shape 0"/>
          <p:cNvSpPr/>
          <p:nvPr/>
        </p:nvSpPr>
        <p:spPr>
          <a:xfrm>
            <a:off x="0" y="3931920"/>
            <a:ext cx="9144000" cy="1211580"/>
          </a:xfrm>
          <a:prstGeom prst="rect">
            <a:avLst/>
          </a:prstGeom>
          <a:solidFill>
            <a:srgbClr val="163F61"/>
          </a:solidFill>
          <a:ln/>
        </p:spPr>
      </p:sp>
      <p:sp>
        <p:nvSpPr>
          <p:cNvPr id="3" name="Text 1"/>
          <p:cNvSpPr/>
          <p:nvPr/>
        </p:nvSpPr>
        <p:spPr>
          <a:xfrm>
            <a:off x="457200" y="640080"/>
            <a:ext cx="8229600" cy="164592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TRANSFORMING AMERICAN HEALTHCARE</a:t>
            </a:r>
            <a:endParaRPr lang="en-US" sz="4800" dirty="0"/>
          </a:p>
        </p:txBody>
      </p:sp>
      <p:sp>
        <p:nvSpPr>
          <p:cNvPr id="4" name="Shape 2"/>
          <p:cNvSpPr/>
          <p:nvPr/>
        </p:nvSpPr>
        <p:spPr>
          <a:xfrm>
            <a:off x="3200400" y="2395728"/>
            <a:ext cx="2743200" cy="54864"/>
          </a:xfrm>
          <a:prstGeom prst="rect">
            <a:avLst/>
          </a:prstGeom>
          <a:solidFill>
            <a:srgbClr val="CADCFC"/>
          </a:solidFill>
          <a:ln/>
        </p:spPr>
      </p:sp>
      <p:sp>
        <p:nvSpPr>
          <p:cNvPr id="5" name="Text 3"/>
          <p:cNvSpPr/>
          <p:nvPr/>
        </p:nvSpPr>
        <p:spPr>
          <a:xfrm>
            <a:off x="640080" y="2542032"/>
            <a:ext cx="7863840" cy="548640"/>
          </a:xfrm>
          <a:prstGeom prst="rect">
            <a:avLst/>
          </a:prstGeom>
          <a:noFill/>
          <a:ln/>
        </p:spPr>
        <p:txBody>
          <a:bodyPr wrap="square" rtlCol="0" anchor="ctr"/>
          <a:lstStyle/>
          <a:p>
            <a:pPr algn="ctr" indent="0" marL="0">
              <a:buNone/>
            </a:pPr>
            <a:r>
              <a:rPr lang="en-US" sz="1900" i="1" dirty="0">
                <a:solidFill>
                  <a:srgbClr val="FFFFFF"/>
                </a:solidFill>
              </a:rPr>
              <a:t>A Six-Pillar Framework for System Transformation</a:t>
            </a:r>
            <a:endParaRPr lang="en-US" sz="1900" dirty="0"/>
          </a:p>
        </p:txBody>
      </p:sp>
      <p:sp>
        <p:nvSpPr>
          <p:cNvPr id="6" name="Text 4"/>
          <p:cNvSpPr/>
          <p:nvPr/>
        </p:nvSpPr>
        <p:spPr>
          <a:xfrm>
            <a:off x="640080" y="3200400"/>
            <a:ext cx="7863840" cy="365760"/>
          </a:xfrm>
          <a:prstGeom prst="rect">
            <a:avLst/>
          </a:prstGeom>
          <a:noFill/>
          <a:ln/>
        </p:spPr>
        <p:txBody>
          <a:bodyPr wrap="square" rtlCol="0" anchor="ctr"/>
          <a:lstStyle/>
          <a:p>
            <a:pPr algn="ctr" indent="0" marL="0">
              <a:buNone/>
            </a:pPr>
            <a:r>
              <a:rPr lang="en-US" sz="1300" dirty="0">
                <a:solidFill>
                  <a:srgbClr val="CADCFC"/>
                </a:solidFill>
              </a:rPr>
              <a:t>Vermont as the National Template  |  April 2026</a:t>
            </a:r>
            <a:endParaRPr lang="en-US" sz="1300" dirty="0"/>
          </a:p>
        </p:txBody>
      </p:sp>
      <p:sp>
        <p:nvSpPr>
          <p:cNvPr id="7" name="Text 5"/>
          <p:cNvSpPr/>
          <p:nvPr/>
        </p:nvSpPr>
        <p:spPr>
          <a:xfrm>
            <a:off x="640080" y="4206240"/>
            <a:ext cx="7863840" cy="365760"/>
          </a:xfrm>
          <a:prstGeom prst="rect">
            <a:avLst/>
          </a:prstGeom>
          <a:noFill/>
          <a:ln/>
        </p:spPr>
        <p:txBody>
          <a:bodyPr wrap="square" rtlCol="0" anchor="ctr"/>
          <a:lstStyle/>
          <a:p>
            <a:pPr algn="ctr" indent="0" marL="0">
              <a:buNone/>
            </a:pPr>
            <a:r>
              <a:rPr lang="en-US" sz="1200" dirty="0">
                <a:solidFill>
                  <a:srgbClr val="CADCFC"/>
                </a:solidFill>
              </a:rPr>
              <a:t>Health Transformation Review  |  htreview.com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F5C8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F5C8B"/>
          </a:solidFill>
          <a:ln/>
        </p:spPr>
      </p:sp>
      <p:sp>
        <p:nvSpPr>
          <p:cNvPr id="3" name="Text 1"/>
          <p:cNvSpPr/>
          <p:nvPr/>
        </p:nvSpPr>
        <p:spPr>
          <a:xfrm>
            <a:off x="640080" y="1463040"/>
            <a:ext cx="7863840" cy="640080"/>
          </a:xfrm>
          <a:prstGeom prst="rect">
            <a:avLst/>
          </a:prstGeom>
          <a:noFill/>
          <a:ln/>
        </p:spPr>
        <p:txBody>
          <a:bodyPr wrap="square" rtlCol="0" anchor="ctr"/>
          <a:lstStyle/>
          <a:p>
            <a:pPr algn="ctr" indent="0" marL="0">
              <a:buNone/>
            </a:pPr>
            <a:r>
              <a:rPr lang="en-US" sz="1400" b="1" spc="800" kern="0" dirty="0">
                <a:solidFill>
                  <a:srgbClr val="CADCFC"/>
                </a:solidFill>
              </a:rPr>
              <a:t>PART I</a:t>
            </a:r>
            <a:endParaRPr lang="en-US" sz="1400" dirty="0"/>
          </a:p>
        </p:txBody>
      </p:sp>
      <p:sp>
        <p:nvSpPr>
          <p:cNvPr id="4" name="Text 2"/>
          <p:cNvSpPr/>
          <p:nvPr/>
        </p:nvSpPr>
        <p:spPr>
          <a:xfrm>
            <a:off x="640080" y="2103120"/>
            <a:ext cx="7863840" cy="91440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THE FOUNDATION</a:t>
            </a:r>
            <a:endParaRPr lang="en-US" sz="4000" dirty="0"/>
          </a:p>
        </p:txBody>
      </p:sp>
      <p:sp>
        <p:nvSpPr>
          <p:cNvPr id="5" name="Text 3"/>
          <p:cNvSpPr/>
          <p:nvPr/>
        </p:nvSpPr>
        <p:spPr>
          <a:xfrm>
            <a:off x="1371600" y="3108960"/>
            <a:ext cx="6400800" cy="548640"/>
          </a:xfrm>
          <a:prstGeom prst="rect">
            <a:avLst/>
          </a:prstGeom>
          <a:noFill/>
          <a:ln/>
        </p:spPr>
        <p:txBody>
          <a:bodyPr wrap="square" rtlCol="0" anchor="ctr"/>
          <a:lstStyle/>
          <a:p>
            <a:pPr algn="ctr" indent="0" marL="0">
              <a:buNone/>
            </a:pPr>
            <a:r>
              <a:rPr lang="en-US" sz="1600" i="1" dirty="0">
                <a:solidFill>
                  <a:srgbClr val="CADCFC"/>
                </a:solidFill>
              </a:rPr>
              <a:t>Framework, Portrait, and Reader's Guide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1</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Six-Pillar Framework</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rtlCol="0" anchor="ctr"/>
          <a:lstStyle/>
          <a:p>
            <a:pPr indent="0" marL="0">
              <a:buNone/>
            </a:pPr>
            <a:r>
              <a:rPr lang="en-US" sz="2000" b="1" dirty="0">
                <a:solidFill>
                  <a:srgbClr val="1F5C8B"/>
                </a:solidFill>
                <a:latin typeface="Georgia" pitchFamily="34" charset="0"/>
                <a:ea typeface="Georgia" pitchFamily="34" charset="-122"/>
                <a:cs typeface="Georgia" pitchFamily="34" charset="-120"/>
              </a:rPr>
              <a:t>THE SIX-PILLAR TRANSFORMATION FRAMEWORK</a:t>
            </a:r>
            <a:endParaRPr lang="en-US" sz="2000" dirty="0"/>
          </a:p>
        </p:txBody>
      </p:sp>
      <p:sp>
        <p:nvSpPr>
          <p:cNvPr id="3" name="Shape 1"/>
          <p:cNvSpPr/>
          <p:nvPr/>
        </p:nvSpPr>
        <p:spPr>
          <a:xfrm>
            <a:off x="274320" y="777240"/>
            <a:ext cx="2697480" cy="1645920"/>
          </a:xfrm>
          <a:prstGeom prst="rect">
            <a:avLst/>
          </a:prstGeom>
          <a:solidFill>
            <a:srgbClr val="D5E8F0"/>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4" name="Text 2"/>
          <p:cNvSpPr/>
          <p:nvPr/>
        </p:nvSpPr>
        <p:spPr>
          <a:xfrm>
            <a:off x="384048" y="868680"/>
            <a:ext cx="502920" cy="502920"/>
          </a:xfrm>
          <a:prstGeom prst="ellipse">
            <a:avLst/>
          </a:prstGeom>
          <a:solidFill>
            <a:srgbClr val="1F5C8B"/>
          </a:solidFill>
          <a:ln/>
        </p:spPr>
        <p:txBody>
          <a:bodyPr wrap="square" rtlCol="0" anchor="ctr"/>
          <a:lstStyle/>
          <a:p>
            <a:pPr algn="ctr" indent="0" marL="0">
              <a:buNone/>
            </a:pPr>
            <a:r>
              <a:rPr lang="en-US" sz="2200" b="1" dirty="0">
                <a:solidFill>
                  <a:srgbClr val="FFFFFF"/>
                </a:solidFill>
              </a:rPr>
              <a:t>1</a:t>
            </a:r>
            <a:endParaRPr lang="en-US" sz="2200" dirty="0"/>
          </a:p>
        </p:txBody>
      </p:sp>
      <p:sp>
        <p:nvSpPr>
          <p:cNvPr id="5" name="Text 3"/>
          <p:cNvSpPr/>
          <p:nvPr/>
        </p:nvSpPr>
        <p:spPr>
          <a:xfrm>
            <a:off x="960120" y="886968"/>
            <a:ext cx="1920240" cy="347472"/>
          </a:xfrm>
          <a:prstGeom prst="rect">
            <a:avLst/>
          </a:prstGeom>
          <a:noFill/>
          <a:ln/>
        </p:spPr>
        <p:txBody>
          <a:bodyPr wrap="square" lIns="0" tIns="0" rIns="0" bIns="0" rtlCol="0" anchor="ctr"/>
          <a:lstStyle/>
          <a:p>
            <a:pPr indent="0" marL="0">
              <a:buNone/>
            </a:pPr>
            <a:r>
              <a:rPr lang="en-US" sz="1400" b="1" dirty="0">
                <a:solidFill>
                  <a:srgbClr val="1F5C8B"/>
                </a:solidFill>
              </a:rPr>
              <a:t>POLICY</a:t>
            </a:r>
            <a:endParaRPr lang="en-US" sz="1400" dirty="0"/>
          </a:p>
        </p:txBody>
      </p:sp>
      <p:sp>
        <p:nvSpPr>
          <p:cNvPr id="6" name="Text 4"/>
          <p:cNvSpPr/>
          <p:nvPr/>
        </p:nvSpPr>
        <p:spPr>
          <a:xfrm>
            <a:off x="384048" y="1325880"/>
            <a:ext cx="2468880" cy="960120"/>
          </a:xfrm>
          <a:prstGeom prst="rect">
            <a:avLst/>
          </a:prstGeom>
          <a:noFill/>
          <a:ln/>
        </p:spPr>
        <p:txBody>
          <a:bodyPr wrap="square" lIns="50800" tIns="50800" rIns="50800" bIns="50800" rtlCol="0" anchor="ctr"/>
          <a:lstStyle/>
          <a:p>
            <a:pPr indent="0" marL="0">
              <a:buNone/>
            </a:pPr>
            <a:r>
              <a:rPr lang="en-US" sz="1100" dirty="0">
                <a:solidFill>
                  <a:srgbClr val="444444"/>
                </a:solidFill>
              </a:rPr>
              <a:t>Mandatory architecture</a:t>
            </a:r>
            <a:endParaRPr lang="en-US" sz="1100" dirty="0"/>
          </a:p>
          <a:p>
            <a:pPr indent="0" marL="0">
              <a:buNone/>
            </a:pPr>
            <a:r>
              <a:rPr lang="en-US" sz="1100" dirty="0">
                <a:solidFill>
                  <a:srgbClr val="444444"/>
                </a:solidFill>
              </a:rPr>
              <a:t>for structural reform</a:t>
            </a:r>
            <a:endParaRPr lang="en-US" sz="1100" dirty="0"/>
          </a:p>
        </p:txBody>
      </p:sp>
      <p:sp>
        <p:nvSpPr>
          <p:cNvPr id="7" name="Shape 5"/>
          <p:cNvSpPr/>
          <p:nvPr/>
        </p:nvSpPr>
        <p:spPr>
          <a:xfrm>
            <a:off x="3246120" y="777240"/>
            <a:ext cx="2697480" cy="1645920"/>
          </a:xfrm>
          <a:prstGeom prst="rect">
            <a:avLst/>
          </a:prstGeom>
          <a:solidFill>
            <a:srgbClr val="FFF0CC"/>
          </a:solidFill>
          <a:ln w="12700">
            <a:solidFill>
              <a:srgbClr val="6B3A00"/>
            </a:solidFill>
            <a:prstDash val="solid"/>
          </a:ln>
          <a:effectLst>
            <a:outerShdw sx="100000" sy="100000" kx="0" ky="0" algn="bl" rotWithShape="0" blurRad="76200" dist="25400" dir="16200000">
              <a:srgbClr val="000000">
                <a:alpha val="12000"/>
              </a:srgbClr>
            </a:outerShdw>
          </a:effectLst>
        </p:spPr>
      </p:sp>
      <p:sp>
        <p:nvSpPr>
          <p:cNvPr id="8" name="Text 6"/>
          <p:cNvSpPr/>
          <p:nvPr/>
        </p:nvSpPr>
        <p:spPr>
          <a:xfrm>
            <a:off x="3355848" y="868680"/>
            <a:ext cx="502920" cy="502920"/>
          </a:xfrm>
          <a:prstGeom prst="ellipse">
            <a:avLst/>
          </a:prstGeom>
          <a:solidFill>
            <a:srgbClr val="6B3A00"/>
          </a:solidFill>
          <a:ln/>
        </p:spPr>
        <p:txBody>
          <a:bodyPr wrap="square" rtlCol="0" anchor="ctr"/>
          <a:lstStyle/>
          <a:p>
            <a:pPr algn="ctr" indent="0" marL="0">
              <a:buNone/>
            </a:pPr>
            <a:r>
              <a:rPr lang="en-US" sz="2200" b="1" dirty="0">
                <a:solidFill>
                  <a:srgbClr val="FFFFFF"/>
                </a:solidFill>
              </a:rPr>
              <a:t>2</a:t>
            </a:r>
            <a:endParaRPr lang="en-US" sz="2200" dirty="0"/>
          </a:p>
        </p:txBody>
      </p:sp>
      <p:sp>
        <p:nvSpPr>
          <p:cNvPr id="9" name="Text 7"/>
          <p:cNvSpPr/>
          <p:nvPr/>
        </p:nvSpPr>
        <p:spPr>
          <a:xfrm>
            <a:off x="3931920" y="886968"/>
            <a:ext cx="1920240" cy="347472"/>
          </a:xfrm>
          <a:prstGeom prst="rect">
            <a:avLst/>
          </a:prstGeom>
          <a:noFill/>
          <a:ln/>
        </p:spPr>
        <p:txBody>
          <a:bodyPr wrap="square" lIns="0" tIns="0" rIns="0" bIns="0" rtlCol="0" anchor="ctr"/>
          <a:lstStyle/>
          <a:p>
            <a:pPr indent="0" marL="0">
              <a:buNone/>
            </a:pPr>
            <a:r>
              <a:rPr lang="en-US" sz="1400" b="1" dirty="0">
                <a:solidFill>
                  <a:srgbClr val="6B3A00"/>
                </a:solidFill>
              </a:rPr>
              <a:t>ECONOMICS</a:t>
            </a:r>
            <a:endParaRPr lang="en-US" sz="1400" dirty="0"/>
          </a:p>
        </p:txBody>
      </p:sp>
      <p:sp>
        <p:nvSpPr>
          <p:cNvPr id="10" name="Text 8"/>
          <p:cNvSpPr/>
          <p:nvPr/>
        </p:nvSpPr>
        <p:spPr>
          <a:xfrm>
            <a:off x="3355848" y="1325880"/>
            <a:ext cx="2468880" cy="960120"/>
          </a:xfrm>
          <a:prstGeom prst="rect">
            <a:avLst/>
          </a:prstGeom>
          <a:noFill/>
          <a:ln/>
        </p:spPr>
        <p:txBody>
          <a:bodyPr wrap="square" lIns="50800" tIns="50800" rIns="50800" bIns="50800" rtlCol="0" anchor="ctr"/>
          <a:lstStyle/>
          <a:p>
            <a:pPr indent="0" marL="0">
              <a:buNone/>
            </a:pPr>
            <a:r>
              <a:rPr lang="en-US" sz="1100" dirty="0">
                <a:solidFill>
                  <a:srgbClr val="444444"/>
                </a:solidFill>
              </a:rPr>
              <a:t>Payment reform &amp;</a:t>
            </a:r>
            <a:endParaRPr lang="en-US" sz="1100" dirty="0"/>
          </a:p>
          <a:p>
            <a:pPr indent="0" marL="0">
              <a:buNone/>
            </a:pPr>
            <a:r>
              <a:rPr lang="en-US" sz="1100" dirty="0">
                <a:solidFill>
                  <a:srgbClr val="444444"/>
                </a:solidFill>
              </a:rPr>
              <a:t>global budget design</a:t>
            </a:r>
            <a:endParaRPr lang="en-US" sz="1100" dirty="0"/>
          </a:p>
        </p:txBody>
      </p:sp>
      <p:sp>
        <p:nvSpPr>
          <p:cNvPr id="11" name="Shape 9"/>
          <p:cNvSpPr/>
          <p:nvPr/>
        </p:nvSpPr>
        <p:spPr>
          <a:xfrm>
            <a:off x="6217920" y="777240"/>
            <a:ext cx="2697480" cy="1645920"/>
          </a:xfrm>
          <a:prstGeom prst="rect">
            <a:avLst/>
          </a:prstGeom>
          <a:solidFill>
            <a:srgbClr val="D4F1F4"/>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2" name="Text 10"/>
          <p:cNvSpPr/>
          <p:nvPr/>
        </p:nvSpPr>
        <p:spPr>
          <a:xfrm>
            <a:off x="6327648" y="868680"/>
            <a:ext cx="502920" cy="502920"/>
          </a:xfrm>
          <a:prstGeom prst="ellipse">
            <a:avLst/>
          </a:prstGeom>
          <a:solidFill>
            <a:srgbClr val="0D5F6B"/>
          </a:solidFill>
          <a:ln/>
        </p:spPr>
        <p:txBody>
          <a:bodyPr wrap="square" rtlCol="0" anchor="ctr"/>
          <a:lstStyle/>
          <a:p>
            <a:pPr algn="ctr" indent="0" marL="0">
              <a:buNone/>
            </a:pPr>
            <a:r>
              <a:rPr lang="en-US" sz="2200" b="1" dirty="0">
                <a:solidFill>
                  <a:srgbClr val="FFFFFF"/>
                </a:solidFill>
              </a:rPr>
              <a:t>3</a:t>
            </a:r>
            <a:endParaRPr lang="en-US" sz="2200" dirty="0"/>
          </a:p>
        </p:txBody>
      </p:sp>
      <p:sp>
        <p:nvSpPr>
          <p:cNvPr id="13" name="Text 11"/>
          <p:cNvSpPr/>
          <p:nvPr/>
        </p:nvSpPr>
        <p:spPr>
          <a:xfrm>
            <a:off x="6903720" y="886968"/>
            <a:ext cx="1920240" cy="347472"/>
          </a:xfrm>
          <a:prstGeom prst="rect">
            <a:avLst/>
          </a:prstGeom>
          <a:noFill/>
          <a:ln/>
        </p:spPr>
        <p:txBody>
          <a:bodyPr wrap="square" lIns="0" tIns="0" rIns="0" bIns="0" rtlCol="0" anchor="ctr"/>
          <a:lstStyle/>
          <a:p>
            <a:pPr indent="0" marL="0">
              <a:buNone/>
            </a:pPr>
            <a:r>
              <a:rPr lang="en-US" sz="1400" b="1" dirty="0">
                <a:solidFill>
                  <a:srgbClr val="0D5F6B"/>
                </a:solidFill>
              </a:rPr>
              <a:t>TECHNOLOGY</a:t>
            </a:r>
            <a:endParaRPr lang="en-US" sz="1400" dirty="0"/>
          </a:p>
        </p:txBody>
      </p:sp>
      <p:sp>
        <p:nvSpPr>
          <p:cNvPr id="14" name="Text 12"/>
          <p:cNvSpPr/>
          <p:nvPr/>
        </p:nvSpPr>
        <p:spPr>
          <a:xfrm>
            <a:off x="6327648" y="1325880"/>
            <a:ext cx="2468880" cy="960120"/>
          </a:xfrm>
          <a:prstGeom prst="rect">
            <a:avLst/>
          </a:prstGeom>
          <a:noFill/>
          <a:ln/>
        </p:spPr>
        <p:txBody>
          <a:bodyPr wrap="square" lIns="50800" tIns="50800" rIns="50800" bIns="50800" rtlCol="0" anchor="ctr"/>
          <a:lstStyle/>
          <a:p>
            <a:pPr indent="0" marL="0">
              <a:buNone/>
            </a:pPr>
            <a:r>
              <a:rPr lang="en-US" sz="1100" dirty="0">
                <a:solidFill>
                  <a:srgbClr val="444444"/>
                </a:solidFill>
              </a:rPr>
              <a:t>Data infrastructure</a:t>
            </a:r>
            <a:endParaRPr lang="en-US" sz="1100" dirty="0"/>
          </a:p>
          <a:p>
            <a:pPr indent="0" marL="0">
              <a:buNone/>
            </a:pPr>
            <a:r>
              <a:rPr lang="en-US" sz="1100" dirty="0">
                <a:solidFill>
                  <a:srgbClr val="444444"/>
                </a:solidFill>
              </a:rPr>
              <a:t>for population health</a:t>
            </a:r>
            <a:endParaRPr lang="en-US" sz="1100" dirty="0"/>
          </a:p>
        </p:txBody>
      </p:sp>
      <p:sp>
        <p:nvSpPr>
          <p:cNvPr id="15" name="Shape 13"/>
          <p:cNvSpPr/>
          <p:nvPr/>
        </p:nvSpPr>
        <p:spPr>
          <a:xfrm>
            <a:off x="274320" y="2651760"/>
            <a:ext cx="2697480" cy="1645920"/>
          </a:xfrm>
          <a:prstGeom prst="rect">
            <a:avLst/>
          </a:prstGeom>
          <a:solidFill>
            <a:srgbClr val="D9EFE3"/>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16" name="Text 14"/>
          <p:cNvSpPr/>
          <p:nvPr/>
        </p:nvSpPr>
        <p:spPr>
          <a:xfrm>
            <a:off x="384048" y="2743200"/>
            <a:ext cx="502920" cy="502920"/>
          </a:xfrm>
          <a:prstGeom prst="ellipse">
            <a:avLst/>
          </a:prstGeom>
          <a:solidFill>
            <a:srgbClr val="1E6B3C"/>
          </a:solidFill>
          <a:ln/>
        </p:spPr>
        <p:txBody>
          <a:bodyPr wrap="square" rtlCol="0" anchor="ctr"/>
          <a:lstStyle/>
          <a:p>
            <a:pPr algn="ctr" indent="0" marL="0">
              <a:buNone/>
            </a:pPr>
            <a:r>
              <a:rPr lang="en-US" sz="2200" b="1" dirty="0">
                <a:solidFill>
                  <a:srgbClr val="FFFFFF"/>
                </a:solidFill>
              </a:rPr>
              <a:t>4</a:t>
            </a:r>
            <a:endParaRPr lang="en-US" sz="2200" dirty="0"/>
          </a:p>
        </p:txBody>
      </p:sp>
      <p:sp>
        <p:nvSpPr>
          <p:cNvPr id="17" name="Text 15"/>
          <p:cNvSpPr/>
          <p:nvPr/>
        </p:nvSpPr>
        <p:spPr>
          <a:xfrm>
            <a:off x="960120" y="2761488"/>
            <a:ext cx="1920240" cy="347472"/>
          </a:xfrm>
          <a:prstGeom prst="rect">
            <a:avLst/>
          </a:prstGeom>
          <a:noFill/>
          <a:ln/>
        </p:spPr>
        <p:txBody>
          <a:bodyPr wrap="square" lIns="0" tIns="0" rIns="0" bIns="0" rtlCol="0" anchor="ctr"/>
          <a:lstStyle/>
          <a:p>
            <a:pPr indent="0" marL="0">
              <a:buNone/>
            </a:pPr>
            <a:r>
              <a:rPr lang="en-US" sz="1400" b="1" dirty="0">
                <a:solidFill>
                  <a:srgbClr val="1E6B3C"/>
                </a:solidFill>
              </a:rPr>
              <a:t>CLINICAL</a:t>
            </a:r>
            <a:endParaRPr lang="en-US" sz="1400" dirty="0"/>
          </a:p>
        </p:txBody>
      </p:sp>
      <p:sp>
        <p:nvSpPr>
          <p:cNvPr id="18" name="Text 16"/>
          <p:cNvSpPr/>
          <p:nvPr/>
        </p:nvSpPr>
        <p:spPr>
          <a:xfrm>
            <a:off x="384048" y="3200400"/>
            <a:ext cx="2468880" cy="960120"/>
          </a:xfrm>
          <a:prstGeom prst="rect">
            <a:avLst/>
          </a:prstGeom>
          <a:noFill/>
          <a:ln/>
        </p:spPr>
        <p:txBody>
          <a:bodyPr wrap="square" lIns="50800" tIns="50800" rIns="50800" bIns="50800" rtlCol="0" anchor="ctr"/>
          <a:lstStyle/>
          <a:p>
            <a:pPr indent="0" marL="0">
              <a:buNone/>
            </a:pPr>
            <a:r>
              <a:rPr lang="en-US" sz="1100" dirty="0">
                <a:solidFill>
                  <a:srgbClr val="444444"/>
                </a:solidFill>
              </a:rPr>
              <a:t>Care delivery redesign</a:t>
            </a:r>
            <a:endParaRPr lang="en-US" sz="1100" dirty="0"/>
          </a:p>
          <a:p>
            <a:pPr indent="0" marL="0">
              <a:buNone/>
            </a:pPr>
            <a:r>
              <a:rPr lang="en-US" sz="1100" dirty="0">
                <a:solidFill>
                  <a:srgbClr val="444444"/>
                </a:solidFill>
              </a:rPr>
              <a:t>for the transformed system</a:t>
            </a:r>
            <a:endParaRPr lang="en-US" sz="1100" dirty="0"/>
          </a:p>
        </p:txBody>
      </p:sp>
      <p:sp>
        <p:nvSpPr>
          <p:cNvPr id="19" name="Shape 17"/>
          <p:cNvSpPr/>
          <p:nvPr/>
        </p:nvSpPr>
        <p:spPr>
          <a:xfrm>
            <a:off x="3246120" y="2651760"/>
            <a:ext cx="2697480" cy="1645920"/>
          </a:xfrm>
          <a:prstGeom prst="rect">
            <a:avLst/>
          </a:prstGeom>
          <a:solidFill>
            <a:srgbClr val="E8D5F5"/>
          </a:solidFill>
          <a:ln w="12700">
            <a:solidFill>
              <a:srgbClr val="4A2070"/>
            </a:solidFill>
            <a:prstDash val="solid"/>
          </a:ln>
          <a:effectLst>
            <a:outerShdw sx="100000" sy="100000" kx="0" ky="0" algn="bl" rotWithShape="0" blurRad="76200" dist="25400" dir="16200000">
              <a:srgbClr val="000000">
                <a:alpha val="12000"/>
              </a:srgbClr>
            </a:outerShdw>
          </a:effectLst>
        </p:spPr>
      </p:sp>
      <p:sp>
        <p:nvSpPr>
          <p:cNvPr id="20" name="Text 18"/>
          <p:cNvSpPr/>
          <p:nvPr/>
        </p:nvSpPr>
        <p:spPr>
          <a:xfrm>
            <a:off x="3355848" y="2743200"/>
            <a:ext cx="502920" cy="502920"/>
          </a:xfrm>
          <a:prstGeom prst="ellipse">
            <a:avLst/>
          </a:prstGeom>
          <a:solidFill>
            <a:srgbClr val="4A2070"/>
          </a:solidFill>
          <a:ln/>
        </p:spPr>
        <p:txBody>
          <a:bodyPr wrap="square" rtlCol="0" anchor="ctr"/>
          <a:lstStyle/>
          <a:p>
            <a:pPr algn="ctr" indent="0" marL="0">
              <a:buNone/>
            </a:pPr>
            <a:r>
              <a:rPr lang="en-US" sz="2200" b="1" dirty="0">
                <a:solidFill>
                  <a:srgbClr val="FFFFFF"/>
                </a:solidFill>
              </a:rPr>
              <a:t>5</a:t>
            </a:r>
            <a:endParaRPr lang="en-US" sz="2200" dirty="0"/>
          </a:p>
        </p:txBody>
      </p:sp>
      <p:sp>
        <p:nvSpPr>
          <p:cNvPr id="21" name="Text 19"/>
          <p:cNvSpPr/>
          <p:nvPr/>
        </p:nvSpPr>
        <p:spPr>
          <a:xfrm>
            <a:off x="3931920" y="2761488"/>
            <a:ext cx="1920240" cy="347472"/>
          </a:xfrm>
          <a:prstGeom prst="rect">
            <a:avLst/>
          </a:prstGeom>
          <a:noFill/>
          <a:ln/>
        </p:spPr>
        <p:txBody>
          <a:bodyPr wrap="square" lIns="0" tIns="0" rIns="0" bIns="0" rtlCol="0" anchor="ctr"/>
          <a:lstStyle/>
          <a:p>
            <a:pPr indent="0" marL="0">
              <a:buNone/>
            </a:pPr>
            <a:r>
              <a:rPr lang="en-US" sz="1400" b="1" dirty="0">
                <a:solidFill>
                  <a:srgbClr val="4A2070"/>
                </a:solidFill>
              </a:rPr>
              <a:t>EQUITY</a:t>
            </a:r>
            <a:endParaRPr lang="en-US" sz="1400" dirty="0"/>
          </a:p>
        </p:txBody>
      </p:sp>
      <p:sp>
        <p:nvSpPr>
          <p:cNvPr id="22" name="Text 20"/>
          <p:cNvSpPr/>
          <p:nvPr/>
        </p:nvSpPr>
        <p:spPr>
          <a:xfrm>
            <a:off x="3355848" y="3200400"/>
            <a:ext cx="2468880" cy="960120"/>
          </a:xfrm>
          <a:prstGeom prst="rect">
            <a:avLst/>
          </a:prstGeom>
          <a:noFill/>
          <a:ln/>
        </p:spPr>
        <p:txBody>
          <a:bodyPr wrap="square" lIns="50800" tIns="50800" rIns="50800" bIns="50800" rtlCol="0" anchor="ctr"/>
          <a:lstStyle/>
          <a:p>
            <a:pPr indent="0" marL="0">
              <a:buNone/>
            </a:pPr>
            <a:r>
              <a:rPr lang="en-US" sz="1100" dirty="0">
                <a:solidFill>
                  <a:srgbClr val="444444"/>
                </a:solidFill>
              </a:rPr>
              <a:t>Closing gaps, not</a:t>
            </a:r>
            <a:endParaRPr lang="en-US" sz="1100" dirty="0"/>
          </a:p>
          <a:p>
            <a:pPr indent="0" marL="0">
              <a:buNone/>
            </a:pPr>
            <a:r>
              <a:rPr lang="en-US" sz="1100" dirty="0">
                <a:solidFill>
                  <a:srgbClr val="444444"/>
                </a:solidFill>
              </a:rPr>
              <a:t>just averaging them</a:t>
            </a:r>
            <a:endParaRPr lang="en-US" sz="1100" dirty="0"/>
          </a:p>
        </p:txBody>
      </p:sp>
      <p:sp>
        <p:nvSpPr>
          <p:cNvPr id="23" name="Shape 21"/>
          <p:cNvSpPr/>
          <p:nvPr/>
        </p:nvSpPr>
        <p:spPr>
          <a:xfrm>
            <a:off x="6217920" y="2651760"/>
            <a:ext cx="2697480" cy="1645920"/>
          </a:xfrm>
          <a:prstGeom prst="rect">
            <a:avLst/>
          </a:prstGeom>
          <a:solidFill>
            <a:srgbClr val="ECEFF1"/>
          </a:solidFill>
          <a:ln w="12700">
            <a:solidFill>
              <a:srgbClr val="36454F"/>
            </a:solidFill>
            <a:prstDash val="solid"/>
          </a:ln>
          <a:effectLst>
            <a:outerShdw sx="100000" sy="100000" kx="0" ky="0" algn="bl" rotWithShape="0" blurRad="76200" dist="25400" dir="16200000">
              <a:srgbClr val="000000">
                <a:alpha val="12000"/>
              </a:srgbClr>
            </a:outerShdw>
          </a:effectLst>
        </p:spPr>
      </p:sp>
      <p:sp>
        <p:nvSpPr>
          <p:cNvPr id="24" name="Text 22"/>
          <p:cNvSpPr/>
          <p:nvPr/>
        </p:nvSpPr>
        <p:spPr>
          <a:xfrm>
            <a:off x="6327648" y="2743200"/>
            <a:ext cx="502920" cy="502920"/>
          </a:xfrm>
          <a:prstGeom prst="ellipse">
            <a:avLst/>
          </a:prstGeom>
          <a:solidFill>
            <a:srgbClr val="36454F"/>
          </a:solidFill>
          <a:ln/>
        </p:spPr>
        <p:txBody>
          <a:bodyPr wrap="square" rtlCol="0" anchor="ctr"/>
          <a:lstStyle/>
          <a:p>
            <a:pPr algn="ctr" indent="0" marL="0">
              <a:buNone/>
            </a:pPr>
            <a:r>
              <a:rPr lang="en-US" sz="2200" b="1" dirty="0">
                <a:solidFill>
                  <a:srgbClr val="FFFFFF"/>
                </a:solidFill>
              </a:rPr>
              <a:t>6</a:t>
            </a:r>
            <a:endParaRPr lang="en-US" sz="2200" dirty="0"/>
          </a:p>
        </p:txBody>
      </p:sp>
      <p:sp>
        <p:nvSpPr>
          <p:cNvPr id="25" name="Text 23"/>
          <p:cNvSpPr/>
          <p:nvPr/>
        </p:nvSpPr>
        <p:spPr>
          <a:xfrm>
            <a:off x="6903720" y="2761488"/>
            <a:ext cx="1920240" cy="347472"/>
          </a:xfrm>
          <a:prstGeom prst="rect">
            <a:avLst/>
          </a:prstGeom>
          <a:noFill/>
          <a:ln/>
        </p:spPr>
        <p:txBody>
          <a:bodyPr wrap="square" lIns="0" tIns="0" rIns="0" bIns="0" rtlCol="0" anchor="ctr"/>
          <a:lstStyle/>
          <a:p>
            <a:pPr indent="0" marL="0">
              <a:buNone/>
            </a:pPr>
            <a:r>
              <a:rPr lang="en-US" sz="1400" b="1" dirty="0">
                <a:solidFill>
                  <a:srgbClr val="36454F"/>
                </a:solidFill>
              </a:rPr>
              <a:t>OPERATIONS</a:t>
            </a:r>
            <a:endParaRPr lang="en-US" sz="1400" dirty="0"/>
          </a:p>
        </p:txBody>
      </p:sp>
      <p:sp>
        <p:nvSpPr>
          <p:cNvPr id="26" name="Text 24"/>
          <p:cNvSpPr/>
          <p:nvPr/>
        </p:nvSpPr>
        <p:spPr>
          <a:xfrm>
            <a:off x="6327648" y="3200400"/>
            <a:ext cx="2468880" cy="960120"/>
          </a:xfrm>
          <a:prstGeom prst="rect">
            <a:avLst/>
          </a:prstGeom>
          <a:noFill/>
          <a:ln/>
        </p:spPr>
        <p:txBody>
          <a:bodyPr wrap="square" lIns="50800" tIns="50800" rIns="50800" bIns="50800" rtlCol="0" anchor="ctr"/>
          <a:lstStyle/>
          <a:p>
            <a:pPr indent="0" marL="0">
              <a:buNone/>
            </a:pPr>
            <a:r>
              <a:rPr lang="en-US" sz="1100" dirty="0">
                <a:solidFill>
                  <a:srgbClr val="444444"/>
                </a:solidFill>
              </a:rPr>
              <a:t>Where strategy</a:t>
            </a:r>
            <a:endParaRPr lang="en-US" sz="1100" dirty="0"/>
          </a:p>
          <a:p>
            <a:pPr indent="0" marL="0">
              <a:buNone/>
            </a:pPr>
            <a:r>
              <a:rPr lang="en-US" sz="1100" dirty="0">
                <a:solidFill>
                  <a:srgbClr val="444444"/>
                </a:solidFill>
              </a:rPr>
              <a:t>becomes execution</a:t>
            </a:r>
            <a:endParaRPr lang="en-US" sz="1100" dirty="0"/>
          </a:p>
        </p:txBody>
      </p:sp>
      <p:sp>
        <p:nvSpPr>
          <p:cNvPr id="27" name="Text 25"/>
          <p:cNvSpPr/>
          <p:nvPr/>
        </p:nvSpPr>
        <p:spPr>
          <a:xfrm>
            <a:off x="365760" y="4663440"/>
            <a:ext cx="8412480" cy="347472"/>
          </a:xfrm>
          <a:prstGeom prst="rect">
            <a:avLst/>
          </a:prstGeom>
          <a:noFill/>
          <a:ln/>
        </p:spPr>
        <p:txBody>
          <a:bodyPr wrap="square" rtlCol="0" anchor="ctr"/>
          <a:lstStyle/>
          <a:p>
            <a:pPr algn="ctr" indent="0" marL="0">
              <a:buNone/>
            </a:pPr>
            <a:r>
              <a:rPr lang="en-US" sz="1100" i="1" dirty="0">
                <a:solidFill>
                  <a:srgbClr val="64748B"/>
                </a:solidFill>
              </a:rPr>
              <a:t>All six must move together — single-pillar interventions consistently fail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rtlCol="0" anchor="ctr"/>
          <a:lstStyle/>
          <a:p>
            <a:pPr indent="0" marL="0">
              <a:buNone/>
            </a:pPr>
            <a:r>
              <a:rPr lang="en-US" sz="2000" b="1" dirty="0">
                <a:solidFill>
                  <a:srgbClr val="1F5C8B"/>
                </a:solidFill>
                <a:latin typeface="Georgia" pitchFamily="34" charset="0"/>
                <a:ea typeface="Georgia" pitchFamily="34" charset="-122"/>
                <a:cs typeface="Georgia" pitchFamily="34" charset="-120"/>
              </a:rPr>
              <a:t>WHY SINGLE-PILLAR INTERVENTIONS FAIL</a:t>
            </a:r>
            <a:endParaRPr lang="en-US" sz="2000" dirty="0"/>
          </a:p>
        </p:txBody>
      </p:sp>
      <p:sp>
        <p:nvSpPr>
          <p:cNvPr id="3" name="Shape 1"/>
          <p:cNvSpPr/>
          <p:nvPr/>
        </p:nvSpPr>
        <p:spPr>
          <a:xfrm>
            <a:off x="320040" y="777240"/>
            <a:ext cx="3977640" cy="502920"/>
          </a:xfrm>
          <a:prstGeom prst="rect">
            <a:avLst/>
          </a:prstGeom>
          <a:solidFill>
            <a:srgbClr val="8B1A1A"/>
          </a:solidFill>
          <a:ln/>
        </p:spPr>
      </p:sp>
      <p:sp>
        <p:nvSpPr>
          <p:cNvPr id="4" name="Text 2"/>
          <p:cNvSpPr/>
          <p:nvPr/>
        </p:nvSpPr>
        <p:spPr>
          <a:xfrm>
            <a:off x="320040" y="777240"/>
            <a:ext cx="3977640" cy="502920"/>
          </a:xfrm>
          <a:prstGeom prst="rect">
            <a:avLst/>
          </a:prstGeom>
          <a:noFill/>
          <a:ln/>
        </p:spPr>
        <p:txBody>
          <a:bodyPr wrap="square" rtlCol="0" anchor="ctr"/>
          <a:lstStyle/>
          <a:p>
            <a:pPr algn="ctr" indent="0" marL="0">
              <a:buNone/>
            </a:pPr>
            <a:r>
              <a:rPr lang="en-US" sz="1300" b="1" dirty="0">
                <a:solidFill>
                  <a:srgbClr val="FFFFFF"/>
                </a:solidFill>
              </a:rPr>
              <a:t>SINGLE-PILLAR APPROACH  →  FAILS</a:t>
            </a:r>
            <a:endParaRPr lang="en-US" sz="1300" dirty="0"/>
          </a:p>
        </p:txBody>
      </p:sp>
      <p:sp>
        <p:nvSpPr>
          <p:cNvPr id="5" name="Shape 3"/>
          <p:cNvSpPr/>
          <p:nvPr/>
        </p:nvSpPr>
        <p:spPr>
          <a:xfrm>
            <a:off x="320040" y="1417320"/>
            <a:ext cx="3977640" cy="713232"/>
          </a:xfrm>
          <a:prstGeom prst="rect">
            <a:avLst/>
          </a:prstGeom>
          <a:solidFill>
            <a:srgbClr val="FAE0E0"/>
          </a:solidFill>
          <a:ln w="12700">
            <a:solidFill>
              <a:srgbClr val="8B1A1A"/>
            </a:solidFill>
            <a:prstDash val="solid"/>
          </a:ln>
        </p:spPr>
      </p:sp>
      <p:sp>
        <p:nvSpPr>
          <p:cNvPr id="6" name="Text 4"/>
          <p:cNvSpPr/>
          <p:nvPr/>
        </p:nvSpPr>
        <p:spPr>
          <a:xfrm>
            <a:off x="457200" y="1463040"/>
            <a:ext cx="3749040" cy="274320"/>
          </a:xfrm>
          <a:prstGeom prst="rect">
            <a:avLst/>
          </a:prstGeom>
          <a:noFill/>
          <a:ln/>
        </p:spPr>
        <p:txBody>
          <a:bodyPr wrap="square" lIns="0" tIns="0" rIns="0" bIns="0" rtlCol="0" anchor="ctr"/>
          <a:lstStyle/>
          <a:p>
            <a:pPr indent="0" marL="0">
              <a:buNone/>
            </a:pPr>
            <a:r>
              <a:rPr lang="en-US" sz="1200" b="1" dirty="0">
                <a:solidFill>
                  <a:srgbClr val="8B1A1A"/>
                </a:solidFill>
              </a:rPr>
              <a:t>Payment Reform Only</a:t>
            </a:r>
            <a:endParaRPr lang="en-US" sz="1200" dirty="0"/>
          </a:p>
        </p:txBody>
      </p:sp>
      <p:sp>
        <p:nvSpPr>
          <p:cNvPr id="7" name="Text 5"/>
          <p:cNvSpPr/>
          <p:nvPr/>
        </p:nvSpPr>
        <p:spPr>
          <a:xfrm>
            <a:off x="457200" y="1737360"/>
            <a:ext cx="3749040" cy="347472"/>
          </a:xfrm>
          <a:prstGeom prst="rect">
            <a:avLst/>
          </a:prstGeom>
          <a:noFill/>
          <a:ln/>
        </p:spPr>
        <p:txBody>
          <a:bodyPr wrap="square" lIns="0" tIns="0" rIns="0" bIns="0" rtlCol="0" anchor="ctr"/>
          <a:lstStyle/>
          <a:p>
            <a:pPr indent="0" marL="0">
              <a:buNone/>
            </a:pPr>
            <a:r>
              <a:rPr lang="en-US" sz="1050" dirty="0">
                <a:solidFill>
                  <a:srgbClr val="444444"/>
                </a:solidFill>
              </a:rPr>
              <a:t>Hospitals have no population health</a:t>
            </a:r>
            <a:endParaRPr lang="en-US" sz="1050" dirty="0"/>
          </a:p>
          <a:p>
            <a:pPr indent="0" marL="0">
              <a:buNone/>
            </a:pPr>
            <a:r>
              <a:rPr lang="en-US" sz="1050" dirty="0">
                <a:solidFill>
                  <a:srgbClr val="444444"/>
                </a:solidFill>
              </a:rPr>
              <a:t>infrastructure to respond</a:t>
            </a:r>
            <a:endParaRPr lang="en-US" sz="1050" dirty="0"/>
          </a:p>
        </p:txBody>
      </p:sp>
      <p:sp>
        <p:nvSpPr>
          <p:cNvPr id="8" name="Shape 6"/>
          <p:cNvSpPr/>
          <p:nvPr/>
        </p:nvSpPr>
        <p:spPr>
          <a:xfrm>
            <a:off x="320040" y="2240280"/>
            <a:ext cx="3977640" cy="713232"/>
          </a:xfrm>
          <a:prstGeom prst="rect">
            <a:avLst/>
          </a:prstGeom>
          <a:solidFill>
            <a:srgbClr val="FAE0E0"/>
          </a:solidFill>
          <a:ln w="12700">
            <a:solidFill>
              <a:srgbClr val="8B1A1A"/>
            </a:solidFill>
            <a:prstDash val="solid"/>
          </a:ln>
        </p:spPr>
      </p:sp>
      <p:sp>
        <p:nvSpPr>
          <p:cNvPr id="9" name="Text 7"/>
          <p:cNvSpPr/>
          <p:nvPr/>
        </p:nvSpPr>
        <p:spPr>
          <a:xfrm>
            <a:off x="457200" y="2286000"/>
            <a:ext cx="3749040" cy="274320"/>
          </a:xfrm>
          <a:prstGeom prst="rect">
            <a:avLst/>
          </a:prstGeom>
          <a:noFill/>
          <a:ln/>
        </p:spPr>
        <p:txBody>
          <a:bodyPr wrap="square" lIns="0" tIns="0" rIns="0" bIns="0" rtlCol="0" anchor="ctr"/>
          <a:lstStyle/>
          <a:p>
            <a:pPr indent="0" marL="0">
              <a:buNone/>
            </a:pPr>
            <a:r>
              <a:rPr lang="en-US" sz="1200" b="1" dirty="0">
                <a:solidFill>
                  <a:srgbClr val="8B1A1A"/>
                </a:solidFill>
              </a:rPr>
              <a:t>Clinical Redesign Only</a:t>
            </a:r>
            <a:endParaRPr lang="en-US" sz="1200" dirty="0"/>
          </a:p>
        </p:txBody>
      </p:sp>
      <p:sp>
        <p:nvSpPr>
          <p:cNvPr id="10" name="Text 8"/>
          <p:cNvSpPr/>
          <p:nvPr/>
        </p:nvSpPr>
        <p:spPr>
          <a:xfrm>
            <a:off x="457200" y="2560320"/>
            <a:ext cx="3749040" cy="347472"/>
          </a:xfrm>
          <a:prstGeom prst="rect">
            <a:avLst/>
          </a:prstGeom>
          <a:noFill/>
          <a:ln/>
        </p:spPr>
        <p:txBody>
          <a:bodyPr wrap="square" lIns="0" tIns="0" rIns="0" bIns="0" rtlCol="0" anchor="ctr"/>
          <a:lstStyle/>
          <a:p>
            <a:pPr indent="0" marL="0">
              <a:buNone/>
            </a:pPr>
            <a:r>
              <a:rPr lang="en-US" sz="1050" dirty="0">
                <a:solidFill>
                  <a:srgbClr val="444444"/>
                </a:solidFill>
              </a:rPr>
              <a:t>Payment system penalizes utilization</a:t>
            </a:r>
            <a:endParaRPr lang="en-US" sz="1050" dirty="0"/>
          </a:p>
          <a:p>
            <a:pPr indent="0" marL="0">
              <a:buNone/>
            </a:pPr>
            <a:r>
              <a:rPr lang="en-US" sz="1050" dirty="0">
                <a:solidFill>
                  <a:srgbClr val="444444"/>
                </a:solidFill>
              </a:rPr>
              <a:t>reduction with lost revenue</a:t>
            </a:r>
            <a:endParaRPr lang="en-US" sz="1050" dirty="0"/>
          </a:p>
        </p:txBody>
      </p:sp>
      <p:sp>
        <p:nvSpPr>
          <p:cNvPr id="11" name="Shape 9"/>
          <p:cNvSpPr/>
          <p:nvPr/>
        </p:nvSpPr>
        <p:spPr>
          <a:xfrm>
            <a:off x="320040" y="3063240"/>
            <a:ext cx="3977640" cy="713232"/>
          </a:xfrm>
          <a:prstGeom prst="rect">
            <a:avLst/>
          </a:prstGeom>
          <a:solidFill>
            <a:srgbClr val="FAE0E0"/>
          </a:solidFill>
          <a:ln w="12700">
            <a:solidFill>
              <a:srgbClr val="8B1A1A"/>
            </a:solidFill>
            <a:prstDash val="solid"/>
          </a:ln>
        </p:spPr>
      </p:sp>
      <p:sp>
        <p:nvSpPr>
          <p:cNvPr id="12" name="Text 10"/>
          <p:cNvSpPr/>
          <p:nvPr/>
        </p:nvSpPr>
        <p:spPr>
          <a:xfrm>
            <a:off x="457200" y="3108960"/>
            <a:ext cx="3749040" cy="274320"/>
          </a:xfrm>
          <a:prstGeom prst="rect">
            <a:avLst/>
          </a:prstGeom>
          <a:noFill/>
          <a:ln/>
        </p:spPr>
        <p:txBody>
          <a:bodyPr wrap="square" lIns="0" tIns="0" rIns="0" bIns="0" rtlCol="0" anchor="ctr"/>
          <a:lstStyle/>
          <a:p>
            <a:pPr indent="0" marL="0">
              <a:buNone/>
            </a:pPr>
            <a:r>
              <a:rPr lang="en-US" sz="1200" b="1" dirty="0">
                <a:solidFill>
                  <a:srgbClr val="8B1A1A"/>
                </a:solidFill>
              </a:rPr>
              <a:t>Technology Only</a:t>
            </a:r>
            <a:endParaRPr lang="en-US" sz="1200" dirty="0"/>
          </a:p>
        </p:txBody>
      </p:sp>
      <p:sp>
        <p:nvSpPr>
          <p:cNvPr id="13" name="Text 11"/>
          <p:cNvSpPr/>
          <p:nvPr/>
        </p:nvSpPr>
        <p:spPr>
          <a:xfrm>
            <a:off x="457200" y="3383280"/>
            <a:ext cx="3749040" cy="347472"/>
          </a:xfrm>
          <a:prstGeom prst="rect">
            <a:avLst/>
          </a:prstGeom>
          <a:noFill/>
          <a:ln/>
        </p:spPr>
        <p:txBody>
          <a:bodyPr wrap="square" lIns="0" tIns="0" rIns="0" bIns="0" rtlCol="0" anchor="ctr"/>
          <a:lstStyle/>
          <a:p>
            <a:pPr indent="0" marL="0">
              <a:buNone/>
            </a:pPr>
            <a:r>
              <a:rPr lang="en-US" sz="1050" dirty="0">
                <a:solidFill>
                  <a:srgbClr val="444444"/>
                </a:solidFill>
              </a:rPr>
              <a:t>Platforms deployed with no incentive</a:t>
            </a:r>
            <a:endParaRPr lang="en-US" sz="1050" dirty="0"/>
          </a:p>
          <a:p>
            <a:pPr indent="0" marL="0">
              <a:buNone/>
            </a:pPr>
            <a:r>
              <a:rPr lang="en-US" sz="1050" dirty="0">
                <a:solidFill>
                  <a:srgbClr val="444444"/>
                </a:solidFill>
              </a:rPr>
              <a:t>or capacity to use them</a:t>
            </a:r>
            <a:endParaRPr lang="en-US" sz="1050" dirty="0"/>
          </a:p>
        </p:txBody>
      </p:sp>
      <p:sp>
        <p:nvSpPr>
          <p:cNvPr id="14" name="Shape 12"/>
          <p:cNvSpPr/>
          <p:nvPr/>
        </p:nvSpPr>
        <p:spPr>
          <a:xfrm>
            <a:off x="320040" y="3886200"/>
            <a:ext cx="3977640" cy="713232"/>
          </a:xfrm>
          <a:prstGeom prst="rect">
            <a:avLst/>
          </a:prstGeom>
          <a:solidFill>
            <a:srgbClr val="FAE0E0"/>
          </a:solidFill>
          <a:ln w="12700">
            <a:solidFill>
              <a:srgbClr val="8B1A1A"/>
            </a:solidFill>
            <a:prstDash val="solid"/>
          </a:ln>
        </p:spPr>
      </p:sp>
      <p:sp>
        <p:nvSpPr>
          <p:cNvPr id="15" name="Text 13"/>
          <p:cNvSpPr/>
          <p:nvPr/>
        </p:nvSpPr>
        <p:spPr>
          <a:xfrm>
            <a:off x="457200" y="3931920"/>
            <a:ext cx="3749040" cy="274320"/>
          </a:xfrm>
          <a:prstGeom prst="rect">
            <a:avLst/>
          </a:prstGeom>
          <a:noFill/>
          <a:ln/>
        </p:spPr>
        <p:txBody>
          <a:bodyPr wrap="square" lIns="0" tIns="0" rIns="0" bIns="0" rtlCol="0" anchor="ctr"/>
          <a:lstStyle/>
          <a:p>
            <a:pPr indent="0" marL="0">
              <a:buNone/>
            </a:pPr>
            <a:r>
              <a:rPr lang="en-US" sz="1200" b="1" dirty="0">
                <a:solidFill>
                  <a:srgbClr val="8B1A1A"/>
                </a:solidFill>
              </a:rPr>
              <a:t>Equity Program Only</a:t>
            </a:r>
            <a:endParaRPr lang="en-US" sz="1200" dirty="0"/>
          </a:p>
        </p:txBody>
      </p:sp>
      <p:sp>
        <p:nvSpPr>
          <p:cNvPr id="16" name="Text 14"/>
          <p:cNvSpPr/>
          <p:nvPr/>
        </p:nvSpPr>
        <p:spPr>
          <a:xfrm>
            <a:off x="457200" y="4206240"/>
            <a:ext cx="3749040" cy="347472"/>
          </a:xfrm>
          <a:prstGeom prst="rect">
            <a:avLst/>
          </a:prstGeom>
          <a:noFill/>
          <a:ln/>
        </p:spPr>
        <p:txBody>
          <a:bodyPr wrap="square" lIns="0" tIns="0" rIns="0" bIns="0" rtlCol="0" anchor="ctr"/>
          <a:lstStyle/>
          <a:p>
            <a:pPr indent="0" marL="0">
              <a:buNone/>
            </a:pPr>
            <a:r>
              <a:rPr lang="en-US" sz="1050" dirty="0">
                <a:solidFill>
                  <a:srgbClr val="444444"/>
                </a:solidFill>
              </a:rPr>
              <a:t>Structural drivers — access, payment,</a:t>
            </a:r>
            <a:endParaRPr lang="en-US" sz="1050" dirty="0"/>
          </a:p>
          <a:p>
            <a:pPr indent="0" marL="0">
              <a:buNone/>
            </a:pPr>
            <a:r>
              <a:rPr lang="en-US" sz="1050" dirty="0">
                <a:solidFill>
                  <a:srgbClr val="444444"/>
                </a:solidFill>
              </a:rPr>
              <a:t>SDOH — go unaddressed</a:t>
            </a:r>
            <a:endParaRPr lang="en-US" sz="1050" dirty="0"/>
          </a:p>
        </p:txBody>
      </p:sp>
      <p:sp>
        <p:nvSpPr>
          <p:cNvPr id="17" name="Shape 15"/>
          <p:cNvSpPr/>
          <p:nvPr/>
        </p:nvSpPr>
        <p:spPr>
          <a:xfrm>
            <a:off x="4846320" y="777240"/>
            <a:ext cx="3977640" cy="502920"/>
          </a:xfrm>
          <a:prstGeom prst="rect">
            <a:avLst/>
          </a:prstGeom>
          <a:solidFill>
            <a:srgbClr val="1E6B3C"/>
          </a:solidFill>
          <a:ln/>
        </p:spPr>
      </p:sp>
      <p:sp>
        <p:nvSpPr>
          <p:cNvPr id="18" name="Text 16"/>
          <p:cNvSpPr/>
          <p:nvPr/>
        </p:nvSpPr>
        <p:spPr>
          <a:xfrm>
            <a:off x="4846320" y="777240"/>
            <a:ext cx="3977640" cy="502920"/>
          </a:xfrm>
          <a:prstGeom prst="rect">
            <a:avLst/>
          </a:prstGeom>
          <a:noFill/>
          <a:ln/>
        </p:spPr>
        <p:txBody>
          <a:bodyPr wrap="square" rtlCol="0" anchor="ctr"/>
          <a:lstStyle/>
          <a:p>
            <a:pPr algn="ctr" indent="0" marL="0">
              <a:buNone/>
            </a:pPr>
            <a:r>
              <a:rPr lang="en-US" sz="1300" b="1" dirty="0">
                <a:solidFill>
                  <a:srgbClr val="FFFFFF"/>
                </a:solidFill>
              </a:rPr>
              <a:t>SIX-PILLAR APPROACH  →  WORKS</a:t>
            </a:r>
            <a:endParaRPr lang="en-US" sz="1300" dirty="0"/>
          </a:p>
        </p:txBody>
      </p:sp>
      <p:sp>
        <p:nvSpPr>
          <p:cNvPr id="19" name="Shape 17"/>
          <p:cNvSpPr/>
          <p:nvPr/>
        </p:nvSpPr>
        <p:spPr>
          <a:xfrm>
            <a:off x="4846320" y="1417320"/>
            <a:ext cx="3977640" cy="713232"/>
          </a:xfrm>
          <a:prstGeom prst="rect">
            <a:avLst/>
          </a:prstGeom>
          <a:solidFill>
            <a:srgbClr val="D9EFE3"/>
          </a:solidFill>
          <a:ln w="12700">
            <a:solidFill>
              <a:srgbClr val="1E6B3C"/>
            </a:solidFill>
            <a:prstDash val="solid"/>
          </a:ln>
        </p:spPr>
      </p:sp>
      <p:sp>
        <p:nvSpPr>
          <p:cNvPr id="20" name="Text 18"/>
          <p:cNvSpPr/>
          <p:nvPr/>
        </p:nvSpPr>
        <p:spPr>
          <a:xfrm>
            <a:off x="4983480" y="1463040"/>
            <a:ext cx="3749040" cy="274320"/>
          </a:xfrm>
          <a:prstGeom prst="rect">
            <a:avLst/>
          </a:prstGeom>
          <a:noFill/>
          <a:ln/>
        </p:spPr>
        <p:txBody>
          <a:bodyPr wrap="square" lIns="0" tIns="0" rIns="0" bIns="0" rtlCol="0" anchor="ctr"/>
          <a:lstStyle/>
          <a:p>
            <a:pPr indent="0" marL="0">
              <a:buNone/>
            </a:pPr>
            <a:r>
              <a:rPr lang="en-US" sz="1200" b="1" dirty="0">
                <a:solidFill>
                  <a:srgbClr val="1E6B3C"/>
                </a:solidFill>
              </a:rPr>
              <a:t>Policy enables Economics</a:t>
            </a:r>
            <a:endParaRPr lang="en-US" sz="1200" dirty="0"/>
          </a:p>
        </p:txBody>
      </p:sp>
      <p:sp>
        <p:nvSpPr>
          <p:cNvPr id="21" name="Text 19"/>
          <p:cNvSpPr/>
          <p:nvPr/>
        </p:nvSpPr>
        <p:spPr>
          <a:xfrm>
            <a:off x="4983480" y="1737360"/>
            <a:ext cx="3749040" cy="347472"/>
          </a:xfrm>
          <a:prstGeom prst="rect">
            <a:avLst/>
          </a:prstGeom>
          <a:noFill/>
          <a:ln/>
        </p:spPr>
        <p:txBody>
          <a:bodyPr wrap="square" lIns="0" tIns="0" rIns="0" bIns="0" rtlCol="0" anchor="ctr"/>
          <a:lstStyle/>
          <a:p>
            <a:pPr indent="0" marL="0">
              <a:buNone/>
            </a:pPr>
            <a:r>
              <a:rPr lang="en-US" sz="1050" dirty="0">
                <a:solidFill>
                  <a:srgbClr val="444444"/>
                </a:solidFill>
              </a:rPr>
              <a:t>Mandatory RBP/global budgets remove voluntary opt-out by highest-cost actors</a:t>
            </a:r>
            <a:endParaRPr lang="en-US" sz="1050" dirty="0"/>
          </a:p>
        </p:txBody>
      </p:sp>
      <p:sp>
        <p:nvSpPr>
          <p:cNvPr id="22" name="Shape 20"/>
          <p:cNvSpPr/>
          <p:nvPr/>
        </p:nvSpPr>
        <p:spPr>
          <a:xfrm>
            <a:off x="4846320" y="2240280"/>
            <a:ext cx="3977640" cy="713232"/>
          </a:xfrm>
          <a:prstGeom prst="rect">
            <a:avLst/>
          </a:prstGeom>
          <a:solidFill>
            <a:srgbClr val="D9EFE3"/>
          </a:solidFill>
          <a:ln w="12700">
            <a:solidFill>
              <a:srgbClr val="1E6B3C"/>
            </a:solidFill>
            <a:prstDash val="solid"/>
          </a:ln>
        </p:spPr>
      </p:sp>
      <p:sp>
        <p:nvSpPr>
          <p:cNvPr id="23" name="Text 21"/>
          <p:cNvSpPr/>
          <p:nvPr/>
        </p:nvSpPr>
        <p:spPr>
          <a:xfrm>
            <a:off x="4983480" y="2286000"/>
            <a:ext cx="3749040" cy="274320"/>
          </a:xfrm>
          <a:prstGeom prst="rect">
            <a:avLst/>
          </a:prstGeom>
          <a:noFill/>
          <a:ln/>
        </p:spPr>
        <p:txBody>
          <a:bodyPr wrap="square" lIns="0" tIns="0" rIns="0" bIns="0" rtlCol="0" anchor="ctr"/>
          <a:lstStyle/>
          <a:p>
            <a:pPr indent="0" marL="0">
              <a:buNone/>
            </a:pPr>
            <a:r>
              <a:rPr lang="en-US" sz="1200" b="1" dirty="0">
                <a:solidFill>
                  <a:srgbClr val="1E6B3C"/>
                </a:solidFill>
              </a:rPr>
              <a:t>Economics drives Clinical</a:t>
            </a:r>
            <a:endParaRPr lang="en-US" sz="1200" dirty="0"/>
          </a:p>
        </p:txBody>
      </p:sp>
      <p:sp>
        <p:nvSpPr>
          <p:cNvPr id="24" name="Text 22"/>
          <p:cNvSpPr/>
          <p:nvPr/>
        </p:nvSpPr>
        <p:spPr>
          <a:xfrm>
            <a:off x="4983480" y="2560320"/>
            <a:ext cx="3749040" cy="347472"/>
          </a:xfrm>
          <a:prstGeom prst="rect">
            <a:avLst/>
          </a:prstGeom>
          <a:noFill/>
          <a:ln/>
        </p:spPr>
        <p:txBody>
          <a:bodyPr wrap="square" lIns="0" tIns="0" rIns="0" bIns="0" rtlCol="0" anchor="ctr"/>
          <a:lstStyle/>
          <a:p>
            <a:pPr indent="0" marL="0">
              <a:buNone/>
            </a:pPr>
            <a:r>
              <a:rPr lang="en-US" sz="1050" dirty="0">
                <a:solidFill>
                  <a:srgbClr val="444444"/>
                </a:solidFill>
              </a:rPr>
              <a:t>Payment incentives align with population health model requirements</a:t>
            </a:r>
            <a:endParaRPr lang="en-US" sz="1050" dirty="0"/>
          </a:p>
        </p:txBody>
      </p:sp>
      <p:sp>
        <p:nvSpPr>
          <p:cNvPr id="25" name="Shape 23"/>
          <p:cNvSpPr/>
          <p:nvPr/>
        </p:nvSpPr>
        <p:spPr>
          <a:xfrm>
            <a:off x="4846320" y="3063240"/>
            <a:ext cx="3977640" cy="713232"/>
          </a:xfrm>
          <a:prstGeom prst="rect">
            <a:avLst/>
          </a:prstGeom>
          <a:solidFill>
            <a:srgbClr val="D9EFE3"/>
          </a:solidFill>
          <a:ln w="12700">
            <a:solidFill>
              <a:srgbClr val="1E6B3C"/>
            </a:solidFill>
            <a:prstDash val="solid"/>
          </a:ln>
        </p:spPr>
      </p:sp>
      <p:sp>
        <p:nvSpPr>
          <p:cNvPr id="26" name="Text 24"/>
          <p:cNvSpPr/>
          <p:nvPr/>
        </p:nvSpPr>
        <p:spPr>
          <a:xfrm>
            <a:off x="4983480" y="3108960"/>
            <a:ext cx="3749040" cy="274320"/>
          </a:xfrm>
          <a:prstGeom prst="rect">
            <a:avLst/>
          </a:prstGeom>
          <a:noFill/>
          <a:ln/>
        </p:spPr>
        <p:txBody>
          <a:bodyPr wrap="square" lIns="0" tIns="0" rIns="0" bIns="0" rtlCol="0" anchor="ctr"/>
          <a:lstStyle/>
          <a:p>
            <a:pPr indent="0" marL="0">
              <a:buNone/>
            </a:pPr>
            <a:r>
              <a:rPr lang="en-US" sz="1200" b="1" dirty="0">
                <a:solidFill>
                  <a:srgbClr val="1E6B3C"/>
                </a:solidFill>
              </a:rPr>
              <a:t>Technology enables all</a:t>
            </a:r>
            <a:endParaRPr lang="en-US" sz="1200" dirty="0"/>
          </a:p>
        </p:txBody>
      </p:sp>
      <p:sp>
        <p:nvSpPr>
          <p:cNvPr id="27" name="Text 25"/>
          <p:cNvSpPr/>
          <p:nvPr/>
        </p:nvSpPr>
        <p:spPr>
          <a:xfrm>
            <a:off x="4983480" y="3383280"/>
            <a:ext cx="3749040" cy="347472"/>
          </a:xfrm>
          <a:prstGeom prst="rect">
            <a:avLst/>
          </a:prstGeom>
          <a:noFill/>
          <a:ln/>
        </p:spPr>
        <p:txBody>
          <a:bodyPr wrap="square" lIns="0" tIns="0" rIns="0" bIns="0" rtlCol="0" anchor="ctr"/>
          <a:lstStyle/>
          <a:p>
            <a:pPr indent="0" marL="0">
              <a:buNone/>
            </a:pPr>
            <a:r>
              <a:rPr lang="en-US" sz="1050" dirty="0">
                <a:solidFill>
                  <a:srgbClr val="444444"/>
                </a:solidFill>
              </a:rPr>
              <a:t>Data infrastructure makes population health management scalable</a:t>
            </a:r>
            <a:endParaRPr lang="en-US" sz="1050" dirty="0"/>
          </a:p>
        </p:txBody>
      </p:sp>
      <p:sp>
        <p:nvSpPr>
          <p:cNvPr id="28" name="Shape 26"/>
          <p:cNvSpPr/>
          <p:nvPr/>
        </p:nvSpPr>
        <p:spPr>
          <a:xfrm>
            <a:off x="4846320" y="3886200"/>
            <a:ext cx="3977640" cy="713232"/>
          </a:xfrm>
          <a:prstGeom prst="rect">
            <a:avLst/>
          </a:prstGeom>
          <a:solidFill>
            <a:srgbClr val="D9EFE3"/>
          </a:solidFill>
          <a:ln w="12700">
            <a:solidFill>
              <a:srgbClr val="1E6B3C"/>
            </a:solidFill>
            <a:prstDash val="solid"/>
          </a:ln>
        </p:spPr>
      </p:sp>
      <p:sp>
        <p:nvSpPr>
          <p:cNvPr id="29" name="Text 27"/>
          <p:cNvSpPr/>
          <p:nvPr/>
        </p:nvSpPr>
        <p:spPr>
          <a:xfrm>
            <a:off x="4983480" y="3931920"/>
            <a:ext cx="3749040" cy="274320"/>
          </a:xfrm>
          <a:prstGeom prst="rect">
            <a:avLst/>
          </a:prstGeom>
          <a:noFill/>
          <a:ln/>
        </p:spPr>
        <p:txBody>
          <a:bodyPr wrap="square" lIns="0" tIns="0" rIns="0" bIns="0" rtlCol="0" anchor="ctr"/>
          <a:lstStyle/>
          <a:p>
            <a:pPr indent="0" marL="0">
              <a:buNone/>
            </a:pPr>
            <a:r>
              <a:rPr lang="en-US" sz="1200" b="1" dirty="0">
                <a:solidFill>
                  <a:srgbClr val="1E6B3C"/>
                </a:solidFill>
              </a:rPr>
              <a:t>Equity monitors all</a:t>
            </a:r>
            <a:endParaRPr lang="en-US" sz="1200" dirty="0"/>
          </a:p>
        </p:txBody>
      </p:sp>
      <p:sp>
        <p:nvSpPr>
          <p:cNvPr id="30" name="Text 28"/>
          <p:cNvSpPr/>
          <p:nvPr/>
        </p:nvSpPr>
        <p:spPr>
          <a:xfrm>
            <a:off x="4983480" y="4206240"/>
            <a:ext cx="3749040" cy="347472"/>
          </a:xfrm>
          <a:prstGeom prst="rect">
            <a:avLst/>
          </a:prstGeom>
          <a:noFill/>
          <a:ln/>
        </p:spPr>
        <p:txBody>
          <a:bodyPr wrap="square" lIns="0" tIns="0" rIns="0" bIns="0" rtlCol="0" anchor="ctr"/>
          <a:lstStyle/>
          <a:p>
            <a:pPr indent="0" marL="0">
              <a:buNone/>
            </a:pPr>
            <a:r>
              <a:rPr lang="en-US" sz="1050" dirty="0">
                <a:solidFill>
                  <a:srgbClr val="444444"/>
                </a:solidFill>
              </a:rPr>
              <a:t>Every pillar decision evaluated for equity implications — no blind spots</a:t>
            </a:r>
            <a:endParaRPr lang="en-US" sz="1050" dirty="0"/>
          </a:p>
        </p:txBody>
      </p:sp>
      <p:sp>
        <p:nvSpPr>
          <p:cNvPr id="31" name="Text 2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 — Source: CMMI evaluation literature; Oliver Wyman Act 167 Report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37160"/>
            <a:ext cx="859536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VERMONT'S SIX-PILLAR TRANSFORMATION MAP</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640080"/>
          <a:ext cx="8595360" cy="4297680"/>
        </p:xfrm>
        <a:graphic>
          <a:graphicData uri="http://schemas.openxmlformats.org/drawingml/2006/table">
            <a:tbl>
              <a:tblPr/>
              <a:tblGrid>
                <a:gridCol w="1188720"/>
                <a:gridCol w="3108960"/>
                <a:gridCol w="2011680"/>
                <a:gridCol w="2286000"/>
              </a:tblGrid>
              <a:tr h="548640">
                <a:tc>
                  <a:txBody>
                    <a:bodyPr/>
                    <a:lstStyle/>
                    <a:p>
                      <a:pPr indent="0" marL="0">
                        <a:buNone/>
                      </a:pPr>
                      <a:r>
                        <a:rPr lang="en-US" sz="1100" b="1" dirty="0">
                          <a:solidFill>
                            <a:srgbClr val="FFFFFF"/>
                          </a:solidFill>
                        </a:rPr>
                        <a:t>Pillar</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Primary Vermont Intervention</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Act / Vehicle</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Key Deadline</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548640">
                <a:tc>
                  <a:txBody>
                    <a:bodyPr/>
                    <a:lstStyle/>
                    <a:p>
                      <a:pPr indent="0" marL="0">
                        <a:buNone/>
                      </a:pPr>
                      <a:r>
                        <a:rPr lang="en-US" sz="1050" dirty="0">
                          <a:solidFill>
                            <a:srgbClr val="000000"/>
                          </a:solidFill>
                        </a:rPr>
                        <a:t>Policy</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Acts 167 (2022), 51, 55, 68 (2025); AHEAD State Agreement</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Vermont legislature + CMS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December 2028 Strategic Plan</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48640">
                <a:tc>
                  <a:txBody>
                    <a:bodyPr/>
                    <a:lstStyle/>
                    <a:p>
                      <a:pPr indent="0" marL="0">
                        <a:buNone/>
                      </a:pPr>
                      <a:r>
                        <a:rPr lang="en-US" sz="1050" dirty="0">
                          <a:solidFill>
                            <a:srgbClr val="000000"/>
                          </a:solidFill>
                        </a:rPr>
                        <a:t>Economics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Mandatory RBP (FY2027); Hospital global budgets (FY2028-2030); AHEAD TCOC</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GMCB + DVHA</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FY2027 / FY2028 / FY2030</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48640">
                <a:tc>
                  <a:txBody>
                    <a:bodyPr/>
                    <a:lstStyle/>
                    <a:p>
                      <a:pPr indent="0" marL="0">
                        <a:buNone/>
                      </a:pPr>
                      <a:r>
                        <a:rPr lang="en-US" sz="1050" dirty="0">
                          <a:solidFill>
                            <a:srgbClr val="000000"/>
                          </a:solidFill>
                        </a:rPr>
                        <a:t>Technology</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VHCURES all-payer database; Vermont CIN; AHS-GMCB analytics vendor</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GMCB + DVHA + AHS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Analytics vendor 2026</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48640">
                <a:tc>
                  <a:txBody>
                    <a:bodyPr/>
                    <a:lstStyle/>
                    <a:p>
                      <a:pPr indent="0" marL="0">
                        <a:buNone/>
                      </a:pPr>
                      <a:r>
                        <a:rPr lang="en-US" sz="1050" dirty="0">
                          <a:solidFill>
                            <a:srgbClr val="000000"/>
                          </a:solidFill>
                        </a:rPr>
                        <a:t>Clinical</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Blueprint for Health (all-payer PCMH+CHT); CoCM; CCBHC expansion (7 entities)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DVHA + Blueprint + DMH</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5 new CCBHCs by July 2026</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48640">
                <a:tc>
                  <a:txBody>
                    <a:bodyPr/>
                    <a:lstStyle/>
                    <a:p>
                      <a:pPr indent="0" marL="0">
                        <a:buNone/>
                      </a:pPr>
                      <a:r>
                        <a:rPr lang="en-US" sz="1050" dirty="0">
                          <a:solidFill>
                            <a:srgbClr val="000000"/>
                          </a:solidFill>
                        </a:rPr>
                        <a:t>Equity</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Geographic equity monitoring; SDOH integration; GLP-1 BALANCE decision</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AHS + VDH + DVHA</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BALANCE decision 2026</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48640">
                <a:tc>
                  <a:txBody>
                    <a:bodyPr/>
                    <a:lstStyle/>
                    <a:p>
                      <a:pPr indent="0" marL="0">
                        <a:buNone/>
                      </a:pPr>
                      <a:r>
                        <a:rPr lang="en-US" sz="1050" dirty="0">
                          <a:solidFill>
                            <a:srgbClr val="000000"/>
                          </a:solidFill>
                        </a:rPr>
                        <a:t>Operations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14-hospital transformation plans; Vermont CIN shared services; PMO</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AHS + 14 hospitals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Final plans early 2026</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 — Source: Acts 167 &amp; 68; AHEAD State Agreement; Vermont RHT Program Application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VERMONT'S LEGISLATIVE REFORM CASCADE  2022 – 2025</a:t>
            </a:r>
            <a:endParaRPr lang="en-US" sz="1800" dirty="0"/>
          </a:p>
        </p:txBody>
      </p:sp>
      <p:sp>
        <p:nvSpPr>
          <p:cNvPr id="3" name="Shape 1"/>
          <p:cNvSpPr/>
          <p:nvPr/>
        </p:nvSpPr>
        <p:spPr>
          <a:xfrm>
            <a:off x="228600" y="713232"/>
            <a:ext cx="2011680" cy="594360"/>
          </a:xfrm>
          <a:prstGeom prst="rect">
            <a:avLst/>
          </a:prstGeom>
          <a:solidFill>
            <a:srgbClr val="0D5F6B"/>
          </a:solidFill>
          <a:ln/>
        </p:spPr>
      </p:sp>
      <p:sp>
        <p:nvSpPr>
          <p:cNvPr id="4" name="Text 2"/>
          <p:cNvSpPr/>
          <p:nvPr/>
        </p:nvSpPr>
        <p:spPr>
          <a:xfrm>
            <a:off x="228600" y="713232"/>
            <a:ext cx="2011680" cy="594360"/>
          </a:xfrm>
          <a:prstGeom prst="rect">
            <a:avLst/>
          </a:prstGeom>
          <a:noFill/>
          <a:ln/>
        </p:spPr>
        <p:txBody>
          <a:bodyPr wrap="square" rtlCol="0" anchor="ctr"/>
          <a:lstStyle/>
          <a:p>
            <a:pPr algn="ctr" indent="0" marL="0">
              <a:buNone/>
            </a:pPr>
            <a:r>
              <a:rPr lang="en-US" sz="1300" b="1" dirty="0">
                <a:solidFill>
                  <a:srgbClr val="FFFFFF"/>
                </a:solidFill>
              </a:rPr>
              <a:t>2022</a:t>
            </a:r>
            <a:endParaRPr lang="en-US" sz="1300" dirty="0"/>
          </a:p>
          <a:p>
            <a:pPr algn="ctr" indent="0" marL="0">
              <a:buNone/>
            </a:pPr>
            <a:r>
              <a:rPr lang="en-US" sz="1300" b="1" dirty="0">
                <a:solidFill>
                  <a:srgbClr val="FFFFFF"/>
                </a:solidFill>
              </a:rPr>
              <a:t>Act 167</a:t>
            </a:r>
            <a:endParaRPr lang="en-US" sz="1300" dirty="0"/>
          </a:p>
        </p:txBody>
      </p:sp>
      <p:sp>
        <p:nvSpPr>
          <p:cNvPr id="5" name="Shape 3"/>
          <p:cNvSpPr/>
          <p:nvPr/>
        </p:nvSpPr>
        <p:spPr>
          <a:xfrm>
            <a:off x="228600" y="1353312"/>
            <a:ext cx="2011680" cy="3200400"/>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6" name="Text 4"/>
          <p:cNvSpPr/>
          <p:nvPr/>
        </p:nvSpPr>
        <p:spPr>
          <a:xfrm>
            <a:off x="320040" y="1444752"/>
            <a:ext cx="1828800" cy="411480"/>
          </a:xfrm>
          <a:prstGeom prst="rect">
            <a:avLst/>
          </a:prstGeom>
          <a:noFill/>
          <a:ln/>
        </p:spPr>
        <p:txBody>
          <a:bodyPr wrap="square" lIns="0" tIns="0" rIns="0" bIns="0" rtlCol="0" anchor="ctr"/>
          <a:lstStyle/>
          <a:p>
            <a:pPr indent="0" marL="0">
              <a:buNone/>
            </a:pPr>
            <a:r>
              <a:rPr lang="en-US" sz="1200" b="1" dirty="0">
                <a:solidFill>
                  <a:srgbClr val="0D5F6B"/>
                </a:solidFill>
              </a:rPr>
              <a:t>The Diagnosis Mandate</a:t>
            </a:r>
            <a:endParaRPr lang="en-US" sz="1200" dirty="0"/>
          </a:p>
        </p:txBody>
      </p:sp>
      <p:sp>
        <p:nvSpPr>
          <p:cNvPr id="7" name="Text 5"/>
          <p:cNvSpPr/>
          <p:nvPr/>
        </p:nvSpPr>
        <p:spPr>
          <a:xfrm>
            <a:off x="320040" y="1874520"/>
            <a:ext cx="1828800" cy="2560320"/>
          </a:xfrm>
          <a:prstGeom prst="rect">
            <a:avLst/>
          </a:prstGeom>
          <a:noFill/>
          <a:ln/>
        </p:spPr>
        <p:txBody>
          <a:bodyPr wrap="square" lIns="0" tIns="0" rIns="0" bIns="0" rtlCol="0" anchor="ctr"/>
          <a:lstStyle/>
          <a:p>
            <a:pPr indent="0" marL="0">
              <a:buNone/>
            </a:pPr>
            <a:r>
              <a:rPr lang="en-US" sz="1000" dirty="0">
                <a:solidFill>
                  <a:srgbClr val="444444"/>
                </a:solidFill>
              </a:rPr>
              <a:t>Hospital systems analysis commissioned. Oliver Wyman engaged. Five goals established: reduce inefficiencies, lower costs, improve access, improve outcomes, reduce inequities.</a:t>
            </a:r>
            <a:endParaRPr lang="en-US" sz="1000" dirty="0"/>
          </a:p>
        </p:txBody>
      </p:sp>
      <p:sp>
        <p:nvSpPr>
          <p:cNvPr id="8" name="Shape 6"/>
          <p:cNvSpPr/>
          <p:nvPr/>
        </p:nvSpPr>
        <p:spPr>
          <a:xfrm>
            <a:off x="2240280" y="950976"/>
            <a:ext cx="182880" cy="137160"/>
          </a:xfrm>
          <a:prstGeom prst="rect">
            <a:avLst/>
          </a:prstGeom>
          <a:solidFill>
            <a:srgbClr val="64748B"/>
          </a:solidFill>
          <a:ln/>
        </p:spPr>
      </p:sp>
      <p:sp>
        <p:nvSpPr>
          <p:cNvPr id="9" name="Shape 7"/>
          <p:cNvSpPr/>
          <p:nvPr/>
        </p:nvSpPr>
        <p:spPr>
          <a:xfrm>
            <a:off x="2423160" y="713232"/>
            <a:ext cx="2011680" cy="594360"/>
          </a:xfrm>
          <a:prstGeom prst="rect">
            <a:avLst/>
          </a:prstGeom>
          <a:solidFill>
            <a:srgbClr val="2E75B6"/>
          </a:solidFill>
          <a:ln/>
        </p:spPr>
      </p:sp>
      <p:sp>
        <p:nvSpPr>
          <p:cNvPr id="10" name="Text 8"/>
          <p:cNvSpPr/>
          <p:nvPr/>
        </p:nvSpPr>
        <p:spPr>
          <a:xfrm>
            <a:off x="2423160" y="713232"/>
            <a:ext cx="2011680" cy="594360"/>
          </a:xfrm>
          <a:prstGeom prst="rect">
            <a:avLst/>
          </a:prstGeom>
          <a:noFill/>
          <a:ln/>
        </p:spPr>
        <p:txBody>
          <a:bodyPr wrap="square" rtlCol="0" anchor="ctr"/>
          <a:lstStyle/>
          <a:p>
            <a:pPr algn="ctr" indent="0" marL="0">
              <a:buNone/>
            </a:pPr>
            <a:r>
              <a:rPr lang="en-US" sz="1300" b="1" dirty="0">
                <a:solidFill>
                  <a:srgbClr val="FFFFFF"/>
                </a:solidFill>
              </a:rPr>
              <a:t>2023</a:t>
            </a:r>
            <a:endParaRPr lang="en-US" sz="1300" dirty="0"/>
          </a:p>
          <a:p>
            <a:pPr algn="ctr" indent="0" marL="0">
              <a:buNone/>
            </a:pPr>
            <a:r>
              <a:rPr lang="en-US" sz="1300" b="1" dirty="0">
                <a:solidFill>
                  <a:srgbClr val="FFFFFF"/>
                </a:solidFill>
              </a:rPr>
              <a:t>Act 51</a:t>
            </a:r>
            <a:endParaRPr lang="en-US" sz="1300" dirty="0"/>
          </a:p>
        </p:txBody>
      </p:sp>
      <p:sp>
        <p:nvSpPr>
          <p:cNvPr id="11" name="Shape 9"/>
          <p:cNvSpPr/>
          <p:nvPr/>
        </p:nvSpPr>
        <p:spPr>
          <a:xfrm>
            <a:off x="2423160" y="1353312"/>
            <a:ext cx="2011680" cy="320040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2" name="Text 10"/>
          <p:cNvSpPr/>
          <p:nvPr/>
        </p:nvSpPr>
        <p:spPr>
          <a:xfrm>
            <a:off x="2514600" y="1444752"/>
            <a:ext cx="1828800" cy="411480"/>
          </a:xfrm>
          <a:prstGeom prst="rect">
            <a:avLst/>
          </a:prstGeom>
          <a:noFill/>
          <a:ln/>
        </p:spPr>
        <p:txBody>
          <a:bodyPr wrap="square" lIns="0" tIns="0" rIns="0" bIns="0" rtlCol="0" anchor="ctr"/>
          <a:lstStyle/>
          <a:p>
            <a:pPr indent="0" marL="0">
              <a:buNone/>
            </a:pPr>
            <a:r>
              <a:rPr lang="en-US" sz="1200" b="1" dirty="0">
                <a:solidFill>
                  <a:srgbClr val="2E75B6"/>
                </a:solidFill>
              </a:rPr>
              <a:t>The Foundation</a:t>
            </a:r>
            <a:endParaRPr lang="en-US" sz="1200" dirty="0"/>
          </a:p>
        </p:txBody>
      </p:sp>
      <p:sp>
        <p:nvSpPr>
          <p:cNvPr id="13" name="Text 11"/>
          <p:cNvSpPr/>
          <p:nvPr/>
        </p:nvSpPr>
        <p:spPr>
          <a:xfrm>
            <a:off x="2514600" y="1874520"/>
            <a:ext cx="1828800" cy="2560320"/>
          </a:xfrm>
          <a:prstGeom prst="rect">
            <a:avLst/>
          </a:prstGeom>
          <a:noFill/>
          <a:ln/>
        </p:spPr>
        <p:txBody>
          <a:bodyPr wrap="square" lIns="0" tIns="0" rIns="0" bIns="0" rtlCol="0" anchor="ctr"/>
          <a:lstStyle/>
          <a:p>
            <a:pPr indent="0" marL="0">
              <a:buNone/>
            </a:pPr>
            <a:r>
              <a:rPr lang="en-US" sz="1000" dirty="0">
                <a:solidFill>
                  <a:srgbClr val="444444"/>
                </a:solidFill>
              </a:rPr>
              <a:t>Hospital sustainability assessments. CON process review. Framework for subsequent payment reform legislation.</a:t>
            </a:r>
            <a:endParaRPr lang="en-US" sz="1000" dirty="0"/>
          </a:p>
        </p:txBody>
      </p:sp>
      <p:sp>
        <p:nvSpPr>
          <p:cNvPr id="14" name="Shape 12"/>
          <p:cNvSpPr/>
          <p:nvPr/>
        </p:nvSpPr>
        <p:spPr>
          <a:xfrm>
            <a:off x="4434840" y="950976"/>
            <a:ext cx="182880" cy="137160"/>
          </a:xfrm>
          <a:prstGeom prst="rect">
            <a:avLst/>
          </a:prstGeom>
          <a:solidFill>
            <a:srgbClr val="64748B"/>
          </a:solidFill>
          <a:ln/>
        </p:spPr>
      </p:sp>
      <p:sp>
        <p:nvSpPr>
          <p:cNvPr id="15" name="Shape 13"/>
          <p:cNvSpPr/>
          <p:nvPr/>
        </p:nvSpPr>
        <p:spPr>
          <a:xfrm>
            <a:off x="4617720" y="713232"/>
            <a:ext cx="2011680" cy="594360"/>
          </a:xfrm>
          <a:prstGeom prst="rect">
            <a:avLst/>
          </a:prstGeom>
          <a:solidFill>
            <a:srgbClr val="6B3A00"/>
          </a:solidFill>
          <a:ln/>
        </p:spPr>
      </p:sp>
      <p:sp>
        <p:nvSpPr>
          <p:cNvPr id="16" name="Text 14"/>
          <p:cNvSpPr/>
          <p:nvPr/>
        </p:nvSpPr>
        <p:spPr>
          <a:xfrm>
            <a:off x="4617720" y="713232"/>
            <a:ext cx="2011680" cy="594360"/>
          </a:xfrm>
          <a:prstGeom prst="rect">
            <a:avLst/>
          </a:prstGeom>
          <a:noFill/>
          <a:ln/>
        </p:spPr>
        <p:txBody>
          <a:bodyPr wrap="square" rtlCol="0" anchor="ctr"/>
          <a:lstStyle/>
          <a:p>
            <a:pPr algn="ctr" indent="0" marL="0">
              <a:buNone/>
            </a:pPr>
            <a:r>
              <a:rPr lang="en-US" sz="1300" b="1" dirty="0">
                <a:solidFill>
                  <a:srgbClr val="FFFFFF"/>
                </a:solidFill>
              </a:rPr>
              <a:t>2025</a:t>
            </a:r>
            <a:endParaRPr lang="en-US" sz="1300" dirty="0"/>
          </a:p>
          <a:p>
            <a:pPr algn="ctr" indent="0" marL="0">
              <a:buNone/>
            </a:pPr>
            <a:r>
              <a:rPr lang="en-US" sz="1300" b="1" dirty="0">
                <a:solidFill>
                  <a:srgbClr val="FFFFFF"/>
                </a:solidFill>
              </a:rPr>
              <a:t>(Spring)</a:t>
            </a:r>
            <a:endParaRPr lang="en-US" sz="1300" dirty="0"/>
          </a:p>
          <a:p>
            <a:pPr algn="ctr" indent="0" marL="0">
              <a:buNone/>
            </a:pPr>
            <a:r>
              <a:rPr lang="en-US" sz="1300" b="1" dirty="0">
                <a:solidFill>
                  <a:srgbClr val="FFFFFF"/>
                </a:solidFill>
              </a:rPr>
              <a:t>Act 55</a:t>
            </a:r>
            <a:endParaRPr lang="en-US" sz="1300" dirty="0"/>
          </a:p>
        </p:txBody>
      </p:sp>
      <p:sp>
        <p:nvSpPr>
          <p:cNvPr id="17" name="Shape 15"/>
          <p:cNvSpPr/>
          <p:nvPr/>
        </p:nvSpPr>
        <p:spPr>
          <a:xfrm>
            <a:off x="4617720" y="1353312"/>
            <a:ext cx="2011680" cy="3200400"/>
          </a:xfrm>
          <a:prstGeom prst="rect">
            <a:avLst/>
          </a:prstGeom>
          <a:solidFill>
            <a:srgbClr val="FFFFFF"/>
          </a:solidFill>
          <a:ln w="12700">
            <a:solidFill>
              <a:srgbClr val="6B3A00"/>
            </a:solidFill>
            <a:prstDash val="solid"/>
          </a:ln>
          <a:effectLst>
            <a:outerShdw sx="100000" sy="100000" kx="0" ky="0" algn="bl" rotWithShape="0" blurRad="76200" dist="25400" dir="16200000">
              <a:srgbClr val="000000">
                <a:alpha val="12000"/>
              </a:srgbClr>
            </a:outerShdw>
          </a:effectLst>
        </p:spPr>
      </p:sp>
      <p:sp>
        <p:nvSpPr>
          <p:cNvPr id="18" name="Text 16"/>
          <p:cNvSpPr/>
          <p:nvPr/>
        </p:nvSpPr>
        <p:spPr>
          <a:xfrm>
            <a:off x="4709160" y="1444752"/>
            <a:ext cx="1828800" cy="411480"/>
          </a:xfrm>
          <a:prstGeom prst="rect">
            <a:avLst/>
          </a:prstGeom>
          <a:noFill/>
          <a:ln/>
        </p:spPr>
        <p:txBody>
          <a:bodyPr wrap="square" lIns="0" tIns="0" rIns="0" bIns="0" rtlCol="0" anchor="ctr"/>
          <a:lstStyle/>
          <a:p>
            <a:pPr indent="0" marL="0">
              <a:buNone/>
            </a:pPr>
            <a:r>
              <a:rPr lang="en-US" sz="1200" b="1" dirty="0">
                <a:solidFill>
                  <a:srgbClr val="6B3A00"/>
                </a:solidFill>
              </a:rPr>
              <a:t>Drug Pricing Cap</a:t>
            </a:r>
            <a:endParaRPr lang="en-US" sz="1200" dirty="0"/>
          </a:p>
        </p:txBody>
      </p:sp>
      <p:sp>
        <p:nvSpPr>
          <p:cNvPr id="19" name="Text 17"/>
          <p:cNvSpPr/>
          <p:nvPr/>
        </p:nvSpPr>
        <p:spPr>
          <a:xfrm>
            <a:off x="4709160" y="1874520"/>
            <a:ext cx="1828800" cy="2560320"/>
          </a:xfrm>
          <a:prstGeom prst="rect">
            <a:avLst/>
          </a:prstGeom>
          <a:noFill/>
          <a:ln/>
        </p:spPr>
        <p:txBody>
          <a:bodyPr wrap="square" lIns="0" tIns="0" rIns="0" bIns="0" rtlCol="0" anchor="ctr"/>
          <a:lstStyle/>
          <a:p>
            <a:pPr indent="0" marL="0">
              <a:buNone/>
            </a:pPr>
            <a:r>
              <a:rPr lang="en-US" sz="1000" dirty="0">
                <a:solidFill>
                  <a:srgbClr val="444444"/>
                </a:solidFill>
              </a:rPr>
              <a:t>$135M in annual drug savings. Hospital 340B reporting requirements. Act 55 drug cap: $104.3M in FY2026 savings.</a:t>
            </a:r>
            <a:endParaRPr lang="en-US" sz="1000" dirty="0"/>
          </a:p>
        </p:txBody>
      </p:sp>
      <p:sp>
        <p:nvSpPr>
          <p:cNvPr id="20" name="Shape 18"/>
          <p:cNvSpPr/>
          <p:nvPr/>
        </p:nvSpPr>
        <p:spPr>
          <a:xfrm>
            <a:off x="6629400" y="950976"/>
            <a:ext cx="182880" cy="137160"/>
          </a:xfrm>
          <a:prstGeom prst="rect">
            <a:avLst/>
          </a:prstGeom>
          <a:solidFill>
            <a:srgbClr val="64748B"/>
          </a:solidFill>
          <a:ln/>
        </p:spPr>
      </p:sp>
      <p:sp>
        <p:nvSpPr>
          <p:cNvPr id="21" name="Shape 19"/>
          <p:cNvSpPr/>
          <p:nvPr/>
        </p:nvSpPr>
        <p:spPr>
          <a:xfrm>
            <a:off x="6812280" y="713232"/>
            <a:ext cx="2011680" cy="594360"/>
          </a:xfrm>
          <a:prstGeom prst="rect">
            <a:avLst/>
          </a:prstGeom>
          <a:solidFill>
            <a:srgbClr val="1F5C8B"/>
          </a:solidFill>
          <a:ln/>
        </p:spPr>
      </p:sp>
      <p:sp>
        <p:nvSpPr>
          <p:cNvPr id="22" name="Text 20"/>
          <p:cNvSpPr/>
          <p:nvPr/>
        </p:nvSpPr>
        <p:spPr>
          <a:xfrm>
            <a:off x="6812280" y="713232"/>
            <a:ext cx="2011680" cy="594360"/>
          </a:xfrm>
          <a:prstGeom prst="rect">
            <a:avLst/>
          </a:prstGeom>
          <a:noFill/>
          <a:ln/>
        </p:spPr>
        <p:txBody>
          <a:bodyPr wrap="square" rtlCol="0" anchor="ctr"/>
          <a:lstStyle/>
          <a:p>
            <a:pPr algn="ctr" indent="0" marL="0">
              <a:buNone/>
            </a:pPr>
            <a:r>
              <a:rPr lang="en-US" sz="1300" b="1" dirty="0">
                <a:solidFill>
                  <a:srgbClr val="FFFFFF"/>
                </a:solidFill>
              </a:rPr>
              <a:t>2025</a:t>
            </a:r>
            <a:endParaRPr lang="en-US" sz="1300" dirty="0"/>
          </a:p>
          <a:p>
            <a:pPr algn="ctr" indent="0" marL="0">
              <a:buNone/>
            </a:pPr>
            <a:r>
              <a:rPr lang="en-US" sz="1300" b="1" dirty="0">
                <a:solidFill>
                  <a:srgbClr val="FFFFFF"/>
                </a:solidFill>
              </a:rPr>
              <a:t>(Summer)</a:t>
            </a:r>
            <a:endParaRPr lang="en-US" sz="1300" dirty="0"/>
          </a:p>
          <a:p>
            <a:pPr algn="ctr" indent="0" marL="0">
              <a:buNone/>
            </a:pPr>
            <a:r>
              <a:rPr lang="en-US" sz="1300" b="1" dirty="0">
                <a:solidFill>
                  <a:srgbClr val="FFFFFF"/>
                </a:solidFill>
              </a:rPr>
              <a:t>Act 68</a:t>
            </a:r>
            <a:endParaRPr lang="en-US" sz="1300" dirty="0"/>
          </a:p>
        </p:txBody>
      </p:sp>
      <p:sp>
        <p:nvSpPr>
          <p:cNvPr id="23" name="Shape 21"/>
          <p:cNvSpPr/>
          <p:nvPr/>
        </p:nvSpPr>
        <p:spPr>
          <a:xfrm>
            <a:off x="6812280" y="1353312"/>
            <a:ext cx="2011680" cy="3200400"/>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24" name="Text 22"/>
          <p:cNvSpPr/>
          <p:nvPr/>
        </p:nvSpPr>
        <p:spPr>
          <a:xfrm>
            <a:off x="6903720" y="1444752"/>
            <a:ext cx="1828800" cy="411480"/>
          </a:xfrm>
          <a:prstGeom prst="rect">
            <a:avLst/>
          </a:prstGeom>
          <a:noFill/>
          <a:ln/>
        </p:spPr>
        <p:txBody>
          <a:bodyPr wrap="square" lIns="0" tIns="0" rIns="0" bIns="0" rtlCol="0" anchor="ctr"/>
          <a:lstStyle/>
          <a:p>
            <a:pPr indent="0" marL="0">
              <a:buNone/>
            </a:pPr>
            <a:r>
              <a:rPr lang="en-US" sz="1200" b="1" dirty="0">
                <a:solidFill>
                  <a:srgbClr val="1F5C8B"/>
                </a:solidFill>
              </a:rPr>
              <a:t>The Mandate</a:t>
            </a:r>
            <a:endParaRPr lang="en-US" sz="1200" dirty="0"/>
          </a:p>
        </p:txBody>
      </p:sp>
      <p:sp>
        <p:nvSpPr>
          <p:cNvPr id="25" name="Text 23"/>
          <p:cNvSpPr/>
          <p:nvPr/>
        </p:nvSpPr>
        <p:spPr>
          <a:xfrm>
            <a:off x="6903720" y="1874520"/>
            <a:ext cx="1828800" cy="2560320"/>
          </a:xfrm>
          <a:prstGeom prst="rect">
            <a:avLst/>
          </a:prstGeom>
          <a:noFill/>
          <a:ln/>
        </p:spPr>
        <p:txBody>
          <a:bodyPr wrap="square" lIns="0" tIns="0" rIns="0" bIns="0" rtlCol="0" anchor="ctr"/>
          <a:lstStyle/>
          <a:p>
            <a:pPr indent="0" marL="0">
              <a:buNone/>
            </a:pPr>
            <a:r>
              <a:rPr lang="en-US" sz="1000" dirty="0">
                <a:solidFill>
                  <a:srgbClr val="444444"/>
                </a:solidFill>
              </a:rPr>
              <a:t>Mandatory RBP (FY2027). Global budgets (FY2028-2030). Statewide Strategic Plan (December 2028). Health Care Delivery Advisory Committee.</a:t>
            </a:r>
            <a:endParaRPr lang="en-US" sz="1000" dirty="0"/>
          </a:p>
        </p:txBody>
      </p:sp>
      <p:sp>
        <p:nvSpPr>
          <p:cNvPr id="26" name="Text 24"/>
          <p:cNvSpPr/>
          <p:nvPr/>
        </p:nvSpPr>
        <p:spPr>
          <a:xfrm>
            <a:off x="365760" y="4663440"/>
            <a:ext cx="8412480" cy="347472"/>
          </a:xfrm>
          <a:prstGeom prst="rect">
            <a:avLst/>
          </a:prstGeom>
          <a:noFill/>
          <a:ln/>
        </p:spPr>
        <p:txBody>
          <a:bodyPr wrap="square" rtlCol="0" anchor="ctr"/>
          <a:lstStyle/>
          <a:p>
            <a:pPr algn="ctr" indent="0" marL="0">
              <a:buNone/>
            </a:pPr>
            <a:r>
              <a:rPr lang="en-US" sz="1050" i="1" dirty="0">
                <a:solidFill>
                  <a:srgbClr val="64748B"/>
                </a:solidFill>
              </a:rPr>
              <a:t>Each Act builds on the institutional capacity and evidence created by its predecessor — the reform cascade structure</a:t>
            </a:r>
            <a:endParaRPr lang="en-US" sz="1050" dirty="0"/>
          </a:p>
        </p:txBody>
      </p:sp>
      <p:sp>
        <p:nvSpPr>
          <p:cNvPr id="27" name="Text 25"/>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 / Chapter 4 — Source: Vermont Legislature; Act 167 (2022); Act 68 (2025)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2</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Vermont System Portrait</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2000" b="1" dirty="0">
                <a:solidFill>
                  <a:srgbClr val="1F5C8B"/>
                </a:solidFill>
                <a:latin typeface="Georgia" pitchFamily="34" charset="0"/>
                <a:ea typeface="Georgia" pitchFamily="34" charset="-122"/>
                <a:cs typeface="Georgia" pitchFamily="34" charset="-120"/>
              </a:rPr>
              <a:t>VERMONT: THE DEMOGRAPHIC CRISIS IN DATA</a:t>
            </a:r>
            <a:endParaRPr lang="en-US" sz="2000" dirty="0"/>
          </a:p>
        </p:txBody>
      </p:sp>
      <p:sp>
        <p:nvSpPr>
          <p:cNvPr id="3" name="Shape 1"/>
          <p:cNvSpPr/>
          <p:nvPr/>
        </p:nvSpPr>
        <p:spPr>
          <a:xfrm>
            <a:off x="228600" y="749808"/>
            <a:ext cx="2743200" cy="1691640"/>
          </a:xfrm>
          <a:prstGeom prst="rect">
            <a:avLst/>
          </a:prstGeom>
          <a:solidFill>
            <a:srgbClr val="D5E8F0"/>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28600" y="749808"/>
            <a:ext cx="2743200" cy="320040"/>
          </a:xfrm>
          <a:prstGeom prst="rect">
            <a:avLst/>
          </a:prstGeom>
          <a:solidFill>
            <a:srgbClr val="1F5C8B"/>
          </a:solidFill>
          <a:ln/>
        </p:spPr>
      </p:sp>
      <p:sp>
        <p:nvSpPr>
          <p:cNvPr id="5" name="Text 3"/>
          <p:cNvSpPr/>
          <p:nvPr/>
        </p:nvSpPr>
        <p:spPr>
          <a:xfrm>
            <a:off x="228600" y="1069848"/>
            <a:ext cx="2743200" cy="685800"/>
          </a:xfrm>
          <a:prstGeom prst="rect">
            <a:avLst/>
          </a:prstGeom>
          <a:noFill/>
          <a:ln/>
        </p:spPr>
        <p:txBody>
          <a:bodyPr wrap="square" rtlCol="0" anchor="ctr"/>
          <a:lstStyle/>
          <a:p>
            <a:pPr algn="ctr" indent="0" marL="0">
              <a:buNone/>
            </a:pPr>
            <a:r>
              <a:rPr lang="en-US" sz="3600" b="1" dirty="0">
                <a:solidFill>
                  <a:srgbClr val="1F5C8B"/>
                </a:solidFill>
              </a:rPr>
              <a:t>647K</a:t>
            </a:r>
            <a:endParaRPr lang="en-US" sz="3600" dirty="0"/>
          </a:p>
        </p:txBody>
      </p:sp>
      <p:sp>
        <p:nvSpPr>
          <p:cNvPr id="6" name="Text 4"/>
          <p:cNvSpPr/>
          <p:nvPr/>
        </p:nvSpPr>
        <p:spPr>
          <a:xfrm>
            <a:off x="320040" y="1801368"/>
            <a:ext cx="2560320" cy="347472"/>
          </a:xfrm>
          <a:prstGeom prst="rect">
            <a:avLst/>
          </a:prstGeom>
          <a:noFill/>
          <a:ln/>
        </p:spPr>
        <p:txBody>
          <a:bodyPr wrap="square" lIns="0" tIns="0" rIns="0" bIns="0" rtlCol="0" anchor="ctr"/>
          <a:lstStyle/>
          <a:p>
            <a:pPr indent="0" marL="0">
              <a:buNone/>
            </a:pPr>
            <a:r>
              <a:rPr lang="en-US" sz="1050" b="1" dirty="0">
                <a:solidFill>
                  <a:srgbClr val="1A1A1A"/>
                </a:solidFill>
              </a:rPr>
              <a:t>Total population</a:t>
            </a:r>
            <a:endParaRPr lang="en-US" sz="1050" dirty="0"/>
          </a:p>
        </p:txBody>
      </p:sp>
      <p:sp>
        <p:nvSpPr>
          <p:cNvPr id="7" name="Text 5"/>
          <p:cNvSpPr/>
          <p:nvPr/>
        </p:nvSpPr>
        <p:spPr>
          <a:xfrm>
            <a:off x="320040" y="2139696"/>
            <a:ext cx="2560320" cy="256032"/>
          </a:xfrm>
          <a:prstGeom prst="rect">
            <a:avLst/>
          </a:prstGeom>
          <a:noFill/>
          <a:ln/>
        </p:spPr>
        <p:txBody>
          <a:bodyPr wrap="square" lIns="0" tIns="0" rIns="0" bIns="0" rtlCol="0" anchor="ctr"/>
          <a:lstStyle/>
          <a:p>
            <a:pPr indent="0" marL="0">
              <a:buNone/>
            </a:pPr>
            <a:r>
              <a:rPr lang="en-US" sz="950" i="1" dirty="0">
                <a:solidFill>
                  <a:srgbClr val="666666"/>
                </a:solidFill>
              </a:rPr>
              <a:t>2nd smallest US state by population</a:t>
            </a:r>
            <a:endParaRPr lang="en-US" sz="950" dirty="0"/>
          </a:p>
        </p:txBody>
      </p:sp>
      <p:sp>
        <p:nvSpPr>
          <p:cNvPr id="8" name="Shape 6"/>
          <p:cNvSpPr/>
          <p:nvPr/>
        </p:nvSpPr>
        <p:spPr>
          <a:xfrm>
            <a:off x="3200400" y="749808"/>
            <a:ext cx="2743200" cy="1691640"/>
          </a:xfrm>
          <a:prstGeom prst="rect">
            <a:avLst/>
          </a:prstGeom>
          <a:solidFill>
            <a:srgbClr val="FAE0E0"/>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9" name="Shape 7"/>
          <p:cNvSpPr/>
          <p:nvPr/>
        </p:nvSpPr>
        <p:spPr>
          <a:xfrm>
            <a:off x="3200400" y="749808"/>
            <a:ext cx="2743200" cy="320040"/>
          </a:xfrm>
          <a:prstGeom prst="rect">
            <a:avLst/>
          </a:prstGeom>
          <a:solidFill>
            <a:srgbClr val="8B1A1A"/>
          </a:solidFill>
          <a:ln/>
        </p:spPr>
      </p:sp>
      <p:sp>
        <p:nvSpPr>
          <p:cNvPr id="10" name="Text 8"/>
          <p:cNvSpPr/>
          <p:nvPr/>
        </p:nvSpPr>
        <p:spPr>
          <a:xfrm>
            <a:off x="3200400" y="1069848"/>
            <a:ext cx="2743200" cy="685800"/>
          </a:xfrm>
          <a:prstGeom prst="rect">
            <a:avLst/>
          </a:prstGeom>
          <a:noFill/>
          <a:ln/>
        </p:spPr>
        <p:txBody>
          <a:bodyPr wrap="square" rtlCol="0" anchor="ctr"/>
          <a:lstStyle/>
          <a:p>
            <a:pPr algn="ctr" indent="0" marL="0">
              <a:buNone/>
            </a:pPr>
            <a:r>
              <a:rPr lang="en-US" sz="3600" b="1" dirty="0">
                <a:solidFill>
                  <a:srgbClr val="8B1A1A"/>
                </a:solidFill>
              </a:rPr>
              <a:t>57%</a:t>
            </a:r>
            <a:endParaRPr lang="en-US" sz="3600" dirty="0"/>
          </a:p>
        </p:txBody>
      </p:sp>
      <p:sp>
        <p:nvSpPr>
          <p:cNvPr id="11" name="Text 9"/>
          <p:cNvSpPr/>
          <p:nvPr/>
        </p:nvSpPr>
        <p:spPr>
          <a:xfrm>
            <a:off x="3291840" y="1801368"/>
            <a:ext cx="2560320" cy="347472"/>
          </a:xfrm>
          <a:prstGeom prst="rect">
            <a:avLst/>
          </a:prstGeom>
          <a:noFill/>
          <a:ln/>
        </p:spPr>
        <p:txBody>
          <a:bodyPr wrap="square" lIns="0" tIns="0" rIns="0" bIns="0" rtlCol="0" anchor="ctr"/>
          <a:lstStyle/>
          <a:p>
            <a:pPr indent="0" marL="0">
              <a:buNone/>
            </a:pPr>
            <a:r>
              <a:rPr lang="en-US" sz="1050" b="1" dirty="0">
                <a:solidFill>
                  <a:srgbClr val="1A1A1A"/>
                </a:solidFill>
              </a:rPr>
              <a:t>Growth in 65+ population by 2040</a:t>
            </a:r>
            <a:endParaRPr lang="en-US" sz="1050" dirty="0"/>
          </a:p>
        </p:txBody>
      </p:sp>
      <p:sp>
        <p:nvSpPr>
          <p:cNvPr id="12" name="Text 10"/>
          <p:cNvSpPr/>
          <p:nvPr/>
        </p:nvSpPr>
        <p:spPr>
          <a:xfrm>
            <a:off x="3291840" y="2139696"/>
            <a:ext cx="2560320" cy="256032"/>
          </a:xfrm>
          <a:prstGeom prst="rect">
            <a:avLst/>
          </a:prstGeom>
          <a:noFill/>
          <a:ln/>
        </p:spPr>
        <p:txBody>
          <a:bodyPr wrap="square" lIns="0" tIns="0" rIns="0" bIns="0" rtlCol="0" anchor="ctr"/>
          <a:lstStyle/>
          <a:p>
            <a:pPr indent="0" marL="0">
              <a:buNone/>
            </a:pPr>
            <a:r>
              <a:rPr lang="en-US" sz="950" i="1" dirty="0">
                <a:solidFill>
                  <a:srgbClr val="666666"/>
                </a:solidFill>
              </a:rPr>
              <a:t>From 21.7% today to 30%+ of total</a:t>
            </a:r>
            <a:endParaRPr lang="en-US" sz="950" dirty="0"/>
          </a:p>
        </p:txBody>
      </p:sp>
      <p:sp>
        <p:nvSpPr>
          <p:cNvPr id="13" name="Shape 11"/>
          <p:cNvSpPr/>
          <p:nvPr/>
        </p:nvSpPr>
        <p:spPr>
          <a:xfrm>
            <a:off x="6172200" y="749808"/>
            <a:ext cx="2743200" cy="1691640"/>
          </a:xfrm>
          <a:prstGeom prst="rect">
            <a:avLst/>
          </a:prstGeom>
          <a:solidFill>
            <a:srgbClr val="FFF0CC"/>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14" name="Shape 12"/>
          <p:cNvSpPr/>
          <p:nvPr/>
        </p:nvSpPr>
        <p:spPr>
          <a:xfrm>
            <a:off x="6172200" y="749808"/>
            <a:ext cx="2743200" cy="320040"/>
          </a:xfrm>
          <a:prstGeom prst="rect">
            <a:avLst/>
          </a:prstGeom>
          <a:solidFill>
            <a:srgbClr val="7B4A00"/>
          </a:solidFill>
          <a:ln/>
        </p:spPr>
      </p:sp>
      <p:sp>
        <p:nvSpPr>
          <p:cNvPr id="15" name="Text 13"/>
          <p:cNvSpPr/>
          <p:nvPr/>
        </p:nvSpPr>
        <p:spPr>
          <a:xfrm>
            <a:off x="6172200" y="1069848"/>
            <a:ext cx="2743200" cy="685800"/>
          </a:xfrm>
          <a:prstGeom prst="rect">
            <a:avLst/>
          </a:prstGeom>
          <a:noFill/>
          <a:ln/>
        </p:spPr>
        <p:txBody>
          <a:bodyPr wrap="square" rtlCol="0" anchor="ctr"/>
          <a:lstStyle/>
          <a:p>
            <a:pPr algn="ctr" indent="0" marL="0">
              <a:buNone/>
            </a:pPr>
            <a:r>
              <a:rPr lang="en-US" sz="3600" b="1" dirty="0">
                <a:solidFill>
                  <a:srgbClr val="7B4A00"/>
                </a:solidFill>
              </a:rPr>
              <a:t>−13%</a:t>
            </a:r>
            <a:endParaRPr lang="en-US" sz="3600" dirty="0"/>
          </a:p>
        </p:txBody>
      </p:sp>
      <p:sp>
        <p:nvSpPr>
          <p:cNvPr id="16" name="Text 14"/>
          <p:cNvSpPr/>
          <p:nvPr/>
        </p:nvSpPr>
        <p:spPr>
          <a:xfrm>
            <a:off x="6263640" y="1801368"/>
            <a:ext cx="2560320" cy="347472"/>
          </a:xfrm>
          <a:prstGeom prst="rect">
            <a:avLst/>
          </a:prstGeom>
          <a:noFill/>
          <a:ln/>
        </p:spPr>
        <p:txBody>
          <a:bodyPr wrap="square" lIns="0" tIns="0" rIns="0" bIns="0" rtlCol="0" anchor="ctr"/>
          <a:lstStyle/>
          <a:p>
            <a:pPr indent="0" marL="0">
              <a:buNone/>
            </a:pPr>
            <a:r>
              <a:rPr lang="en-US" sz="1050" b="1" dirty="0">
                <a:solidFill>
                  <a:srgbClr val="1A1A1A"/>
                </a:solidFill>
              </a:rPr>
              <a:t>Working-age population by 2040</a:t>
            </a:r>
            <a:endParaRPr lang="en-US" sz="1050" dirty="0"/>
          </a:p>
        </p:txBody>
      </p:sp>
      <p:sp>
        <p:nvSpPr>
          <p:cNvPr id="17" name="Text 15"/>
          <p:cNvSpPr/>
          <p:nvPr/>
        </p:nvSpPr>
        <p:spPr>
          <a:xfrm>
            <a:off x="6263640" y="2139696"/>
            <a:ext cx="2560320" cy="256032"/>
          </a:xfrm>
          <a:prstGeom prst="rect">
            <a:avLst/>
          </a:prstGeom>
          <a:noFill/>
          <a:ln/>
        </p:spPr>
        <p:txBody>
          <a:bodyPr wrap="square" lIns="0" tIns="0" rIns="0" bIns="0" rtlCol="0" anchor="ctr"/>
          <a:lstStyle/>
          <a:p>
            <a:pPr indent="0" marL="0">
              <a:buNone/>
            </a:pPr>
            <a:r>
              <a:rPr lang="en-US" sz="950" i="1" dirty="0">
                <a:solidFill>
                  <a:srgbClr val="666666"/>
                </a:solidFill>
              </a:rPr>
              <a:t>From 367K to ~318K — shrinking commercial base</a:t>
            </a:r>
            <a:endParaRPr lang="en-US" sz="950" dirty="0"/>
          </a:p>
        </p:txBody>
      </p:sp>
      <p:sp>
        <p:nvSpPr>
          <p:cNvPr id="18" name="Shape 16"/>
          <p:cNvSpPr/>
          <p:nvPr/>
        </p:nvSpPr>
        <p:spPr>
          <a:xfrm>
            <a:off x="228600" y="2651760"/>
            <a:ext cx="2743200" cy="1691640"/>
          </a:xfrm>
          <a:prstGeom prst="rect">
            <a:avLst/>
          </a:prstGeom>
          <a:solidFill>
            <a:srgbClr val="D9EFE3"/>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19" name="Shape 17"/>
          <p:cNvSpPr/>
          <p:nvPr/>
        </p:nvSpPr>
        <p:spPr>
          <a:xfrm>
            <a:off x="228600" y="2651760"/>
            <a:ext cx="2743200" cy="320040"/>
          </a:xfrm>
          <a:prstGeom prst="rect">
            <a:avLst/>
          </a:prstGeom>
          <a:solidFill>
            <a:srgbClr val="1E6B3C"/>
          </a:solidFill>
          <a:ln/>
        </p:spPr>
      </p:sp>
      <p:sp>
        <p:nvSpPr>
          <p:cNvPr id="20" name="Text 18"/>
          <p:cNvSpPr/>
          <p:nvPr/>
        </p:nvSpPr>
        <p:spPr>
          <a:xfrm>
            <a:off x="228600" y="2971800"/>
            <a:ext cx="2743200" cy="685800"/>
          </a:xfrm>
          <a:prstGeom prst="rect">
            <a:avLst/>
          </a:prstGeom>
          <a:noFill/>
          <a:ln/>
        </p:spPr>
        <p:txBody>
          <a:bodyPr wrap="square" rtlCol="0" anchor="ctr"/>
          <a:lstStyle/>
          <a:p>
            <a:pPr algn="ctr" indent="0" marL="0">
              <a:buNone/>
            </a:pPr>
            <a:r>
              <a:rPr lang="en-US" sz="3600" b="1" dirty="0">
                <a:solidFill>
                  <a:srgbClr val="1E6B3C"/>
                </a:solidFill>
              </a:rPr>
              <a:t>97%</a:t>
            </a:r>
            <a:endParaRPr lang="en-US" sz="3600" dirty="0"/>
          </a:p>
        </p:txBody>
      </p:sp>
      <p:sp>
        <p:nvSpPr>
          <p:cNvPr id="21" name="Text 19"/>
          <p:cNvSpPr/>
          <p:nvPr/>
        </p:nvSpPr>
        <p:spPr>
          <a:xfrm>
            <a:off x="320040" y="3703320"/>
            <a:ext cx="2560320" cy="347472"/>
          </a:xfrm>
          <a:prstGeom prst="rect">
            <a:avLst/>
          </a:prstGeom>
          <a:noFill/>
          <a:ln/>
        </p:spPr>
        <p:txBody>
          <a:bodyPr wrap="square" lIns="0" tIns="0" rIns="0" bIns="0" rtlCol="0" anchor="ctr"/>
          <a:lstStyle/>
          <a:p>
            <a:pPr indent="0" marL="0">
              <a:buNone/>
            </a:pPr>
            <a:r>
              <a:rPr lang="en-US" sz="1050" b="1" dirty="0">
                <a:solidFill>
                  <a:srgbClr val="1A1A1A"/>
                </a:solidFill>
              </a:rPr>
              <a:t>Insured rate — one of the highest in US</a:t>
            </a:r>
            <a:endParaRPr lang="en-US" sz="1050" dirty="0"/>
          </a:p>
        </p:txBody>
      </p:sp>
      <p:sp>
        <p:nvSpPr>
          <p:cNvPr id="22" name="Text 20"/>
          <p:cNvSpPr/>
          <p:nvPr/>
        </p:nvSpPr>
        <p:spPr>
          <a:xfrm>
            <a:off x="320040" y="4041648"/>
            <a:ext cx="2560320" cy="256032"/>
          </a:xfrm>
          <a:prstGeom prst="rect">
            <a:avLst/>
          </a:prstGeom>
          <a:noFill/>
          <a:ln/>
        </p:spPr>
        <p:txBody>
          <a:bodyPr wrap="square" lIns="0" tIns="0" rIns="0" bIns="0" rtlCol="0" anchor="ctr"/>
          <a:lstStyle/>
          <a:p>
            <a:pPr indent="0" marL="0">
              <a:buNone/>
            </a:pPr>
            <a:r>
              <a:rPr lang="en-US" sz="950" i="1" dirty="0">
                <a:solidFill>
                  <a:srgbClr val="666666"/>
                </a:solidFill>
              </a:rPr>
              <a:t>ACA + Medicaid expansion; yet still unaffordable</a:t>
            </a:r>
            <a:endParaRPr lang="en-US" sz="950" dirty="0"/>
          </a:p>
        </p:txBody>
      </p:sp>
      <p:sp>
        <p:nvSpPr>
          <p:cNvPr id="23" name="Shape 21"/>
          <p:cNvSpPr/>
          <p:nvPr/>
        </p:nvSpPr>
        <p:spPr>
          <a:xfrm>
            <a:off x="3200400" y="2651760"/>
            <a:ext cx="2743200" cy="1691640"/>
          </a:xfrm>
          <a:prstGeom prst="rect">
            <a:avLst/>
          </a:prstGeom>
          <a:solidFill>
            <a:srgbClr val="FAE0E0"/>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24" name="Shape 22"/>
          <p:cNvSpPr/>
          <p:nvPr/>
        </p:nvSpPr>
        <p:spPr>
          <a:xfrm>
            <a:off x="3200400" y="2651760"/>
            <a:ext cx="2743200" cy="320040"/>
          </a:xfrm>
          <a:prstGeom prst="rect">
            <a:avLst/>
          </a:prstGeom>
          <a:solidFill>
            <a:srgbClr val="8B1A1A"/>
          </a:solidFill>
          <a:ln/>
        </p:spPr>
      </p:sp>
      <p:sp>
        <p:nvSpPr>
          <p:cNvPr id="25" name="Text 23"/>
          <p:cNvSpPr/>
          <p:nvPr/>
        </p:nvSpPr>
        <p:spPr>
          <a:xfrm>
            <a:off x="3200400" y="2971800"/>
            <a:ext cx="2743200" cy="685800"/>
          </a:xfrm>
          <a:prstGeom prst="rect">
            <a:avLst/>
          </a:prstGeom>
          <a:noFill/>
          <a:ln/>
        </p:spPr>
        <p:txBody>
          <a:bodyPr wrap="square" rtlCol="0" anchor="ctr"/>
          <a:lstStyle/>
          <a:p>
            <a:pPr algn="ctr" indent="0" marL="0">
              <a:buNone/>
            </a:pPr>
            <a:r>
              <a:rPr lang="en-US" sz="3600" b="1" dirty="0">
                <a:solidFill>
                  <a:srgbClr val="8B1A1A"/>
                </a:solidFill>
              </a:rPr>
              <a:t>108%</a:t>
            </a:r>
            <a:endParaRPr lang="en-US" sz="3600" dirty="0"/>
          </a:p>
        </p:txBody>
      </p:sp>
      <p:sp>
        <p:nvSpPr>
          <p:cNvPr id="26" name="Text 24"/>
          <p:cNvSpPr/>
          <p:nvPr/>
        </p:nvSpPr>
        <p:spPr>
          <a:xfrm>
            <a:off x="3291840" y="3703320"/>
            <a:ext cx="2560320" cy="347472"/>
          </a:xfrm>
          <a:prstGeom prst="rect">
            <a:avLst/>
          </a:prstGeom>
          <a:noFill/>
          <a:ln/>
        </p:spPr>
        <p:txBody>
          <a:bodyPr wrap="square" lIns="0" tIns="0" rIns="0" bIns="0" rtlCol="0" anchor="ctr"/>
          <a:lstStyle/>
          <a:p>
            <a:pPr indent="0" marL="0">
              <a:buNone/>
            </a:pPr>
            <a:r>
              <a:rPr lang="en-US" sz="1050" b="1" dirty="0">
                <a:solidFill>
                  <a:srgbClr val="1A1A1A"/>
                </a:solidFill>
              </a:rPr>
              <a:t>Premium increase 2018–2024</a:t>
            </a:r>
            <a:endParaRPr lang="en-US" sz="1050" dirty="0"/>
          </a:p>
        </p:txBody>
      </p:sp>
      <p:sp>
        <p:nvSpPr>
          <p:cNvPr id="27" name="Text 25"/>
          <p:cNvSpPr/>
          <p:nvPr/>
        </p:nvSpPr>
        <p:spPr>
          <a:xfrm>
            <a:off x="3291840" y="4041648"/>
            <a:ext cx="2560320" cy="256032"/>
          </a:xfrm>
          <a:prstGeom prst="rect">
            <a:avLst/>
          </a:prstGeom>
          <a:noFill/>
          <a:ln/>
        </p:spPr>
        <p:txBody>
          <a:bodyPr wrap="square" lIns="0" tIns="0" rIns="0" bIns="0" rtlCol="0" anchor="ctr"/>
          <a:lstStyle/>
          <a:p>
            <a:pPr indent="0" marL="0">
              <a:buNone/>
            </a:pPr>
            <a:r>
              <a:rPr lang="en-US" sz="950" i="1" dirty="0">
                <a:solidFill>
                  <a:srgbClr val="666666"/>
                </a:solidFill>
              </a:rPr>
              <a:t>$456/month → $948/month; income grew only 22%</a:t>
            </a:r>
            <a:endParaRPr lang="en-US" sz="950" dirty="0"/>
          </a:p>
        </p:txBody>
      </p:sp>
      <p:sp>
        <p:nvSpPr>
          <p:cNvPr id="28" name="Shape 26"/>
          <p:cNvSpPr/>
          <p:nvPr/>
        </p:nvSpPr>
        <p:spPr>
          <a:xfrm>
            <a:off x="6172200" y="2651760"/>
            <a:ext cx="2743200" cy="1691640"/>
          </a:xfrm>
          <a:prstGeom prst="rect">
            <a:avLst/>
          </a:prstGeom>
          <a:solidFill>
            <a:srgbClr val="FFF0CC"/>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29" name="Shape 27"/>
          <p:cNvSpPr/>
          <p:nvPr/>
        </p:nvSpPr>
        <p:spPr>
          <a:xfrm>
            <a:off x="6172200" y="2651760"/>
            <a:ext cx="2743200" cy="320040"/>
          </a:xfrm>
          <a:prstGeom prst="rect">
            <a:avLst/>
          </a:prstGeom>
          <a:solidFill>
            <a:srgbClr val="7B4A00"/>
          </a:solidFill>
          <a:ln/>
        </p:spPr>
      </p:sp>
      <p:sp>
        <p:nvSpPr>
          <p:cNvPr id="30" name="Text 28"/>
          <p:cNvSpPr/>
          <p:nvPr/>
        </p:nvSpPr>
        <p:spPr>
          <a:xfrm>
            <a:off x="6172200" y="2971800"/>
            <a:ext cx="2743200" cy="685800"/>
          </a:xfrm>
          <a:prstGeom prst="rect">
            <a:avLst/>
          </a:prstGeom>
          <a:noFill/>
          <a:ln/>
        </p:spPr>
        <p:txBody>
          <a:bodyPr wrap="square" rtlCol="0" anchor="ctr"/>
          <a:lstStyle/>
          <a:p>
            <a:pPr algn="ctr" indent="0" marL="0">
              <a:buNone/>
            </a:pPr>
            <a:r>
              <a:rPr lang="en-US" sz="3600" b="1" dirty="0">
                <a:solidFill>
                  <a:srgbClr val="7B4A00"/>
                </a:solidFill>
              </a:rPr>
              <a:t>9/14</a:t>
            </a:r>
            <a:endParaRPr lang="en-US" sz="3600" dirty="0"/>
          </a:p>
        </p:txBody>
      </p:sp>
      <p:sp>
        <p:nvSpPr>
          <p:cNvPr id="31" name="Text 29"/>
          <p:cNvSpPr/>
          <p:nvPr/>
        </p:nvSpPr>
        <p:spPr>
          <a:xfrm>
            <a:off x="6263640" y="3703320"/>
            <a:ext cx="2560320" cy="347472"/>
          </a:xfrm>
          <a:prstGeom prst="rect">
            <a:avLst/>
          </a:prstGeom>
          <a:noFill/>
          <a:ln/>
        </p:spPr>
        <p:txBody>
          <a:bodyPr wrap="square" lIns="0" tIns="0" rIns="0" bIns="0" rtlCol="0" anchor="ctr"/>
          <a:lstStyle/>
          <a:p>
            <a:pPr indent="0" marL="0">
              <a:buNone/>
            </a:pPr>
            <a:r>
              <a:rPr lang="en-US" sz="1050" b="1" dirty="0">
                <a:solidFill>
                  <a:srgbClr val="1A1A1A"/>
                </a:solidFill>
              </a:rPr>
              <a:t>Hospitals reporting losses (FY2023)</a:t>
            </a:r>
            <a:endParaRPr lang="en-US" sz="1050" dirty="0"/>
          </a:p>
        </p:txBody>
      </p:sp>
      <p:sp>
        <p:nvSpPr>
          <p:cNvPr id="32" name="Text 30"/>
          <p:cNvSpPr/>
          <p:nvPr/>
        </p:nvSpPr>
        <p:spPr>
          <a:xfrm>
            <a:off x="6263640" y="4041648"/>
            <a:ext cx="2560320" cy="256032"/>
          </a:xfrm>
          <a:prstGeom prst="rect">
            <a:avLst/>
          </a:prstGeom>
          <a:noFill/>
          <a:ln/>
        </p:spPr>
        <p:txBody>
          <a:bodyPr wrap="square" lIns="0" tIns="0" rIns="0" bIns="0" rtlCol="0" anchor="ctr"/>
          <a:lstStyle/>
          <a:p>
            <a:pPr indent="0" marL="0">
              <a:buNone/>
            </a:pPr>
            <a:r>
              <a:rPr lang="en-US" sz="950" i="1" dirty="0">
                <a:solidFill>
                  <a:srgbClr val="666666"/>
                </a:solidFill>
              </a:rPr>
              <a:t>Worst performing: -8.9% operating margin</a:t>
            </a:r>
            <a:endParaRPr lang="en-US" sz="950" dirty="0"/>
          </a:p>
        </p:txBody>
      </p:sp>
      <p:sp>
        <p:nvSpPr>
          <p:cNvPr id="33" name="Text 3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2 — Source: Oliver Wyman Act 167 Report (2024); AHS January 2025 Legislative Presentation; Vermont RHT Application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 HOSPITAL FINANCIAL POSITIONS: FY2023 vs. BENCHMARKS</a:t>
            </a:r>
            <a:endParaRPr lang="en-US" sz="1800" dirty="0"/>
          </a:p>
        </p:txBody>
      </p:sp>
      <p:graphicFrame>
        <p:nvGraphicFramePr>
          <p:cNvPr id="3" name="Chart 0" descr=""/>
          <p:cNvGraphicFramePr/>
          <p:nvPr/>
        </p:nvGraphicFramePr>
        <p:xfrm>
          <a:off x="320040" y="658368"/>
          <a:ext cx="850392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2 — Source: AHS Health Care System Transformation Report (November 2025); NASHP via CMS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VERMONT'S 14-HOSPITAL NETWORK: THREE-TIER STRUCTURE</a:t>
            </a:r>
            <a:endParaRPr lang="en-US" sz="1800" dirty="0"/>
          </a:p>
        </p:txBody>
      </p:sp>
      <p:sp>
        <p:nvSpPr>
          <p:cNvPr id="3" name="Shape 1"/>
          <p:cNvSpPr/>
          <p:nvPr/>
        </p:nvSpPr>
        <p:spPr>
          <a:xfrm>
            <a:off x="274320" y="749808"/>
            <a:ext cx="8595360" cy="1280160"/>
          </a:xfrm>
          <a:prstGeom prst="rect">
            <a:avLst/>
          </a:prstGeom>
          <a:solidFill>
            <a:srgbClr val="D5E8F0"/>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49808"/>
            <a:ext cx="1463040" cy="1280160"/>
          </a:xfrm>
          <a:prstGeom prst="rect">
            <a:avLst/>
          </a:prstGeom>
          <a:solidFill>
            <a:srgbClr val="1F5C8B"/>
          </a:solidFill>
          <a:ln/>
        </p:spPr>
      </p:sp>
      <p:sp>
        <p:nvSpPr>
          <p:cNvPr id="5" name="Text 3"/>
          <p:cNvSpPr/>
          <p:nvPr/>
        </p:nvSpPr>
        <p:spPr>
          <a:xfrm>
            <a:off x="274320" y="932688"/>
            <a:ext cx="1463040" cy="502920"/>
          </a:xfrm>
          <a:prstGeom prst="rect">
            <a:avLst/>
          </a:prstGeom>
          <a:noFill/>
          <a:ln/>
        </p:spPr>
        <p:txBody>
          <a:bodyPr wrap="square" rtlCol="0" anchor="ctr"/>
          <a:lstStyle/>
          <a:p>
            <a:pPr algn="ctr" indent="0" marL="0">
              <a:buNone/>
            </a:pPr>
            <a:r>
              <a:rPr lang="en-US" sz="1500" b="1" dirty="0">
                <a:solidFill>
                  <a:srgbClr val="FFFFFF"/>
                </a:solidFill>
              </a:rPr>
              <a:t>TIER 1</a:t>
            </a:r>
            <a:endParaRPr lang="en-US" sz="1500" dirty="0"/>
          </a:p>
        </p:txBody>
      </p:sp>
      <p:sp>
        <p:nvSpPr>
          <p:cNvPr id="6" name="Text 4"/>
          <p:cNvSpPr/>
          <p:nvPr/>
        </p:nvSpPr>
        <p:spPr>
          <a:xfrm>
            <a:off x="1920240" y="813816"/>
            <a:ext cx="6766560" cy="320040"/>
          </a:xfrm>
          <a:prstGeom prst="rect">
            <a:avLst/>
          </a:prstGeom>
          <a:noFill/>
          <a:ln/>
        </p:spPr>
        <p:txBody>
          <a:bodyPr wrap="square" lIns="0" tIns="0" rIns="0" bIns="0" rtlCol="0" anchor="ctr"/>
          <a:lstStyle/>
          <a:p>
            <a:pPr indent="0" marL="0">
              <a:buNone/>
            </a:pPr>
            <a:r>
              <a:rPr lang="en-US" sz="1200" b="1" dirty="0">
                <a:solidFill>
                  <a:srgbClr val="1F5C8B"/>
                </a:solidFill>
              </a:rPr>
              <a:t>Regional Specialty Centers (RSC)</a:t>
            </a:r>
            <a:endParaRPr lang="en-US" sz="1200" dirty="0"/>
          </a:p>
        </p:txBody>
      </p:sp>
      <p:sp>
        <p:nvSpPr>
          <p:cNvPr id="7" name="Text 5"/>
          <p:cNvSpPr/>
          <p:nvPr/>
        </p:nvSpPr>
        <p:spPr>
          <a:xfrm>
            <a:off x="1920240" y="1152144"/>
            <a:ext cx="6766560" cy="292608"/>
          </a:xfrm>
          <a:prstGeom prst="rect">
            <a:avLst/>
          </a:prstGeom>
          <a:noFill/>
          <a:ln/>
        </p:spPr>
        <p:txBody>
          <a:bodyPr wrap="square" lIns="0" tIns="0" rIns="0" bIns="0" rtlCol="0" anchor="ctr"/>
          <a:lstStyle/>
          <a:p>
            <a:pPr indent="0" marL="0">
              <a:buNone/>
            </a:pPr>
            <a:r>
              <a:rPr lang="en-US" sz="1000" b="1" dirty="0">
                <a:solidFill>
                  <a:srgbClr val="1A1A1A"/>
                </a:solidFill>
              </a:rPr>
              <a:t>UVMMC (16 COEs)  |  SW Vermont Medical  |  Brattleboro Memorial  |  Rutland Regional  |  Central VT Medical</a:t>
            </a:r>
            <a:endParaRPr lang="en-US" sz="1000" dirty="0"/>
          </a:p>
        </p:txBody>
      </p:sp>
      <p:sp>
        <p:nvSpPr>
          <p:cNvPr id="8" name="Text 6"/>
          <p:cNvSpPr/>
          <p:nvPr/>
        </p:nvSpPr>
        <p:spPr>
          <a:xfrm>
            <a:off x="1920240" y="1463040"/>
            <a:ext cx="6766560" cy="502920"/>
          </a:xfrm>
          <a:prstGeom prst="rect">
            <a:avLst/>
          </a:prstGeom>
          <a:noFill/>
          <a:ln/>
        </p:spPr>
        <p:txBody>
          <a:bodyPr wrap="square" lIns="0" tIns="0" rIns="0" bIns="0" rtlCol="0" anchor="ctr"/>
          <a:lstStyle/>
          <a:p>
            <a:pPr indent="0" marL="0">
              <a:buNone/>
            </a:pPr>
            <a:r>
              <a:rPr lang="en-US" sz="1000" dirty="0">
                <a:solidFill>
                  <a:srgbClr val="444444"/>
                </a:solidFill>
              </a:rPr>
              <a:t>Highest COE count. Accept referrals from the network for designated specialties. Financial sustainability strongest. Primary RSC role: UVMMC.</a:t>
            </a:r>
            <a:endParaRPr lang="en-US" sz="1000" dirty="0"/>
          </a:p>
        </p:txBody>
      </p:sp>
      <p:sp>
        <p:nvSpPr>
          <p:cNvPr id="9" name="Shape 7"/>
          <p:cNvSpPr/>
          <p:nvPr/>
        </p:nvSpPr>
        <p:spPr>
          <a:xfrm>
            <a:off x="274320" y="2167128"/>
            <a:ext cx="8595360" cy="1280160"/>
          </a:xfrm>
          <a:prstGeom prst="rect">
            <a:avLst/>
          </a:prstGeom>
          <a:solidFill>
            <a:srgbClr val="EBF4FA"/>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0" name="Shape 8"/>
          <p:cNvSpPr/>
          <p:nvPr/>
        </p:nvSpPr>
        <p:spPr>
          <a:xfrm>
            <a:off x="274320" y="2167128"/>
            <a:ext cx="1463040" cy="1280160"/>
          </a:xfrm>
          <a:prstGeom prst="rect">
            <a:avLst/>
          </a:prstGeom>
          <a:solidFill>
            <a:srgbClr val="2E75B6"/>
          </a:solidFill>
          <a:ln/>
        </p:spPr>
      </p:sp>
      <p:sp>
        <p:nvSpPr>
          <p:cNvPr id="11" name="Text 9"/>
          <p:cNvSpPr/>
          <p:nvPr/>
        </p:nvSpPr>
        <p:spPr>
          <a:xfrm>
            <a:off x="274320" y="2350008"/>
            <a:ext cx="1463040" cy="502920"/>
          </a:xfrm>
          <a:prstGeom prst="rect">
            <a:avLst/>
          </a:prstGeom>
          <a:noFill/>
          <a:ln/>
        </p:spPr>
        <p:txBody>
          <a:bodyPr wrap="square" rtlCol="0" anchor="ctr"/>
          <a:lstStyle/>
          <a:p>
            <a:pPr algn="ctr" indent="0" marL="0">
              <a:buNone/>
            </a:pPr>
            <a:r>
              <a:rPr lang="en-US" sz="1500" b="1" dirty="0">
                <a:solidFill>
                  <a:srgbClr val="FFFFFF"/>
                </a:solidFill>
              </a:rPr>
              <a:t>TIER 2</a:t>
            </a:r>
            <a:endParaRPr lang="en-US" sz="1500" dirty="0"/>
          </a:p>
        </p:txBody>
      </p:sp>
      <p:sp>
        <p:nvSpPr>
          <p:cNvPr id="12" name="Text 10"/>
          <p:cNvSpPr/>
          <p:nvPr/>
        </p:nvSpPr>
        <p:spPr>
          <a:xfrm>
            <a:off x="1920240" y="2231136"/>
            <a:ext cx="6766560" cy="320040"/>
          </a:xfrm>
          <a:prstGeom prst="rect">
            <a:avLst/>
          </a:prstGeom>
          <a:noFill/>
          <a:ln/>
        </p:spPr>
        <p:txBody>
          <a:bodyPr wrap="square" lIns="0" tIns="0" rIns="0" bIns="0" rtlCol="0" anchor="ctr"/>
          <a:lstStyle/>
          <a:p>
            <a:pPr indent="0" marL="0">
              <a:buNone/>
            </a:pPr>
            <a:r>
              <a:rPr lang="en-US" sz="1200" b="1" dirty="0">
                <a:solidFill>
                  <a:srgbClr val="2E75B6"/>
                </a:solidFill>
              </a:rPr>
              <a:t>Community Hospitals — Focused Scope</a:t>
            </a:r>
            <a:endParaRPr lang="en-US" sz="1200" dirty="0"/>
          </a:p>
        </p:txBody>
      </p:sp>
      <p:sp>
        <p:nvSpPr>
          <p:cNvPr id="13" name="Text 11"/>
          <p:cNvSpPr/>
          <p:nvPr/>
        </p:nvSpPr>
        <p:spPr>
          <a:xfrm>
            <a:off x="1920240" y="2569464"/>
            <a:ext cx="6766560" cy="292608"/>
          </a:xfrm>
          <a:prstGeom prst="rect">
            <a:avLst/>
          </a:prstGeom>
          <a:noFill/>
          <a:ln/>
        </p:spPr>
        <p:txBody>
          <a:bodyPr wrap="square" lIns="0" tIns="0" rIns="0" bIns="0" rtlCol="0" anchor="ctr"/>
          <a:lstStyle/>
          <a:p>
            <a:pPr indent="0" marL="0">
              <a:buNone/>
            </a:pPr>
            <a:r>
              <a:rPr lang="en-US" sz="1000" b="1" dirty="0">
                <a:solidFill>
                  <a:srgbClr val="1A1A1A"/>
                </a:solidFill>
              </a:rPr>
              <a:t>NW Medical Center  |  NE VT Regional  |  Springfield  |  Copley  |  Mt. Ascutney  |  Porter Medical</a:t>
            </a:r>
            <a:endParaRPr lang="en-US" sz="1000" dirty="0"/>
          </a:p>
        </p:txBody>
      </p:sp>
      <p:sp>
        <p:nvSpPr>
          <p:cNvPr id="14" name="Text 12"/>
          <p:cNvSpPr/>
          <p:nvPr/>
        </p:nvSpPr>
        <p:spPr>
          <a:xfrm>
            <a:off x="1920240" y="2880360"/>
            <a:ext cx="6766560" cy="502920"/>
          </a:xfrm>
          <a:prstGeom prst="rect">
            <a:avLst/>
          </a:prstGeom>
          <a:noFill/>
          <a:ln/>
        </p:spPr>
        <p:txBody>
          <a:bodyPr wrap="square" lIns="0" tIns="0" rIns="0" bIns="0" rtlCol="0" anchor="ctr"/>
          <a:lstStyle/>
          <a:p>
            <a:pPr indent="0" marL="0">
              <a:buNone/>
            </a:pPr>
            <a:r>
              <a:rPr lang="en-US" sz="1000" dirty="0">
                <a:solidFill>
                  <a:srgbClr val="444444"/>
                </a:solidFill>
              </a:rPr>
              <a:t>2–4 COE designations. Maintain specific service lines. Transfer complex cases to RSCs. Actively engaged in Act 68 transformation planning.</a:t>
            </a:r>
            <a:endParaRPr lang="en-US" sz="1000" dirty="0"/>
          </a:p>
        </p:txBody>
      </p:sp>
      <p:sp>
        <p:nvSpPr>
          <p:cNvPr id="15" name="Shape 13"/>
          <p:cNvSpPr/>
          <p:nvPr/>
        </p:nvSpPr>
        <p:spPr>
          <a:xfrm>
            <a:off x="274320" y="3584448"/>
            <a:ext cx="8595360" cy="1280160"/>
          </a:xfrm>
          <a:prstGeom prst="rect">
            <a:avLst/>
          </a:prstGeom>
          <a:solidFill>
            <a:srgbClr val="FFF0CC"/>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16" name="Shape 14"/>
          <p:cNvSpPr/>
          <p:nvPr/>
        </p:nvSpPr>
        <p:spPr>
          <a:xfrm>
            <a:off x="274320" y="3584448"/>
            <a:ext cx="1463040" cy="1280160"/>
          </a:xfrm>
          <a:prstGeom prst="rect">
            <a:avLst/>
          </a:prstGeom>
          <a:solidFill>
            <a:srgbClr val="7B4A00"/>
          </a:solidFill>
          <a:ln/>
        </p:spPr>
      </p:sp>
      <p:sp>
        <p:nvSpPr>
          <p:cNvPr id="17" name="Text 15"/>
          <p:cNvSpPr/>
          <p:nvPr/>
        </p:nvSpPr>
        <p:spPr>
          <a:xfrm>
            <a:off x="274320" y="3767328"/>
            <a:ext cx="1463040" cy="502920"/>
          </a:xfrm>
          <a:prstGeom prst="rect">
            <a:avLst/>
          </a:prstGeom>
          <a:noFill/>
          <a:ln/>
        </p:spPr>
        <p:txBody>
          <a:bodyPr wrap="square" rtlCol="0" anchor="ctr"/>
          <a:lstStyle/>
          <a:p>
            <a:pPr algn="ctr" indent="0" marL="0">
              <a:buNone/>
            </a:pPr>
            <a:r>
              <a:rPr lang="en-US" sz="1500" b="1" dirty="0">
                <a:solidFill>
                  <a:srgbClr val="FFFFFF"/>
                </a:solidFill>
              </a:rPr>
              <a:t>TIER 3</a:t>
            </a:r>
            <a:endParaRPr lang="en-US" sz="1500" dirty="0"/>
          </a:p>
        </p:txBody>
      </p:sp>
      <p:sp>
        <p:nvSpPr>
          <p:cNvPr id="18" name="Text 16"/>
          <p:cNvSpPr/>
          <p:nvPr/>
        </p:nvSpPr>
        <p:spPr>
          <a:xfrm>
            <a:off x="1920240" y="3648456"/>
            <a:ext cx="6766560" cy="320040"/>
          </a:xfrm>
          <a:prstGeom prst="rect">
            <a:avLst/>
          </a:prstGeom>
          <a:noFill/>
          <a:ln/>
        </p:spPr>
        <p:txBody>
          <a:bodyPr wrap="square" lIns="0" tIns="0" rIns="0" bIns="0" rtlCol="0" anchor="ctr"/>
          <a:lstStyle/>
          <a:p>
            <a:pPr indent="0" marL="0">
              <a:buNone/>
            </a:pPr>
            <a:r>
              <a:rPr lang="en-US" sz="1200" b="1" dirty="0">
                <a:solidFill>
                  <a:srgbClr val="7B4A00"/>
                </a:solidFill>
              </a:rPr>
              <a:t>Transition Assessment Required</a:t>
            </a:r>
            <a:endParaRPr lang="en-US" sz="1200" dirty="0"/>
          </a:p>
        </p:txBody>
      </p:sp>
      <p:sp>
        <p:nvSpPr>
          <p:cNvPr id="19" name="Text 17"/>
          <p:cNvSpPr/>
          <p:nvPr/>
        </p:nvSpPr>
        <p:spPr>
          <a:xfrm>
            <a:off x="1920240" y="3986784"/>
            <a:ext cx="6766560" cy="292608"/>
          </a:xfrm>
          <a:prstGeom prst="rect">
            <a:avLst/>
          </a:prstGeom>
          <a:noFill/>
          <a:ln/>
        </p:spPr>
        <p:txBody>
          <a:bodyPr wrap="square" lIns="0" tIns="0" rIns="0" bIns="0" rtlCol="0" anchor="ctr"/>
          <a:lstStyle/>
          <a:p>
            <a:pPr indent="0" marL="0">
              <a:buNone/>
            </a:pPr>
            <a:r>
              <a:rPr lang="en-US" sz="1000" b="1" dirty="0">
                <a:solidFill>
                  <a:srgbClr val="1A1A1A"/>
                </a:solidFill>
              </a:rPr>
              <a:t>Grace Cottage (19 beds)  |  Gifford Medical  |  North Country Hospital</a:t>
            </a:r>
            <a:endParaRPr lang="en-US" sz="1000" dirty="0"/>
          </a:p>
        </p:txBody>
      </p:sp>
      <p:sp>
        <p:nvSpPr>
          <p:cNvPr id="20" name="Text 18"/>
          <p:cNvSpPr/>
          <p:nvPr/>
        </p:nvSpPr>
        <p:spPr>
          <a:xfrm>
            <a:off x="1920240" y="4297680"/>
            <a:ext cx="6766560" cy="502920"/>
          </a:xfrm>
          <a:prstGeom prst="rect">
            <a:avLst/>
          </a:prstGeom>
          <a:noFill/>
          <a:ln/>
        </p:spPr>
        <p:txBody>
          <a:bodyPr wrap="square" lIns="0" tIns="0" rIns="0" bIns="0" rtlCol="0" anchor="ctr"/>
          <a:lstStyle/>
          <a:p>
            <a:pPr indent="0" marL="0">
              <a:buNone/>
            </a:pPr>
            <a:r>
              <a:rPr lang="en-US" sz="1000" dirty="0">
                <a:solidFill>
                  <a:srgbClr val="444444"/>
                </a:solidFill>
              </a:rPr>
              <a:t>Most financially vulnerable. REH conversion, CACC, or home-based care model under assessment. Act 68 transformation plans address transition path.</a:t>
            </a:r>
            <a:endParaRPr lang="en-US" sz="1000" dirty="0"/>
          </a:p>
        </p:txBody>
      </p:sp>
      <p:sp>
        <p:nvSpPr>
          <p:cNvPr id="21" name="Text 1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2 / Chapter 8 — Source: Oliver Wyman Act 167 Report; AHS Transformation Reports 2025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64592"/>
            <a:ext cx="859536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VERMONT PREMIUM vs. INCOME GROWTH  2018–2024: THE AFFORDABILITY GAP</a:t>
            </a:r>
            <a:endParaRPr lang="en-US" sz="1700" dirty="0"/>
          </a:p>
        </p:txBody>
      </p:sp>
      <p:graphicFrame>
        <p:nvGraphicFramePr>
          <p:cNvPr id="3" name="Chart 0" descr=""/>
          <p:cNvGraphicFramePr/>
          <p:nvPr/>
        </p:nvGraphicFramePr>
        <p:xfrm>
          <a:off x="320040" y="658368"/>
          <a:ext cx="8503920" cy="3611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365760" y="4407408"/>
            <a:ext cx="8412480" cy="502920"/>
          </a:xfrm>
          <a:prstGeom prst="rect">
            <a:avLst/>
          </a:prstGeom>
          <a:noFill/>
          <a:ln/>
        </p:spPr>
        <p:txBody>
          <a:bodyPr wrap="square" rtlCol="0" anchor="ctr"/>
          <a:lstStyle/>
          <a:p>
            <a:pPr algn="ctr" indent="0" marL="0">
              <a:buNone/>
            </a:pPr>
            <a:r>
              <a:rPr lang="en-US" sz="1100" i="1" dirty="0">
                <a:solidFill>
                  <a:srgbClr val="8B1A1A"/>
                </a:solidFill>
              </a:rPr>
              <a:t>108% premium increase vs. 22% income growth — the affordability crisis driving Vermont's transformation mandate</a:t>
            </a:r>
            <a:endParaRPr lang="en-US" sz="1100" dirty="0"/>
          </a:p>
        </p:txBody>
      </p:sp>
      <p:sp>
        <p:nvSpPr>
          <p:cNvPr id="5" name="Text 2"/>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2 — Source: AHS January 2025 Legislative Presentation; GMCB rate filings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5C8B"/>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F5C8B"/>
          </a:solidFill>
          <a:ln/>
        </p:spPr>
      </p:sp>
      <p:sp>
        <p:nvSpPr>
          <p:cNvPr id="3" name="Text 1"/>
          <p:cNvSpPr/>
          <p:nvPr/>
        </p:nvSpPr>
        <p:spPr>
          <a:xfrm>
            <a:off x="640080" y="1463040"/>
            <a:ext cx="7863840" cy="640080"/>
          </a:xfrm>
          <a:prstGeom prst="rect">
            <a:avLst/>
          </a:prstGeom>
          <a:noFill/>
          <a:ln/>
        </p:spPr>
        <p:txBody>
          <a:bodyPr wrap="square" rtlCol="0" anchor="ctr"/>
          <a:lstStyle/>
          <a:p>
            <a:pPr algn="ctr" indent="0" marL="0">
              <a:buNone/>
            </a:pPr>
            <a:r>
              <a:rPr lang="en-US" sz="1400" b="1" spc="800" kern="0" dirty="0">
                <a:solidFill>
                  <a:srgbClr val="CADCFC"/>
                </a:solidFill>
              </a:rPr>
              <a:t>PART II</a:t>
            </a:r>
            <a:endParaRPr lang="en-US" sz="1400" dirty="0"/>
          </a:p>
        </p:txBody>
      </p:sp>
      <p:sp>
        <p:nvSpPr>
          <p:cNvPr id="4" name="Text 2"/>
          <p:cNvSpPr/>
          <p:nvPr/>
        </p:nvSpPr>
        <p:spPr>
          <a:xfrm>
            <a:off x="640080" y="2103120"/>
            <a:ext cx="7863840" cy="91440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THE SIX PILLARS IN DEPTH</a:t>
            </a:r>
            <a:endParaRPr lang="en-US" sz="4000" dirty="0"/>
          </a:p>
        </p:txBody>
      </p:sp>
      <p:sp>
        <p:nvSpPr>
          <p:cNvPr id="5" name="Text 3"/>
          <p:cNvSpPr/>
          <p:nvPr/>
        </p:nvSpPr>
        <p:spPr>
          <a:xfrm>
            <a:off x="1371600" y="3108960"/>
            <a:ext cx="6400800" cy="548640"/>
          </a:xfrm>
          <a:prstGeom prst="rect">
            <a:avLst/>
          </a:prstGeom>
          <a:noFill/>
          <a:ln/>
        </p:spPr>
        <p:txBody>
          <a:bodyPr wrap="square" rtlCol="0" anchor="ctr"/>
          <a:lstStyle/>
          <a:p>
            <a:pPr algn="ctr" indent="0" marL="0">
              <a:buNone/>
            </a:pPr>
            <a:r>
              <a:rPr lang="en-US" sz="1600" i="1" dirty="0">
                <a:solidFill>
                  <a:srgbClr val="CADCFC"/>
                </a:solidFill>
              </a:rPr>
              <a:t>Policy · Economics · Operations · Clinical · Equity · Technology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4</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Policy Pillar — Legislative Architecture</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2000" b="1" dirty="0">
                <a:solidFill>
                  <a:srgbClr val="1F5C8B"/>
                </a:solidFill>
                <a:latin typeface="Georgia" pitchFamily="34" charset="0"/>
                <a:ea typeface="Georgia" pitchFamily="34" charset="-122"/>
                <a:cs typeface="Georgia" pitchFamily="34" charset="-120"/>
              </a:rPr>
              <a:t>OLIVER WYMAN'S THREE IMPERATIVES FOR VERMONT</a:t>
            </a:r>
            <a:endParaRPr lang="en-US" sz="2000" dirty="0"/>
          </a:p>
        </p:txBody>
      </p:sp>
      <p:sp>
        <p:nvSpPr>
          <p:cNvPr id="3" name="Text 1"/>
          <p:cNvSpPr/>
          <p:nvPr/>
        </p:nvSpPr>
        <p:spPr>
          <a:xfrm>
            <a:off x="365760" y="594360"/>
            <a:ext cx="8412480" cy="274320"/>
          </a:xfrm>
          <a:prstGeom prst="rect">
            <a:avLst/>
          </a:prstGeom>
          <a:noFill/>
          <a:ln/>
        </p:spPr>
        <p:txBody>
          <a:bodyPr wrap="square" rtlCol="0" anchor="ctr"/>
          <a:lstStyle/>
          <a:p>
            <a:pPr indent="0" marL="0">
              <a:buNone/>
            </a:pPr>
            <a:r>
              <a:rPr lang="en-US" sz="1100" i="1" dirty="0">
                <a:solidFill>
                  <a:srgbClr val="64748B"/>
                </a:solidFill>
              </a:rPr>
              <a:t>230 community meetings · 14 hospital service areas · $1M analysis commissioned under Act 167</a:t>
            </a:r>
            <a:endParaRPr lang="en-US" sz="1100" dirty="0"/>
          </a:p>
        </p:txBody>
      </p:sp>
      <p:sp>
        <p:nvSpPr>
          <p:cNvPr id="4" name="Shape 2"/>
          <p:cNvSpPr/>
          <p:nvPr/>
        </p:nvSpPr>
        <p:spPr>
          <a:xfrm>
            <a:off x="228600" y="1005840"/>
            <a:ext cx="2743200" cy="3931920"/>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5" name="Shape 3"/>
          <p:cNvSpPr/>
          <p:nvPr/>
        </p:nvSpPr>
        <p:spPr>
          <a:xfrm>
            <a:off x="228600" y="1005840"/>
            <a:ext cx="2743200" cy="594360"/>
          </a:xfrm>
          <a:prstGeom prst="rect">
            <a:avLst/>
          </a:prstGeom>
          <a:solidFill>
            <a:srgbClr val="0D5F6B"/>
          </a:solidFill>
          <a:ln/>
        </p:spPr>
      </p:sp>
      <p:sp>
        <p:nvSpPr>
          <p:cNvPr id="6" name="Text 4"/>
          <p:cNvSpPr/>
          <p:nvPr/>
        </p:nvSpPr>
        <p:spPr>
          <a:xfrm>
            <a:off x="228600" y="1005840"/>
            <a:ext cx="2743200" cy="594360"/>
          </a:xfrm>
          <a:prstGeom prst="rect">
            <a:avLst/>
          </a:prstGeom>
          <a:noFill/>
          <a:ln/>
        </p:spPr>
        <p:txBody>
          <a:bodyPr wrap="square" rtlCol="0" anchor="ctr"/>
          <a:lstStyle/>
          <a:p>
            <a:pPr algn="ctr" indent="0" marL="0">
              <a:buNone/>
            </a:pPr>
            <a:r>
              <a:rPr lang="en-US" sz="1100" b="1" spc="200" kern="0" dirty="0">
                <a:solidFill>
                  <a:srgbClr val="FFFFFF"/>
                </a:solidFill>
              </a:rPr>
              <a:t>IMPERATIVE 1</a:t>
            </a:r>
            <a:endParaRPr lang="en-US" sz="1100" dirty="0"/>
          </a:p>
        </p:txBody>
      </p:sp>
      <p:sp>
        <p:nvSpPr>
          <p:cNvPr id="7" name="Text 5"/>
          <p:cNvSpPr/>
          <p:nvPr/>
        </p:nvSpPr>
        <p:spPr>
          <a:xfrm>
            <a:off x="338328" y="1691640"/>
            <a:ext cx="2523744" cy="594360"/>
          </a:xfrm>
          <a:prstGeom prst="rect">
            <a:avLst/>
          </a:prstGeom>
          <a:noFill/>
          <a:ln/>
        </p:spPr>
        <p:txBody>
          <a:bodyPr wrap="square" lIns="0" tIns="0" rIns="0" bIns="0" rtlCol="0" anchor="ctr"/>
          <a:lstStyle/>
          <a:p>
            <a:pPr indent="0" marL="0">
              <a:buNone/>
            </a:pPr>
            <a:r>
              <a:rPr lang="en-US" sz="1200" b="1" dirty="0">
                <a:solidFill>
                  <a:srgbClr val="0D5F6B"/>
                </a:solidFill>
              </a:rPr>
              <a:t>BUILD HOUSING</a:t>
            </a:r>
            <a:endParaRPr lang="en-US" sz="1200" dirty="0"/>
          </a:p>
          <a:p>
            <a:pPr indent="0" marL="0">
              <a:buNone/>
            </a:pPr>
            <a:r>
              <a:rPr lang="en-US" sz="1200" b="1" dirty="0">
                <a:solidFill>
                  <a:srgbClr val="0D5F6B"/>
                </a:solidFill>
              </a:rPr>
              <a:t>AND FIX TRANSPORTATION</a:t>
            </a:r>
            <a:endParaRPr lang="en-US" sz="1200" dirty="0"/>
          </a:p>
        </p:txBody>
      </p:sp>
      <p:sp>
        <p:nvSpPr>
          <p:cNvPr id="8" name="Text 6"/>
          <p:cNvSpPr/>
          <p:nvPr/>
        </p:nvSpPr>
        <p:spPr>
          <a:xfrm>
            <a:off x="338328" y="2377440"/>
            <a:ext cx="2523744" cy="228600"/>
          </a:xfrm>
          <a:prstGeom prst="rect">
            <a:avLst/>
          </a:prstGeom>
          <a:noFill/>
          <a:ln/>
        </p:spPr>
        <p:txBody>
          <a:bodyPr wrap="square" lIns="0" tIns="0" rIns="0" bIns="0" rtlCol="0" anchor="ctr"/>
          <a:lstStyle/>
          <a:p>
            <a:pPr indent="0" marL="0">
              <a:buNone/>
            </a:pPr>
            <a:r>
              <a:rPr lang="en-US" sz="1000" b="1" dirty="0">
                <a:solidFill>
                  <a:srgbClr val="1A1A1A"/>
                </a:solidFill>
              </a:rPr>
              <a:t>WHY:</a:t>
            </a:r>
            <a:endParaRPr lang="en-US" sz="1000" dirty="0"/>
          </a:p>
        </p:txBody>
      </p:sp>
      <p:sp>
        <p:nvSpPr>
          <p:cNvPr id="9" name="Text 7"/>
          <p:cNvSpPr/>
          <p:nvPr/>
        </p:nvSpPr>
        <p:spPr>
          <a:xfrm>
            <a:off x="338328" y="2606040"/>
            <a:ext cx="2523744" cy="1234440"/>
          </a:xfrm>
          <a:prstGeom prst="rect">
            <a:avLst/>
          </a:prstGeom>
          <a:noFill/>
          <a:ln/>
        </p:spPr>
        <p:txBody>
          <a:bodyPr wrap="square" lIns="0" tIns="0" rIns="0" bIns="0" rtlCol="0" anchor="ctr"/>
          <a:lstStyle/>
          <a:p>
            <a:pPr indent="0" marL="0">
              <a:buNone/>
            </a:pPr>
            <a:r>
              <a:rPr lang="en-US" sz="950" dirty="0">
                <a:solidFill>
                  <a:srgbClr val="444444"/>
                </a:solidFill>
              </a:rPr>
              <a:t>Housing vacancy rate 3% (healthy = 5%). Half of renters cost-burdened. Provider recruitment impossible without housing. Transportation barriers = missed appointments = crisis presentations.</a:t>
            </a:r>
            <a:endParaRPr lang="en-US" sz="950" dirty="0"/>
          </a:p>
        </p:txBody>
      </p:sp>
      <p:sp>
        <p:nvSpPr>
          <p:cNvPr id="10" name="Text 8"/>
          <p:cNvSpPr/>
          <p:nvPr/>
        </p:nvSpPr>
        <p:spPr>
          <a:xfrm>
            <a:off x="338328" y="3886200"/>
            <a:ext cx="2523744" cy="228600"/>
          </a:xfrm>
          <a:prstGeom prst="rect">
            <a:avLst/>
          </a:prstGeom>
          <a:noFill/>
          <a:ln/>
        </p:spPr>
        <p:txBody>
          <a:bodyPr wrap="square" lIns="0" tIns="0" rIns="0" bIns="0" rtlCol="0" anchor="ctr"/>
          <a:lstStyle/>
          <a:p>
            <a:pPr indent="0" marL="0">
              <a:buNone/>
            </a:pPr>
            <a:r>
              <a:rPr lang="en-US" sz="1000" b="1" dirty="0">
                <a:solidFill>
                  <a:srgbClr val="0D5F6B"/>
                </a:solidFill>
              </a:rPr>
              <a:t>WHAT:</a:t>
            </a:r>
            <a:endParaRPr lang="en-US" sz="1000" dirty="0"/>
          </a:p>
        </p:txBody>
      </p:sp>
      <p:sp>
        <p:nvSpPr>
          <p:cNvPr id="11" name="Text 9"/>
          <p:cNvSpPr/>
          <p:nvPr/>
        </p:nvSpPr>
        <p:spPr>
          <a:xfrm>
            <a:off x="338328" y="4114800"/>
            <a:ext cx="2523744" cy="713232"/>
          </a:xfrm>
          <a:prstGeom prst="rect">
            <a:avLst/>
          </a:prstGeom>
          <a:noFill/>
          <a:ln/>
        </p:spPr>
        <p:txBody>
          <a:bodyPr wrap="square" lIns="0" tIns="0" rIns="0" bIns="0" rtlCol="0" anchor="ctr"/>
          <a:lstStyle/>
          <a:p>
            <a:pPr indent="0" marL="0">
              <a:buNone/>
            </a:pPr>
            <a:r>
              <a:rPr lang="en-US" sz="950" dirty="0">
                <a:solidFill>
                  <a:srgbClr val="444444"/>
                </a:solidFill>
              </a:rPr>
              <a:t>Advocacy for housing investment as healthcare policy. Transportation as a health equity intervention. Oliver Wyman's FIRST imperative — before payment reform.</a:t>
            </a:r>
            <a:endParaRPr lang="en-US" sz="950" dirty="0"/>
          </a:p>
        </p:txBody>
      </p:sp>
      <p:sp>
        <p:nvSpPr>
          <p:cNvPr id="12" name="Shape 10"/>
          <p:cNvSpPr/>
          <p:nvPr/>
        </p:nvSpPr>
        <p:spPr>
          <a:xfrm>
            <a:off x="3154680" y="1005840"/>
            <a:ext cx="2743200" cy="3931920"/>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13" name="Shape 11"/>
          <p:cNvSpPr/>
          <p:nvPr/>
        </p:nvSpPr>
        <p:spPr>
          <a:xfrm>
            <a:off x="3154680" y="1005840"/>
            <a:ext cx="2743200" cy="594360"/>
          </a:xfrm>
          <a:prstGeom prst="rect">
            <a:avLst/>
          </a:prstGeom>
          <a:solidFill>
            <a:srgbClr val="1F5C8B"/>
          </a:solidFill>
          <a:ln/>
        </p:spPr>
      </p:sp>
      <p:sp>
        <p:nvSpPr>
          <p:cNvPr id="14" name="Text 12"/>
          <p:cNvSpPr/>
          <p:nvPr/>
        </p:nvSpPr>
        <p:spPr>
          <a:xfrm>
            <a:off x="3154680" y="1005840"/>
            <a:ext cx="2743200" cy="594360"/>
          </a:xfrm>
          <a:prstGeom prst="rect">
            <a:avLst/>
          </a:prstGeom>
          <a:noFill/>
          <a:ln/>
        </p:spPr>
        <p:txBody>
          <a:bodyPr wrap="square" rtlCol="0" anchor="ctr"/>
          <a:lstStyle/>
          <a:p>
            <a:pPr algn="ctr" indent="0" marL="0">
              <a:buNone/>
            </a:pPr>
            <a:r>
              <a:rPr lang="en-US" sz="1100" b="1" spc="200" kern="0" dirty="0">
                <a:solidFill>
                  <a:srgbClr val="FFFFFF"/>
                </a:solidFill>
              </a:rPr>
              <a:t>IMPERATIVE 2</a:t>
            </a:r>
            <a:endParaRPr lang="en-US" sz="1100" dirty="0"/>
          </a:p>
        </p:txBody>
      </p:sp>
      <p:sp>
        <p:nvSpPr>
          <p:cNvPr id="15" name="Text 13"/>
          <p:cNvSpPr/>
          <p:nvPr/>
        </p:nvSpPr>
        <p:spPr>
          <a:xfrm>
            <a:off x="3264408" y="1691640"/>
            <a:ext cx="2523744" cy="594360"/>
          </a:xfrm>
          <a:prstGeom prst="rect">
            <a:avLst/>
          </a:prstGeom>
          <a:noFill/>
          <a:ln/>
        </p:spPr>
        <p:txBody>
          <a:bodyPr wrap="square" lIns="0" tIns="0" rIns="0" bIns="0" rtlCol="0" anchor="ctr"/>
          <a:lstStyle/>
          <a:p>
            <a:pPr indent="0" marL="0">
              <a:buNone/>
            </a:pPr>
            <a:r>
              <a:rPr lang="en-US" sz="1200" b="1" dirty="0">
                <a:solidFill>
                  <a:srgbClr val="1F5C8B"/>
                </a:solidFill>
              </a:rPr>
              <a:t>PAY WITH RBP AND</a:t>
            </a:r>
            <a:endParaRPr lang="en-US" sz="1200" dirty="0"/>
          </a:p>
          <a:p>
            <a:pPr indent="0" marL="0">
              <a:buNone/>
            </a:pPr>
            <a:r>
              <a:rPr lang="en-US" sz="1200" b="1" dirty="0">
                <a:solidFill>
                  <a:srgbClr val="1F5C8B"/>
                </a:solidFill>
              </a:rPr>
              <a:t>MOVE TO GLOBAL BUDGETS</a:t>
            </a:r>
            <a:endParaRPr lang="en-US" sz="1200" dirty="0"/>
          </a:p>
        </p:txBody>
      </p:sp>
      <p:sp>
        <p:nvSpPr>
          <p:cNvPr id="16" name="Text 14"/>
          <p:cNvSpPr/>
          <p:nvPr/>
        </p:nvSpPr>
        <p:spPr>
          <a:xfrm>
            <a:off x="3264408" y="2377440"/>
            <a:ext cx="2523744" cy="228600"/>
          </a:xfrm>
          <a:prstGeom prst="rect">
            <a:avLst/>
          </a:prstGeom>
          <a:noFill/>
          <a:ln/>
        </p:spPr>
        <p:txBody>
          <a:bodyPr wrap="square" lIns="0" tIns="0" rIns="0" bIns="0" rtlCol="0" anchor="ctr"/>
          <a:lstStyle/>
          <a:p>
            <a:pPr indent="0" marL="0">
              <a:buNone/>
            </a:pPr>
            <a:r>
              <a:rPr lang="en-US" sz="1000" b="1" dirty="0">
                <a:solidFill>
                  <a:srgbClr val="1A1A1A"/>
                </a:solidFill>
              </a:rPr>
              <a:t>WHY:</a:t>
            </a:r>
            <a:endParaRPr lang="en-US" sz="1000" dirty="0"/>
          </a:p>
        </p:txBody>
      </p:sp>
      <p:sp>
        <p:nvSpPr>
          <p:cNvPr id="17" name="Text 15"/>
          <p:cNvSpPr/>
          <p:nvPr/>
        </p:nvSpPr>
        <p:spPr>
          <a:xfrm>
            <a:off x="3264408" y="2606040"/>
            <a:ext cx="2523744" cy="1234440"/>
          </a:xfrm>
          <a:prstGeom prst="rect">
            <a:avLst/>
          </a:prstGeom>
          <a:noFill/>
          <a:ln/>
        </p:spPr>
        <p:txBody>
          <a:bodyPr wrap="square" lIns="0" tIns="0" rIns="0" bIns="0" rtlCol="0" anchor="ctr"/>
          <a:lstStyle/>
          <a:p>
            <a:pPr indent="0" marL="0">
              <a:buNone/>
            </a:pPr>
            <a:r>
              <a:rPr lang="en-US" sz="950" dirty="0">
                <a:solidFill>
                  <a:srgbClr val="444444"/>
                </a:solidFill>
              </a:rPr>
              <a:t>Commercial prices average 250-300% of Medicare. UVMMC outpatient: 417% of Medicare. Premium increased 108% in 6 years. Break-even: ~136% of Medicare.</a:t>
            </a:r>
            <a:endParaRPr lang="en-US" sz="950" dirty="0"/>
          </a:p>
        </p:txBody>
      </p:sp>
      <p:sp>
        <p:nvSpPr>
          <p:cNvPr id="18" name="Text 16"/>
          <p:cNvSpPr/>
          <p:nvPr/>
        </p:nvSpPr>
        <p:spPr>
          <a:xfrm>
            <a:off x="3264408" y="3886200"/>
            <a:ext cx="2523744" cy="228600"/>
          </a:xfrm>
          <a:prstGeom prst="rect">
            <a:avLst/>
          </a:prstGeom>
          <a:noFill/>
          <a:ln/>
        </p:spPr>
        <p:txBody>
          <a:bodyPr wrap="square" lIns="0" tIns="0" rIns="0" bIns="0" rtlCol="0" anchor="ctr"/>
          <a:lstStyle/>
          <a:p>
            <a:pPr indent="0" marL="0">
              <a:buNone/>
            </a:pPr>
            <a:r>
              <a:rPr lang="en-US" sz="1000" b="1" dirty="0">
                <a:solidFill>
                  <a:srgbClr val="1F5C8B"/>
                </a:solidFill>
              </a:rPr>
              <a:t>WHAT:</a:t>
            </a:r>
            <a:endParaRPr lang="en-US" sz="1000" dirty="0"/>
          </a:p>
        </p:txBody>
      </p:sp>
      <p:sp>
        <p:nvSpPr>
          <p:cNvPr id="19" name="Text 17"/>
          <p:cNvSpPr/>
          <p:nvPr/>
        </p:nvSpPr>
        <p:spPr>
          <a:xfrm>
            <a:off x="3264408" y="4114800"/>
            <a:ext cx="2523744" cy="713232"/>
          </a:xfrm>
          <a:prstGeom prst="rect">
            <a:avLst/>
          </a:prstGeom>
          <a:noFill/>
          <a:ln/>
        </p:spPr>
        <p:txBody>
          <a:bodyPr wrap="square" lIns="0" tIns="0" rIns="0" bIns="0" rtlCol="0" anchor="ctr"/>
          <a:lstStyle/>
          <a:p>
            <a:pPr indent="0" marL="0">
              <a:buNone/>
            </a:pPr>
            <a:r>
              <a:rPr lang="en-US" sz="950" dirty="0">
                <a:solidFill>
                  <a:srgbClr val="444444"/>
                </a:solidFill>
              </a:rPr>
              <a:t>Act 68 mandates RBP (FY2027) and hospital global budgets (FY2028-2030). AHEAD Model provides Medicare FFS global budget from January 2027.</a:t>
            </a:r>
            <a:endParaRPr lang="en-US" sz="950" dirty="0"/>
          </a:p>
        </p:txBody>
      </p:sp>
      <p:sp>
        <p:nvSpPr>
          <p:cNvPr id="20" name="Shape 18"/>
          <p:cNvSpPr/>
          <p:nvPr/>
        </p:nvSpPr>
        <p:spPr>
          <a:xfrm>
            <a:off x="6080760" y="1005840"/>
            <a:ext cx="2743200" cy="3931920"/>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21" name="Shape 19"/>
          <p:cNvSpPr/>
          <p:nvPr/>
        </p:nvSpPr>
        <p:spPr>
          <a:xfrm>
            <a:off x="6080760" y="1005840"/>
            <a:ext cx="2743200" cy="594360"/>
          </a:xfrm>
          <a:prstGeom prst="rect">
            <a:avLst/>
          </a:prstGeom>
          <a:solidFill>
            <a:srgbClr val="1E6B3C"/>
          </a:solidFill>
          <a:ln/>
        </p:spPr>
      </p:sp>
      <p:sp>
        <p:nvSpPr>
          <p:cNvPr id="22" name="Text 20"/>
          <p:cNvSpPr/>
          <p:nvPr/>
        </p:nvSpPr>
        <p:spPr>
          <a:xfrm>
            <a:off x="6080760" y="1005840"/>
            <a:ext cx="2743200" cy="594360"/>
          </a:xfrm>
          <a:prstGeom prst="rect">
            <a:avLst/>
          </a:prstGeom>
          <a:noFill/>
          <a:ln/>
        </p:spPr>
        <p:txBody>
          <a:bodyPr wrap="square" rtlCol="0" anchor="ctr"/>
          <a:lstStyle/>
          <a:p>
            <a:pPr algn="ctr" indent="0" marL="0">
              <a:buNone/>
            </a:pPr>
            <a:r>
              <a:rPr lang="en-US" sz="1100" b="1" spc="200" kern="0" dirty="0">
                <a:solidFill>
                  <a:srgbClr val="FFFFFF"/>
                </a:solidFill>
              </a:rPr>
              <a:t>IMPERATIVE 3</a:t>
            </a:r>
            <a:endParaRPr lang="en-US" sz="1100" dirty="0"/>
          </a:p>
        </p:txBody>
      </p:sp>
      <p:sp>
        <p:nvSpPr>
          <p:cNvPr id="23" name="Text 21"/>
          <p:cNvSpPr/>
          <p:nvPr/>
        </p:nvSpPr>
        <p:spPr>
          <a:xfrm>
            <a:off x="6190488" y="1691640"/>
            <a:ext cx="2523744" cy="594360"/>
          </a:xfrm>
          <a:prstGeom prst="rect">
            <a:avLst/>
          </a:prstGeom>
          <a:noFill/>
          <a:ln/>
        </p:spPr>
        <p:txBody>
          <a:bodyPr wrap="square" lIns="0" tIns="0" rIns="0" bIns="0" rtlCol="0" anchor="ctr"/>
          <a:lstStyle/>
          <a:p>
            <a:pPr indent="0" marL="0">
              <a:buNone/>
            </a:pPr>
            <a:r>
              <a:rPr lang="en-US" sz="1200" b="1" dirty="0">
                <a:solidFill>
                  <a:srgbClr val="1E6B3C"/>
                </a:solidFill>
              </a:rPr>
              <a:t>MOVE CARE OUT</a:t>
            </a:r>
            <a:endParaRPr lang="en-US" sz="1200" dirty="0"/>
          </a:p>
          <a:p>
            <a:pPr indent="0" marL="0">
              <a:buNone/>
            </a:pPr>
            <a:r>
              <a:rPr lang="en-US" sz="1200" b="1" dirty="0">
                <a:solidFill>
                  <a:srgbClr val="1E6B3C"/>
                </a:solidFill>
              </a:rPr>
              <a:t>OF HOSPITALS</a:t>
            </a:r>
            <a:endParaRPr lang="en-US" sz="1200" dirty="0"/>
          </a:p>
        </p:txBody>
      </p:sp>
      <p:sp>
        <p:nvSpPr>
          <p:cNvPr id="24" name="Text 22"/>
          <p:cNvSpPr/>
          <p:nvPr/>
        </p:nvSpPr>
        <p:spPr>
          <a:xfrm>
            <a:off x="6190488" y="2377440"/>
            <a:ext cx="2523744" cy="228600"/>
          </a:xfrm>
          <a:prstGeom prst="rect">
            <a:avLst/>
          </a:prstGeom>
          <a:noFill/>
          <a:ln/>
        </p:spPr>
        <p:txBody>
          <a:bodyPr wrap="square" lIns="0" tIns="0" rIns="0" bIns="0" rtlCol="0" anchor="ctr"/>
          <a:lstStyle/>
          <a:p>
            <a:pPr indent="0" marL="0">
              <a:buNone/>
            </a:pPr>
            <a:r>
              <a:rPr lang="en-US" sz="1000" b="1" dirty="0">
                <a:solidFill>
                  <a:srgbClr val="1A1A1A"/>
                </a:solidFill>
              </a:rPr>
              <a:t>WHY:</a:t>
            </a:r>
            <a:endParaRPr lang="en-US" sz="1000" dirty="0"/>
          </a:p>
        </p:txBody>
      </p:sp>
      <p:sp>
        <p:nvSpPr>
          <p:cNvPr id="25" name="Text 23"/>
          <p:cNvSpPr/>
          <p:nvPr/>
        </p:nvSpPr>
        <p:spPr>
          <a:xfrm>
            <a:off x="6190488" y="2606040"/>
            <a:ext cx="2523744" cy="1234440"/>
          </a:xfrm>
          <a:prstGeom prst="rect">
            <a:avLst/>
          </a:prstGeom>
          <a:noFill/>
          <a:ln/>
        </p:spPr>
        <p:txBody>
          <a:bodyPr wrap="square" lIns="0" tIns="0" rIns="0" bIns="0" rtlCol="0" anchor="ctr"/>
          <a:lstStyle/>
          <a:p>
            <a:pPr indent="0" marL="0">
              <a:buNone/>
            </a:pPr>
            <a:r>
              <a:rPr lang="en-US" sz="950" dirty="0">
                <a:solidFill>
                  <a:srgbClr val="444444"/>
                </a:solidFill>
              </a:rPr>
              <a:t>32.3% of ED visits potentially avoidable. Hospital-centric model is financially unsustainable as demographics shift cost toward Medicare/Medicaid. Administrative overhead 91% above benchmark.</a:t>
            </a:r>
            <a:endParaRPr lang="en-US" sz="950" dirty="0"/>
          </a:p>
        </p:txBody>
      </p:sp>
      <p:sp>
        <p:nvSpPr>
          <p:cNvPr id="26" name="Text 24"/>
          <p:cNvSpPr/>
          <p:nvPr/>
        </p:nvSpPr>
        <p:spPr>
          <a:xfrm>
            <a:off x="6190488" y="3886200"/>
            <a:ext cx="2523744" cy="228600"/>
          </a:xfrm>
          <a:prstGeom prst="rect">
            <a:avLst/>
          </a:prstGeom>
          <a:noFill/>
          <a:ln/>
        </p:spPr>
        <p:txBody>
          <a:bodyPr wrap="square" lIns="0" tIns="0" rIns="0" bIns="0" rtlCol="0" anchor="ctr"/>
          <a:lstStyle/>
          <a:p>
            <a:pPr indent="0" marL="0">
              <a:buNone/>
            </a:pPr>
            <a:r>
              <a:rPr lang="en-US" sz="1000" b="1" dirty="0">
                <a:solidFill>
                  <a:srgbClr val="1E6B3C"/>
                </a:solidFill>
              </a:rPr>
              <a:t>WHAT:</a:t>
            </a:r>
            <a:endParaRPr lang="en-US" sz="1000" dirty="0"/>
          </a:p>
        </p:txBody>
      </p:sp>
      <p:sp>
        <p:nvSpPr>
          <p:cNvPr id="27" name="Text 25"/>
          <p:cNvSpPr/>
          <p:nvPr/>
        </p:nvSpPr>
        <p:spPr>
          <a:xfrm>
            <a:off x="6190488" y="4114800"/>
            <a:ext cx="2523744" cy="713232"/>
          </a:xfrm>
          <a:prstGeom prst="rect">
            <a:avLst/>
          </a:prstGeom>
          <a:noFill/>
          <a:ln/>
        </p:spPr>
        <p:txBody>
          <a:bodyPr wrap="square" lIns="0" tIns="0" rIns="0" bIns="0" rtlCol="0" anchor="ctr"/>
          <a:lstStyle/>
          <a:p>
            <a:pPr indent="0" marL="0">
              <a:buNone/>
            </a:pPr>
            <a:r>
              <a:rPr lang="en-US" sz="950" dirty="0">
                <a:solidFill>
                  <a:srgbClr val="444444"/>
                </a:solidFill>
              </a:rPr>
              <a:t>Blueprint PCMH expansion. CCBHC network. CoCM behavioral health integration. RPM and telehealth for chronic disease management.</a:t>
            </a:r>
            <a:endParaRPr lang="en-US" sz="950" dirty="0"/>
          </a:p>
        </p:txBody>
      </p:sp>
      <p:sp>
        <p:nvSpPr>
          <p:cNvPr id="28" name="Text 26"/>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4 — Source: Oliver Wyman Act 167 Community Engagement: Recommendations (August 2024)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2000" b="1" dirty="0">
                <a:solidFill>
                  <a:srgbClr val="1F5C8B"/>
                </a:solidFill>
                <a:latin typeface="Georgia" pitchFamily="34" charset="0"/>
                <a:ea typeface="Georgia" pitchFamily="34" charset="-122"/>
                <a:cs typeface="Georgia" pitchFamily="34" charset="-120"/>
              </a:rPr>
              <a:t>ACT 68 OF 2025 — KEY PROVISIONS AND DEADLINES</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4251960"/>
        </p:xfrm>
        <a:graphic>
          <a:graphicData uri="http://schemas.openxmlformats.org/drawingml/2006/table">
            <a:tbl>
              <a:tblPr/>
              <a:tblGrid>
                <a:gridCol w="2011680"/>
                <a:gridCol w="3017520"/>
                <a:gridCol w="1737360"/>
                <a:gridCol w="1828800"/>
              </a:tblGrid>
              <a:tr h="530352">
                <a:tc>
                  <a:txBody>
                    <a:bodyPr/>
                    <a:lstStyle/>
                    <a:p>
                      <a:pPr indent="0" marL="0">
                        <a:buNone/>
                      </a:pPr>
                      <a:r>
                        <a:rPr lang="en-US" sz="1100" b="1" dirty="0">
                          <a:solidFill>
                            <a:srgbClr val="FFFFFF"/>
                          </a:solidFill>
                        </a:rPr>
                        <a:t>Provision</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Requirement</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Deadline</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Authority</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530352">
                <a:tc>
                  <a:txBody>
                    <a:bodyPr/>
                    <a:lstStyle/>
                    <a:p>
                      <a:pPr indent="0" marL="0">
                        <a:buNone/>
                      </a:pPr>
                      <a:r>
                        <a:rPr lang="en-US" sz="1050" dirty="0">
                          <a:solidFill>
                            <a:srgbClr val="000000"/>
                          </a:solidFill>
                        </a:rPr>
                        <a:t>FY2026 rate reduction</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–1% commercial rate benchmark; $230.65M total regulatory reductions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FY2026 (ongoing)</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GMCB</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30352">
                <a:tc>
                  <a:txBody>
                    <a:bodyPr/>
                    <a:lstStyle/>
                    <a:p>
                      <a:pPr indent="0" marL="0">
                        <a:buNone/>
                      </a:pPr>
                      <a:r>
                        <a:rPr lang="en-US" sz="1050" dirty="0">
                          <a:solidFill>
                            <a:srgbClr val="000000"/>
                          </a:solidFill>
                        </a:rPr>
                        <a:t>Transformation grants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$2M to hospitals for transformation plan development and implementation</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September 2025 launch</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30352">
                <a:tc>
                  <a:txBody>
                    <a:bodyPr/>
                    <a:lstStyle/>
                    <a:p>
                      <a:pPr indent="0" marL="0">
                        <a:buNone/>
                      </a:pPr>
                      <a:r>
                        <a:rPr lang="en-US" sz="1050" dirty="0">
                          <a:solidFill>
                            <a:srgbClr val="000000"/>
                          </a:solidFill>
                        </a:rPr>
                        <a:t>Reference-Based Pricing</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Mandatory maximum commercial rates for all Vermont hospitals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FY2027 (Oct 2026)</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GMCB</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30352">
                <a:tc>
                  <a:txBody>
                    <a:bodyPr/>
                    <a:lstStyle/>
                    <a:p>
                      <a:pPr indent="0" marL="0">
                        <a:buNone/>
                      </a:pPr>
                      <a:r>
                        <a:rPr lang="en-US" sz="1050" dirty="0">
                          <a:solidFill>
                            <a:srgbClr val="000000"/>
                          </a:solidFill>
                        </a:rPr>
                        <a:t>Medicare global budgets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AHEAD Model Cohort 2; Medicare FFS global budgets for all hospitals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January 1, 2027</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AHS/CMS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30352">
                <a:tc>
                  <a:txBody>
                    <a:bodyPr/>
                    <a:lstStyle/>
                    <a:p>
                      <a:pPr indent="0" marL="0">
                        <a:buNone/>
                      </a:pPr>
                      <a:r>
                        <a:rPr lang="en-US" sz="1050" dirty="0">
                          <a:solidFill>
                            <a:srgbClr val="000000"/>
                          </a:solidFill>
                        </a:rPr>
                        <a:t>Non-CAH global budgets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Prospective annual budgets for PPS hospitals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FY2028 (Oct 2027)</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GMCB</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30352">
                <a:tc>
                  <a:txBody>
                    <a:bodyPr/>
                    <a:lstStyle/>
                    <a:p>
                      <a:pPr indent="0" marL="0">
                        <a:buNone/>
                      </a:pPr>
                      <a:r>
                        <a:rPr lang="en-US" sz="1050" dirty="0">
                          <a:solidFill>
                            <a:srgbClr val="000000"/>
                          </a:solidFill>
                        </a:rPr>
                        <a:t>All-hospital global budgets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CAHs included in mandatory global budget program</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FY2030 (Oct 2029)</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GMCB</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30352">
                <a:tc>
                  <a:txBody>
                    <a:bodyPr/>
                    <a:lstStyle/>
                    <a:p>
                      <a:pPr indent="0" marL="0">
                        <a:buNone/>
                      </a:pPr>
                      <a:r>
                        <a:rPr lang="en-US" sz="1050" dirty="0">
                          <a:solidFill>
                            <a:srgbClr val="000000"/>
                          </a:solidFill>
                        </a:rPr>
                        <a:t>Statewide Strategic Plan</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Delivered to Legislature; updated every 3 years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December 1, 2028</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AHS + Advisory Committee</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4 — Source: Act 68 of 2025 (Vermont); GMCB Act 68 Update (February 2026)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274320" y="164592"/>
            <a:ext cx="859536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VERMONT HOSPITAL COMMERCIAL PRICES vs. MEDICARE  (% of Medicare)</a:t>
            </a:r>
            <a:endParaRPr lang="en-US" sz="1700" dirty="0"/>
          </a:p>
        </p:txBody>
      </p:sp>
      <p:graphicFrame>
        <p:nvGraphicFramePr>
          <p:cNvPr id="3" name="Chart 0" descr=""/>
          <p:cNvGraphicFramePr/>
          <p:nvPr/>
        </p:nvGraphicFramePr>
        <p:xfrm>
          <a:off x="320040" y="685800"/>
          <a:ext cx="8503920" cy="3840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365760" y="4617720"/>
            <a:ext cx="8412480" cy="384048"/>
          </a:xfrm>
          <a:prstGeom prst="rect">
            <a:avLst/>
          </a:prstGeom>
          <a:noFill/>
          <a:ln/>
        </p:spPr>
        <p:txBody>
          <a:bodyPr wrap="square" rtlCol="0" anchor="ctr"/>
          <a:lstStyle/>
          <a:p>
            <a:pPr algn="ctr" indent="0" marL="0">
              <a:buNone/>
            </a:pPr>
            <a:r>
              <a:rPr lang="en-US" sz="1050" i="1" dirty="0">
                <a:solidFill>
                  <a:srgbClr val="1F5C8B"/>
                </a:solidFill>
              </a:rPr>
              <a:t>Act 68 RBP will set mandatory commercial maximum rates — ending the pricing that drives Vermont's 108% premium increase</a:t>
            </a:r>
            <a:endParaRPr lang="en-US" sz="1050" dirty="0"/>
          </a:p>
        </p:txBody>
      </p:sp>
      <p:sp>
        <p:nvSpPr>
          <p:cNvPr id="5" name="Text 2"/>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4 / Chapter 6 — Source: GMCB Act 68 RBP Update (February 2026); RAND Hospital Transparency; GMCB FY2026 data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THE AHEAD MODEL — VERMONT'S FEDERAL PARTNERSHIP (COHORT 2)</a:t>
            </a:r>
            <a:endParaRPr lang="en-US" sz="1800" dirty="0"/>
          </a:p>
        </p:txBody>
      </p:sp>
      <p:sp>
        <p:nvSpPr>
          <p:cNvPr id="3" name="Shape 1"/>
          <p:cNvSpPr/>
          <p:nvPr/>
        </p:nvSpPr>
        <p:spPr>
          <a:xfrm>
            <a:off x="274320" y="713232"/>
            <a:ext cx="4069080" cy="1508760"/>
          </a:xfrm>
          <a:prstGeom prst="rect">
            <a:avLst/>
          </a:prstGeom>
          <a:solidFill>
            <a:srgbClr val="D5E8F0"/>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13232"/>
            <a:ext cx="4069080" cy="347472"/>
          </a:xfrm>
          <a:prstGeom prst="rect">
            <a:avLst/>
          </a:prstGeom>
          <a:solidFill>
            <a:srgbClr val="1F5C8B"/>
          </a:solidFill>
          <a:ln/>
        </p:spPr>
      </p:sp>
      <p:sp>
        <p:nvSpPr>
          <p:cNvPr id="5" name="Text 3"/>
          <p:cNvSpPr/>
          <p:nvPr/>
        </p:nvSpPr>
        <p:spPr>
          <a:xfrm>
            <a:off x="274320" y="713232"/>
            <a:ext cx="4069080" cy="347472"/>
          </a:xfrm>
          <a:prstGeom prst="rect">
            <a:avLst/>
          </a:prstGeom>
          <a:noFill/>
          <a:ln/>
        </p:spPr>
        <p:txBody>
          <a:bodyPr wrap="square" rtlCol="0" anchor="ctr"/>
          <a:lstStyle/>
          <a:p>
            <a:pPr algn="ctr" indent="0" marL="0">
              <a:buNone/>
            </a:pPr>
            <a:r>
              <a:rPr lang="en-US" sz="1200" b="1" dirty="0">
                <a:solidFill>
                  <a:srgbClr val="FFFFFF"/>
                </a:solidFill>
              </a:rPr>
              <a:t>Hospital Global Budgets</a:t>
            </a:r>
            <a:endParaRPr lang="en-US" sz="1200" dirty="0"/>
          </a:p>
        </p:txBody>
      </p:sp>
      <p:sp>
        <p:nvSpPr>
          <p:cNvPr id="6" name="Text 4"/>
          <p:cNvSpPr/>
          <p:nvPr/>
        </p:nvSpPr>
        <p:spPr>
          <a:xfrm>
            <a:off x="384048" y="1124712"/>
            <a:ext cx="3840480" cy="1051560"/>
          </a:xfrm>
          <a:prstGeom prst="rect">
            <a:avLst/>
          </a:prstGeom>
          <a:noFill/>
          <a:ln/>
        </p:spPr>
        <p:txBody>
          <a:bodyPr wrap="square" lIns="0" tIns="0" rIns="0" bIns="0" rtlCol="0" anchor="ctr"/>
          <a:lstStyle/>
          <a:p>
            <a:pPr indent="0" marL="0">
              <a:buNone/>
            </a:pPr>
            <a:r>
              <a:rPr lang="en-US" sz="1050" dirty="0">
                <a:solidFill>
                  <a:srgbClr val="444444"/>
                </a:solidFill>
              </a:rPr>
              <a:t>All Vermont hospitals receive prospective Medicare FFS global budgets from Jan 2027. Hospitals receive fixed revenue regardless of volume — incentive shifts to population health management.</a:t>
            </a:r>
            <a:endParaRPr lang="en-US" sz="1050" dirty="0"/>
          </a:p>
        </p:txBody>
      </p:sp>
      <p:sp>
        <p:nvSpPr>
          <p:cNvPr id="7" name="Shape 5"/>
          <p:cNvSpPr/>
          <p:nvPr/>
        </p:nvSpPr>
        <p:spPr>
          <a:xfrm>
            <a:off x="4617720" y="713232"/>
            <a:ext cx="4069080" cy="1508760"/>
          </a:xfrm>
          <a:prstGeom prst="rect">
            <a:avLst/>
          </a:prstGeom>
          <a:solidFill>
            <a:srgbClr val="EBF4FA"/>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8" name="Shape 6"/>
          <p:cNvSpPr/>
          <p:nvPr/>
        </p:nvSpPr>
        <p:spPr>
          <a:xfrm>
            <a:off x="4617720" y="713232"/>
            <a:ext cx="4069080" cy="347472"/>
          </a:xfrm>
          <a:prstGeom prst="rect">
            <a:avLst/>
          </a:prstGeom>
          <a:solidFill>
            <a:srgbClr val="2E75B6"/>
          </a:solidFill>
          <a:ln/>
        </p:spPr>
      </p:sp>
      <p:sp>
        <p:nvSpPr>
          <p:cNvPr id="9" name="Text 7"/>
          <p:cNvSpPr/>
          <p:nvPr/>
        </p:nvSpPr>
        <p:spPr>
          <a:xfrm>
            <a:off x="4617720" y="713232"/>
            <a:ext cx="4069080" cy="347472"/>
          </a:xfrm>
          <a:prstGeom prst="rect">
            <a:avLst/>
          </a:prstGeom>
          <a:noFill/>
          <a:ln/>
        </p:spPr>
        <p:txBody>
          <a:bodyPr wrap="square" rtlCol="0" anchor="ctr"/>
          <a:lstStyle/>
          <a:p>
            <a:pPr algn="ctr" indent="0" marL="0">
              <a:buNone/>
            </a:pPr>
            <a:r>
              <a:rPr lang="en-US" sz="1200" b="1" dirty="0">
                <a:solidFill>
                  <a:srgbClr val="FFFFFF"/>
                </a:solidFill>
              </a:rPr>
              <a:t>Primary Care AHEAD</a:t>
            </a:r>
            <a:endParaRPr lang="en-US" sz="1200" dirty="0"/>
          </a:p>
        </p:txBody>
      </p:sp>
      <p:sp>
        <p:nvSpPr>
          <p:cNvPr id="10" name="Text 8"/>
          <p:cNvSpPr/>
          <p:nvPr/>
        </p:nvSpPr>
        <p:spPr>
          <a:xfrm>
            <a:off x="4727448" y="1124712"/>
            <a:ext cx="3840480" cy="1051560"/>
          </a:xfrm>
          <a:prstGeom prst="rect">
            <a:avLst/>
          </a:prstGeom>
          <a:noFill/>
          <a:ln/>
        </p:spPr>
        <p:txBody>
          <a:bodyPr wrap="square" lIns="0" tIns="0" rIns="0" bIns="0" rtlCol="0" anchor="ctr"/>
          <a:lstStyle/>
          <a:p>
            <a:pPr indent="0" marL="0">
              <a:buNone/>
            </a:pPr>
            <a:r>
              <a:rPr lang="en-US" sz="1050" dirty="0">
                <a:solidFill>
                  <a:srgbClr val="444444"/>
                </a:solidFill>
              </a:rPr>
              <a:t>Voluntary enhanced Medicare payments for PCMHs. Four payment pathways including fully prospective models. Replaces expiring Blueprint Medicare PMPM demonstration.</a:t>
            </a:r>
            <a:endParaRPr lang="en-US" sz="1050" dirty="0"/>
          </a:p>
        </p:txBody>
      </p:sp>
      <p:sp>
        <p:nvSpPr>
          <p:cNvPr id="11" name="Shape 9"/>
          <p:cNvSpPr/>
          <p:nvPr/>
        </p:nvSpPr>
        <p:spPr>
          <a:xfrm>
            <a:off x="274320" y="2423160"/>
            <a:ext cx="4069080" cy="1508760"/>
          </a:xfrm>
          <a:prstGeom prst="rect">
            <a:avLst/>
          </a:prstGeom>
          <a:solidFill>
            <a:srgbClr val="D9EFE3"/>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12" name="Shape 10"/>
          <p:cNvSpPr/>
          <p:nvPr/>
        </p:nvSpPr>
        <p:spPr>
          <a:xfrm>
            <a:off x="274320" y="2423160"/>
            <a:ext cx="4069080" cy="347472"/>
          </a:xfrm>
          <a:prstGeom prst="rect">
            <a:avLst/>
          </a:prstGeom>
          <a:solidFill>
            <a:srgbClr val="1E6B3C"/>
          </a:solidFill>
          <a:ln/>
        </p:spPr>
      </p:sp>
      <p:sp>
        <p:nvSpPr>
          <p:cNvPr id="13" name="Text 11"/>
          <p:cNvSpPr/>
          <p:nvPr/>
        </p:nvSpPr>
        <p:spPr>
          <a:xfrm>
            <a:off x="274320" y="2423160"/>
            <a:ext cx="4069080" cy="347472"/>
          </a:xfrm>
          <a:prstGeom prst="rect">
            <a:avLst/>
          </a:prstGeom>
          <a:noFill/>
          <a:ln/>
        </p:spPr>
        <p:txBody>
          <a:bodyPr wrap="square" rtlCol="0" anchor="ctr"/>
          <a:lstStyle/>
          <a:p>
            <a:pPr algn="ctr" indent="0" marL="0">
              <a:buNone/>
            </a:pPr>
            <a:r>
              <a:rPr lang="en-US" sz="1200" b="1" dirty="0">
                <a:solidFill>
                  <a:srgbClr val="FFFFFF"/>
                </a:solidFill>
              </a:rPr>
              <a:t>EAST Fund</a:t>
            </a:r>
            <a:endParaRPr lang="en-US" sz="1200" dirty="0"/>
          </a:p>
        </p:txBody>
      </p:sp>
      <p:sp>
        <p:nvSpPr>
          <p:cNvPr id="14" name="Text 12"/>
          <p:cNvSpPr/>
          <p:nvPr/>
        </p:nvSpPr>
        <p:spPr>
          <a:xfrm>
            <a:off x="384048" y="2834640"/>
            <a:ext cx="3840480" cy="1051560"/>
          </a:xfrm>
          <a:prstGeom prst="rect">
            <a:avLst/>
          </a:prstGeom>
          <a:noFill/>
          <a:ln/>
        </p:spPr>
        <p:txBody>
          <a:bodyPr wrap="square" lIns="0" tIns="0" rIns="0" bIns="0" rtlCol="0" anchor="ctr"/>
          <a:lstStyle/>
          <a:p>
            <a:pPr indent="0" marL="0">
              <a:buNone/>
            </a:pPr>
            <a:r>
              <a:rPr lang="en-US" sz="1050" dirty="0">
                <a:solidFill>
                  <a:srgbClr val="444444"/>
                </a:solidFill>
              </a:rPr>
              <a:t>Up to $150M/year in additional Medicare funds for Vermont to invest in primary care, behavioral health, home health, long-term care, and SDOH programs — the transformation capital engine.</a:t>
            </a:r>
            <a:endParaRPr lang="en-US" sz="1050" dirty="0"/>
          </a:p>
        </p:txBody>
      </p:sp>
      <p:sp>
        <p:nvSpPr>
          <p:cNvPr id="15" name="Shape 13"/>
          <p:cNvSpPr/>
          <p:nvPr/>
        </p:nvSpPr>
        <p:spPr>
          <a:xfrm>
            <a:off x="4617720" y="2423160"/>
            <a:ext cx="4069080" cy="1508760"/>
          </a:xfrm>
          <a:prstGeom prst="rect">
            <a:avLst/>
          </a:prstGeom>
          <a:solidFill>
            <a:srgbClr val="FFF0CC"/>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16" name="Shape 14"/>
          <p:cNvSpPr/>
          <p:nvPr/>
        </p:nvSpPr>
        <p:spPr>
          <a:xfrm>
            <a:off x="4617720" y="2423160"/>
            <a:ext cx="4069080" cy="347472"/>
          </a:xfrm>
          <a:prstGeom prst="rect">
            <a:avLst/>
          </a:prstGeom>
          <a:solidFill>
            <a:srgbClr val="7B4A00"/>
          </a:solidFill>
          <a:ln/>
        </p:spPr>
      </p:sp>
      <p:sp>
        <p:nvSpPr>
          <p:cNvPr id="17" name="Text 15"/>
          <p:cNvSpPr/>
          <p:nvPr/>
        </p:nvSpPr>
        <p:spPr>
          <a:xfrm>
            <a:off x="4617720" y="2423160"/>
            <a:ext cx="4069080" cy="347472"/>
          </a:xfrm>
          <a:prstGeom prst="rect">
            <a:avLst/>
          </a:prstGeom>
          <a:noFill/>
          <a:ln/>
        </p:spPr>
        <p:txBody>
          <a:bodyPr wrap="square" rtlCol="0" anchor="ctr"/>
          <a:lstStyle/>
          <a:p>
            <a:pPr algn="ctr" indent="0" marL="0">
              <a:buNone/>
            </a:pPr>
            <a:r>
              <a:rPr lang="en-US" sz="1200" b="1" dirty="0">
                <a:solidFill>
                  <a:srgbClr val="FFFFFF"/>
                </a:solidFill>
              </a:rPr>
              <a:t>Total Cost of Care Accountability</a:t>
            </a:r>
            <a:endParaRPr lang="en-US" sz="1200" dirty="0"/>
          </a:p>
        </p:txBody>
      </p:sp>
      <p:sp>
        <p:nvSpPr>
          <p:cNvPr id="18" name="Text 16"/>
          <p:cNvSpPr/>
          <p:nvPr/>
        </p:nvSpPr>
        <p:spPr>
          <a:xfrm>
            <a:off x="4727448" y="2834640"/>
            <a:ext cx="3840480" cy="1051560"/>
          </a:xfrm>
          <a:prstGeom prst="rect">
            <a:avLst/>
          </a:prstGeom>
          <a:noFill/>
          <a:ln/>
        </p:spPr>
        <p:txBody>
          <a:bodyPr wrap="square" lIns="0" tIns="0" rIns="0" bIns="0" rtlCol="0" anchor="ctr"/>
          <a:lstStyle/>
          <a:p>
            <a:pPr indent="0" marL="0">
              <a:buNone/>
            </a:pPr>
            <a:r>
              <a:rPr lang="en-US" sz="1050" dirty="0">
                <a:solidFill>
                  <a:srgbClr val="444444"/>
                </a:solidFill>
              </a:rPr>
              <a:t>Vermont responsible for all-payer TCOC targets. State-level accountability with meaningful consequences after Year 3. 9-year model: January 2027 through December 2035.</a:t>
            </a:r>
            <a:endParaRPr lang="en-US" sz="1050" dirty="0"/>
          </a:p>
        </p:txBody>
      </p:sp>
      <p:sp>
        <p:nvSpPr>
          <p:cNvPr id="19" name="Shape 17"/>
          <p:cNvSpPr/>
          <p:nvPr/>
        </p:nvSpPr>
        <p:spPr>
          <a:xfrm>
            <a:off x="274320" y="4069080"/>
            <a:ext cx="8595360" cy="868680"/>
          </a:xfrm>
          <a:prstGeom prst="rect">
            <a:avLst/>
          </a:prstGeom>
          <a:solidFill>
            <a:srgbClr val="1F5C8B"/>
          </a:solidFill>
          <a:ln/>
        </p:spPr>
      </p:sp>
      <p:sp>
        <p:nvSpPr>
          <p:cNvPr id="20" name="Text 18"/>
          <p:cNvSpPr/>
          <p:nvPr/>
        </p:nvSpPr>
        <p:spPr>
          <a:xfrm>
            <a:off x="365760" y="4114800"/>
            <a:ext cx="8412480" cy="777240"/>
          </a:xfrm>
          <a:prstGeom prst="rect">
            <a:avLst/>
          </a:prstGeom>
          <a:noFill/>
          <a:ln/>
        </p:spPr>
        <p:txBody>
          <a:bodyPr wrap="square" rtlCol="0" anchor="ctr"/>
          <a:lstStyle/>
          <a:p>
            <a:pPr indent="0" marL="0">
              <a:buNone/>
            </a:pPr>
            <a:r>
              <a:rPr lang="en-US" sz="1050" dirty="0">
                <a:solidFill>
                  <a:srgbClr val="FFFFFF"/>
                </a:solidFill>
              </a:rPr>
              <a:t>KEY AGREEMENT TERMS:  Signed January 17, 2025  ·  Vermont: Cohort 2  ·  Starts January 1, 2027  ·  9-year model  ·  Vermont may withdraw with 30-day notice (pre-launch) or 6-month notice (post-launch)</a:t>
            </a:r>
            <a:endParaRPr lang="en-US" sz="1050" dirty="0"/>
          </a:p>
        </p:txBody>
      </p:sp>
      <p:sp>
        <p:nvSpPr>
          <p:cNvPr id="21" name="Text 1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4 — Source: AHEAD State Agreement (January 17, 2025); CMS AHEAD Model documentation</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5</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Policy Pillar in Practice — CMMI, Waivers, H.R.1</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H.R. 1 — THE ONE BIG BEAUTIFUL BILL ACT: HEALTHCARE IMPACT</a:t>
            </a:r>
            <a:endParaRPr lang="en-US" sz="1800" dirty="0"/>
          </a:p>
        </p:txBody>
      </p:sp>
      <p:sp>
        <p:nvSpPr>
          <p:cNvPr id="3" name="Shape 1"/>
          <p:cNvSpPr/>
          <p:nvPr/>
        </p:nvSpPr>
        <p:spPr>
          <a:xfrm>
            <a:off x="228600" y="685800"/>
            <a:ext cx="2011680" cy="1828800"/>
          </a:xfrm>
          <a:prstGeom prst="rect">
            <a:avLst/>
          </a:prstGeom>
          <a:solidFill>
            <a:srgbClr val="FFFFFF"/>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28600" y="685800"/>
            <a:ext cx="2011680" cy="292608"/>
          </a:xfrm>
          <a:prstGeom prst="rect">
            <a:avLst/>
          </a:prstGeom>
          <a:solidFill>
            <a:srgbClr val="8B1A1A"/>
          </a:solidFill>
          <a:ln/>
        </p:spPr>
      </p:sp>
      <p:sp>
        <p:nvSpPr>
          <p:cNvPr id="5" name="Text 3"/>
          <p:cNvSpPr/>
          <p:nvPr/>
        </p:nvSpPr>
        <p:spPr>
          <a:xfrm>
            <a:off x="228600" y="1051560"/>
            <a:ext cx="2011680" cy="777240"/>
          </a:xfrm>
          <a:prstGeom prst="rect">
            <a:avLst/>
          </a:prstGeom>
          <a:noFill/>
          <a:ln/>
        </p:spPr>
        <p:txBody>
          <a:bodyPr wrap="square" rtlCol="0" anchor="ctr"/>
          <a:lstStyle/>
          <a:p>
            <a:pPr algn="ctr" indent="0" marL="0">
              <a:buNone/>
            </a:pPr>
            <a:r>
              <a:rPr lang="en-US" sz="4000" b="1" dirty="0">
                <a:solidFill>
                  <a:srgbClr val="8B1A1A"/>
                </a:solidFill>
              </a:rPr>
              <a:t>$911B</a:t>
            </a:r>
            <a:endParaRPr lang="en-US" sz="4000" dirty="0"/>
          </a:p>
        </p:txBody>
      </p:sp>
      <p:sp>
        <p:nvSpPr>
          <p:cNvPr id="6" name="Text 4"/>
          <p:cNvSpPr/>
          <p:nvPr/>
        </p:nvSpPr>
        <p:spPr>
          <a:xfrm>
            <a:off x="320040" y="1874520"/>
            <a:ext cx="1828800" cy="548640"/>
          </a:xfrm>
          <a:prstGeom prst="rect">
            <a:avLst/>
          </a:prstGeom>
          <a:noFill/>
          <a:ln/>
        </p:spPr>
        <p:txBody>
          <a:bodyPr wrap="square" lIns="0" tIns="0" rIns="0" bIns="0" rtlCol="0" anchor="ctr"/>
          <a:lstStyle/>
          <a:p>
            <a:pPr algn="ctr" indent="0" marL="0">
              <a:buNone/>
            </a:pPr>
            <a:r>
              <a:rPr lang="en-US" sz="1000" dirty="0">
                <a:solidFill>
                  <a:srgbClr val="1A1A1A"/>
                </a:solidFill>
              </a:rPr>
              <a:t>Federal Medicaid spending cuts</a:t>
            </a:r>
            <a:endParaRPr lang="en-US" sz="1000" dirty="0"/>
          </a:p>
          <a:p>
            <a:pPr algn="ctr" indent="0" marL="0">
              <a:buNone/>
            </a:pPr>
            <a:r>
              <a:rPr lang="en-US" sz="1000" dirty="0">
                <a:solidFill>
                  <a:srgbClr val="1A1A1A"/>
                </a:solidFill>
              </a:rPr>
              <a:t>over 10 years (CBO estimate)</a:t>
            </a:r>
            <a:endParaRPr lang="en-US" sz="1000" dirty="0"/>
          </a:p>
        </p:txBody>
      </p:sp>
      <p:sp>
        <p:nvSpPr>
          <p:cNvPr id="7" name="Shape 5"/>
          <p:cNvSpPr/>
          <p:nvPr/>
        </p:nvSpPr>
        <p:spPr>
          <a:xfrm>
            <a:off x="2423160" y="685800"/>
            <a:ext cx="2011680" cy="1828800"/>
          </a:xfrm>
          <a:prstGeom prst="rect">
            <a:avLst/>
          </a:prstGeom>
          <a:solidFill>
            <a:srgbClr val="FFFFFF"/>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8" name="Shape 6"/>
          <p:cNvSpPr/>
          <p:nvPr/>
        </p:nvSpPr>
        <p:spPr>
          <a:xfrm>
            <a:off x="2423160" y="685800"/>
            <a:ext cx="2011680" cy="292608"/>
          </a:xfrm>
          <a:prstGeom prst="rect">
            <a:avLst/>
          </a:prstGeom>
          <a:solidFill>
            <a:srgbClr val="8B1A1A"/>
          </a:solidFill>
          <a:ln/>
        </p:spPr>
      </p:sp>
      <p:sp>
        <p:nvSpPr>
          <p:cNvPr id="9" name="Text 7"/>
          <p:cNvSpPr/>
          <p:nvPr/>
        </p:nvSpPr>
        <p:spPr>
          <a:xfrm>
            <a:off x="2423160" y="1051560"/>
            <a:ext cx="2011680" cy="777240"/>
          </a:xfrm>
          <a:prstGeom prst="rect">
            <a:avLst/>
          </a:prstGeom>
          <a:noFill/>
          <a:ln/>
        </p:spPr>
        <p:txBody>
          <a:bodyPr wrap="square" rtlCol="0" anchor="ctr"/>
          <a:lstStyle/>
          <a:p>
            <a:pPr algn="ctr" indent="0" marL="0">
              <a:buNone/>
            </a:pPr>
            <a:r>
              <a:rPr lang="en-US" sz="4000" b="1" dirty="0">
                <a:solidFill>
                  <a:srgbClr val="8B1A1A"/>
                </a:solidFill>
              </a:rPr>
              <a:t>10M</a:t>
            </a:r>
            <a:endParaRPr lang="en-US" sz="4000" dirty="0"/>
          </a:p>
        </p:txBody>
      </p:sp>
      <p:sp>
        <p:nvSpPr>
          <p:cNvPr id="10" name="Text 8"/>
          <p:cNvSpPr/>
          <p:nvPr/>
        </p:nvSpPr>
        <p:spPr>
          <a:xfrm>
            <a:off x="2514600" y="1874520"/>
            <a:ext cx="1828800" cy="548640"/>
          </a:xfrm>
          <a:prstGeom prst="rect">
            <a:avLst/>
          </a:prstGeom>
          <a:noFill/>
          <a:ln/>
        </p:spPr>
        <p:txBody>
          <a:bodyPr wrap="square" lIns="0" tIns="0" rIns="0" bIns="0" rtlCol="0" anchor="ctr"/>
          <a:lstStyle/>
          <a:p>
            <a:pPr algn="ctr" indent="0" marL="0">
              <a:buNone/>
            </a:pPr>
            <a:r>
              <a:rPr lang="en-US" sz="1000" dirty="0">
                <a:solidFill>
                  <a:srgbClr val="1A1A1A"/>
                </a:solidFill>
              </a:rPr>
              <a:t>Additional uninsured Americans</a:t>
            </a:r>
            <a:endParaRPr lang="en-US" sz="1000" dirty="0"/>
          </a:p>
          <a:p>
            <a:pPr algn="ctr" indent="0" marL="0">
              <a:buNone/>
            </a:pPr>
            <a:r>
              <a:rPr lang="en-US" sz="1000" dirty="0">
                <a:solidFill>
                  <a:srgbClr val="1A1A1A"/>
                </a:solidFill>
              </a:rPr>
              <a:t>by 2034 (CBO)</a:t>
            </a:r>
            <a:endParaRPr lang="en-US" sz="1000" dirty="0"/>
          </a:p>
        </p:txBody>
      </p:sp>
      <p:sp>
        <p:nvSpPr>
          <p:cNvPr id="11" name="Shape 9"/>
          <p:cNvSpPr/>
          <p:nvPr/>
        </p:nvSpPr>
        <p:spPr>
          <a:xfrm>
            <a:off x="4617720" y="685800"/>
            <a:ext cx="2011680" cy="1828800"/>
          </a:xfrm>
          <a:prstGeom prst="rect">
            <a:avLst/>
          </a:prstGeom>
          <a:solidFill>
            <a:srgbClr val="FFFFFF"/>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12" name="Shape 10"/>
          <p:cNvSpPr/>
          <p:nvPr/>
        </p:nvSpPr>
        <p:spPr>
          <a:xfrm>
            <a:off x="4617720" y="685800"/>
            <a:ext cx="2011680" cy="292608"/>
          </a:xfrm>
          <a:prstGeom prst="rect">
            <a:avLst/>
          </a:prstGeom>
          <a:solidFill>
            <a:srgbClr val="7B4A00"/>
          </a:solidFill>
          <a:ln/>
        </p:spPr>
      </p:sp>
      <p:sp>
        <p:nvSpPr>
          <p:cNvPr id="13" name="Text 11"/>
          <p:cNvSpPr/>
          <p:nvPr/>
        </p:nvSpPr>
        <p:spPr>
          <a:xfrm>
            <a:off x="4617720" y="1051560"/>
            <a:ext cx="2011680" cy="777240"/>
          </a:xfrm>
          <a:prstGeom prst="rect">
            <a:avLst/>
          </a:prstGeom>
          <a:noFill/>
          <a:ln/>
        </p:spPr>
        <p:txBody>
          <a:bodyPr wrap="square" rtlCol="0" anchor="ctr"/>
          <a:lstStyle/>
          <a:p>
            <a:pPr algn="ctr" indent="0" marL="0">
              <a:buNone/>
            </a:pPr>
            <a:r>
              <a:rPr lang="en-US" sz="4000" b="1" dirty="0">
                <a:solidFill>
                  <a:srgbClr val="7B4A00"/>
                </a:solidFill>
              </a:rPr>
              <a:t>$137B</a:t>
            </a:r>
            <a:endParaRPr lang="en-US" sz="4000" dirty="0"/>
          </a:p>
        </p:txBody>
      </p:sp>
      <p:sp>
        <p:nvSpPr>
          <p:cNvPr id="14" name="Text 12"/>
          <p:cNvSpPr/>
          <p:nvPr/>
        </p:nvSpPr>
        <p:spPr>
          <a:xfrm>
            <a:off x="4709160" y="1874520"/>
            <a:ext cx="1828800" cy="548640"/>
          </a:xfrm>
          <a:prstGeom prst="rect">
            <a:avLst/>
          </a:prstGeom>
          <a:noFill/>
          <a:ln/>
        </p:spPr>
        <p:txBody>
          <a:bodyPr wrap="square" lIns="0" tIns="0" rIns="0" bIns="0" rtlCol="0" anchor="ctr"/>
          <a:lstStyle/>
          <a:p>
            <a:pPr algn="ctr" indent="0" marL="0">
              <a:buNone/>
            </a:pPr>
            <a:r>
              <a:rPr lang="en-US" sz="1000" dirty="0">
                <a:solidFill>
                  <a:srgbClr val="1A1A1A"/>
                </a:solidFill>
              </a:rPr>
              <a:t>Rural Medicaid spending reduction</a:t>
            </a:r>
            <a:endParaRPr lang="en-US" sz="1000" dirty="0"/>
          </a:p>
          <a:p>
            <a:pPr algn="ctr" indent="0" marL="0">
              <a:buNone/>
            </a:pPr>
            <a:r>
              <a:rPr lang="en-US" sz="1000" dirty="0">
                <a:solidFill>
                  <a:srgbClr val="1A1A1A"/>
                </a:solidFill>
              </a:rPr>
              <a:t>over 10 years (KFF)</a:t>
            </a:r>
            <a:endParaRPr lang="en-US" sz="1000" dirty="0"/>
          </a:p>
        </p:txBody>
      </p:sp>
      <p:sp>
        <p:nvSpPr>
          <p:cNvPr id="15" name="Shape 13"/>
          <p:cNvSpPr/>
          <p:nvPr/>
        </p:nvSpPr>
        <p:spPr>
          <a:xfrm>
            <a:off x="6812280" y="685800"/>
            <a:ext cx="2011680" cy="1828800"/>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16" name="Shape 14"/>
          <p:cNvSpPr/>
          <p:nvPr/>
        </p:nvSpPr>
        <p:spPr>
          <a:xfrm>
            <a:off x="6812280" y="685800"/>
            <a:ext cx="2011680" cy="292608"/>
          </a:xfrm>
          <a:prstGeom prst="rect">
            <a:avLst/>
          </a:prstGeom>
          <a:solidFill>
            <a:srgbClr val="1E6B3C"/>
          </a:solidFill>
          <a:ln/>
        </p:spPr>
      </p:sp>
      <p:sp>
        <p:nvSpPr>
          <p:cNvPr id="17" name="Text 15"/>
          <p:cNvSpPr/>
          <p:nvPr/>
        </p:nvSpPr>
        <p:spPr>
          <a:xfrm>
            <a:off x="6812280" y="1051560"/>
            <a:ext cx="2011680" cy="777240"/>
          </a:xfrm>
          <a:prstGeom prst="rect">
            <a:avLst/>
          </a:prstGeom>
          <a:noFill/>
          <a:ln/>
        </p:spPr>
        <p:txBody>
          <a:bodyPr wrap="square" rtlCol="0" anchor="ctr"/>
          <a:lstStyle/>
          <a:p>
            <a:pPr algn="ctr" indent="0" marL="0">
              <a:buNone/>
            </a:pPr>
            <a:r>
              <a:rPr lang="en-US" sz="4000" b="1" dirty="0">
                <a:solidFill>
                  <a:srgbClr val="1E6B3C"/>
                </a:solidFill>
              </a:rPr>
              <a:t>$50B</a:t>
            </a:r>
            <a:endParaRPr lang="en-US" sz="4000" dirty="0"/>
          </a:p>
        </p:txBody>
      </p:sp>
      <p:sp>
        <p:nvSpPr>
          <p:cNvPr id="18" name="Text 16"/>
          <p:cNvSpPr/>
          <p:nvPr/>
        </p:nvSpPr>
        <p:spPr>
          <a:xfrm>
            <a:off x="6903720" y="1874520"/>
            <a:ext cx="1828800" cy="548640"/>
          </a:xfrm>
          <a:prstGeom prst="rect">
            <a:avLst/>
          </a:prstGeom>
          <a:noFill/>
          <a:ln/>
        </p:spPr>
        <p:txBody>
          <a:bodyPr wrap="square" lIns="0" tIns="0" rIns="0" bIns="0" rtlCol="0" anchor="ctr"/>
          <a:lstStyle/>
          <a:p>
            <a:pPr algn="ctr" indent="0" marL="0">
              <a:buNone/>
            </a:pPr>
            <a:r>
              <a:rPr lang="en-US" sz="1000" dirty="0">
                <a:solidFill>
                  <a:srgbClr val="1A1A1A"/>
                </a:solidFill>
              </a:rPr>
              <a:t>Rural Health Transformation</a:t>
            </a:r>
            <a:endParaRPr lang="en-US" sz="1000" dirty="0"/>
          </a:p>
          <a:p>
            <a:pPr algn="ctr" indent="0" marL="0">
              <a:buNone/>
            </a:pPr>
            <a:r>
              <a:rPr lang="en-US" sz="1000" dirty="0">
                <a:solidFill>
                  <a:srgbClr val="1A1A1A"/>
                </a:solidFill>
              </a:rPr>
              <a:t>Program (5 years, 2026-2030)</a:t>
            </a:r>
            <a:endParaRPr lang="en-US" sz="1000" dirty="0"/>
          </a:p>
        </p:txBody>
      </p:sp>
      <p:sp>
        <p:nvSpPr>
          <p:cNvPr id="19" name="Shape 17"/>
          <p:cNvSpPr/>
          <p:nvPr/>
        </p:nvSpPr>
        <p:spPr>
          <a:xfrm>
            <a:off x="274320" y="2743200"/>
            <a:ext cx="8595360" cy="1554480"/>
          </a:xfrm>
          <a:prstGeom prst="rect">
            <a:avLst/>
          </a:prstGeom>
          <a:solidFill>
            <a:srgbClr val="FFF9F9"/>
          </a:solidFill>
          <a:ln w="12700">
            <a:solidFill>
              <a:srgbClr val="8B1A1A"/>
            </a:solidFill>
            <a:prstDash val="solid"/>
          </a:ln>
        </p:spPr>
      </p:sp>
      <p:sp>
        <p:nvSpPr>
          <p:cNvPr id="20" name="Text 18"/>
          <p:cNvSpPr/>
          <p:nvPr/>
        </p:nvSpPr>
        <p:spPr>
          <a:xfrm>
            <a:off x="457200" y="2834640"/>
            <a:ext cx="8046720" cy="347472"/>
          </a:xfrm>
          <a:prstGeom prst="rect">
            <a:avLst/>
          </a:prstGeom>
          <a:noFill/>
          <a:ln/>
        </p:spPr>
        <p:txBody>
          <a:bodyPr wrap="square" lIns="0" tIns="0" rIns="0" bIns="0" rtlCol="0" anchor="ctr"/>
          <a:lstStyle/>
          <a:p>
            <a:pPr indent="0" marL="0">
              <a:buNone/>
            </a:pPr>
            <a:r>
              <a:rPr lang="en-US" sz="1300" b="1" dirty="0">
                <a:solidFill>
                  <a:srgbClr val="8B1A1A"/>
                </a:solidFill>
              </a:rPr>
              <a:t>THE FISCAL CLIFF PROBLEM</a:t>
            </a:r>
            <a:endParaRPr lang="en-US" sz="1300" dirty="0"/>
          </a:p>
        </p:txBody>
      </p:sp>
      <p:sp>
        <p:nvSpPr>
          <p:cNvPr id="21" name="Text 19"/>
          <p:cNvSpPr/>
          <p:nvPr/>
        </p:nvSpPr>
        <p:spPr>
          <a:xfrm>
            <a:off x="457200" y="3218688"/>
            <a:ext cx="8046720" cy="987552"/>
          </a:xfrm>
          <a:prstGeom prst="rect">
            <a:avLst/>
          </a:prstGeom>
          <a:noFill/>
          <a:ln/>
        </p:spPr>
        <p:txBody>
          <a:bodyPr wrap="square" lIns="0" tIns="0" rIns="0" bIns="0" rtlCol="0" anchor="ctr"/>
          <a:lstStyle/>
          <a:p>
            <a:pPr indent="0" marL="0">
              <a:buNone/>
            </a:pPr>
            <a:r>
              <a:rPr lang="en-US" sz="1100" dirty="0">
                <a:solidFill>
                  <a:srgbClr val="1A1A1A"/>
                </a:solidFill>
              </a:rPr>
              <a:t>The RHT Program is FRONT-LOADED (2026-2030) while Medicaid cuts are BACK-LOADED — 64% of 10-year Medicaid reductions occur AFTER 2030 when the RHT fund expires. Vermont must use RHT capital to build structural efficiency by 2030, or face the Medicaid revenue cliff without the cost structure to absorb it.</a:t>
            </a:r>
            <a:endParaRPr lang="en-US" sz="1100" dirty="0"/>
          </a:p>
        </p:txBody>
      </p:sp>
      <p:sp>
        <p:nvSpPr>
          <p:cNvPr id="22" name="Text 20"/>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5 / Chapter 17 — Source: CBO; KFF H.R.1 Rural Health Analysis; Chartis 2026 State of Rural Health</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CMMI MODEL SUCCESS FACTORS: WHY MOST FAIL AND SOME WORK</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4206240"/>
        </p:xfrm>
        <a:graphic>
          <a:graphicData uri="http://schemas.openxmlformats.org/drawingml/2006/table">
            <a:tbl>
              <a:tblPr/>
              <a:tblGrid>
                <a:gridCol w="1828800"/>
                <a:gridCol w="3383280"/>
                <a:gridCol w="3383280"/>
              </a:tblGrid>
              <a:tr h="777240">
                <a:tc>
                  <a:txBody>
                    <a:bodyPr/>
                    <a:lstStyle/>
                    <a:p>
                      <a:pPr indent="0" marL="0">
                        <a:buNone/>
                      </a:pPr>
                      <a:r>
                        <a:rPr lang="en-US" sz="1100" b="1" dirty="0">
                          <a:solidFill>
                            <a:srgbClr val="FFFFFF"/>
                          </a:solidFill>
                        </a:rPr>
                        <a:t>Factor</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Successful Models</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Failed Models</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777240">
                <a:tc>
                  <a:txBody>
                    <a:bodyPr/>
                    <a:lstStyle/>
                    <a:p>
                      <a:pPr indent="0" marL="0">
                        <a:buNone/>
                      </a:pPr>
                      <a:r>
                        <a:rPr lang="en-US" sz="1050" dirty="0">
                          <a:solidFill>
                            <a:srgbClr val="000000"/>
                          </a:solidFill>
                        </a:rPr>
                        <a:t>Mandatory participation</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AHEAD, Maryland HSCRC, Vermont Act 68 — all providers must participate</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Most CMMI ACOs, BPCI-A, bundled payments — highest-cost actors opt out</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777240">
                <a:tc>
                  <a:txBody>
                    <a:bodyPr/>
                    <a:lstStyle/>
                    <a:p>
                      <a:pPr indent="0" marL="0">
                        <a:buNone/>
                      </a:pPr>
                      <a:r>
                        <a:rPr lang="en-US" sz="1050" dirty="0">
                          <a:solidFill>
                            <a:srgbClr val="000000"/>
                          </a:solidFill>
                        </a:rPr>
                        <a:t>Two-sided risk (real)</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ACO REACH full risk, AHEAD global budgets — meaningful downside</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MSSP Track 1 (upside only), many bundles with minimal downside exposure</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777240">
                <a:tc>
                  <a:txBody>
                    <a:bodyPr/>
                    <a:lstStyle/>
                    <a:p>
                      <a:pPr indent="0" marL="0">
                        <a:buNone/>
                      </a:pPr>
                      <a:r>
                        <a:rPr lang="en-US" sz="1050" dirty="0">
                          <a:solidFill>
                            <a:srgbClr val="000000"/>
                          </a:solidFill>
                        </a:rPr>
                        <a:t>State regulatory alignment</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AHEAD (designed with state agencies), Maryland HSCRC (built on existing authority)</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Federal models imposed without coordinating with state Medicaid, insurance regulators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777240">
                <a:tc>
                  <a:txBody>
                    <a:bodyPr/>
                    <a:lstStyle/>
                    <a:p>
                      <a:pPr indent="0" marL="0">
                        <a:buNone/>
                      </a:pPr>
                      <a:r>
                        <a:rPr lang="en-US" sz="1050" dirty="0">
                          <a:solidFill>
                            <a:srgbClr val="000000"/>
                          </a:solidFill>
                        </a:rPr>
                        <a:t>Implementation support</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AHEAD cooperative agreement funds, Vermont RHRC engagement, pre-launch period</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50" dirty="0">
                          <a:solidFill>
                            <a:srgbClr val="000000"/>
                          </a:solidFill>
                        </a:rPr>
                        <a:t>Models launched with insufficient runway — providers cannot redesign care before accountability begins</a:t>
                      </a:r>
                      <a:endParaRPr lang="en-US" sz="10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5 — Source: HTR analysis of CMMI evaluation literature; CMS model documentation; 2023 independent CMMI evaluation</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SECTION 1115 WAIVERS — THE STATE'S PRIMARY FEDERAL POLICY TOOL</a:t>
            </a:r>
            <a:endParaRPr lang="en-US" sz="1800" dirty="0"/>
          </a:p>
        </p:txBody>
      </p:sp>
      <p:sp>
        <p:nvSpPr>
          <p:cNvPr id="3" name="Shape 1"/>
          <p:cNvSpPr/>
          <p:nvPr/>
        </p:nvSpPr>
        <p:spPr>
          <a:xfrm>
            <a:off x="274320" y="749808"/>
            <a:ext cx="8595360" cy="896112"/>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49808"/>
            <a:ext cx="1920240" cy="896112"/>
          </a:xfrm>
          <a:prstGeom prst="rect">
            <a:avLst/>
          </a:prstGeom>
          <a:solidFill>
            <a:srgbClr val="2E75B6"/>
          </a:solidFill>
          <a:ln/>
        </p:spPr>
      </p:sp>
      <p:sp>
        <p:nvSpPr>
          <p:cNvPr id="5" name="Text 3"/>
          <p:cNvSpPr/>
          <p:nvPr/>
        </p:nvSpPr>
        <p:spPr>
          <a:xfrm>
            <a:off x="274320" y="841248"/>
            <a:ext cx="1920240" cy="713232"/>
          </a:xfrm>
          <a:prstGeom prst="rect">
            <a:avLst/>
          </a:prstGeom>
          <a:noFill/>
          <a:ln/>
        </p:spPr>
        <p:txBody>
          <a:bodyPr wrap="square" rtlCol="0" anchor="ctr"/>
          <a:lstStyle/>
          <a:p>
            <a:pPr algn="ctr" indent="0" marL="0">
              <a:buNone/>
            </a:pPr>
            <a:r>
              <a:rPr lang="en-US" sz="1100" b="1" dirty="0">
                <a:solidFill>
                  <a:srgbClr val="FFFFFF"/>
                </a:solidFill>
              </a:rPr>
              <a:t>Coverage Expansions</a:t>
            </a:r>
            <a:endParaRPr lang="en-US" sz="1100" dirty="0"/>
          </a:p>
        </p:txBody>
      </p:sp>
      <p:sp>
        <p:nvSpPr>
          <p:cNvPr id="6" name="Text 4"/>
          <p:cNvSpPr/>
          <p:nvPr/>
        </p:nvSpPr>
        <p:spPr>
          <a:xfrm>
            <a:off x="2331720" y="795528"/>
            <a:ext cx="6309360" cy="347472"/>
          </a:xfrm>
          <a:prstGeom prst="rect">
            <a:avLst/>
          </a:prstGeom>
          <a:noFill/>
          <a:ln/>
        </p:spPr>
        <p:txBody>
          <a:bodyPr wrap="square" lIns="0" tIns="0" rIns="0" bIns="0" rtlCol="0" anchor="ctr"/>
          <a:lstStyle/>
          <a:p>
            <a:pPr indent="0" marL="0">
              <a:buNone/>
            </a:pPr>
            <a:r>
              <a:rPr lang="en-US" sz="1000" dirty="0">
                <a:solidFill>
                  <a:srgbClr val="1A1A1A"/>
                </a:solidFill>
              </a:rPr>
              <a:t>National: Extending Medicaid to populations not otherwise eligible; non-traditional benefit structures</a:t>
            </a:r>
            <a:endParaRPr lang="en-US" sz="1000" dirty="0"/>
          </a:p>
        </p:txBody>
      </p:sp>
      <p:sp>
        <p:nvSpPr>
          <p:cNvPr id="7" name="Text 5"/>
          <p:cNvSpPr/>
          <p:nvPr/>
        </p:nvSpPr>
        <p:spPr>
          <a:xfrm>
            <a:off x="2331720" y="1225296"/>
            <a:ext cx="6309360" cy="347472"/>
          </a:xfrm>
          <a:prstGeom prst="rect">
            <a:avLst/>
          </a:prstGeom>
          <a:noFill/>
          <a:ln/>
        </p:spPr>
        <p:txBody>
          <a:bodyPr wrap="square" lIns="0" tIns="0" rIns="0" bIns="0" rtlCol="0" anchor="ctr"/>
          <a:lstStyle/>
          <a:p>
            <a:pPr indent="0" marL="0">
              <a:buNone/>
            </a:pPr>
            <a:r>
              <a:rPr lang="en-US" sz="1000" i="1" dirty="0">
                <a:solidFill>
                  <a:srgbClr val="666666"/>
                </a:solidFill>
              </a:rPr>
              <a:t>Vermont: Vermont Global Commitment to Health: expanded coverage beyond standard state plan requirements</a:t>
            </a:r>
            <a:endParaRPr lang="en-US" sz="1000" dirty="0"/>
          </a:p>
        </p:txBody>
      </p:sp>
      <p:sp>
        <p:nvSpPr>
          <p:cNvPr id="8" name="Shape 6"/>
          <p:cNvSpPr/>
          <p:nvPr/>
        </p:nvSpPr>
        <p:spPr>
          <a:xfrm>
            <a:off x="274320" y="1755648"/>
            <a:ext cx="8595360" cy="896112"/>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9" name="Shape 7"/>
          <p:cNvSpPr/>
          <p:nvPr/>
        </p:nvSpPr>
        <p:spPr>
          <a:xfrm>
            <a:off x="274320" y="1755648"/>
            <a:ext cx="1920240" cy="896112"/>
          </a:xfrm>
          <a:prstGeom prst="rect">
            <a:avLst/>
          </a:prstGeom>
          <a:solidFill>
            <a:srgbClr val="1E6B3C"/>
          </a:solidFill>
          <a:ln/>
        </p:spPr>
      </p:sp>
      <p:sp>
        <p:nvSpPr>
          <p:cNvPr id="10" name="Text 8"/>
          <p:cNvSpPr/>
          <p:nvPr/>
        </p:nvSpPr>
        <p:spPr>
          <a:xfrm>
            <a:off x="274320" y="1847088"/>
            <a:ext cx="1920240" cy="713232"/>
          </a:xfrm>
          <a:prstGeom prst="rect">
            <a:avLst/>
          </a:prstGeom>
          <a:noFill/>
          <a:ln/>
        </p:spPr>
        <p:txBody>
          <a:bodyPr wrap="square" rtlCol="0" anchor="ctr"/>
          <a:lstStyle/>
          <a:p>
            <a:pPr algn="ctr" indent="0" marL="0">
              <a:buNone/>
            </a:pPr>
            <a:r>
              <a:rPr lang="en-US" sz="1100" b="1" dirty="0">
                <a:solidFill>
                  <a:srgbClr val="FFFFFF"/>
                </a:solidFill>
              </a:rPr>
              <a:t>Payment Reform</a:t>
            </a:r>
            <a:endParaRPr lang="en-US" sz="1100" dirty="0"/>
          </a:p>
        </p:txBody>
      </p:sp>
      <p:sp>
        <p:nvSpPr>
          <p:cNvPr id="11" name="Text 9"/>
          <p:cNvSpPr/>
          <p:nvPr/>
        </p:nvSpPr>
        <p:spPr>
          <a:xfrm>
            <a:off x="2331720" y="1801368"/>
            <a:ext cx="6309360" cy="347472"/>
          </a:xfrm>
          <a:prstGeom prst="rect">
            <a:avLst/>
          </a:prstGeom>
          <a:noFill/>
          <a:ln/>
        </p:spPr>
        <p:txBody>
          <a:bodyPr wrap="square" lIns="0" tIns="0" rIns="0" bIns="0" rtlCol="0" anchor="ctr"/>
          <a:lstStyle/>
          <a:p>
            <a:pPr indent="0" marL="0">
              <a:buNone/>
            </a:pPr>
            <a:r>
              <a:rPr lang="en-US" sz="1000" dirty="0">
                <a:solidFill>
                  <a:srgbClr val="1A1A1A"/>
                </a:solidFill>
              </a:rPr>
              <a:t>National: Global budgets, ACO arrangements, APMs for Medicaid not permitted under standard rules</a:t>
            </a:r>
            <a:endParaRPr lang="en-US" sz="1000" dirty="0"/>
          </a:p>
        </p:txBody>
      </p:sp>
      <p:sp>
        <p:nvSpPr>
          <p:cNvPr id="12" name="Text 10"/>
          <p:cNvSpPr/>
          <p:nvPr/>
        </p:nvSpPr>
        <p:spPr>
          <a:xfrm>
            <a:off x="2331720" y="2231136"/>
            <a:ext cx="6309360" cy="347472"/>
          </a:xfrm>
          <a:prstGeom prst="rect">
            <a:avLst/>
          </a:prstGeom>
          <a:noFill/>
          <a:ln/>
        </p:spPr>
        <p:txBody>
          <a:bodyPr wrap="square" lIns="0" tIns="0" rIns="0" bIns="0" rtlCol="0" anchor="ctr"/>
          <a:lstStyle/>
          <a:p>
            <a:pPr indent="0" marL="0">
              <a:buNone/>
            </a:pPr>
            <a:r>
              <a:rPr lang="en-US" sz="1000" i="1" dirty="0">
                <a:solidFill>
                  <a:srgbClr val="666666"/>
                </a:solidFill>
              </a:rPr>
              <a:t>Vermont: Vermont's Medicaid hospital global budgets under AHEAD alignment operate via Global Commitment demonstration</a:t>
            </a:r>
            <a:endParaRPr lang="en-US" sz="1000" dirty="0"/>
          </a:p>
        </p:txBody>
      </p:sp>
      <p:sp>
        <p:nvSpPr>
          <p:cNvPr id="13" name="Shape 11"/>
          <p:cNvSpPr/>
          <p:nvPr/>
        </p:nvSpPr>
        <p:spPr>
          <a:xfrm>
            <a:off x="274320" y="2761488"/>
            <a:ext cx="8595360" cy="896112"/>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4" name="Shape 12"/>
          <p:cNvSpPr/>
          <p:nvPr/>
        </p:nvSpPr>
        <p:spPr>
          <a:xfrm>
            <a:off x="274320" y="2761488"/>
            <a:ext cx="1920240" cy="896112"/>
          </a:xfrm>
          <a:prstGeom prst="rect">
            <a:avLst/>
          </a:prstGeom>
          <a:solidFill>
            <a:srgbClr val="0D5F6B"/>
          </a:solidFill>
          <a:ln/>
        </p:spPr>
      </p:sp>
      <p:sp>
        <p:nvSpPr>
          <p:cNvPr id="15" name="Text 13"/>
          <p:cNvSpPr/>
          <p:nvPr/>
        </p:nvSpPr>
        <p:spPr>
          <a:xfrm>
            <a:off x="274320" y="2852928"/>
            <a:ext cx="1920240" cy="713232"/>
          </a:xfrm>
          <a:prstGeom prst="rect">
            <a:avLst/>
          </a:prstGeom>
          <a:noFill/>
          <a:ln/>
        </p:spPr>
        <p:txBody>
          <a:bodyPr wrap="square" rtlCol="0" anchor="ctr"/>
          <a:lstStyle/>
          <a:p>
            <a:pPr algn="ctr" indent="0" marL="0">
              <a:buNone/>
            </a:pPr>
            <a:r>
              <a:rPr lang="en-US" sz="1100" b="1" dirty="0">
                <a:solidFill>
                  <a:srgbClr val="FFFFFF"/>
                </a:solidFill>
              </a:rPr>
              <a:t>SDOH Investments</a:t>
            </a:r>
            <a:endParaRPr lang="en-US" sz="1100" dirty="0"/>
          </a:p>
        </p:txBody>
      </p:sp>
      <p:sp>
        <p:nvSpPr>
          <p:cNvPr id="16" name="Text 14"/>
          <p:cNvSpPr/>
          <p:nvPr/>
        </p:nvSpPr>
        <p:spPr>
          <a:xfrm>
            <a:off x="2331720" y="2807208"/>
            <a:ext cx="6309360" cy="347472"/>
          </a:xfrm>
          <a:prstGeom prst="rect">
            <a:avLst/>
          </a:prstGeom>
          <a:noFill/>
          <a:ln/>
        </p:spPr>
        <p:txBody>
          <a:bodyPr wrap="square" lIns="0" tIns="0" rIns="0" bIns="0" rtlCol="0" anchor="ctr"/>
          <a:lstStyle/>
          <a:p>
            <a:pPr indent="0" marL="0">
              <a:buNone/>
            </a:pPr>
            <a:r>
              <a:rPr lang="en-US" sz="1000" dirty="0">
                <a:solidFill>
                  <a:srgbClr val="1A1A1A"/>
                </a:solidFill>
              </a:rPr>
              <a:t>National: Housing supports, food assistance, transportation for high-risk Medicaid enrollees</a:t>
            </a:r>
            <a:endParaRPr lang="en-US" sz="1000" dirty="0"/>
          </a:p>
        </p:txBody>
      </p:sp>
      <p:sp>
        <p:nvSpPr>
          <p:cNvPr id="17" name="Text 15"/>
          <p:cNvSpPr/>
          <p:nvPr/>
        </p:nvSpPr>
        <p:spPr>
          <a:xfrm>
            <a:off x="2331720" y="3236976"/>
            <a:ext cx="6309360" cy="347472"/>
          </a:xfrm>
          <a:prstGeom prst="rect">
            <a:avLst/>
          </a:prstGeom>
          <a:noFill/>
          <a:ln/>
        </p:spPr>
        <p:txBody>
          <a:bodyPr wrap="square" lIns="0" tIns="0" rIns="0" bIns="0" rtlCol="0" anchor="ctr"/>
          <a:lstStyle/>
          <a:p>
            <a:pPr indent="0" marL="0">
              <a:buNone/>
            </a:pPr>
            <a:r>
              <a:rPr lang="en-US" sz="1000" i="1" dirty="0">
                <a:solidFill>
                  <a:srgbClr val="666666"/>
                </a:solidFill>
              </a:rPr>
              <a:t>Vermont: Vermont HRSN amendment authorizes Medicaid-funded social services connected to Blueprint HRSN screening</a:t>
            </a:r>
            <a:endParaRPr lang="en-US" sz="1000" dirty="0"/>
          </a:p>
        </p:txBody>
      </p:sp>
      <p:sp>
        <p:nvSpPr>
          <p:cNvPr id="18" name="Shape 16"/>
          <p:cNvSpPr/>
          <p:nvPr/>
        </p:nvSpPr>
        <p:spPr>
          <a:xfrm>
            <a:off x="274320" y="3767328"/>
            <a:ext cx="8595360" cy="896112"/>
          </a:xfrm>
          <a:prstGeom prst="rect">
            <a:avLst/>
          </a:prstGeom>
          <a:solidFill>
            <a:srgbClr val="FFFFFF"/>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19" name="Shape 17"/>
          <p:cNvSpPr/>
          <p:nvPr/>
        </p:nvSpPr>
        <p:spPr>
          <a:xfrm>
            <a:off x="274320" y="3767328"/>
            <a:ext cx="1920240" cy="896112"/>
          </a:xfrm>
          <a:prstGeom prst="rect">
            <a:avLst/>
          </a:prstGeom>
          <a:solidFill>
            <a:srgbClr val="7B4A00"/>
          </a:solidFill>
          <a:ln/>
        </p:spPr>
      </p:sp>
      <p:sp>
        <p:nvSpPr>
          <p:cNvPr id="20" name="Text 18"/>
          <p:cNvSpPr/>
          <p:nvPr/>
        </p:nvSpPr>
        <p:spPr>
          <a:xfrm>
            <a:off x="274320" y="3858768"/>
            <a:ext cx="1920240" cy="713232"/>
          </a:xfrm>
          <a:prstGeom prst="rect">
            <a:avLst/>
          </a:prstGeom>
          <a:noFill/>
          <a:ln/>
        </p:spPr>
        <p:txBody>
          <a:bodyPr wrap="square" rtlCol="0" anchor="ctr"/>
          <a:lstStyle/>
          <a:p>
            <a:pPr algn="ctr" indent="0" marL="0">
              <a:buNone/>
            </a:pPr>
            <a:r>
              <a:rPr lang="en-US" sz="1100" b="1" dirty="0">
                <a:solidFill>
                  <a:srgbClr val="FFFFFF"/>
                </a:solidFill>
              </a:rPr>
              <a:t>Budget Neutrality Constraint</a:t>
            </a:r>
            <a:endParaRPr lang="en-US" sz="1100" dirty="0"/>
          </a:p>
        </p:txBody>
      </p:sp>
      <p:sp>
        <p:nvSpPr>
          <p:cNvPr id="21" name="Text 19"/>
          <p:cNvSpPr/>
          <p:nvPr/>
        </p:nvSpPr>
        <p:spPr>
          <a:xfrm>
            <a:off x="2331720" y="3813048"/>
            <a:ext cx="6309360" cy="347472"/>
          </a:xfrm>
          <a:prstGeom prst="rect">
            <a:avLst/>
          </a:prstGeom>
          <a:noFill/>
          <a:ln/>
        </p:spPr>
        <p:txBody>
          <a:bodyPr wrap="square" lIns="0" tIns="0" rIns="0" bIns="0" rtlCol="0" anchor="ctr"/>
          <a:lstStyle/>
          <a:p>
            <a:pPr indent="0" marL="0">
              <a:buNone/>
            </a:pPr>
            <a:r>
              <a:rPr lang="en-US" sz="1000" dirty="0">
                <a:solidFill>
                  <a:srgbClr val="1A1A1A"/>
                </a:solidFill>
              </a:rPr>
              <a:t>National: Federal spending cannot exceed what it would have been without the waiver — negotiated baseline</a:t>
            </a:r>
            <a:endParaRPr lang="en-US" sz="1000" dirty="0"/>
          </a:p>
        </p:txBody>
      </p:sp>
      <p:sp>
        <p:nvSpPr>
          <p:cNvPr id="22" name="Text 20"/>
          <p:cNvSpPr/>
          <p:nvPr/>
        </p:nvSpPr>
        <p:spPr>
          <a:xfrm>
            <a:off x="2331720" y="4242816"/>
            <a:ext cx="6309360" cy="347472"/>
          </a:xfrm>
          <a:prstGeom prst="rect">
            <a:avLst/>
          </a:prstGeom>
          <a:noFill/>
          <a:ln/>
        </p:spPr>
        <p:txBody>
          <a:bodyPr wrap="square" lIns="0" tIns="0" rIns="0" bIns="0" rtlCol="0" anchor="ctr"/>
          <a:lstStyle/>
          <a:p>
            <a:pPr indent="0" marL="0">
              <a:buNone/>
            </a:pPr>
            <a:r>
              <a:rPr lang="en-US" sz="1000" i="1" dirty="0">
                <a:solidFill>
                  <a:srgbClr val="666666"/>
                </a:solidFill>
              </a:rPr>
              <a:t>Vermont: AHEAD methodology for Vermont's Medicaid global budget baseline is a critical negotiated parameter with major financial consequences</a:t>
            </a:r>
            <a:endParaRPr lang="en-US" sz="1000" dirty="0"/>
          </a:p>
        </p:txBody>
      </p:sp>
      <p:sp>
        <p:nvSpPr>
          <p:cNvPr id="23" name="Text 2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5 — Source: CMS 1115 waiver framework; Vermont Global Commitment to Health demonstration; Act 68 of 2025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5C8B"/>
        </a:solidFill>
      </p:bgPr>
    </p:bg>
    <p:spTree>
      <p:nvGrpSpPr>
        <p:cNvPr id="1" name=""/>
        <p:cNvGrpSpPr/>
        <p:nvPr/>
      </p:nvGrpSpPr>
      <p:grpSpPr>
        <a:xfrm>
          <a:off x="0" y="0"/>
          <a:ext cx="0" cy="0"/>
          <a:chOff x="0" y="0"/>
          <a:chExt cx="0" cy="0"/>
        </a:xfrm>
      </p:grpSpPr>
      <p:sp>
        <p:nvSpPr>
          <p:cNvPr id="2" name="Shape 0"/>
          <p:cNvSpPr/>
          <p:nvPr/>
        </p:nvSpPr>
        <p:spPr>
          <a:xfrm>
            <a:off x="548640" y="822960"/>
            <a:ext cx="109728" cy="3474720"/>
          </a:xfrm>
          <a:prstGeom prst="rect">
            <a:avLst/>
          </a:prstGeom>
          <a:solidFill>
            <a:srgbClr val="CADCFC"/>
          </a:solidFill>
          <a:ln/>
        </p:spPr>
      </p:sp>
      <p:sp>
        <p:nvSpPr>
          <p:cNvPr id="3" name="Text 1"/>
          <p:cNvSpPr/>
          <p:nvPr/>
        </p:nvSpPr>
        <p:spPr>
          <a:xfrm>
            <a:off x="914400" y="1097280"/>
            <a:ext cx="7315200" cy="2560320"/>
          </a:xfrm>
          <a:prstGeom prst="rect">
            <a:avLst/>
          </a:prstGeom>
          <a:noFill/>
          <a:ln/>
        </p:spPr>
        <p:txBody>
          <a:bodyPr wrap="square" rtlCol="0" anchor="ctr"/>
          <a:lstStyle/>
          <a:p>
            <a:pPr indent="0" marL="0">
              <a:buNone/>
            </a:pPr>
            <a:r>
              <a:rPr lang="en-US" sz="2400" i="1" dirty="0">
                <a:solidFill>
                  <a:srgbClr val="FFFFFF"/>
                </a:solidFill>
                <a:latin typeface="Georgia" pitchFamily="34" charset="0"/>
                <a:ea typeface="Georgia" pitchFamily="34" charset="-122"/>
                <a:cs typeface="Georgia" pitchFamily="34" charset="-120"/>
              </a:rPr>
              <a:t>“The RHT funding is a tool that lets us put affordability plans into action. This is not our health care reform plan. This is an opportunity that we’ll use to support all of the health care reform work that we’re already doing in the state.”</a:t>
            </a:r>
            <a:endParaRPr lang="en-US" sz="2400" dirty="0"/>
          </a:p>
        </p:txBody>
      </p:sp>
      <p:sp>
        <p:nvSpPr>
          <p:cNvPr id="4" name="Text 2"/>
          <p:cNvSpPr/>
          <p:nvPr/>
        </p:nvSpPr>
        <p:spPr>
          <a:xfrm>
            <a:off x="914400" y="3840480"/>
            <a:ext cx="7315200" cy="457200"/>
          </a:xfrm>
          <a:prstGeom prst="rect">
            <a:avLst/>
          </a:prstGeom>
          <a:noFill/>
          <a:ln/>
        </p:spPr>
        <p:txBody>
          <a:bodyPr wrap="square" rtlCol="0" anchor="ctr"/>
          <a:lstStyle/>
          <a:p>
            <a:pPr indent="0" marL="0">
              <a:buNone/>
            </a:pPr>
            <a:r>
              <a:rPr lang="en-US" sz="1400" b="1" dirty="0">
                <a:solidFill>
                  <a:srgbClr val="CADCFC"/>
                </a:solidFill>
              </a:rPr>
              <a:t>— Jenney Samuelson, Vermont AHS Secretary  |  January 2026</a:t>
            </a:r>
            <a:endParaRPr lang="en-US" sz="1400" dirty="0"/>
          </a:p>
        </p:txBody>
      </p:sp>
      <p:sp>
        <p:nvSpPr>
          <p:cNvPr id="5" name="Text 3"/>
          <p:cNvSpPr/>
          <p:nvPr/>
        </p:nvSpPr>
        <p:spPr>
          <a:xfrm>
            <a:off x="365760" y="4663440"/>
            <a:ext cx="8412480" cy="347472"/>
          </a:xfrm>
          <a:prstGeom prst="rect">
            <a:avLst/>
          </a:prstGeom>
          <a:noFill/>
          <a:ln/>
        </p:spPr>
        <p:txBody>
          <a:bodyPr wrap="square" rtlCol="0" anchor="ctr"/>
          <a:lstStyle/>
          <a:p>
            <a:pPr algn="ctr" indent="0" marL="0">
              <a:buNone/>
            </a:pPr>
            <a:r>
              <a:rPr lang="en-US" sz="1000" i="1" dirty="0">
                <a:solidFill>
                  <a:srgbClr val="CADCFC"/>
                </a:solidFill>
              </a:rPr>
              <a:t>CHAPTERS 4, 5, 11, 17  —  The Transformation Imperative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6</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Economics Pillar — Global Budgets &amp; RBP</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FEE-FOR-SERVICE vs. GLOBAL BUDGET: THE INCENTIVE REVOLUTION</a:t>
            </a:r>
            <a:endParaRPr lang="en-US" sz="1800" dirty="0"/>
          </a:p>
        </p:txBody>
      </p:sp>
      <p:sp>
        <p:nvSpPr>
          <p:cNvPr id="3" name="Shape 1"/>
          <p:cNvSpPr/>
          <p:nvPr/>
        </p:nvSpPr>
        <p:spPr>
          <a:xfrm>
            <a:off x="274320" y="658368"/>
            <a:ext cx="4023360" cy="502920"/>
          </a:xfrm>
          <a:prstGeom prst="rect">
            <a:avLst/>
          </a:prstGeom>
          <a:solidFill>
            <a:srgbClr val="8B1A1A"/>
          </a:solidFill>
          <a:ln/>
        </p:spPr>
      </p:sp>
      <p:sp>
        <p:nvSpPr>
          <p:cNvPr id="4" name="Text 2"/>
          <p:cNvSpPr/>
          <p:nvPr/>
        </p:nvSpPr>
        <p:spPr>
          <a:xfrm>
            <a:off x="274320" y="658368"/>
            <a:ext cx="4023360" cy="502920"/>
          </a:xfrm>
          <a:prstGeom prst="rect">
            <a:avLst/>
          </a:prstGeom>
          <a:noFill/>
          <a:ln/>
        </p:spPr>
        <p:txBody>
          <a:bodyPr wrap="square" rtlCol="0" anchor="ctr"/>
          <a:lstStyle/>
          <a:p>
            <a:pPr algn="ctr" indent="0" marL="0">
              <a:buNone/>
            </a:pPr>
            <a:r>
              <a:rPr lang="en-US" sz="1400" b="1" dirty="0">
                <a:solidFill>
                  <a:srgbClr val="FFFFFF"/>
                </a:solidFill>
              </a:rPr>
              <a:t>FEE-FOR-SERVICE</a:t>
            </a:r>
            <a:endParaRPr lang="en-US" sz="1400" dirty="0"/>
          </a:p>
        </p:txBody>
      </p:sp>
      <p:sp>
        <p:nvSpPr>
          <p:cNvPr id="5" name="Shape 3"/>
          <p:cNvSpPr/>
          <p:nvPr/>
        </p:nvSpPr>
        <p:spPr>
          <a:xfrm>
            <a:off x="4846320" y="658368"/>
            <a:ext cx="4023360" cy="502920"/>
          </a:xfrm>
          <a:prstGeom prst="rect">
            <a:avLst/>
          </a:prstGeom>
          <a:solidFill>
            <a:srgbClr val="1E6B3C"/>
          </a:solidFill>
          <a:ln/>
        </p:spPr>
      </p:sp>
      <p:sp>
        <p:nvSpPr>
          <p:cNvPr id="6" name="Text 4"/>
          <p:cNvSpPr/>
          <p:nvPr/>
        </p:nvSpPr>
        <p:spPr>
          <a:xfrm>
            <a:off x="4846320" y="658368"/>
            <a:ext cx="4023360" cy="502920"/>
          </a:xfrm>
          <a:prstGeom prst="rect">
            <a:avLst/>
          </a:prstGeom>
          <a:noFill/>
          <a:ln/>
        </p:spPr>
        <p:txBody>
          <a:bodyPr wrap="square" rtlCol="0" anchor="ctr"/>
          <a:lstStyle/>
          <a:p>
            <a:pPr algn="ctr" indent="0" marL="0">
              <a:buNone/>
            </a:pPr>
            <a:r>
              <a:rPr lang="en-US" sz="1400" b="1" dirty="0">
                <a:solidFill>
                  <a:srgbClr val="FFFFFF"/>
                </a:solidFill>
              </a:rPr>
              <a:t>GLOBAL BUDGET</a:t>
            </a:r>
            <a:endParaRPr lang="en-US" sz="1400" dirty="0"/>
          </a:p>
        </p:txBody>
      </p:sp>
      <p:sp>
        <p:nvSpPr>
          <p:cNvPr id="7" name="Shape 5"/>
          <p:cNvSpPr/>
          <p:nvPr/>
        </p:nvSpPr>
        <p:spPr>
          <a:xfrm>
            <a:off x="274320" y="1261872"/>
            <a:ext cx="4023360" cy="420624"/>
          </a:xfrm>
          <a:prstGeom prst="rect">
            <a:avLst/>
          </a:prstGeom>
          <a:solidFill>
            <a:srgbClr val="FAE0E0"/>
          </a:solidFill>
          <a:ln w="12700">
            <a:solidFill>
              <a:srgbClr val="8B1A1A"/>
            </a:solidFill>
            <a:prstDash val="solid"/>
          </a:ln>
        </p:spPr>
      </p:sp>
      <p:sp>
        <p:nvSpPr>
          <p:cNvPr id="8" name="Text 6"/>
          <p:cNvSpPr/>
          <p:nvPr/>
        </p:nvSpPr>
        <p:spPr>
          <a:xfrm>
            <a:off x="365760" y="1289304"/>
            <a:ext cx="3840480" cy="347472"/>
          </a:xfrm>
          <a:prstGeom prst="rect">
            <a:avLst/>
          </a:prstGeom>
          <a:noFill/>
          <a:ln/>
        </p:spPr>
        <p:txBody>
          <a:bodyPr wrap="square" lIns="0" tIns="0" rIns="0" bIns="0" rtlCol="0" anchor="ctr"/>
          <a:lstStyle/>
          <a:p>
            <a:pPr indent="0" marL="0">
              <a:buNone/>
            </a:pPr>
            <a:r>
              <a:rPr lang="en-US" sz="1000" dirty="0">
                <a:solidFill>
                  <a:srgbClr val="1A1A1A"/>
                </a:solidFill>
              </a:rPr>
              <a:t>Revenue per discharge — MAXIMIZE</a:t>
            </a:r>
            <a:endParaRPr lang="en-US" sz="1000" dirty="0"/>
          </a:p>
        </p:txBody>
      </p:sp>
      <p:sp>
        <p:nvSpPr>
          <p:cNvPr id="9" name="Shape 7"/>
          <p:cNvSpPr/>
          <p:nvPr/>
        </p:nvSpPr>
        <p:spPr>
          <a:xfrm>
            <a:off x="274320" y="1746504"/>
            <a:ext cx="4023360" cy="420624"/>
          </a:xfrm>
          <a:prstGeom prst="rect">
            <a:avLst/>
          </a:prstGeom>
          <a:solidFill>
            <a:srgbClr val="FAE0E0"/>
          </a:solidFill>
          <a:ln w="12700">
            <a:solidFill>
              <a:srgbClr val="8B1A1A"/>
            </a:solidFill>
            <a:prstDash val="solid"/>
          </a:ln>
        </p:spPr>
      </p:sp>
      <p:sp>
        <p:nvSpPr>
          <p:cNvPr id="10" name="Text 8"/>
          <p:cNvSpPr/>
          <p:nvPr/>
        </p:nvSpPr>
        <p:spPr>
          <a:xfrm>
            <a:off x="365760" y="1773936"/>
            <a:ext cx="3840480" cy="347472"/>
          </a:xfrm>
          <a:prstGeom prst="rect">
            <a:avLst/>
          </a:prstGeom>
          <a:noFill/>
          <a:ln/>
        </p:spPr>
        <p:txBody>
          <a:bodyPr wrap="square" lIns="0" tIns="0" rIns="0" bIns="0" rtlCol="0" anchor="ctr"/>
          <a:lstStyle/>
          <a:p>
            <a:pPr indent="0" marL="0">
              <a:buNone/>
            </a:pPr>
            <a:r>
              <a:rPr lang="en-US" sz="1000" dirty="0">
                <a:solidFill>
                  <a:srgbClr val="1A1A1A"/>
                </a:solidFill>
              </a:rPr>
              <a:t>Admission volume — MORE = MORE REVENUE</a:t>
            </a:r>
            <a:endParaRPr lang="en-US" sz="1000" dirty="0"/>
          </a:p>
        </p:txBody>
      </p:sp>
      <p:sp>
        <p:nvSpPr>
          <p:cNvPr id="11" name="Shape 9"/>
          <p:cNvSpPr/>
          <p:nvPr/>
        </p:nvSpPr>
        <p:spPr>
          <a:xfrm>
            <a:off x="274320" y="2231136"/>
            <a:ext cx="4023360" cy="420624"/>
          </a:xfrm>
          <a:prstGeom prst="rect">
            <a:avLst/>
          </a:prstGeom>
          <a:solidFill>
            <a:srgbClr val="FAE0E0"/>
          </a:solidFill>
          <a:ln w="12700">
            <a:solidFill>
              <a:srgbClr val="8B1A1A"/>
            </a:solidFill>
            <a:prstDash val="solid"/>
          </a:ln>
        </p:spPr>
      </p:sp>
      <p:sp>
        <p:nvSpPr>
          <p:cNvPr id="12" name="Text 10"/>
          <p:cNvSpPr/>
          <p:nvPr/>
        </p:nvSpPr>
        <p:spPr>
          <a:xfrm>
            <a:off x="365760" y="2258568"/>
            <a:ext cx="3840480" cy="347472"/>
          </a:xfrm>
          <a:prstGeom prst="rect">
            <a:avLst/>
          </a:prstGeom>
          <a:noFill/>
          <a:ln/>
        </p:spPr>
        <p:txBody>
          <a:bodyPr wrap="square" lIns="0" tIns="0" rIns="0" bIns="0" rtlCol="0" anchor="ctr"/>
          <a:lstStyle/>
          <a:p>
            <a:pPr indent="0" marL="0">
              <a:buNone/>
            </a:pPr>
            <a:r>
              <a:rPr lang="en-US" sz="1000" dirty="0">
                <a:solidFill>
                  <a:srgbClr val="1A1A1A"/>
                </a:solidFill>
              </a:rPr>
              <a:t>Length of stay — LONGER = MORE REVENUE</a:t>
            </a:r>
            <a:endParaRPr lang="en-US" sz="1000" dirty="0"/>
          </a:p>
        </p:txBody>
      </p:sp>
      <p:sp>
        <p:nvSpPr>
          <p:cNvPr id="13" name="Shape 11"/>
          <p:cNvSpPr/>
          <p:nvPr/>
        </p:nvSpPr>
        <p:spPr>
          <a:xfrm>
            <a:off x="274320" y="2715768"/>
            <a:ext cx="4023360" cy="420624"/>
          </a:xfrm>
          <a:prstGeom prst="rect">
            <a:avLst/>
          </a:prstGeom>
          <a:solidFill>
            <a:srgbClr val="FAE0E0"/>
          </a:solidFill>
          <a:ln w="12700">
            <a:solidFill>
              <a:srgbClr val="8B1A1A"/>
            </a:solidFill>
            <a:prstDash val="solid"/>
          </a:ln>
        </p:spPr>
      </p:sp>
      <p:sp>
        <p:nvSpPr>
          <p:cNvPr id="14" name="Text 12"/>
          <p:cNvSpPr/>
          <p:nvPr/>
        </p:nvSpPr>
        <p:spPr>
          <a:xfrm>
            <a:off x="365760" y="2743200"/>
            <a:ext cx="3840480" cy="347472"/>
          </a:xfrm>
          <a:prstGeom prst="rect">
            <a:avLst/>
          </a:prstGeom>
          <a:noFill/>
          <a:ln/>
        </p:spPr>
        <p:txBody>
          <a:bodyPr wrap="square" lIns="0" tIns="0" rIns="0" bIns="0" rtlCol="0" anchor="ctr"/>
          <a:lstStyle/>
          <a:p>
            <a:pPr indent="0" marL="0">
              <a:buNone/>
            </a:pPr>
            <a:r>
              <a:rPr lang="en-US" sz="1000" dirty="0">
                <a:solidFill>
                  <a:srgbClr val="1A1A1A"/>
                </a:solidFill>
              </a:rPr>
              <a:t>Service line volume — GROW PROFITABLE LINES</a:t>
            </a:r>
            <a:endParaRPr lang="en-US" sz="1000" dirty="0"/>
          </a:p>
        </p:txBody>
      </p:sp>
      <p:sp>
        <p:nvSpPr>
          <p:cNvPr id="15" name="Shape 13"/>
          <p:cNvSpPr/>
          <p:nvPr/>
        </p:nvSpPr>
        <p:spPr>
          <a:xfrm>
            <a:off x="274320" y="3200400"/>
            <a:ext cx="4023360" cy="420624"/>
          </a:xfrm>
          <a:prstGeom prst="rect">
            <a:avLst/>
          </a:prstGeom>
          <a:solidFill>
            <a:srgbClr val="FAE0E0"/>
          </a:solidFill>
          <a:ln w="12700">
            <a:solidFill>
              <a:srgbClr val="8B1A1A"/>
            </a:solidFill>
            <a:prstDash val="solid"/>
          </a:ln>
        </p:spPr>
      </p:sp>
      <p:sp>
        <p:nvSpPr>
          <p:cNvPr id="16" name="Text 14"/>
          <p:cNvSpPr/>
          <p:nvPr/>
        </p:nvSpPr>
        <p:spPr>
          <a:xfrm>
            <a:off x="365760" y="3227832"/>
            <a:ext cx="3840480" cy="347472"/>
          </a:xfrm>
          <a:prstGeom prst="rect">
            <a:avLst/>
          </a:prstGeom>
          <a:noFill/>
          <a:ln/>
        </p:spPr>
        <p:txBody>
          <a:bodyPr wrap="square" lIns="0" tIns="0" rIns="0" bIns="0" rtlCol="0" anchor="ctr"/>
          <a:lstStyle/>
          <a:p>
            <a:pPr indent="0" marL="0">
              <a:buNone/>
            </a:pPr>
            <a:r>
              <a:rPr lang="en-US" sz="1000" dirty="0">
                <a:solidFill>
                  <a:srgbClr val="1A1A1A"/>
                </a:solidFill>
              </a:rPr>
              <a:t>Payer mix — MORE COMMERCIAL = BETTER</a:t>
            </a:r>
            <a:endParaRPr lang="en-US" sz="1000" dirty="0"/>
          </a:p>
        </p:txBody>
      </p:sp>
      <p:sp>
        <p:nvSpPr>
          <p:cNvPr id="17" name="Shape 15"/>
          <p:cNvSpPr/>
          <p:nvPr/>
        </p:nvSpPr>
        <p:spPr>
          <a:xfrm>
            <a:off x="274320" y="3685032"/>
            <a:ext cx="4023360" cy="420624"/>
          </a:xfrm>
          <a:prstGeom prst="rect">
            <a:avLst/>
          </a:prstGeom>
          <a:solidFill>
            <a:srgbClr val="FAE0E0"/>
          </a:solidFill>
          <a:ln w="12700">
            <a:solidFill>
              <a:srgbClr val="8B1A1A"/>
            </a:solidFill>
            <a:prstDash val="solid"/>
          </a:ln>
        </p:spPr>
      </p:sp>
      <p:sp>
        <p:nvSpPr>
          <p:cNvPr id="18" name="Text 16"/>
          <p:cNvSpPr/>
          <p:nvPr/>
        </p:nvSpPr>
        <p:spPr>
          <a:xfrm>
            <a:off x="365760" y="3712464"/>
            <a:ext cx="3840480" cy="347472"/>
          </a:xfrm>
          <a:prstGeom prst="rect">
            <a:avLst/>
          </a:prstGeom>
          <a:noFill/>
          <a:ln/>
        </p:spPr>
        <p:txBody>
          <a:bodyPr wrap="square" lIns="0" tIns="0" rIns="0" bIns="0" rtlCol="0" anchor="ctr"/>
          <a:lstStyle/>
          <a:p>
            <a:pPr indent="0" marL="0">
              <a:buNone/>
            </a:pPr>
            <a:r>
              <a:rPr lang="en-US" sz="1000" dirty="0">
                <a:solidFill>
                  <a:srgbClr val="1A1A1A"/>
                </a:solidFill>
              </a:rPr>
              <a:t>Denials management — RECOVER DENIED CLAIMS</a:t>
            </a:r>
            <a:endParaRPr lang="en-US" sz="1000" dirty="0"/>
          </a:p>
        </p:txBody>
      </p:sp>
      <p:sp>
        <p:nvSpPr>
          <p:cNvPr id="19" name="Shape 17"/>
          <p:cNvSpPr/>
          <p:nvPr/>
        </p:nvSpPr>
        <p:spPr>
          <a:xfrm>
            <a:off x="274320" y="4169664"/>
            <a:ext cx="4023360" cy="420624"/>
          </a:xfrm>
          <a:prstGeom prst="rect">
            <a:avLst/>
          </a:prstGeom>
          <a:solidFill>
            <a:srgbClr val="FAE0E0"/>
          </a:solidFill>
          <a:ln w="12700">
            <a:solidFill>
              <a:srgbClr val="8B1A1A"/>
            </a:solidFill>
            <a:prstDash val="solid"/>
          </a:ln>
        </p:spPr>
      </p:sp>
      <p:sp>
        <p:nvSpPr>
          <p:cNvPr id="20" name="Text 18"/>
          <p:cNvSpPr/>
          <p:nvPr/>
        </p:nvSpPr>
        <p:spPr>
          <a:xfrm>
            <a:off x="365760" y="4197096"/>
            <a:ext cx="3840480" cy="347472"/>
          </a:xfrm>
          <a:prstGeom prst="rect">
            <a:avLst/>
          </a:prstGeom>
          <a:noFill/>
          <a:ln/>
        </p:spPr>
        <p:txBody>
          <a:bodyPr wrap="square" lIns="0" tIns="0" rIns="0" bIns="0" rtlCol="0" anchor="ctr"/>
          <a:lstStyle/>
          <a:p>
            <a:pPr indent="0" marL="0">
              <a:buNone/>
            </a:pPr>
            <a:r>
              <a:rPr lang="en-US" sz="1000" dirty="0">
                <a:solidFill>
                  <a:srgbClr val="1A1A1A"/>
                </a:solidFill>
              </a:rPr>
              <a:t>Case mix index — CAPTURE HIGHER ACUITY</a:t>
            </a:r>
            <a:endParaRPr lang="en-US" sz="1000" dirty="0"/>
          </a:p>
        </p:txBody>
      </p:sp>
      <p:sp>
        <p:nvSpPr>
          <p:cNvPr id="21" name="Shape 19"/>
          <p:cNvSpPr/>
          <p:nvPr/>
        </p:nvSpPr>
        <p:spPr>
          <a:xfrm>
            <a:off x="4846320" y="1261872"/>
            <a:ext cx="4023360" cy="420624"/>
          </a:xfrm>
          <a:prstGeom prst="rect">
            <a:avLst/>
          </a:prstGeom>
          <a:solidFill>
            <a:srgbClr val="D9EFE3"/>
          </a:solidFill>
          <a:ln w="12700">
            <a:solidFill>
              <a:srgbClr val="1E6B3C"/>
            </a:solidFill>
            <a:prstDash val="solid"/>
          </a:ln>
        </p:spPr>
      </p:sp>
      <p:sp>
        <p:nvSpPr>
          <p:cNvPr id="22" name="Text 20"/>
          <p:cNvSpPr/>
          <p:nvPr/>
        </p:nvSpPr>
        <p:spPr>
          <a:xfrm>
            <a:off x="4937760" y="1289304"/>
            <a:ext cx="3840480" cy="347472"/>
          </a:xfrm>
          <a:prstGeom prst="rect">
            <a:avLst/>
          </a:prstGeom>
          <a:noFill/>
          <a:ln/>
        </p:spPr>
        <p:txBody>
          <a:bodyPr wrap="square" lIns="0" tIns="0" rIns="0" bIns="0" rtlCol="0" anchor="ctr"/>
          <a:lstStyle/>
          <a:p>
            <a:pPr indent="0" marL="0">
              <a:buNone/>
            </a:pPr>
            <a:r>
              <a:rPr lang="en-US" sz="1000" dirty="0">
                <a:solidFill>
                  <a:srgbClr val="1A1A1A"/>
                </a:solidFill>
              </a:rPr>
              <a:t>Cost per discharge — MINIMIZE UNNECESSARY COST</a:t>
            </a:r>
            <a:endParaRPr lang="en-US" sz="1000" dirty="0"/>
          </a:p>
        </p:txBody>
      </p:sp>
      <p:sp>
        <p:nvSpPr>
          <p:cNvPr id="23" name="Shape 21"/>
          <p:cNvSpPr/>
          <p:nvPr/>
        </p:nvSpPr>
        <p:spPr>
          <a:xfrm>
            <a:off x="4846320" y="1746504"/>
            <a:ext cx="4023360" cy="420624"/>
          </a:xfrm>
          <a:prstGeom prst="rect">
            <a:avLst/>
          </a:prstGeom>
          <a:solidFill>
            <a:srgbClr val="D9EFE3"/>
          </a:solidFill>
          <a:ln w="12700">
            <a:solidFill>
              <a:srgbClr val="1E6B3C"/>
            </a:solidFill>
            <a:prstDash val="solid"/>
          </a:ln>
        </p:spPr>
      </p:sp>
      <p:sp>
        <p:nvSpPr>
          <p:cNvPr id="24" name="Text 22"/>
          <p:cNvSpPr/>
          <p:nvPr/>
        </p:nvSpPr>
        <p:spPr>
          <a:xfrm>
            <a:off x="4937760" y="1773936"/>
            <a:ext cx="3840480" cy="347472"/>
          </a:xfrm>
          <a:prstGeom prst="rect">
            <a:avLst/>
          </a:prstGeom>
          <a:noFill/>
          <a:ln/>
        </p:spPr>
        <p:txBody>
          <a:bodyPr wrap="square" lIns="0" tIns="0" rIns="0" bIns="0" rtlCol="0" anchor="ctr"/>
          <a:lstStyle/>
          <a:p>
            <a:pPr indent="0" marL="0">
              <a:buNone/>
            </a:pPr>
            <a:r>
              <a:rPr lang="en-US" sz="1000" dirty="0">
                <a:solidFill>
                  <a:srgbClr val="1A1A1A"/>
                </a:solidFill>
              </a:rPr>
              <a:t>Avoidable admission rate — LOWER IS BETTER</a:t>
            </a:r>
            <a:endParaRPr lang="en-US" sz="1000" dirty="0"/>
          </a:p>
        </p:txBody>
      </p:sp>
      <p:sp>
        <p:nvSpPr>
          <p:cNvPr id="25" name="Shape 23"/>
          <p:cNvSpPr/>
          <p:nvPr/>
        </p:nvSpPr>
        <p:spPr>
          <a:xfrm>
            <a:off x="4846320" y="2231136"/>
            <a:ext cx="4023360" cy="420624"/>
          </a:xfrm>
          <a:prstGeom prst="rect">
            <a:avLst/>
          </a:prstGeom>
          <a:solidFill>
            <a:srgbClr val="D9EFE3"/>
          </a:solidFill>
          <a:ln w="12700">
            <a:solidFill>
              <a:srgbClr val="1E6B3C"/>
            </a:solidFill>
            <a:prstDash val="solid"/>
          </a:ln>
        </p:spPr>
      </p:sp>
      <p:sp>
        <p:nvSpPr>
          <p:cNvPr id="26" name="Text 24"/>
          <p:cNvSpPr/>
          <p:nvPr/>
        </p:nvSpPr>
        <p:spPr>
          <a:xfrm>
            <a:off x="4937760" y="2258568"/>
            <a:ext cx="3840480" cy="347472"/>
          </a:xfrm>
          <a:prstGeom prst="rect">
            <a:avLst/>
          </a:prstGeom>
          <a:noFill/>
          <a:ln/>
        </p:spPr>
        <p:txBody>
          <a:bodyPr wrap="square" lIns="0" tIns="0" rIns="0" bIns="0" rtlCol="0" anchor="ctr"/>
          <a:lstStyle/>
          <a:p>
            <a:pPr indent="0" marL="0">
              <a:buNone/>
            </a:pPr>
            <a:r>
              <a:rPr lang="en-US" sz="1000" dirty="0">
                <a:solidFill>
                  <a:srgbClr val="1A1A1A"/>
                </a:solidFill>
              </a:rPr>
              <a:t>Efficient LOS — UNNECESSARY DAYS = COST</a:t>
            </a:r>
            <a:endParaRPr lang="en-US" sz="1000" dirty="0"/>
          </a:p>
        </p:txBody>
      </p:sp>
      <p:sp>
        <p:nvSpPr>
          <p:cNvPr id="27" name="Shape 25"/>
          <p:cNvSpPr/>
          <p:nvPr/>
        </p:nvSpPr>
        <p:spPr>
          <a:xfrm>
            <a:off x="4846320" y="2715768"/>
            <a:ext cx="4023360" cy="420624"/>
          </a:xfrm>
          <a:prstGeom prst="rect">
            <a:avLst/>
          </a:prstGeom>
          <a:solidFill>
            <a:srgbClr val="D9EFE3"/>
          </a:solidFill>
          <a:ln w="12700">
            <a:solidFill>
              <a:srgbClr val="1E6B3C"/>
            </a:solidFill>
            <a:prstDash val="solid"/>
          </a:ln>
        </p:spPr>
      </p:sp>
      <p:sp>
        <p:nvSpPr>
          <p:cNvPr id="28" name="Text 26"/>
          <p:cNvSpPr/>
          <p:nvPr/>
        </p:nvSpPr>
        <p:spPr>
          <a:xfrm>
            <a:off x="4937760" y="2743200"/>
            <a:ext cx="3840480" cy="347472"/>
          </a:xfrm>
          <a:prstGeom prst="rect">
            <a:avLst/>
          </a:prstGeom>
          <a:noFill/>
          <a:ln/>
        </p:spPr>
        <p:txBody>
          <a:bodyPr wrap="square" lIns="0" tIns="0" rIns="0" bIns="0" rtlCol="0" anchor="ctr"/>
          <a:lstStyle/>
          <a:p>
            <a:pPr indent="0" marL="0">
              <a:buNone/>
            </a:pPr>
            <a:r>
              <a:rPr lang="en-US" sz="1000" dirty="0">
                <a:solidFill>
                  <a:srgbClr val="1A1A1A"/>
                </a:solidFill>
              </a:rPr>
              <a:t>PMPM population health cost — STAY IN BUDGET</a:t>
            </a:r>
            <a:endParaRPr lang="en-US" sz="1000" dirty="0"/>
          </a:p>
        </p:txBody>
      </p:sp>
      <p:sp>
        <p:nvSpPr>
          <p:cNvPr id="29" name="Shape 27"/>
          <p:cNvSpPr/>
          <p:nvPr/>
        </p:nvSpPr>
        <p:spPr>
          <a:xfrm>
            <a:off x="4846320" y="3200400"/>
            <a:ext cx="4023360" cy="420624"/>
          </a:xfrm>
          <a:prstGeom prst="rect">
            <a:avLst/>
          </a:prstGeom>
          <a:solidFill>
            <a:srgbClr val="D9EFE3"/>
          </a:solidFill>
          <a:ln w="12700">
            <a:solidFill>
              <a:srgbClr val="1E6B3C"/>
            </a:solidFill>
            <a:prstDash val="solid"/>
          </a:ln>
        </p:spPr>
      </p:sp>
      <p:sp>
        <p:nvSpPr>
          <p:cNvPr id="30" name="Text 28"/>
          <p:cNvSpPr/>
          <p:nvPr/>
        </p:nvSpPr>
        <p:spPr>
          <a:xfrm>
            <a:off x="4937760" y="3227832"/>
            <a:ext cx="3840480" cy="347472"/>
          </a:xfrm>
          <a:prstGeom prst="rect">
            <a:avLst/>
          </a:prstGeom>
          <a:noFill/>
          <a:ln/>
        </p:spPr>
        <p:txBody>
          <a:bodyPr wrap="square" lIns="0" tIns="0" rIns="0" bIns="0" rtlCol="0" anchor="ctr"/>
          <a:lstStyle/>
          <a:p>
            <a:pPr indent="0" marL="0">
              <a:buNone/>
            </a:pPr>
            <a:r>
              <a:rPr lang="en-US" sz="1000" dirty="0">
                <a:solidFill>
                  <a:srgbClr val="1A1A1A"/>
                </a:solidFill>
              </a:rPr>
              <a:t>Quality performance — DETERMINES ADJUSTMENTS</a:t>
            </a:r>
            <a:endParaRPr lang="en-US" sz="1000" dirty="0"/>
          </a:p>
        </p:txBody>
      </p:sp>
      <p:sp>
        <p:nvSpPr>
          <p:cNvPr id="31" name="Shape 29"/>
          <p:cNvSpPr/>
          <p:nvPr/>
        </p:nvSpPr>
        <p:spPr>
          <a:xfrm>
            <a:off x="4846320" y="3685032"/>
            <a:ext cx="4023360" cy="420624"/>
          </a:xfrm>
          <a:prstGeom prst="rect">
            <a:avLst/>
          </a:prstGeom>
          <a:solidFill>
            <a:srgbClr val="D9EFE3"/>
          </a:solidFill>
          <a:ln w="12700">
            <a:solidFill>
              <a:srgbClr val="1E6B3C"/>
            </a:solidFill>
            <a:prstDash val="solid"/>
          </a:ln>
        </p:spPr>
      </p:sp>
      <p:sp>
        <p:nvSpPr>
          <p:cNvPr id="32" name="Text 30"/>
          <p:cNvSpPr/>
          <p:nvPr/>
        </p:nvSpPr>
        <p:spPr>
          <a:xfrm>
            <a:off x="4937760" y="3712464"/>
            <a:ext cx="3840480" cy="347472"/>
          </a:xfrm>
          <a:prstGeom prst="rect">
            <a:avLst/>
          </a:prstGeom>
          <a:noFill/>
          <a:ln/>
        </p:spPr>
        <p:txBody>
          <a:bodyPr wrap="square" lIns="0" tIns="0" rIns="0" bIns="0" rtlCol="0" anchor="ctr"/>
          <a:lstStyle/>
          <a:p>
            <a:pPr indent="0" marL="0">
              <a:buNone/>
            </a:pPr>
            <a:r>
              <a:rPr lang="en-US" sz="1000" dirty="0">
                <a:solidFill>
                  <a:srgbClr val="1A1A1A"/>
                </a:solidFill>
              </a:rPr>
              <a:t>Potentially avoidable utilization — PREVENT THEM</a:t>
            </a:r>
            <a:endParaRPr lang="en-US" sz="1000" dirty="0"/>
          </a:p>
        </p:txBody>
      </p:sp>
      <p:sp>
        <p:nvSpPr>
          <p:cNvPr id="33" name="Shape 31"/>
          <p:cNvSpPr/>
          <p:nvPr/>
        </p:nvSpPr>
        <p:spPr>
          <a:xfrm>
            <a:off x="4846320" y="4169664"/>
            <a:ext cx="4023360" cy="420624"/>
          </a:xfrm>
          <a:prstGeom prst="rect">
            <a:avLst/>
          </a:prstGeom>
          <a:solidFill>
            <a:srgbClr val="D9EFE3"/>
          </a:solidFill>
          <a:ln w="12700">
            <a:solidFill>
              <a:srgbClr val="1E6B3C"/>
            </a:solidFill>
            <a:prstDash val="solid"/>
          </a:ln>
        </p:spPr>
      </p:sp>
      <p:sp>
        <p:nvSpPr>
          <p:cNvPr id="34" name="Text 32"/>
          <p:cNvSpPr/>
          <p:nvPr/>
        </p:nvSpPr>
        <p:spPr>
          <a:xfrm>
            <a:off x="4937760" y="4197096"/>
            <a:ext cx="3840480" cy="347472"/>
          </a:xfrm>
          <a:prstGeom prst="rect">
            <a:avLst/>
          </a:prstGeom>
          <a:noFill/>
          <a:ln/>
        </p:spPr>
        <p:txBody>
          <a:bodyPr wrap="square" lIns="0" tIns="0" rIns="0" bIns="0" rtlCol="0" anchor="ctr"/>
          <a:lstStyle/>
          <a:p>
            <a:pPr indent="0" marL="0">
              <a:buNone/>
            </a:pPr>
            <a:r>
              <a:rPr lang="en-US" sz="1000" dirty="0">
                <a:solidFill>
                  <a:srgbClr val="1A1A1A"/>
                </a:solidFill>
              </a:rPr>
              <a:t>Community investment ROI — SDOH PROGRAMS SAVE MONEY</a:t>
            </a:r>
            <a:endParaRPr lang="en-US" sz="1000" dirty="0"/>
          </a:p>
        </p:txBody>
      </p:sp>
      <p:sp>
        <p:nvSpPr>
          <p:cNvPr id="35" name="Text 33"/>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6 / Chapter 7 — Source: HTR Economics Pillar framework; Maryland HSCRC experience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2000" b="1" dirty="0">
                <a:solidFill>
                  <a:srgbClr val="1F5C8B"/>
                </a:solidFill>
                <a:latin typeface="Georgia" pitchFamily="34" charset="0"/>
                <a:ea typeface="Georgia" pitchFamily="34" charset="-122"/>
                <a:cs typeface="Georgia" pitchFamily="34" charset="-120"/>
              </a:rPr>
              <a:t>MARYLAND'S GLOBAL BUDGET PROOF OF CONCEPT</a:t>
            </a:r>
            <a:endParaRPr lang="en-US" sz="2000" dirty="0"/>
          </a:p>
        </p:txBody>
      </p:sp>
      <p:sp>
        <p:nvSpPr>
          <p:cNvPr id="3" name="Text 1"/>
          <p:cNvSpPr/>
          <p:nvPr/>
        </p:nvSpPr>
        <p:spPr>
          <a:xfrm>
            <a:off x="365760" y="566928"/>
            <a:ext cx="8412480" cy="274320"/>
          </a:xfrm>
          <a:prstGeom prst="rect">
            <a:avLst/>
          </a:prstGeom>
          <a:noFill/>
          <a:ln/>
        </p:spPr>
        <p:txBody>
          <a:bodyPr wrap="square" rtlCol="0" anchor="ctr"/>
          <a:lstStyle/>
          <a:p>
            <a:pPr indent="0" marL="0">
              <a:buNone/>
            </a:pPr>
            <a:r>
              <a:rPr lang="en-US" sz="1100" i="1" dirty="0">
                <a:solidFill>
                  <a:srgbClr val="64748B"/>
                </a:solidFill>
              </a:rPr>
              <a:t>Maryland Health Services Cost Review Commission — results after 10+ years of all-payer global hospital budgets</a:t>
            </a:r>
            <a:endParaRPr lang="en-US" sz="1100" dirty="0"/>
          </a:p>
        </p:txBody>
      </p:sp>
      <p:sp>
        <p:nvSpPr>
          <p:cNvPr id="4" name="Shape 2"/>
          <p:cNvSpPr/>
          <p:nvPr/>
        </p:nvSpPr>
        <p:spPr>
          <a:xfrm>
            <a:off x="274320" y="960120"/>
            <a:ext cx="1920240" cy="1920240"/>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5" name="Shape 3"/>
          <p:cNvSpPr/>
          <p:nvPr/>
        </p:nvSpPr>
        <p:spPr>
          <a:xfrm>
            <a:off x="274320" y="960120"/>
            <a:ext cx="1920240" cy="320040"/>
          </a:xfrm>
          <a:prstGeom prst="rect">
            <a:avLst/>
          </a:prstGeom>
          <a:solidFill>
            <a:srgbClr val="1E6B3C"/>
          </a:solidFill>
          <a:ln/>
        </p:spPr>
      </p:sp>
      <p:sp>
        <p:nvSpPr>
          <p:cNvPr id="6" name="Text 4"/>
          <p:cNvSpPr/>
          <p:nvPr/>
        </p:nvSpPr>
        <p:spPr>
          <a:xfrm>
            <a:off x="274320" y="1353312"/>
            <a:ext cx="1920240" cy="640080"/>
          </a:xfrm>
          <a:prstGeom prst="rect">
            <a:avLst/>
          </a:prstGeom>
          <a:noFill/>
          <a:ln/>
        </p:spPr>
        <p:txBody>
          <a:bodyPr wrap="square" rtlCol="0" anchor="ctr"/>
          <a:lstStyle/>
          <a:p>
            <a:pPr algn="ctr" indent="0" marL="0">
              <a:buNone/>
            </a:pPr>
            <a:r>
              <a:rPr lang="en-US" sz="4000" b="1" dirty="0">
                <a:solidFill>
                  <a:srgbClr val="1E6B3C"/>
                </a:solidFill>
              </a:rPr>
              <a:t>$1.4B</a:t>
            </a:r>
            <a:endParaRPr lang="en-US" sz="4000" dirty="0"/>
          </a:p>
        </p:txBody>
      </p:sp>
      <p:sp>
        <p:nvSpPr>
          <p:cNvPr id="7" name="Text 5"/>
          <p:cNvSpPr/>
          <p:nvPr/>
        </p:nvSpPr>
        <p:spPr>
          <a:xfrm>
            <a:off x="365760" y="2057400"/>
            <a:ext cx="1737360" cy="347472"/>
          </a:xfrm>
          <a:prstGeom prst="rect">
            <a:avLst/>
          </a:prstGeom>
          <a:noFill/>
          <a:ln/>
        </p:spPr>
        <p:txBody>
          <a:bodyPr wrap="square" lIns="0" tIns="0" rIns="0" bIns="0" rtlCol="0" anchor="ctr"/>
          <a:lstStyle/>
          <a:p>
            <a:pPr algn="ctr" indent="0" marL="0">
              <a:buNone/>
            </a:pPr>
            <a:r>
              <a:rPr lang="en-US" sz="1000" b="1" dirty="0">
                <a:solidFill>
                  <a:srgbClr val="1A1A1A"/>
                </a:solidFill>
              </a:rPr>
              <a:t>Medicare savings generated</a:t>
            </a:r>
            <a:endParaRPr lang="en-US" sz="1000" dirty="0"/>
          </a:p>
        </p:txBody>
      </p:sp>
      <p:sp>
        <p:nvSpPr>
          <p:cNvPr id="8" name="Text 6"/>
          <p:cNvSpPr/>
          <p:nvPr/>
        </p:nvSpPr>
        <p:spPr>
          <a:xfrm>
            <a:off x="365760" y="2423160"/>
            <a:ext cx="1737360" cy="384048"/>
          </a:xfrm>
          <a:prstGeom prst="rect">
            <a:avLst/>
          </a:prstGeom>
          <a:noFill/>
          <a:ln/>
        </p:spPr>
        <p:txBody>
          <a:bodyPr wrap="square" lIns="0" tIns="0" rIns="0" bIns="0" rtlCol="0" anchor="ctr"/>
          <a:lstStyle/>
          <a:p>
            <a:pPr algn="ctr" indent="0" marL="0">
              <a:buNone/>
            </a:pPr>
            <a:r>
              <a:rPr lang="en-US" sz="950" i="1" dirty="0">
                <a:solidFill>
                  <a:srgbClr val="666666"/>
                </a:solidFill>
              </a:rPr>
              <a:t>Cumulative savings vs. national trend</a:t>
            </a:r>
            <a:endParaRPr lang="en-US" sz="950" dirty="0"/>
          </a:p>
        </p:txBody>
      </p:sp>
      <p:sp>
        <p:nvSpPr>
          <p:cNvPr id="9" name="Shape 7"/>
          <p:cNvSpPr/>
          <p:nvPr/>
        </p:nvSpPr>
        <p:spPr>
          <a:xfrm>
            <a:off x="2423160" y="960120"/>
            <a:ext cx="1920240" cy="1920240"/>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0" name="Shape 8"/>
          <p:cNvSpPr/>
          <p:nvPr/>
        </p:nvSpPr>
        <p:spPr>
          <a:xfrm>
            <a:off x="2423160" y="960120"/>
            <a:ext cx="1920240" cy="320040"/>
          </a:xfrm>
          <a:prstGeom prst="rect">
            <a:avLst/>
          </a:prstGeom>
          <a:solidFill>
            <a:srgbClr val="0D5F6B"/>
          </a:solidFill>
          <a:ln/>
        </p:spPr>
      </p:sp>
      <p:sp>
        <p:nvSpPr>
          <p:cNvPr id="11" name="Text 9"/>
          <p:cNvSpPr/>
          <p:nvPr/>
        </p:nvSpPr>
        <p:spPr>
          <a:xfrm>
            <a:off x="2423160" y="1353312"/>
            <a:ext cx="1920240" cy="640080"/>
          </a:xfrm>
          <a:prstGeom prst="rect">
            <a:avLst/>
          </a:prstGeom>
          <a:noFill/>
          <a:ln/>
        </p:spPr>
        <p:txBody>
          <a:bodyPr wrap="square" rtlCol="0" anchor="ctr"/>
          <a:lstStyle/>
          <a:p>
            <a:pPr algn="ctr" indent="0" marL="0">
              <a:buNone/>
            </a:pPr>
            <a:r>
              <a:rPr lang="en-US" sz="4000" b="1" dirty="0">
                <a:solidFill>
                  <a:srgbClr val="0D5F6B"/>
                </a:solidFill>
              </a:rPr>
              <a:t>−7%</a:t>
            </a:r>
            <a:endParaRPr lang="en-US" sz="4000" dirty="0"/>
          </a:p>
        </p:txBody>
      </p:sp>
      <p:sp>
        <p:nvSpPr>
          <p:cNvPr id="12" name="Text 10"/>
          <p:cNvSpPr/>
          <p:nvPr/>
        </p:nvSpPr>
        <p:spPr>
          <a:xfrm>
            <a:off x="2514600" y="2057400"/>
            <a:ext cx="1737360" cy="347472"/>
          </a:xfrm>
          <a:prstGeom prst="rect">
            <a:avLst/>
          </a:prstGeom>
          <a:noFill/>
          <a:ln/>
        </p:spPr>
        <p:txBody>
          <a:bodyPr wrap="square" lIns="0" tIns="0" rIns="0" bIns="0" rtlCol="0" anchor="ctr"/>
          <a:lstStyle/>
          <a:p>
            <a:pPr algn="ctr" indent="0" marL="0">
              <a:buNone/>
            </a:pPr>
            <a:r>
              <a:rPr lang="en-US" sz="1000" b="1" dirty="0">
                <a:solidFill>
                  <a:srgbClr val="1A1A1A"/>
                </a:solidFill>
              </a:rPr>
              <a:t>Hospital admission rate reduction</a:t>
            </a:r>
            <a:endParaRPr lang="en-US" sz="1000" dirty="0"/>
          </a:p>
        </p:txBody>
      </p:sp>
      <p:sp>
        <p:nvSpPr>
          <p:cNvPr id="13" name="Text 11"/>
          <p:cNvSpPr/>
          <p:nvPr/>
        </p:nvSpPr>
        <p:spPr>
          <a:xfrm>
            <a:off x="2514600" y="2423160"/>
            <a:ext cx="1737360" cy="384048"/>
          </a:xfrm>
          <a:prstGeom prst="rect">
            <a:avLst/>
          </a:prstGeom>
          <a:noFill/>
          <a:ln/>
        </p:spPr>
        <p:txBody>
          <a:bodyPr wrap="square" lIns="0" tIns="0" rIns="0" bIns="0" rtlCol="0" anchor="ctr"/>
          <a:lstStyle/>
          <a:p>
            <a:pPr algn="ctr" indent="0" marL="0">
              <a:buNone/>
            </a:pPr>
            <a:r>
              <a:rPr lang="en-US" sz="950" i="1" dirty="0">
                <a:solidFill>
                  <a:srgbClr val="666666"/>
                </a:solidFill>
              </a:rPr>
              <a:t>Compared to national average trajectory</a:t>
            </a:r>
            <a:endParaRPr lang="en-US" sz="950" dirty="0"/>
          </a:p>
        </p:txBody>
      </p:sp>
      <p:sp>
        <p:nvSpPr>
          <p:cNvPr id="14" name="Shape 12"/>
          <p:cNvSpPr/>
          <p:nvPr/>
        </p:nvSpPr>
        <p:spPr>
          <a:xfrm>
            <a:off x="4572000" y="960120"/>
            <a:ext cx="1920240" cy="192024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5" name="Shape 13"/>
          <p:cNvSpPr/>
          <p:nvPr/>
        </p:nvSpPr>
        <p:spPr>
          <a:xfrm>
            <a:off x="4572000" y="960120"/>
            <a:ext cx="1920240" cy="320040"/>
          </a:xfrm>
          <a:prstGeom prst="rect">
            <a:avLst/>
          </a:prstGeom>
          <a:solidFill>
            <a:srgbClr val="2E75B6"/>
          </a:solidFill>
          <a:ln/>
        </p:spPr>
      </p:sp>
      <p:sp>
        <p:nvSpPr>
          <p:cNvPr id="16" name="Text 14"/>
          <p:cNvSpPr/>
          <p:nvPr/>
        </p:nvSpPr>
        <p:spPr>
          <a:xfrm>
            <a:off x="4572000" y="1353312"/>
            <a:ext cx="1920240" cy="640080"/>
          </a:xfrm>
          <a:prstGeom prst="rect">
            <a:avLst/>
          </a:prstGeom>
          <a:noFill/>
          <a:ln/>
        </p:spPr>
        <p:txBody>
          <a:bodyPr wrap="square" rtlCol="0" anchor="ctr"/>
          <a:lstStyle/>
          <a:p>
            <a:pPr algn="ctr" indent="0" marL="0">
              <a:buNone/>
            </a:pPr>
            <a:r>
              <a:rPr lang="en-US" sz="4000" b="1" dirty="0">
                <a:solidFill>
                  <a:srgbClr val="2E75B6"/>
                </a:solidFill>
              </a:rPr>
              <a:t>30yr</a:t>
            </a:r>
            <a:endParaRPr lang="en-US" sz="4000" dirty="0"/>
          </a:p>
        </p:txBody>
      </p:sp>
      <p:sp>
        <p:nvSpPr>
          <p:cNvPr id="17" name="Text 15"/>
          <p:cNvSpPr/>
          <p:nvPr/>
        </p:nvSpPr>
        <p:spPr>
          <a:xfrm>
            <a:off x="4663440" y="2057400"/>
            <a:ext cx="1737360" cy="347472"/>
          </a:xfrm>
          <a:prstGeom prst="rect">
            <a:avLst/>
          </a:prstGeom>
          <a:noFill/>
          <a:ln/>
        </p:spPr>
        <p:txBody>
          <a:bodyPr wrap="square" lIns="0" tIns="0" rIns="0" bIns="0" rtlCol="0" anchor="ctr"/>
          <a:lstStyle/>
          <a:p>
            <a:pPr algn="ctr" indent="0" marL="0">
              <a:buNone/>
            </a:pPr>
            <a:r>
              <a:rPr lang="en-US" sz="1000" b="1" dirty="0">
                <a:solidFill>
                  <a:srgbClr val="1A1A1A"/>
                </a:solidFill>
              </a:rPr>
              <a:t>Duration of global budget model</a:t>
            </a:r>
            <a:endParaRPr lang="en-US" sz="1000" dirty="0"/>
          </a:p>
        </p:txBody>
      </p:sp>
      <p:sp>
        <p:nvSpPr>
          <p:cNvPr id="18" name="Text 16"/>
          <p:cNvSpPr/>
          <p:nvPr/>
        </p:nvSpPr>
        <p:spPr>
          <a:xfrm>
            <a:off x="4663440" y="2423160"/>
            <a:ext cx="1737360" cy="384048"/>
          </a:xfrm>
          <a:prstGeom prst="rect">
            <a:avLst/>
          </a:prstGeom>
          <a:noFill/>
          <a:ln/>
        </p:spPr>
        <p:txBody>
          <a:bodyPr wrap="square" lIns="0" tIns="0" rIns="0" bIns="0" rtlCol="0" anchor="ctr"/>
          <a:lstStyle/>
          <a:p>
            <a:pPr algn="ctr" indent="0" marL="0">
              <a:buNone/>
            </a:pPr>
            <a:r>
              <a:rPr lang="en-US" sz="950" i="1" dirty="0">
                <a:solidFill>
                  <a:srgbClr val="666666"/>
                </a:solidFill>
              </a:rPr>
              <a:t>Longest-running all-payer hospital budget system</a:t>
            </a:r>
            <a:endParaRPr lang="en-US" sz="950" dirty="0"/>
          </a:p>
        </p:txBody>
      </p:sp>
      <p:sp>
        <p:nvSpPr>
          <p:cNvPr id="19" name="Shape 17"/>
          <p:cNvSpPr/>
          <p:nvPr/>
        </p:nvSpPr>
        <p:spPr>
          <a:xfrm>
            <a:off x="6720840" y="960120"/>
            <a:ext cx="1920240" cy="1920240"/>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20" name="Shape 18"/>
          <p:cNvSpPr/>
          <p:nvPr/>
        </p:nvSpPr>
        <p:spPr>
          <a:xfrm>
            <a:off x="6720840" y="960120"/>
            <a:ext cx="1920240" cy="320040"/>
          </a:xfrm>
          <a:prstGeom prst="rect">
            <a:avLst/>
          </a:prstGeom>
          <a:solidFill>
            <a:srgbClr val="1F5C8B"/>
          </a:solidFill>
          <a:ln/>
        </p:spPr>
      </p:sp>
      <p:sp>
        <p:nvSpPr>
          <p:cNvPr id="21" name="Text 19"/>
          <p:cNvSpPr/>
          <p:nvPr/>
        </p:nvSpPr>
        <p:spPr>
          <a:xfrm>
            <a:off x="6720840" y="1353312"/>
            <a:ext cx="1920240" cy="640080"/>
          </a:xfrm>
          <a:prstGeom prst="rect">
            <a:avLst/>
          </a:prstGeom>
          <a:noFill/>
          <a:ln/>
        </p:spPr>
        <p:txBody>
          <a:bodyPr wrap="square" rtlCol="0" anchor="ctr"/>
          <a:lstStyle/>
          <a:p>
            <a:pPr algn="ctr" indent="0" marL="0">
              <a:buNone/>
            </a:pPr>
            <a:r>
              <a:rPr lang="en-US" sz="4000" b="1" dirty="0">
                <a:solidFill>
                  <a:srgbClr val="1F5C8B"/>
                </a:solidFill>
              </a:rPr>
              <a:t>#1</a:t>
            </a:r>
            <a:endParaRPr lang="en-US" sz="4000" dirty="0"/>
          </a:p>
        </p:txBody>
      </p:sp>
      <p:sp>
        <p:nvSpPr>
          <p:cNvPr id="22" name="Text 20"/>
          <p:cNvSpPr/>
          <p:nvPr/>
        </p:nvSpPr>
        <p:spPr>
          <a:xfrm>
            <a:off x="6812280" y="2057400"/>
            <a:ext cx="1737360" cy="347472"/>
          </a:xfrm>
          <a:prstGeom prst="rect">
            <a:avLst/>
          </a:prstGeom>
          <a:noFill/>
          <a:ln/>
        </p:spPr>
        <p:txBody>
          <a:bodyPr wrap="square" lIns="0" tIns="0" rIns="0" bIns="0" rtlCol="0" anchor="ctr"/>
          <a:lstStyle/>
          <a:p>
            <a:pPr algn="ctr" indent="0" marL="0">
              <a:buNone/>
            </a:pPr>
            <a:r>
              <a:rPr lang="en-US" sz="1000" b="1" dirty="0">
                <a:solidFill>
                  <a:srgbClr val="1A1A1A"/>
                </a:solidFill>
              </a:rPr>
              <a:t>Medicare per-capita spending rank</a:t>
            </a:r>
            <a:endParaRPr lang="en-US" sz="1000" dirty="0"/>
          </a:p>
        </p:txBody>
      </p:sp>
      <p:sp>
        <p:nvSpPr>
          <p:cNvPr id="23" name="Text 21"/>
          <p:cNvSpPr/>
          <p:nvPr/>
        </p:nvSpPr>
        <p:spPr>
          <a:xfrm>
            <a:off x="6812280" y="2423160"/>
            <a:ext cx="1737360" cy="384048"/>
          </a:xfrm>
          <a:prstGeom prst="rect">
            <a:avLst/>
          </a:prstGeom>
          <a:noFill/>
          <a:ln/>
        </p:spPr>
        <p:txBody>
          <a:bodyPr wrap="square" lIns="0" tIns="0" rIns="0" bIns="0" rtlCol="0" anchor="ctr"/>
          <a:lstStyle/>
          <a:p>
            <a:pPr algn="ctr" indent="0" marL="0">
              <a:buNone/>
            </a:pPr>
            <a:r>
              <a:rPr lang="en-US" sz="950" i="1" dirty="0">
                <a:solidFill>
                  <a:srgbClr val="666666"/>
                </a:solidFill>
              </a:rPr>
              <a:t>Maryland moved from high-cost to lowest-cost state</a:t>
            </a:r>
            <a:endParaRPr lang="en-US" sz="950" dirty="0"/>
          </a:p>
        </p:txBody>
      </p:sp>
      <p:sp>
        <p:nvSpPr>
          <p:cNvPr id="24" name="Shape 22"/>
          <p:cNvSpPr/>
          <p:nvPr/>
        </p:nvSpPr>
        <p:spPr>
          <a:xfrm>
            <a:off x="274320" y="3063240"/>
            <a:ext cx="8595360" cy="1737360"/>
          </a:xfrm>
          <a:prstGeom prst="rect">
            <a:avLst/>
          </a:prstGeom>
          <a:solidFill>
            <a:srgbClr val="D5E8F0"/>
          </a:solidFill>
          <a:ln w="12700">
            <a:solidFill>
              <a:srgbClr val="2E75B6"/>
            </a:solidFill>
            <a:prstDash val="solid"/>
          </a:ln>
        </p:spPr>
      </p:sp>
      <p:sp>
        <p:nvSpPr>
          <p:cNvPr id="25" name="Text 23"/>
          <p:cNvSpPr/>
          <p:nvPr/>
        </p:nvSpPr>
        <p:spPr>
          <a:xfrm>
            <a:off x="457200" y="3154680"/>
            <a:ext cx="8229600" cy="347472"/>
          </a:xfrm>
          <a:prstGeom prst="rect">
            <a:avLst/>
          </a:prstGeom>
          <a:noFill/>
          <a:ln/>
        </p:spPr>
        <p:txBody>
          <a:bodyPr wrap="square" lIns="0" tIns="0" rIns="0" bIns="0" rtlCol="0" anchor="ctr"/>
          <a:lstStyle/>
          <a:p>
            <a:pPr indent="0" marL="0">
              <a:buNone/>
            </a:pPr>
            <a:r>
              <a:rPr lang="en-US" sz="1300" b="1" dirty="0">
                <a:solidFill>
                  <a:srgbClr val="1F5C8B"/>
                </a:solidFill>
              </a:rPr>
              <a:t>WHAT MARYLAND PROVES FOR VERMONT</a:t>
            </a:r>
            <a:endParaRPr lang="en-US" sz="1300" dirty="0"/>
          </a:p>
        </p:txBody>
      </p:sp>
      <p:sp>
        <p:nvSpPr>
          <p:cNvPr id="26" name="Text 24"/>
          <p:cNvSpPr/>
          <p:nvPr/>
        </p:nvSpPr>
        <p:spPr>
          <a:xfrm>
            <a:off x="457200" y="3547872"/>
            <a:ext cx="8229600" cy="1170432"/>
          </a:xfrm>
          <a:prstGeom prst="rect">
            <a:avLst/>
          </a:prstGeom>
          <a:noFill/>
          <a:ln/>
        </p:spPr>
        <p:txBody>
          <a:bodyPr wrap="square" lIns="0" tIns="0" rIns="0" bIns="0" rtlCol="0" anchor="ctr"/>
          <a:lstStyle/>
          <a:p>
            <a:pPr indent="0" marL="0">
              <a:buNone/>
            </a:pPr>
            <a:r>
              <a:rPr lang="en-US" sz="1050" dirty="0">
                <a:solidFill>
                  <a:srgbClr val="1A1A1A"/>
                </a:solidFill>
              </a:rPr>
              <a:t>Global budgets can produce documented Medicare savings and utilization reduction. The model requires: (1) Mandatory participation — no opt-out. (2) All-payer design — Medicare, Medicaid, and commercial aligned. (3) State regulatory authority — Maryland's HSCRC has 30 years of institutional capacity. Vermont's GMCB is building this capacity now.</a:t>
            </a:r>
            <a:endParaRPr lang="en-US" sz="1050" dirty="0"/>
          </a:p>
        </p:txBody>
      </p:sp>
      <p:sp>
        <p:nvSpPr>
          <p:cNvPr id="27" name="Text 25"/>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6 — Source: Maryland HSCRC; CMMI AHEAD Model documentation</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VERMONT'S TOTAL COST OF CARE ACCOUNTABILITY ARCHITECTURE</a:t>
            </a:r>
            <a:endParaRPr lang="en-US" sz="1700" dirty="0"/>
          </a:p>
        </p:txBody>
      </p:sp>
      <p:sp>
        <p:nvSpPr>
          <p:cNvPr id="3" name="Shape 1"/>
          <p:cNvSpPr/>
          <p:nvPr/>
        </p:nvSpPr>
        <p:spPr>
          <a:xfrm>
            <a:off x="274320" y="713232"/>
            <a:ext cx="8595360" cy="905256"/>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13232"/>
            <a:ext cx="1463040" cy="905256"/>
          </a:xfrm>
          <a:prstGeom prst="rect">
            <a:avLst/>
          </a:prstGeom>
          <a:solidFill>
            <a:srgbClr val="1F5C8B"/>
          </a:solidFill>
          <a:ln/>
        </p:spPr>
      </p:sp>
      <p:sp>
        <p:nvSpPr>
          <p:cNvPr id="5" name="Text 3"/>
          <p:cNvSpPr/>
          <p:nvPr/>
        </p:nvSpPr>
        <p:spPr>
          <a:xfrm>
            <a:off x="274320" y="804672"/>
            <a:ext cx="1463040" cy="722376"/>
          </a:xfrm>
          <a:prstGeom prst="rect">
            <a:avLst/>
          </a:prstGeom>
          <a:noFill/>
          <a:ln/>
        </p:spPr>
        <p:txBody>
          <a:bodyPr wrap="square" rtlCol="0" anchor="ctr"/>
          <a:lstStyle/>
          <a:p>
            <a:pPr algn="ctr" indent="0" marL="0">
              <a:buNone/>
            </a:pPr>
            <a:r>
              <a:rPr lang="en-US" sz="1000" b="1" spc="100" kern="0" dirty="0">
                <a:solidFill>
                  <a:srgbClr val="FFFFFF"/>
                </a:solidFill>
              </a:rPr>
              <a:t>FEDERAL LAYER</a:t>
            </a:r>
            <a:endParaRPr lang="en-US" sz="1000" dirty="0"/>
          </a:p>
        </p:txBody>
      </p:sp>
      <p:sp>
        <p:nvSpPr>
          <p:cNvPr id="6" name="Text 4"/>
          <p:cNvSpPr/>
          <p:nvPr/>
        </p:nvSpPr>
        <p:spPr>
          <a:xfrm>
            <a:off x="1920240" y="768096"/>
            <a:ext cx="6766560" cy="292608"/>
          </a:xfrm>
          <a:prstGeom prst="rect">
            <a:avLst/>
          </a:prstGeom>
          <a:noFill/>
          <a:ln/>
        </p:spPr>
        <p:txBody>
          <a:bodyPr wrap="square" lIns="0" tIns="0" rIns="0" bIns="0" rtlCol="0" anchor="ctr"/>
          <a:lstStyle/>
          <a:p>
            <a:pPr indent="0" marL="0">
              <a:buNone/>
            </a:pPr>
            <a:r>
              <a:rPr lang="en-US" sz="1200" b="1" dirty="0">
                <a:solidFill>
                  <a:srgbClr val="1F5C8B"/>
                </a:solidFill>
              </a:rPr>
              <a:t>AHEAD Model TCOC Target</a:t>
            </a:r>
            <a:endParaRPr lang="en-US" sz="1200" dirty="0"/>
          </a:p>
        </p:txBody>
      </p:sp>
      <p:sp>
        <p:nvSpPr>
          <p:cNvPr id="7" name="Text 5"/>
          <p:cNvSpPr/>
          <p:nvPr/>
        </p:nvSpPr>
        <p:spPr>
          <a:xfrm>
            <a:off x="1920240" y="1115568"/>
            <a:ext cx="6766560" cy="457200"/>
          </a:xfrm>
          <a:prstGeom prst="rect">
            <a:avLst/>
          </a:prstGeom>
          <a:noFill/>
          <a:ln/>
        </p:spPr>
        <p:txBody>
          <a:bodyPr wrap="square" lIns="0" tIns="0" rIns="0" bIns="0" rtlCol="0" anchor="ctr"/>
          <a:lstStyle/>
          <a:p>
            <a:pPr indent="0" marL="0">
              <a:buNone/>
            </a:pPr>
            <a:r>
              <a:rPr lang="en-US" sz="1000" dirty="0">
                <a:solidFill>
                  <a:srgbClr val="444444"/>
                </a:solidFill>
              </a:rPr>
              <a:t>CMS sets state-level total cost of care benchmark for Vermont Medicare FFS. Vermont accountable for staying below benchmark. Consequences after Year 3. Up to $150M/year EAST Fund.</a:t>
            </a:r>
            <a:endParaRPr lang="en-US" sz="1000" dirty="0"/>
          </a:p>
        </p:txBody>
      </p:sp>
      <p:sp>
        <p:nvSpPr>
          <p:cNvPr id="8" name="Shape 6"/>
          <p:cNvSpPr/>
          <p:nvPr/>
        </p:nvSpPr>
        <p:spPr>
          <a:xfrm>
            <a:off x="274320" y="1828800"/>
            <a:ext cx="8595360" cy="905256"/>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9" name="Shape 7"/>
          <p:cNvSpPr/>
          <p:nvPr/>
        </p:nvSpPr>
        <p:spPr>
          <a:xfrm>
            <a:off x="274320" y="1828800"/>
            <a:ext cx="1463040" cy="905256"/>
          </a:xfrm>
          <a:prstGeom prst="rect">
            <a:avLst/>
          </a:prstGeom>
          <a:solidFill>
            <a:srgbClr val="2E75B6"/>
          </a:solidFill>
          <a:ln/>
        </p:spPr>
      </p:sp>
      <p:sp>
        <p:nvSpPr>
          <p:cNvPr id="10" name="Text 8"/>
          <p:cNvSpPr/>
          <p:nvPr/>
        </p:nvSpPr>
        <p:spPr>
          <a:xfrm>
            <a:off x="274320" y="1920240"/>
            <a:ext cx="1463040" cy="722376"/>
          </a:xfrm>
          <a:prstGeom prst="rect">
            <a:avLst/>
          </a:prstGeom>
          <a:noFill/>
          <a:ln/>
        </p:spPr>
        <p:txBody>
          <a:bodyPr wrap="square" rtlCol="0" anchor="ctr"/>
          <a:lstStyle/>
          <a:p>
            <a:pPr algn="ctr" indent="0" marL="0">
              <a:buNone/>
            </a:pPr>
            <a:r>
              <a:rPr lang="en-US" sz="1000" b="1" spc="100" kern="0" dirty="0">
                <a:solidFill>
                  <a:srgbClr val="FFFFFF"/>
                </a:solidFill>
              </a:rPr>
              <a:t>STATE LAYER</a:t>
            </a:r>
            <a:endParaRPr lang="en-US" sz="1000" dirty="0"/>
          </a:p>
        </p:txBody>
      </p:sp>
      <p:sp>
        <p:nvSpPr>
          <p:cNvPr id="11" name="Text 9"/>
          <p:cNvSpPr/>
          <p:nvPr/>
        </p:nvSpPr>
        <p:spPr>
          <a:xfrm>
            <a:off x="1920240" y="1883664"/>
            <a:ext cx="6766560" cy="292608"/>
          </a:xfrm>
          <a:prstGeom prst="rect">
            <a:avLst/>
          </a:prstGeom>
          <a:noFill/>
          <a:ln/>
        </p:spPr>
        <p:txBody>
          <a:bodyPr wrap="square" lIns="0" tIns="0" rIns="0" bIns="0" rtlCol="0" anchor="ctr"/>
          <a:lstStyle/>
          <a:p>
            <a:pPr indent="0" marL="0">
              <a:buNone/>
            </a:pPr>
            <a:r>
              <a:rPr lang="en-US" sz="1200" b="1" dirty="0">
                <a:solidFill>
                  <a:srgbClr val="2E75B6"/>
                </a:solidFill>
              </a:rPr>
              <a:t>GMCB Global Hospital Budgets</a:t>
            </a:r>
            <a:endParaRPr lang="en-US" sz="1200" dirty="0"/>
          </a:p>
        </p:txBody>
      </p:sp>
      <p:sp>
        <p:nvSpPr>
          <p:cNvPr id="12" name="Text 10"/>
          <p:cNvSpPr/>
          <p:nvPr/>
        </p:nvSpPr>
        <p:spPr>
          <a:xfrm>
            <a:off x="1920240" y="2231136"/>
            <a:ext cx="6766560" cy="457200"/>
          </a:xfrm>
          <a:prstGeom prst="rect">
            <a:avLst/>
          </a:prstGeom>
          <a:noFill/>
          <a:ln/>
        </p:spPr>
        <p:txBody>
          <a:bodyPr wrap="square" lIns="0" tIns="0" rIns="0" bIns="0" rtlCol="0" anchor="ctr"/>
          <a:lstStyle/>
          <a:p>
            <a:pPr indent="0" marL="0">
              <a:buNone/>
            </a:pPr>
            <a:r>
              <a:rPr lang="en-US" sz="1000" dirty="0">
                <a:solidFill>
                  <a:srgbClr val="444444"/>
                </a:solidFill>
              </a:rPr>
              <a:t>Each Vermont hospital receives a prospective annual budget for Medicare FFS. Fixed revenue regardless of volume. Incentive: efficient population health management. Mandatory from FY2028.</a:t>
            </a:r>
            <a:endParaRPr lang="en-US" sz="1000" dirty="0"/>
          </a:p>
        </p:txBody>
      </p:sp>
      <p:sp>
        <p:nvSpPr>
          <p:cNvPr id="13" name="Shape 11"/>
          <p:cNvSpPr/>
          <p:nvPr/>
        </p:nvSpPr>
        <p:spPr>
          <a:xfrm>
            <a:off x="274320" y="2944368"/>
            <a:ext cx="8595360" cy="905256"/>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14" name="Shape 12"/>
          <p:cNvSpPr/>
          <p:nvPr/>
        </p:nvSpPr>
        <p:spPr>
          <a:xfrm>
            <a:off x="274320" y="2944368"/>
            <a:ext cx="1463040" cy="905256"/>
          </a:xfrm>
          <a:prstGeom prst="rect">
            <a:avLst/>
          </a:prstGeom>
          <a:solidFill>
            <a:srgbClr val="1E6B3C"/>
          </a:solidFill>
          <a:ln/>
        </p:spPr>
      </p:sp>
      <p:sp>
        <p:nvSpPr>
          <p:cNvPr id="15" name="Text 13"/>
          <p:cNvSpPr/>
          <p:nvPr/>
        </p:nvSpPr>
        <p:spPr>
          <a:xfrm>
            <a:off x="274320" y="3035808"/>
            <a:ext cx="1463040" cy="722376"/>
          </a:xfrm>
          <a:prstGeom prst="rect">
            <a:avLst/>
          </a:prstGeom>
          <a:noFill/>
          <a:ln/>
        </p:spPr>
        <p:txBody>
          <a:bodyPr wrap="square" rtlCol="0" anchor="ctr"/>
          <a:lstStyle/>
          <a:p>
            <a:pPr algn="ctr" indent="0" marL="0">
              <a:buNone/>
            </a:pPr>
            <a:r>
              <a:rPr lang="en-US" sz="1000" b="1" spc="100" kern="0" dirty="0">
                <a:solidFill>
                  <a:srgbClr val="FFFFFF"/>
                </a:solidFill>
              </a:rPr>
              <a:t>PRIMARY CARE LAYER</a:t>
            </a:r>
            <a:endParaRPr lang="en-US" sz="1000" dirty="0"/>
          </a:p>
        </p:txBody>
      </p:sp>
      <p:sp>
        <p:nvSpPr>
          <p:cNvPr id="16" name="Text 14"/>
          <p:cNvSpPr/>
          <p:nvPr/>
        </p:nvSpPr>
        <p:spPr>
          <a:xfrm>
            <a:off x="1920240" y="2999232"/>
            <a:ext cx="6766560" cy="292608"/>
          </a:xfrm>
          <a:prstGeom prst="rect">
            <a:avLst/>
          </a:prstGeom>
          <a:noFill/>
          <a:ln/>
        </p:spPr>
        <p:txBody>
          <a:bodyPr wrap="square" lIns="0" tIns="0" rIns="0" bIns="0" rtlCol="0" anchor="ctr"/>
          <a:lstStyle/>
          <a:p>
            <a:pPr indent="0" marL="0">
              <a:buNone/>
            </a:pPr>
            <a:r>
              <a:rPr lang="en-US" sz="1200" b="1" dirty="0">
                <a:solidFill>
                  <a:srgbClr val="1E6B3C"/>
                </a:solidFill>
              </a:rPr>
              <a:t>Primary Care AHEAD Enhanced Payments</a:t>
            </a:r>
            <a:endParaRPr lang="en-US" sz="1200" dirty="0"/>
          </a:p>
        </p:txBody>
      </p:sp>
      <p:sp>
        <p:nvSpPr>
          <p:cNvPr id="17" name="Text 15"/>
          <p:cNvSpPr/>
          <p:nvPr/>
        </p:nvSpPr>
        <p:spPr>
          <a:xfrm>
            <a:off x="1920240" y="3346704"/>
            <a:ext cx="6766560" cy="457200"/>
          </a:xfrm>
          <a:prstGeom prst="rect">
            <a:avLst/>
          </a:prstGeom>
          <a:noFill/>
          <a:ln/>
        </p:spPr>
        <p:txBody>
          <a:bodyPr wrap="square" lIns="0" tIns="0" rIns="0" bIns="0" rtlCol="0" anchor="ctr"/>
          <a:lstStyle/>
          <a:p>
            <a:pPr indent="0" marL="0">
              <a:buNone/>
            </a:pPr>
            <a:r>
              <a:rPr lang="en-US" sz="1000" dirty="0">
                <a:solidFill>
                  <a:srgbClr val="444444"/>
                </a:solidFill>
              </a:rPr>
              <a:t>Vermont PCMH practices receive enhanced prospective Medicare payments under PC AHEAD pathways. Replaces expiring Blueprint Medicare PMPM demonstration. Voluntary — encourages expansion.</a:t>
            </a:r>
            <a:endParaRPr lang="en-US" sz="1000" dirty="0"/>
          </a:p>
        </p:txBody>
      </p:sp>
      <p:sp>
        <p:nvSpPr>
          <p:cNvPr id="18" name="Shape 16"/>
          <p:cNvSpPr/>
          <p:nvPr/>
        </p:nvSpPr>
        <p:spPr>
          <a:xfrm>
            <a:off x="274320" y="4059936"/>
            <a:ext cx="8595360" cy="905256"/>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9" name="Shape 17"/>
          <p:cNvSpPr/>
          <p:nvPr/>
        </p:nvSpPr>
        <p:spPr>
          <a:xfrm>
            <a:off x="274320" y="4059936"/>
            <a:ext cx="1463040" cy="905256"/>
          </a:xfrm>
          <a:prstGeom prst="rect">
            <a:avLst/>
          </a:prstGeom>
          <a:solidFill>
            <a:srgbClr val="0D5F6B"/>
          </a:solidFill>
          <a:ln/>
        </p:spPr>
      </p:sp>
      <p:sp>
        <p:nvSpPr>
          <p:cNvPr id="20" name="Text 18"/>
          <p:cNvSpPr/>
          <p:nvPr/>
        </p:nvSpPr>
        <p:spPr>
          <a:xfrm>
            <a:off x="274320" y="4151376"/>
            <a:ext cx="1463040" cy="722376"/>
          </a:xfrm>
          <a:prstGeom prst="rect">
            <a:avLst/>
          </a:prstGeom>
          <a:noFill/>
          <a:ln/>
        </p:spPr>
        <p:txBody>
          <a:bodyPr wrap="square" rtlCol="0" anchor="ctr"/>
          <a:lstStyle/>
          <a:p>
            <a:pPr algn="ctr" indent="0" marL="0">
              <a:buNone/>
            </a:pPr>
            <a:r>
              <a:rPr lang="en-US" sz="1000" b="1" spc="100" kern="0" dirty="0">
                <a:solidFill>
                  <a:srgbClr val="FFFFFF"/>
                </a:solidFill>
              </a:rPr>
              <a:t>INVESTMENT LAYER</a:t>
            </a:r>
            <a:endParaRPr lang="en-US" sz="1000" dirty="0"/>
          </a:p>
        </p:txBody>
      </p:sp>
      <p:sp>
        <p:nvSpPr>
          <p:cNvPr id="21" name="Text 19"/>
          <p:cNvSpPr/>
          <p:nvPr/>
        </p:nvSpPr>
        <p:spPr>
          <a:xfrm>
            <a:off x="1920240" y="4114800"/>
            <a:ext cx="6766560" cy="292608"/>
          </a:xfrm>
          <a:prstGeom prst="rect">
            <a:avLst/>
          </a:prstGeom>
          <a:noFill/>
          <a:ln/>
        </p:spPr>
        <p:txBody>
          <a:bodyPr wrap="square" lIns="0" tIns="0" rIns="0" bIns="0" rtlCol="0" anchor="ctr"/>
          <a:lstStyle/>
          <a:p>
            <a:pPr indent="0" marL="0">
              <a:buNone/>
            </a:pPr>
            <a:r>
              <a:rPr lang="en-US" sz="1200" b="1" dirty="0">
                <a:solidFill>
                  <a:srgbClr val="0D5F6B"/>
                </a:solidFill>
              </a:rPr>
              <a:t>EAST Fund — Transformation Capital</a:t>
            </a:r>
            <a:endParaRPr lang="en-US" sz="1200" dirty="0"/>
          </a:p>
        </p:txBody>
      </p:sp>
      <p:sp>
        <p:nvSpPr>
          <p:cNvPr id="22" name="Text 20"/>
          <p:cNvSpPr/>
          <p:nvPr/>
        </p:nvSpPr>
        <p:spPr>
          <a:xfrm>
            <a:off x="1920240" y="4462272"/>
            <a:ext cx="6766560" cy="457200"/>
          </a:xfrm>
          <a:prstGeom prst="rect">
            <a:avLst/>
          </a:prstGeom>
          <a:noFill/>
          <a:ln/>
        </p:spPr>
        <p:txBody>
          <a:bodyPr wrap="square" lIns="0" tIns="0" rIns="0" bIns="0" rtlCol="0" anchor="ctr"/>
          <a:lstStyle/>
          <a:p>
            <a:pPr indent="0" marL="0">
              <a:buNone/>
            </a:pPr>
            <a:r>
              <a:rPr lang="en-US" sz="1000" dirty="0">
                <a:solidFill>
                  <a:srgbClr val="444444"/>
                </a:solidFill>
              </a:rPr>
              <a:t>Vermont receives up to $150M/year in additional Medicare funds for primary care, behavioral health, SDOH, home health, long-term care investments that the payment reform requires.</a:t>
            </a:r>
            <a:endParaRPr lang="en-US" sz="1000" dirty="0"/>
          </a:p>
        </p:txBody>
      </p:sp>
      <p:sp>
        <p:nvSpPr>
          <p:cNvPr id="23" name="Text 2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6 — Source: AHEAD State Agreement (January 2025); Act 68 of 2025; GMCB RBP Update (February 2026)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THE FINANCIAL RETURN ON PREVENTION UNDER GLOBAL BUDGETS</a:t>
            </a:r>
            <a:endParaRPr lang="en-US" sz="1800" dirty="0"/>
          </a:p>
        </p:txBody>
      </p:sp>
      <p:graphicFrame>
        <p:nvGraphicFramePr>
          <p:cNvPr id="3" name="Chart 0" descr=""/>
          <p:cNvGraphicFramePr/>
          <p:nvPr/>
        </p:nvGraphicFramePr>
        <p:xfrm>
          <a:off x="320040" y="685800"/>
          <a:ext cx="850392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365760" y="4279392"/>
            <a:ext cx="8412480" cy="658368"/>
          </a:xfrm>
          <a:prstGeom prst="rect">
            <a:avLst/>
          </a:prstGeom>
          <a:noFill/>
          <a:ln/>
        </p:spPr>
        <p:txBody>
          <a:bodyPr wrap="square" rtlCol="0" anchor="ctr"/>
          <a:lstStyle/>
          <a:p>
            <a:pPr algn="ctr" indent="0" marL="0">
              <a:buNone/>
            </a:pPr>
            <a:r>
              <a:rPr lang="en-US" sz="1100" i="1" dirty="0">
                <a:solidFill>
                  <a:srgbClr val="1E6B3C"/>
                </a:solidFill>
              </a:rPr>
              <a:t>Under FFS, prevention costs money. Under global budgets, prevention saves money. Vermont's Blueprint proves the ROI — $5.8M reduction in medical expenditure per $1M invested (Population Health Management journal).</a:t>
            </a:r>
            <a:endParaRPr lang="en-US" sz="1100" dirty="0"/>
          </a:p>
        </p:txBody>
      </p:sp>
      <p:sp>
        <p:nvSpPr>
          <p:cNvPr id="5" name="Text 2"/>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Chapters 6 &amp; 7 — Source: Population Health Management (Blueprint ROI study); HTR Economics Pillar framework</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8</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Operations Pillar — Hospital System Transformation</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 HOSPITAL PERFORMANCE vs. NATIONAL BENCHMARKS (2023)</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274320" y="658368"/>
          <a:ext cx="8595360" cy="4297680"/>
        </p:xfrm>
        <a:graphic>
          <a:graphicData uri="http://schemas.openxmlformats.org/drawingml/2006/table">
            <a:tbl>
              <a:tblPr/>
              <a:tblGrid>
                <a:gridCol w="2743200"/>
                <a:gridCol w="1005840"/>
                <a:gridCol w="1737360"/>
                <a:gridCol w="1920240"/>
                <a:gridCol w="1188720"/>
              </a:tblGrid>
              <a:tr h="475488">
                <a:tc>
                  <a:txBody>
                    <a:bodyPr/>
                    <a:lstStyle/>
                    <a:p>
                      <a:pPr indent="0" marL="0">
                        <a:buNone/>
                      </a:pPr>
                      <a:r>
                        <a:rPr lang="en-US" sz="1000" b="1" dirty="0">
                          <a:solidFill>
                            <a:srgbClr val="FFFFFF"/>
                          </a:solidFill>
                        </a:rPr>
                        <a:t>Measure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000" b="1" dirty="0">
                          <a:solidFill>
                            <a:srgbClr val="FFFFFF"/>
                          </a:solidFill>
                        </a:rPr>
                        <a:t>Vermont</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000" b="1" dirty="0">
                          <a:solidFill>
                            <a:srgbClr val="FFFFFF"/>
                          </a:solidFill>
                        </a:rPr>
                        <a:t>Benchmark</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000" b="1" dirty="0">
                          <a:solidFill>
                            <a:srgbClr val="FFFFFF"/>
                          </a:solidFill>
                        </a:rPr>
                        <a:t>Gap</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000" b="1" dirty="0">
                          <a:solidFill>
                            <a:srgbClr val="FFFFFF"/>
                          </a:solidFill>
                        </a:rPr>
                        <a:t>Status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475488">
                <a:tc>
                  <a:txBody>
                    <a:bodyPr/>
                    <a:lstStyle/>
                    <a:p>
                      <a:pPr indent="0" marL="0">
                        <a:buNone/>
                      </a:pPr>
                      <a:r>
                        <a:rPr lang="en-US" sz="1000" dirty="0">
                          <a:solidFill>
                            <a:srgbClr val="000000"/>
                          </a:solidFill>
                        </a:rPr>
                        <a:t>30-Day Readmission Rate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14.8%</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14.5%</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+0.3%</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1E6B3C"/>
                          </a:solidFill>
                        </a:rPr>
                        <a:t>OK</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D9EFE3"/>
                    </a:solidFill>
                  </a:tcPr>
                </a:tc>
              </a:tr>
              <a:tr h="475488">
                <a:tc>
                  <a:txBody>
                    <a:bodyPr/>
                    <a:lstStyle/>
                    <a:p>
                      <a:pPr indent="0" marL="0">
                        <a:buNone/>
                      </a:pPr>
                      <a:r>
                        <a:rPr lang="en-US" sz="1000" dirty="0">
                          <a:solidFill>
                            <a:srgbClr val="000000"/>
                          </a:solidFill>
                        </a:rPr>
                        <a:t>Potentially Avoidable ED Visits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32.3%</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No national benchmark yet</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Major opportunity</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7B4A00"/>
                          </a:solidFill>
                        </a:rPr>
                        <a:t>ACTION</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r>
              <a:tr h="475488">
                <a:tc>
                  <a:txBody>
                    <a:bodyPr/>
                    <a:lstStyle/>
                    <a:p>
                      <a:pPr indent="0" marL="0">
                        <a:buNone/>
                      </a:pPr>
                      <a:r>
                        <a:rPr lang="en-US" sz="1000" dirty="0">
                          <a:solidFill>
                            <a:srgbClr val="000000"/>
                          </a:solidFill>
                        </a:rPr>
                        <a:t>Operating Profit / Adj. Discharge (PPS)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$5,345</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$4,162</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+$1,183 above benchmark</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1E6B3C"/>
                          </a:solidFill>
                        </a:rPr>
                        <a:t>OK</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D9EFE3"/>
                    </a:solidFill>
                  </a:tcPr>
                </a:tc>
              </a:tr>
              <a:tr h="475488">
                <a:tc>
                  <a:txBody>
                    <a:bodyPr/>
                    <a:lstStyle/>
                    <a:p>
                      <a:pPr indent="0" marL="0">
                        <a:buNone/>
                      </a:pPr>
                      <a:r>
                        <a:rPr lang="en-US" sz="1000" dirty="0">
                          <a:solidFill>
                            <a:srgbClr val="000000"/>
                          </a:solidFill>
                        </a:rPr>
                        <a:t>Operating Profit / Adj. Discharge (CAH)</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$938</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$2,784</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−$1,846 BELOW benchmark</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8B1A1A"/>
                          </a:solidFill>
                        </a:rPr>
                        <a:t>CRITICAL</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r>
              <a:tr h="475488">
                <a:tc>
                  <a:txBody>
                    <a:bodyPr/>
                    <a:lstStyle/>
                    <a:p>
                      <a:pPr indent="0" marL="0">
                        <a:buNone/>
                      </a:pPr>
                      <a:r>
                        <a:rPr lang="en-US" sz="1000" dirty="0">
                          <a:solidFill>
                            <a:srgbClr val="000000"/>
                          </a:solidFill>
                        </a:rPr>
                        <a:t>Mgmt &amp; Admin Cost / Adj. Discharge (PPS)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$2,730</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$1,427</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+$1,303 excess (91% above)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8B1A1A"/>
                          </a:solidFill>
                        </a:rPr>
                        <a:t>CRITICAL</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r>
              <a:tr h="475488">
                <a:tc>
                  <a:txBody>
                    <a:bodyPr/>
                    <a:lstStyle/>
                    <a:p>
                      <a:pPr indent="0" marL="0">
                        <a:buNone/>
                      </a:pPr>
                      <a:r>
                        <a:rPr lang="en-US" sz="1000" dirty="0">
                          <a:solidFill>
                            <a:srgbClr val="000000"/>
                          </a:solidFill>
                        </a:rPr>
                        <a:t>Vermonters with Personal Health Provider</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91%</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87% national avg</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+4% above benchmark</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0D5F6B"/>
                          </a:solidFill>
                        </a:rPr>
                        <a:t>STRONG</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D4F1F4"/>
                    </a:solidFill>
                  </a:tcPr>
                </a:tc>
              </a:tr>
              <a:tr h="475488">
                <a:tc>
                  <a:txBody>
                    <a:bodyPr/>
                    <a:lstStyle/>
                    <a:p>
                      <a:pPr indent="0" marL="0">
                        <a:buNone/>
                      </a:pPr>
                      <a:r>
                        <a:rPr lang="en-US" sz="1000" dirty="0">
                          <a:solidFill>
                            <a:srgbClr val="000000"/>
                          </a:solidFill>
                        </a:rPr>
                        <a:t>PCPs Accepting New Medicaid Patients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59%</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Not set</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Access gap for Medicaid patients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7B4A00"/>
                          </a:solidFill>
                        </a:rPr>
                        <a:t>ACTION</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r>
              <a:tr h="475488">
                <a:tc>
                  <a:txBody>
                    <a:bodyPr/>
                    <a:lstStyle/>
                    <a:p>
                      <a:pPr indent="0" marL="0">
                        <a:buNone/>
                      </a:pPr>
                      <a:r>
                        <a:rPr lang="en-US" sz="1000" dirty="0">
                          <a:solidFill>
                            <a:srgbClr val="000000"/>
                          </a:solidFill>
                        </a:rPr>
                        <a:t>ED Visits for MH/SIH per 10K ED visits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245.5</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Not set nationally</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High in Rutland, Windham counties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algn="ctr" indent="0" marL="0">
                        <a:buNone/>
                      </a:pPr>
                      <a:r>
                        <a:rPr lang="en-US" sz="1000" b="1" dirty="0">
                          <a:solidFill>
                            <a:srgbClr val="7B4A00"/>
                          </a:solidFill>
                        </a:rPr>
                        <a:t>ACTION</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8 — Source: AHS Health Care System Transformation Report (November 2025); NASHP via CMS; VDH</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 CIN: COE SPECIALTY CONCENTRATION BY HOSPITAL</a:t>
            </a:r>
            <a:endParaRPr lang="en-US" sz="1800" dirty="0"/>
          </a:p>
        </p:txBody>
      </p:sp>
      <p:graphicFrame>
        <p:nvGraphicFramePr>
          <p:cNvPr id="3" name="Chart 0" descr=""/>
          <p:cNvGraphicFramePr/>
          <p:nvPr/>
        </p:nvGraphicFramePr>
        <p:xfrm>
          <a:off x="320040" y="658368"/>
          <a:ext cx="8503920" cy="33375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320040" y="4133088"/>
            <a:ext cx="274320" cy="274320"/>
          </a:xfrm>
          <a:prstGeom prst="rect">
            <a:avLst/>
          </a:prstGeom>
          <a:solidFill>
            <a:srgbClr val="1F5C8B"/>
          </a:solidFill>
          <a:ln/>
        </p:spPr>
      </p:sp>
      <p:sp>
        <p:nvSpPr>
          <p:cNvPr id="5" name="Text 2"/>
          <p:cNvSpPr/>
          <p:nvPr/>
        </p:nvSpPr>
        <p:spPr>
          <a:xfrm>
            <a:off x="685800" y="4133088"/>
            <a:ext cx="2286000" cy="274320"/>
          </a:xfrm>
          <a:prstGeom prst="rect">
            <a:avLst/>
          </a:prstGeom>
          <a:noFill/>
          <a:ln/>
        </p:spPr>
        <p:txBody>
          <a:bodyPr wrap="square" lIns="0" tIns="0" rIns="0" bIns="0" rtlCol="0" anchor="ctr"/>
          <a:lstStyle/>
          <a:p>
            <a:pPr indent="0" marL="0">
              <a:buNone/>
            </a:pPr>
            <a:r>
              <a:rPr lang="en-US" sz="1000" dirty="0">
                <a:solidFill>
                  <a:srgbClr val="1A1A1A"/>
                </a:solidFill>
              </a:rPr>
              <a:t>Tier 1 — Regional Specialty Centers (RSCs)</a:t>
            </a:r>
            <a:endParaRPr lang="en-US" sz="1000" dirty="0"/>
          </a:p>
        </p:txBody>
      </p:sp>
      <p:sp>
        <p:nvSpPr>
          <p:cNvPr id="6" name="Shape 3"/>
          <p:cNvSpPr/>
          <p:nvPr/>
        </p:nvSpPr>
        <p:spPr>
          <a:xfrm>
            <a:off x="3154680" y="4133088"/>
            <a:ext cx="274320" cy="274320"/>
          </a:xfrm>
          <a:prstGeom prst="rect">
            <a:avLst/>
          </a:prstGeom>
          <a:solidFill>
            <a:srgbClr val="2E75B6"/>
          </a:solidFill>
          <a:ln/>
        </p:spPr>
      </p:sp>
      <p:sp>
        <p:nvSpPr>
          <p:cNvPr id="7" name="Text 4"/>
          <p:cNvSpPr/>
          <p:nvPr/>
        </p:nvSpPr>
        <p:spPr>
          <a:xfrm>
            <a:off x="3520440" y="4133088"/>
            <a:ext cx="2286000" cy="274320"/>
          </a:xfrm>
          <a:prstGeom prst="rect">
            <a:avLst/>
          </a:prstGeom>
          <a:noFill/>
          <a:ln/>
        </p:spPr>
        <p:txBody>
          <a:bodyPr wrap="square" lIns="0" tIns="0" rIns="0" bIns="0" rtlCol="0" anchor="ctr"/>
          <a:lstStyle/>
          <a:p>
            <a:pPr indent="0" marL="0">
              <a:buNone/>
            </a:pPr>
            <a:r>
              <a:rPr lang="en-US" sz="1000" dirty="0">
                <a:solidFill>
                  <a:srgbClr val="1A1A1A"/>
                </a:solidFill>
              </a:rPr>
              <a:t>Tier 2 — Focused Scope Community Hospitals</a:t>
            </a:r>
            <a:endParaRPr lang="en-US" sz="1000" dirty="0"/>
          </a:p>
        </p:txBody>
      </p:sp>
      <p:sp>
        <p:nvSpPr>
          <p:cNvPr id="8" name="Shape 5"/>
          <p:cNvSpPr/>
          <p:nvPr/>
        </p:nvSpPr>
        <p:spPr>
          <a:xfrm>
            <a:off x="5989320" y="4133088"/>
            <a:ext cx="274320" cy="274320"/>
          </a:xfrm>
          <a:prstGeom prst="rect">
            <a:avLst/>
          </a:prstGeom>
          <a:solidFill>
            <a:srgbClr val="6B3A00"/>
          </a:solidFill>
          <a:ln/>
        </p:spPr>
      </p:sp>
      <p:sp>
        <p:nvSpPr>
          <p:cNvPr id="9" name="Text 6"/>
          <p:cNvSpPr/>
          <p:nvPr/>
        </p:nvSpPr>
        <p:spPr>
          <a:xfrm>
            <a:off x="6355080" y="4133088"/>
            <a:ext cx="2286000" cy="274320"/>
          </a:xfrm>
          <a:prstGeom prst="rect">
            <a:avLst/>
          </a:prstGeom>
          <a:noFill/>
          <a:ln/>
        </p:spPr>
        <p:txBody>
          <a:bodyPr wrap="square" lIns="0" tIns="0" rIns="0" bIns="0" rtlCol="0" anchor="ctr"/>
          <a:lstStyle/>
          <a:p>
            <a:pPr indent="0" marL="0">
              <a:buNone/>
            </a:pPr>
            <a:r>
              <a:rPr lang="en-US" sz="1000" dirty="0">
                <a:solidFill>
                  <a:srgbClr val="1A1A1A"/>
                </a:solidFill>
              </a:rPr>
              <a:t>Tier 3 — Transition Assessment Required</a:t>
            </a:r>
            <a:endParaRPr lang="en-US" sz="1000" dirty="0"/>
          </a:p>
        </p:txBody>
      </p:sp>
      <p:sp>
        <p:nvSpPr>
          <p:cNvPr id="10" name="Text 7"/>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8 — Source: Oliver Wyman Act 167 Report (2024); AHS Hospital Transformation Plans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THE ADMINISTRATIVE COST PREMIUM — VERMONT'S $1,303 PER-DISCHARGE GAP</a:t>
            </a:r>
            <a:endParaRPr lang="en-US" sz="1700" dirty="0"/>
          </a:p>
        </p:txBody>
      </p:sp>
      <p:graphicFrame>
        <p:nvGraphicFramePr>
          <p:cNvPr id="3" name="Chart 0" descr=""/>
          <p:cNvGraphicFramePr/>
          <p:nvPr/>
        </p:nvGraphicFramePr>
        <p:xfrm>
          <a:off x="320040" y="658368"/>
          <a:ext cx="5943600" cy="39319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492240" y="658368"/>
            <a:ext cx="2377440" cy="3931920"/>
          </a:xfrm>
          <a:prstGeom prst="rect">
            <a:avLst/>
          </a:prstGeom>
          <a:solidFill>
            <a:srgbClr val="FFF0CC"/>
          </a:solidFill>
          <a:ln w="12700">
            <a:solidFill>
              <a:srgbClr val="7B4A00"/>
            </a:solidFill>
            <a:prstDash val="solid"/>
          </a:ln>
        </p:spPr>
      </p:sp>
      <p:sp>
        <p:nvSpPr>
          <p:cNvPr id="5" name="Text 2"/>
          <p:cNvSpPr/>
          <p:nvPr/>
        </p:nvSpPr>
        <p:spPr>
          <a:xfrm>
            <a:off x="6583680" y="777240"/>
            <a:ext cx="2194560" cy="347472"/>
          </a:xfrm>
          <a:prstGeom prst="rect">
            <a:avLst/>
          </a:prstGeom>
          <a:noFill/>
          <a:ln/>
        </p:spPr>
        <p:txBody>
          <a:bodyPr wrap="square" lIns="0" tIns="0" rIns="0" bIns="0" rtlCol="0" anchor="ctr"/>
          <a:lstStyle/>
          <a:p>
            <a:pPr indent="0" marL="0">
              <a:buNone/>
            </a:pPr>
            <a:r>
              <a:rPr lang="en-US" sz="1100" b="1" dirty="0">
                <a:solidFill>
                  <a:srgbClr val="7B4A00"/>
                </a:solidFill>
              </a:rPr>
              <a:t>WHAT THIS MEANS</a:t>
            </a:r>
            <a:endParaRPr lang="en-US" sz="1100" dirty="0"/>
          </a:p>
        </p:txBody>
      </p:sp>
      <p:sp>
        <p:nvSpPr>
          <p:cNvPr id="6" name="Text 3"/>
          <p:cNvSpPr/>
          <p:nvPr/>
        </p:nvSpPr>
        <p:spPr>
          <a:xfrm>
            <a:off x="6583680" y="1234440"/>
            <a:ext cx="2194560" cy="502920"/>
          </a:xfrm>
          <a:prstGeom prst="rect">
            <a:avLst/>
          </a:prstGeom>
          <a:noFill/>
          <a:ln/>
        </p:spPr>
        <p:txBody>
          <a:bodyPr wrap="square" lIns="0" tIns="0" rIns="0" bIns="0" rtlCol="0" anchor="ctr"/>
          <a:lstStyle/>
          <a:p>
            <a:pPr indent="0" marL="0">
              <a:buNone/>
            </a:pPr>
            <a:r>
              <a:rPr lang="en-US" sz="950" dirty="0">
                <a:solidFill>
                  <a:srgbClr val="1A1A1A"/>
                </a:solidFill>
              </a:rPr>
              <a:t>• Vermont PPS hospitals spend 91% MORE on administration than efficient peers</a:t>
            </a:r>
            <a:endParaRPr lang="en-US" sz="950" dirty="0"/>
          </a:p>
        </p:txBody>
      </p:sp>
      <p:sp>
        <p:nvSpPr>
          <p:cNvPr id="7" name="Text 4"/>
          <p:cNvSpPr/>
          <p:nvPr/>
        </p:nvSpPr>
        <p:spPr>
          <a:xfrm>
            <a:off x="6583680" y="1783080"/>
            <a:ext cx="2194560" cy="502920"/>
          </a:xfrm>
          <a:prstGeom prst="rect">
            <a:avLst/>
          </a:prstGeom>
          <a:noFill/>
          <a:ln/>
        </p:spPr>
        <p:txBody>
          <a:bodyPr wrap="square" lIns="0" tIns="0" rIns="0" bIns="0" rtlCol="0" anchor="ctr"/>
          <a:lstStyle/>
          <a:p>
            <a:pPr indent="0" marL="0">
              <a:buNone/>
            </a:pPr>
            <a:r>
              <a:rPr lang="en-US" sz="950" dirty="0">
                <a:solidFill>
                  <a:srgbClr val="1A1A1A"/>
                </a:solidFill>
              </a:rPr>
              <a:t>• This $1,303/discharge gap = primary operational inefficiency target</a:t>
            </a:r>
            <a:endParaRPr lang="en-US" sz="950" dirty="0"/>
          </a:p>
        </p:txBody>
      </p:sp>
      <p:sp>
        <p:nvSpPr>
          <p:cNvPr id="8" name="Text 5"/>
          <p:cNvSpPr/>
          <p:nvPr/>
        </p:nvSpPr>
        <p:spPr>
          <a:xfrm>
            <a:off x="6583680" y="2331720"/>
            <a:ext cx="2194560" cy="502920"/>
          </a:xfrm>
          <a:prstGeom prst="rect">
            <a:avLst/>
          </a:prstGeom>
          <a:noFill/>
          <a:ln/>
        </p:spPr>
        <p:txBody>
          <a:bodyPr wrap="square" lIns="0" tIns="0" rIns="0" bIns="0" rtlCol="0" anchor="ctr"/>
          <a:lstStyle/>
          <a:p>
            <a:pPr indent="0" marL="0">
              <a:buNone/>
            </a:pPr>
            <a:r>
              <a:rPr lang="en-US" sz="950" dirty="0">
                <a:solidFill>
                  <a:srgbClr val="1A1A1A"/>
                </a:solidFill>
              </a:rPr>
              <a:t>• Shared services through Vermont CIN can close this gap</a:t>
            </a:r>
            <a:endParaRPr lang="en-US" sz="950" dirty="0"/>
          </a:p>
        </p:txBody>
      </p:sp>
      <p:sp>
        <p:nvSpPr>
          <p:cNvPr id="9" name="Text 6"/>
          <p:cNvSpPr/>
          <p:nvPr/>
        </p:nvSpPr>
        <p:spPr>
          <a:xfrm>
            <a:off x="6583680" y="2880360"/>
            <a:ext cx="2194560" cy="502920"/>
          </a:xfrm>
          <a:prstGeom prst="rect">
            <a:avLst/>
          </a:prstGeom>
          <a:noFill/>
          <a:ln/>
        </p:spPr>
        <p:txBody>
          <a:bodyPr wrap="square" lIns="0" tIns="0" rIns="0" bIns="0" rtlCol="0" anchor="ctr"/>
          <a:lstStyle/>
          <a:p>
            <a:pPr indent="0" marL="0">
              <a:buNone/>
            </a:pPr>
            <a:r>
              <a:rPr lang="en-US" sz="950" dirty="0">
                <a:solidFill>
                  <a:srgbClr val="1A1A1A"/>
                </a:solidFill>
              </a:rPr>
              <a:t>• Oliver Wyman: administrative reduction contributes &gt;$100M of $400M+ transformation savings target</a:t>
            </a:r>
            <a:endParaRPr lang="en-US" sz="950" dirty="0"/>
          </a:p>
        </p:txBody>
      </p:sp>
      <p:sp>
        <p:nvSpPr>
          <p:cNvPr id="10" name="Text 7"/>
          <p:cNvSpPr/>
          <p:nvPr/>
        </p:nvSpPr>
        <p:spPr>
          <a:xfrm>
            <a:off x="6583680" y="3429000"/>
            <a:ext cx="2194560" cy="502920"/>
          </a:xfrm>
          <a:prstGeom prst="rect">
            <a:avLst/>
          </a:prstGeom>
          <a:noFill/>
          <a:ln/>
        </p:spPr>
        <p:txBody>
          <a:bodyPr wrap="square" lIns="0" tIns="0" rIns="0" bIns="0" rtlCol="0" anchor="ctr"/>
          <a:lstStyle/>
          <a:p>
            <a:pPr indent="0" marL="0">
              <a:buNone/>
            </a:pPr>
            <a:r>
              <a:rPr lang="en-US" sz="950" dirty="0">
                <a:solidFill>
                  <a:srgbClr val="1A1A1A"/>
                </a:solidFill>
              </a:rPr>
              <a:t>• AI scribes + credentialing automation + group purchasing = the operations playbook</a:t>
            </a:r>
            <a:endParaRPr lang="en-US" sz="950" dirty="0"/>
          </a:p>
        </p:txBody>
      </p:sp>
      <p:sp>
        <p:nvSpPr>
          <p:cNvPr id="11" name="Text 8"/>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8 — Source: AHS November 2025 Transformation Report; NASHP via CMS; Oliver Wyman Act 167 Report</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THE RHRC METHODOLOGY — TECHNICAL ASSISTANCE FOR 14 HOSPITALS</a:t>
            </a:r>
            <a:endParaRPr lang="en-US" sz="1800" dirty="0"/>
          </a:p>
        </p:txBody>
      </p:sp>
      <p:sp>
        <p:nvSpPr>
          <p:cNvPr id="3" name="Text 1"/>
          <p:cNvSpPr/>
          <p:nvPr/>
        </p:nvSpPr>
        <p:spPr>
          <a:xfrm>
            <a:off x="365760" y="566928"/>
            <a:ext cx="8412480" cy="256032"/>
          </a:xfrm>
          <a:prstGeom prst="rect">
            <a:avLst/>
          </a:prstGeom>
          <a:noFill/>
          <a:ln/>
        </p:spPr>
        <p:txBody>
          <a:bodyPr wrap="square" rtlCol="0" anchor="ctr"/>
          <a:lstStyle/>
          <a:p>
            <a:pPr indent="0" marL="0">
              <a:buNone/>
            </a:pPr>
            <a:r>
              <a:rPr lang="en-US" sz="1100" i="1" dirty="0">
                <a:solidFill>
                  <a:srgbClr val="64748B"/>
                </a:solidFill>
              </a:rPr>
              <a:t>Rural Health Redesign Center engagement — May through October 2025</a:t>
            </a:r>
            <a:endParaRPr lang="en-US" sz="1100" dirty="0"/>
          </a:p>
        </p:txBody>
      </p:sp>
      <p:sp>
        <p:nvSpPr>
          <p:cNvPr id="4" name="Shape 2"/>
          <p:cNvSpPr/>
          <p:nvPr/>
        </p:nvSpPr>
        <p:spPr>
          <a:xfrm>
            <a:off x="274320" y="914400"/>
            <a:ext cx="4023360" cy="1783080"/>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5" name="Shape 3"/>
          <p:cNvSpPr/>
          <p:nvPr/>
        </p:nvSpPr>
        <p:spPr>
          <a:xfrm>
            <a:off x="274320" y="914400"/>
            <a:ext cx="502920" cy="1783080"/>
          </a:xfrm>
          <a:prstGeom prst="rect">
            <a:avLst/>
          </a:prstGeom>
          <a:solidFill>
            <a:srgbClr val="0D5F6B"/>
          </a:solidFill>
          <a:ln/>
        </p:spPr>
      </p:sp>
      <p:sp>
        <p:nvSpPr>
          <p:cNvPr id="6" name="Text 4"/>
          <p:cNvSpPr/>
          <p:nvPr/>
        </p:nvSpPr>
        <p:spPr>
          <a:xfrm>
            <a:off x="274320" y="1371600"/>
            <a:ext cx="502920" cy="868680"/>
          </a:xfrm>
          <a:prstGeom prst="rect">
            <a:avLst/>
          </a:prstGeom>
          <a:noFill/>
          <a:ln/>
        </p:spPr>
        <p:txBody>
          <a:bodyPr wrap="square" rtlCol="0" anchor="ctr"/>
          <a:lstStyle/>
          <a:p>
            <a:pPr algn="ctr" indent="0" marL="0">
              <a:buNone/>
            </a:pPr>
            <a:r>
              <a:rPr lang="en-US" sz="2400" b="1" dirty="0">
                <a:solidFill>
                  <a:srgbClr val="FFFFFF"/>
                </a:solidFill>
              </a:rPr>
              <a:t>1</a:t>
            </a:r>
            <a:endParaRPr lang="en-US" sz="2400" dirty="0"/>
          </a:p>
        </p:txBody>
      </p:sp>
      <p:sp>
        <p:nvSpPr>
          <p:cNvPr id="7" name="Text 5"/>
          <p:cNvSpPr/>
          <p:nvPr/>
        </p:nvSpPr>
        <p:spPr>
          <a:xfrm>
            <a:off x="868680" y="1005840"/>
            <a:ext cx="3337560" cy="384048"/>
          </a:xfrm>
          <a:prstGeom prst="rect">
            <a:avLst/>
          </a:prstGeom>
          <a:noFill/>
          <a:ln/>
        </p:spPr>
        <p:txBody>
          <a:bodyPr wrap="square" lIns="0" tIns="0" rIns="0" bIns="0" rtlCol="0" anchor="ctr"/>
          <a:lstStyle/>
          <a:p>
            <a:pPr indent="0" marL="0">
              <a:buNone/>
            </a:pPr>
            <a:r>
              <a:rPr lang="en-US" sz="1200" b="1" dirty="0">
                <a:solidFill>
                  <a:srgbClr val="0D5F6B"/>
                </a:solidFill>
              </a:rPr>
              <a:t>Financial &amp; Operational Baseline</a:t>
            </a:r>
            <a:endParaRPr lang="en-US" sz="1200" dirty="0"/>
          </a:p>
        </p:txBody>
      </p:sp>
      <p:sp>
        <p:nvSpPr>
          <p:cNvPr id="8" name="Text 6"/>
          <p:cNvSpPr/>
          <p:nvPr/>
        </p:nvSpPr>
        <p:spPr>
          <a:xfrm>
            <a:off x="868680" y="1444752"/>
            <a:ext cx="3337560" cy="1170432"/>
          </a:xfrm>
          <a:prstGeom prst="rect">
            <a:avLst/>
          </a:prstGeom>
          <a:noFill/>
          <a:ln/>
        </p:spPr>
        <p:txBody>
          <a:bodyPr wrap="square" lIns="0" tIns="0" rIns="0" bIns="0" rtlCol="0" anchor="ctr"/>
          <a:lstStyle/>
          <a:p>
            <a:pPr indent="0" marL="0">
              <a:buNone/>
            </a:pPr>
            <a:r>
              <a:rPr lang="en-US" sz="1050" dirty="0">
                <a:solidFill>
                  <a:srgbClr val="444444"/>
                </a:solidFill>
              </a:rPr>
              <a:t>Hospital-specific cost data from GMCB financial records and CMS cost reports. Position vs. Vermont average and national benchmark on key efficiency metrics.</a:t>
            </a:r>
            <a:endParaRPr lang="en-US" sz="1050" dirty="0"/>
          </a:p>
        </p:txBody>
      </p:sp>
      <p:sp>
        <p:nvSpPr>
          <p:cNvPr id="9" name="Shape 7"/>
          <p:cNvSpPr/>
          <p:nvPr/>
        </p:nvSpPr>
        <p:spPr>
          <a:xfrm>
            <a:off x="4572000" y="914400"/>
            <a:ext cx="4023360" cy="178308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0" name="Shape 8"/>
          <p:cNvSpPr/>
          <p:nvPr/>
        </p:nvSpPr>
        <p:spPr>
          <a:xfrm>
            <a:off x="4572000" y="914400"/>
            <a:ext cx="502920" cy="1783080"/>
          </a:xfrm>
          <a:prstGeom prst="rect">
            <a:avLst/>
          </a:prstGeom>
          <a:solidFill>
            <a:srgbClr val="2E75B6"/>
          </a:solidFill>
          <a:ln/>
        </p:spPr>
      </p:sp>
      <p:sp>
        <p:nvSpPr>
          <p:cNvPr id="11" name="Text 9"/>
          <p:cNvSpPr/>
          <p:nvPr/>
        </p:nvSpPr>
        <p:spPr>
          <a:xfrm>
            <a:off x="4572000" y="1371600"/>
            <a:ext cx="502920" cy="868680"/>
          </a:xfrm>
          <a:prstGeom prst="rect">
            <a:avLst/>
          </a:prstGeom>
          <a:noFill/>
          <a:ln/>
        </p:spPr>
        <p:txBody>
          <a:bodyPr wrap="square" rtlCol="0" anchor="ctr"/>
          <a:lstStyle/>
          <a:p>
            <a:pPr algn="ctr" indent="0" marL="0">
              <a:buNone/>
            </a:pPr>
            <a:r>
              <a:rPr lang="en-US" sz="2400" b="1" dirty="0">
                <a:solidFill>
                  <a:srgbClr val="FFFFFF"/>
                </a:solidFill>
              </a:rPr>
              <a:t>2</a:t>
            </a:r>
            <a:endParaRPr lang="en-US" sz="2400" dirty="0"/>
          </a:p>
        </p:txBody>
      </p:sp>
      <p:sp>
        <p:nvSpPr>
          <p:cNvPr id="12" name="Text 10"/>
          <p:cNvSpPr/>
          <p:nvPr/>
        </p:nvSpPr>
        <p:spPr>
          <a:xfrm>
            <a:off x="5166360" y="1005840"/>
            <a:ext cx="3337560" cy="384048"/>
          </a:xfrm>
          <a:prstGeom prst="rect">
            <a:avLst/>
          </a:prstGeom>
          <a:noFill/>
          <a:ln/>
        </p:spPr>
        <p:txBody>
          <a:bodyPr wrap="square" lIns="0" tIns="0" rIns="0" bIns="0" rtlCol="0" anchor="ctr"/>
          <a:lstStyle/>
          <a:p>
            <a:pPr indent="0" marL="0">
              <a:buNone/>
            </a:pPr>
            <a:r>
              <a:rPr lang="en-US" sz="1200" b="1" dirty="0">
                <a:solidFill>
                  <a:srgbClr val="2E75B6"/>
                </a:solidFill>
              </a:rPr>
              <a:t>Priority Identification</a:t>
            </a:r>
            <a:endParaRPr lang="en-US" sz="1200" dirty="0"/>
          </a:p>
        </p:txBody>
      </p:sp>
      <p:sp>
        <p:nvSpPr>
          <p:cNvPr id="13" name="Text 11"/>
          <p:cNvSpPr/>
          <p:nvPr/>
        </p:nvSpPr>
        <p:spPr>
          <a:xfrm>
            <a:off x="5166360" y="1444752"/>
            <a:ext cx="3337560" cy="1170432"/>
          </a:xfrm>
          <a:prstGeom prst="rect">
            <a:avLst/>
          </a:prstGeom>
          <a:noFill/>
          <a:ln/>
        </p:spPr>
        <p:txBody>
          <a:bodyPr wrap="square" lIns="0" tIns="0" rIns="0" bIns="0" rtlCol="0" anchor="ctr"/>
          <a:lstStyle/>
          <a:p>
            <a:pPr indent="0" marL="0">
              <a:buNone/>
            </a:pPr>
            <a:r>
              <a:rPr lang="en-US" sz="1050" dirty="0">
                <a:solidFill>
                  <a:srgbClr val="444444"/>
                </a:solidFill>
              </a:rPr>
              <a:t>Working with hospital leadership to identify highest-leverage short-term cost reduction opportunities and medium-term transformation priorities.</a:t>
            </a:r>
            <a:endParaRPr lang="en-US" sz="1050" dirty="0"/>
          </a:p>
        </p:txBody>
      </p:sp>
      <p:sp>
        <p:nvSpPr>
          <p:cNvPr id="14" name="Shape 12"/>
          <p:cNvSpPr/>
          <p:nvPr/>
        </p:nvSpPr>
        <p:spPr>
          <a:xfrm>
            <a:off x="274320" y="2926080"/>
            <a:ext cx="4023360" cy="1783080"/>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15" name="Shape 13"/>
          <p:cNvSpPr/>
          <p:nvPr/>
        </p:nvSpPr>
        <p:spPr>
          <a:xfrm>
            <a:off x="274320" y="2926080"/>
            <a:ext cx="502920" cy="1783080"/>
          </a:xfrm>
          <a:prstGeom prst="rect">
            <a:avLst/>
          </a:prstGeom>
          <a:solidFill>
            <a:srgbClr val="1F5C8B"/>
          </a:solidFill>
          <a:ln/>
        </p:spPr>
      </p:sp>
      <p:sp>
        <p:nvSpPr>
          <p:cNvPr id="16" name="Text 14"/>
          <p:cNvSpPr/>
          <p:nvPr/>
        </p:nvSpPr>
        <p:spPr>
          <a:xfrm>
            <a:off x="274320" y="3383280"/>
            <a:ext cx="502920" cy="868680"/>
          </a:xfrm>
          <a:prstGeom prst="rect">
            <a:avLst/>
          </a:prstGeom>
          <a:noFill/>
          <a:ln/>
        </p:spPr>
        <p:txBody>
          <a:bodyPr wrap="square" rtlCol="0" anchor="ctr"/>
          <a:lstStyle/>
          <a:p>
            <a:pPr algn="ctr" indent="0" marL="0">
              <a:buNone/>
            </a:pPr>
            <a:r>
              <a:rPr lang="en-US" sz="2400" b="1" dirty="0">
                <a:solidFill>
                  <a:srgbClr val="FFFFFF"/>
                </a:solidFill>
              </a:rPr>
              <a:t>3</a:t>
            </a:r>
            <a:endParaRPr lang="en-US" sz="2400" dirty="0"/>
          </a:p>
        </p:txBody>
      </p:sp>
      <p:sp>
        <p:nvSpPr>
          <p:cNvPr id="17" name="Text 15"/>
          <p:cNvSpPr/>
          <p:nvPr/>
        </p:nvSpPr>
        <p:spPr>
          <a:xfrm>
            <a:off x="868680" y="3017520"/>
            <a:ext cx="3337560" cy="384048"/>
          </a:xfrm>
          <a:prstGeom prst="rect">
            <a:avLst/>
          </a:prstGeom>
          <a:noFill/>
          <a:ln/>
        </p:spPr>
        <p:txBody>
          <a:bodyPr wrap="square" lIns="0" tIns="0" rIns="0" bIns="0" rtlCol="0" anchor="ctr"/>
          <a:lstStyle/>
          <a:p>
            <a:pPr indent="0" marL="0">
              <a:buNone/>
            </a:pPr>
            <a:r>
              <a:rPr lang="en-US" sz="1200" b="1" dirty="0">
                <a:solidFill>
                  <a:srgbClr val="1F5C8B"/>
                </a:solidFill>
              </a:rPr>
              <a:t>Transformation Plan Development</a:t>
            </a:r>
            <a:endParaRPr lang="en-US" sz="1200" dirty="0"/>
          </a:p>
        </p:txBody>
      </p:sp>
      <p:sp>
        <p:nvSpPr>
          <p:cNvPr id="18" name="Text 16"/>
          <p:cNvSpPr/>
          <p:nvPr/>
        </p:nvSpPr>
        <p:spPr>
          <a:xfrm>
            <a:off x="868680" y="3456432"/>
            <a:ext cx="3337560" cy="1170432"/>
          </a:xfrm>
          <a:prstGeom prst="rect">
            <a:avLst/>
          </a:prstGeom>
          <a:noFill/>
          <a:ln/>
        </p:spPr>
        <p:txBody>
          <a:bodyPr wrap="square" lIns="0" tIns="0" rIns="0" bIns="0" rtlCol="0" anchor="ctr"/>
          <a:lstStyle/>
          <a:p>
            <a:pPr indent="0" marL="0">
              <a:buNone/>
            </a:pPr>
            <a:r>
              <a:rPr lang="en-US" sz="1050" dirty="0">
                <a:solidFill>
                  <a:srgbClr val="444444"/>
                </a:solidFill>
              </a:rPr>
              <a:t>Structured plans mapping specific actions to timelines, costs, and Act 167 outcome objectives. Hospital sustainability and cost analysis through service line review.</a:t>
            </a:r>
            <a:endParaRPr lang="en-US" sz="1050" dirty="0"/>
          </a:p>
        </p:txBody>
      </p:sp>
      <p:sp>
        <p:nvSpPr>
          <p:cNvPr id="19" name="Shape 17"/>
          <p:cNvSpPr/>
          <p:nvPr/>
        </p:nvSpPr>
        <p:spPr>
          <a:xfrm>
            <a:off x="4572000" y="2926080"/>
            <a:ext cx="4023360" cy="1783080"/>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20" name="Shape 18"/>
          <p:cNvSpPr/>
          <p:nvPr/>
        </p:nvSpPr>
        <p:spPr>
          <a:xfrm>
            <a:off x="4572000" y="2926080"/>
            <a:ext cx="502920" cy="1783080"/>
          </a:xfrm>
          <a:prstGeom prst="rect">
            <a:avLst/>
          </a:prstGeom>
          <a:solidFill>
            <a:srgbClr val="1E6B3C"/>
          </a:solidFill>
          <a:ln/>
        </p:spPr>
      </p:sp>
      <p:sp>
        <p:nvSpPr>
          <p:cNvPr id="21" name="Text 19"/>
          <p:cNvSpPr/>
          <p:nvPr/>
        </p:nvSpPr>
        <p:spPr>
          <a:xfrm>
            <a:off x="4572000" y="3383280"/>
            <a:ext cx="502920" cy="868680"/>
          </a:xfrm>
          <a:prstGeom prst="rect">
            <a:avLst/>
          </a:prstGeom>
          <a:noFill/>
          <a:ln/>
        </p:spPr>
        <p:txBody>
          <a:bodyPr wrap="square" rtlCol="0" anchor="ctr"/>
          <a:lstStyle/>
          <a:p>
            <a:pPr algn="ctr" indent="0" marL="0">
              <a:buNone/>
            </a:pPr>
            <a:r>
              <a:rPr lang="en-US" sz="2400" b="1" dirty="0">
                <a:solidFill>
                  <a:srgbClr val="FFFFFF"/>
                </a:solidFill>
              </a:rPr>
              <a:t>4</a:t>
            </a:r>
            <a:endParaRPr lang="en-US" sz="2400" dirty="0"/>
          </a:p>
        </p:txBody>
      </p:sp>
      <p:sp>
        <p:nvSpPr>
          <p:cNvPr id="22" name="Text 20"/>
          <p:cNvSpPr/>
          <p:nvPr/>
        </p:nvSpPr>
        <p:spPr>
          <a:xfrm>
            <a:off x="5166360" y="3017520"/>
            <a:ext cx="3337560" cy="384048"/>
          </a:xfrm>
          <a:prstGeom prst="rect">
            <a:avLst/>
          </a:prstGeom>
          <a:noFill/>
          <a:ln/>
        </p:spPr>
        <p:txBody>
          <a:bodyPr wrap="square" lIns="0" tIns="0" rIns="0" bIns="0" rtlCol="0" anchor="ctr"/>
          <a:lstStyle/>
          <a:p>
            <a:pPr indent="0" marL="0">
              <a:buNone/>
            </a:pPr>
            <a:r>
              <a:rPr lang="en-US" sz="1200" b="1" dirty="0">
                <a:solidFill>
                  <a:srgbClr val="1E6B3C"/>
                </a:solidFill>
              </a:rPr>
              <a:t>Regional Coordination</a:t>
            </a:r>
            <a:endParaRPr lang="en-US" sz="1200" dirty="0"/>
          </a:p>
        </p:txBody>
      </p:sp>
      <p:sp>
        <p:nvSpPr>
          <p:cNvPr id="23" name="Text 21"/>
          <p:cNvSpPr/>
          <p:nvPr/>
        </p:nvSpPr>
        <p:spPr>
          <a:xfrm>
            <a:off x="5166360" y="3456432"/>
            <a:ext cx="3337560" cy="1170432"/>
          </a:xfrm>
          <a:prstGeom prst="rect">
            <a:avLst/>
          </a:prstGeom>
          <a:noFill/>
          <a:ln/>
        </p:spPr>
        <p:txBody>
          <a:bodyPr wrap="square" lIns="0" tIns="0" rIns="0" bIns="0" rtlCol="0" anchor="ctr"/>
          <a:lstStyle/>
          <a:p>
            <a:pPr indent="0" marL="0">
              <a:buNone/>
            </a:pPr>
            <a:r>
              <a:rPr lang="en-US" sz="1050" dirty="0">
                <a:solidFill>
                  <a:srgbClr val="444444"/>
                </a:solidFill>
              </a:rPr>
              <a:t>Connecting hospital-level planning to the statewide regional work. Ensuring individual plans are compatible with neighboring hospital plans. Identifying shared service opportunities.</a:t>
            </a:r>
            <a:endParaRPr lang="en-US" sz="1050" dirty="0"/>
          </a:p>
        </p:txBody>
      </p:sp>
      <p:sp>
        <p:nvSpPr>
          <p:cNvPr id="24" name="Text 22"/>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8 — Source: AHS November 2025 Transformation Report; AHS Health Care Transformation website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10</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Clinical Pillar — Redesigning Care Delivery</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2000" b="1" dirty="0">
                <a:solidFill>
                  <a:srgbClr val="1F5C8B"/>
                </a:solidFill>
                <a:latin typeface="Georgia" pitchFamily="34" charset="0"/>
                <a:ea typeface="Georgia" pitchFamily="34" charset="-122"/>
                <a:cs typeface="Georgia" pitchFamily="34" charset="-120"/>
              </a:rPr>
              <a:t>VERMONT BLUEPRINT FOR HEALTH — 15 YEARS OF RESULTS</a:t>
            </a:r>
            <a:endParaRPr lang="en-US" sz="2000" dirty="0"/>
          </a:p>
        </p:txBody>
      </p:sp>
      <p:sp>
        <p:nvSpPr>
          <p:cNvPr id="3" name="Shape 1"/>
          <p:cNvSpPr/>
          <p:nvPr/>
        </p:nvSpPr>
        <p:spPr>
          <a:xfrm>
            <a:off x="274320" y="749808"/>
            <a:ext cx="4023360" cy="1737360"/>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49808"/>
            <a:ext cx="4023360" cy="329184"/>
          </a:xfrm>
          <a:prstGeom prst="rect">
            <a:avLst/>
          </a:prstGeom>
          <a:solidFill>
            <a:srgbClr val="1E6B3C"/>
          </a:solidFill>
          <a:ln/>
        </p:spPr>
      </p:sp>
      <p:sp>
        <p:nvSpPr>
          <p:cNvPr id="5" name="Text 3"/>
          <p:cNvSpPr/>
          <p:nvPr/>
        </p:nvSpPr>
        <p:spPr>
          <a:xfrm>
            <a:off x="274320" y="1152144"/>
            <a:ext cx="4023360" cy="685800"/>
          </a:xfrm>
          <a:prstGeom prst="rect">
            <a:avLst/>
          </a:prstGeom>
          <a:noFill/>
          <a:ln/>
        </p:spPr>
        <p:txBody>
          <a:bodyPr wrap="square" rtlCol="0" anchor="ctr"/>
          <a:lstStyle/>
          <a:p>
            <a:pPr algn="ctr" indent="0" marL="0">
              <a:buNone/>
            </a:pPr>
            <a:r>
              <a:rPr lang="en-US" sz="4600" b="1" dirty="0">
                <a:solidFill>
                  <a:srgbClr val="1E6B3C"/>
                </a:solidFill>
              </a:rPr>
              <a:t>$5.8M</a:t>
            </a:r>
            <a:endParaRPr lang="en-US" sz="4600" dirty="0"/>
          </a:p>
        </p:txBody>
      </p:sp>
      <p:sp>
        <p:nvSpPr>
          <p:cNvPr id="6" name="Text 4"/>
          <p:cNvSpPr/>
          <p:nvPr/>
        </p:nvSpPr>
        <p:spPr>
          <a:xfrm>
            <a:off x="411480" y="1883664"/>
            <a:ext cx="3749040" cy="292608"/>
          </a:xfrm>
          <a:prstGeom prst="rect">
            <a:avLst/>
          </a:prstGeom>
          <a:noFill/>
          <a:ln/>
        </p:spPr>
        <p:txBody>
          <a:bodyPr wrap="square" lIns="0" tIns="0" rIns="0" bIns="0" rtlCol="0" anchor="ctr"/>
          <a:lstStyle/>
          <a:p>
            <a:pPr algn="ctr" indent="0" marL="0">
              <a:buNone/>
            </a:pPr>
            <a:r>
              <a:rPr lang="en-US" sz="1100" b="1" dirty="0">
                <a:solidFill>
                  <a:srgbClr val="1A1A1A"/>
                </a:solidFill>
              </a:rPr>
              <a:t>Reduction in medical expenditure</a:t>
            </a:r>
            <a:endParaRPr lang="en-US" sz="1100" dirty="0"/>
          </a:p>
        </p:txBody>
      </p:sp>
      <p:sp>
        <p:nvSpPr>
          <p:cNvPr id="7" name="Text 5"/>
          <p:cNvSpPr/>
          <p:nvPr/>
        </p:nvSpPr>
        <p:spPr>
          <a:xfrm>
            <a:off x="411480" y="2185416"/>
            <a:ext cx="3749040" cy="256032"/>
          </a:xfrm>
          <a:prstGeom prst="rect">
            <a:avLst/>
          </a:prstGeom>
          <a:noFill/>
          <a:ln/>
        </p:spPr>
        <p:txBody>
          <a:bodyPr wrap="square" lIns="0" tIns="0" rIns="0" bIns="0" rtlCol="0" anchor="ctr"/>
          <a:lstStyle/>
          <a:p>
            <a:pPr algn="ctr" indent="0" marL="0">
              <a:buNone/>
            </a:pPr>
            <a:r>
              <a:rPr lang="en-US" sz="950" i="1" dirty="0">
                <a:solidFill>
                  <a:srgbClr val="666666"/>
                </a:solidFill>
              </a:rPr>
              <a:t>Per $1M invested in Blueprint — documented 5.8:1 ROI (Population Health Management journal)</a:t>
            </a:r>
            <a:endParaRPr lang="en-US" sz="950" dirty="0"/>
          </a:p>
        </p:txBody>
      </p:sp>
      <p:sp>
        <p:nvSpPr>
          <p:cNvPr id="8" name="Shape 6"/>
          <p:cNvSpPr/>
          <p:nvPr/>
        </p:nvSpPr>
        <p:spPr>
          <a:xfrm>
            <a:off x="4572000" y="749808"/>
            <a:ext cx="4023360" cy="173736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9" name="Shape 7"/>
          <p:cNvSpPr/>
          <p:nvPr/>
        </p:nvSpPr>
        <p:spPr>
          <a:xfrm>
            <a:off x="4572000" y="749808"/>
            <a:ext cx="4023360" cy="329184"/>
          </a:xfrm>
          <a:prstGeom prst="rect">
            <a:avLst/>
          </a:prstGeom>
          <a:solidFill>
            <a:srgbClr val="2E75B6"/>
          </a:solidFill>
          <a:ln/>
        </p:spPr>
      </p:sp>
      <p:sp>
        <p:nvSpPr>
          <p:cNvPr id="10" name="Text 8"/>
          <p:cNvSpPr/>
          <p:nvPr/>
        </p:nvSpPr>
        <p:spPr>
          <a:xfrm>
            <a:off x="4572000" y="1152144"/>
            <a:ext cx="4023360" cy="685800"/>
          </a:xfrm>
          <a:prstGeom prst="rect">
            <a:avLst/>
          </a:prstGeom>
          <a:noFill/>
          <a:ln/>
        </p:spPr>
        <p:txBody>
          <a:bodyPr wrap="square" rtlCol="0" anchor="ctr"/>
          <a:lstStyle/>
          <a:p>
            <a:pPr algn="ctr" indent="0" marL="0">
              <a:buNone/>
            </a:pPr>
            <a:r>
              <a:rPr lang="en-US" sz="4600" b="1" dirty="0">
                <a:solidFill>
                  <a:srgbClr val="2E75B6"/>
                </a:solidFill>
              </a:rPr>
              <a:t>100%</a:t>
            </a:r>
            <a:endParaRPr lang="en-US" sz="4600" dirty="0"/>
          </a:p>
        </p:txBody>
      </p:sp>
      <p:sp>
        <p:nvSpPr>
          <p:cNvPr id="11" name="Text 9"/>
          <p:cNvSpPr/>
          <p:nvPr/>
        </p:nvSpPr>
        <p:spPr>
          <a:xfrm>
            <a:off x="4709160" y="1883664"/>
            <a:ext cx="3749040" cy="292608"/>
          </a:xfrm>
          <a:prstGeom prst="rect">
            <a:avLst/>
          </a:prstGeom>
          <a:noFill/>
          <a:ln/>
        </p:spPr>
        <p:txBody>
          <a:bodyPr wrap="square" lIns="0" tIns="0" rIns="0" bIns="0" rtlCol="0" anchor="ctr"/>
          <a:lstStyle/>
          <a:p>
            <a:pPr algn="ctr" indent="0" marL="0">
              <a:buNone/>
            </a:pPr>
            <a:r>
              <a:rPr lang="en-US" sz="1100" b="1" dirty="0">
                <a:solidFill>
                  <a:srgbClr val="1A1A1A"/>
                </a:solidFill>
              </a:rPr>
              <a:t>Vermont PCMHs recognized by NCQA</a:t>
            </a:r>
            <a:endParaRPr lang="en-US" sz="1100" dirty="0"/>
          </a:p>
        </p:txBody>
      </p:sp>
      <p:sp>
        <p:nvSpPr>
          <p:cNvPr id="12" name="Text 10"/>
          <p:cNvSpPr/>
          <p:nvPr/>
        </p:nvSpPr>
        <p:spPr>
          <a:xfrm>
            <a:off x="4709160" y="2185416"/>
            <a:ext cx="3749040" cy="256032"/>
          </a:xfrm>
          <a:prstGeom prst="rect">
            <a:avLst/>
          </a:prstGeom>
          <a:noFill/>
          <a:ln/>
        </p:spPr>
        <p:txBody>
          <a:bodyPr wrap="square" lIns="0" tIns="0" rIns="0" bIns="0" rtlCol="0" anchor="ctr"/>
          <a:lstStyle/>
          <a:p>
            <a:pPr algn="ctr" indent="0" marL="0">
              <a:buNone/>
            </a:pPr>
            <a:r>
              <a:rPr lang="en-US" sz="950" i="1" dirty="0">
                <a:solidFill>
                  <a:srgbClr val="666666"/>
                </a:solidFill>
              </a:rPr>
              <a:t>All participating practices meet NCQA Patient-Centered Medical Home standards</a:t>
            </a:r>
            <a:endParaRPr lang="en-US" sz="950" dirty="0"/>
          </a:p>
        </p:txBody>
      </p:sp>
      <p:sp>
        <p:nvSpPr>
          <p:cNvPr id="13" name="Shape 11"/>
          <p:cNvSpPr/>
          <p:nvPr/>
        </p:nvSpPr>
        <p:spPr>
          <a:xfrm>
            <a:off x="274320" y="2697480"/>
            <a:ext cx="4023360" cy="1737360"/>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4" name="Shape 12"/>
          <p:cNvSpPr/>
          <p:nvPr/>
        </p:nvSpPr>
        <p:spPr>
          <a:xfrm>
            <a:off x="274320" y="2697480"/>
            <a:ext cx="4023360" cy="329184"/>
          </a:xfrm>
          <a:prstGeom prst="rect">
            <a:avLst/>
          </a:prstGeom>
          <a:solidFill>
            <a:srgbClr val="0D5F6B"/>
          </a:solidFill>
          <a:ln/>
        </p:spPr>
      </p:sp>
      <p:sp>
        <p:nvSpPr>
          <p:cNvPr id="15" name="Text 13"/>
          <p:cNvSpPr/>
          <p:nvPr/>
        </p:nvSpPr>
        <p:spPr>
          <a:xfrm>
            <a:off x="274320" y="3099816"/>
            <a:ext cx="4023360" cy="685800"/>
          </a:xfrm>
          <a:prstGeom prst="rect">
            <a:avLst/>
          </a:prstGeom>
          <a:noFill/>
          <a:ln/>
        </p:spPr>
        <p:txBody>
          <a:bodyPr wrap="square" rtlCol="0" anchor="ctr"/>
          <a:lstStyle/>
          <a:p>
            <a:pPr algn="ctr" indent="0" marL="0">
              <a:buNone/>
            </a:pPr>
            <a:r>
              <a:rPr lang="en-US" sz="4600" b="1" dirty="0">
                <a:solidFill>
                  <a:srgbClr val="0D5F6B"/>
                </a:solidFill>
              </a:rPr>
              <a:t>77%</a:t>
            </a:r>
            <a:endParaRPr lang="en-US" sz="4600" dirty="0"/>
          </a:p>
        </p:txBody>
      </p:sp>
      <p:sp>
        <p:nvSpPr>
          <p:cNvPr id="16" name="Text 14"/>
          <p:cNvSpPr/>
          <p:nvPr/>
        </p:nvSpPr>
        <p:spPr>
          <a:xfrm>
            <a:off x="411480" y="3831336"/>
            <a:ext cx="3749040" cy="292608"/>
          </a:xfrm>
          <a:prstGeom prst="rect">
            <a:avLst/>
          </a:prstGeom>
          <a:noFill/>
          <a:ln/>
        </p:spPr>
        <p:txBody>
          <a:bodyPr wrap="square" lIns="0" tIns="0" rIns="0" bIns="0" rtlCol="0" anchor="ctr"/>
          <a:lstStyle/>
          <a:p>
            <a:pPr algn="ctr" indent="0" marL="0">
              <a:buNone/>
            </a:pPr>
            <a:r>
              <a:rPr lang="en-US" sz="1100" b="1" dirty="0">
                <a:solidFill>
                  <a:srgbClr val="1A1A1A"/>
                </a:solidFill>
              </a:rPr>
              <a:t>Hypertension controlled in PCMH patients</a:t>
            </a:r>
            <a:endParaRPr lang="en-US" sz="1100" dirty="0"/>
          </a:p>
        </p:txBody>
      </p:sp>
      <p:sp>
        <p:nvSpPr>
          <p:cNvPr id="17" name="Text 15"/>
          <p:cNvSpPr/>
          <p:nvPr/>
        </p:nvSpPr>
        <p:spPr>
          <a:xfrm>
            <a:off x="411480" y="4133088"/>
            <a:ext cx="3749040" cy="256032"/>
          </a:xfrm>
          <a:prstGeom prst="rect">
            <a:avLst/>
          </a:prstGeom>
          <a:noFill/>
          <a:ln/>
        </p:spPr>
        <p:txBody>
          <a:bodyPr wrap="square" lIns="0" tIns="0" rIns="0" bIns="0" rtlCol="0" anchor="ctr"/>
          <a:lstStyle/>
          <a:p>
            <a:pPr algn="ctr" indent="0" marL="0">
              <a:buNone/>
            </a:pPr>
            <a:r>
              <a:rPr lang="en-US" sz="950" i="1" dirty="0">
                <a:solidFill>
                  <a:srgbClr val="666666"/>
                </a:solidFill>
              </a:rPr>
              <a:t>Blueprint quality metric; 4 points above national benchmark</a:t>
            </a:r>
            <a:endParaRPr lang="en-US" sz="950" dirty="0"/>
          </a:p>
        </p:txBody>
      </p:sp>
      <p:sp>
        <p:nvSpPr>
          <p:cNvPr id="18" name="Shape 16"/>
          <p:cNvSpPr/>
          <p:nvPr/>
        </p:nvSpPr>
        <p:spPr>
          <a:xfrm>
            <a:off x="4572000" y="2697480"/>
            <a:ext cx="4023360" cy="1737360"/>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19" name="Shape 17"/>
          <p:cNvSpPr/>
          <p:nvPr/>
        </p:nvSpPr>
        <p:spPr>
          <a:xfrm>
            <a:off x="4572000" y="2697480"/>
            <a:ext cx="4023360" cy="329184"/>
          </a:xfrm>
          <a:prstGeom prst="rect">
            <a:avLst/>
          </a:prstGeom>
          <a:solidFill>
            <a:srgbClr val="1F5C8B"/>
          </a:solidFill>
          <a:ln/>
        </p:spPr>
      </p:sp>
      <p:sp>
        <p:nvSpPr>
          <p:cNvPr id="20" name="Text 18"/>
          <p:cNvSpPr/>
          <p:nvPr/>
        </p:nvSpPr>
        <p:spPr>
          <a:xfrm>
            <a:off x="4572000" y="3099816"/>
            <a:ext cx="4023360" cy="685800"/>
          </a:xfrm>
          <a:prstGeom prst="rect">
            <a:avLst/>
          </a:prstGeom>
          <a:noFill/>
          <a:ln/>
        </p:spPr>
        <p:txBody>
          <a:bodyPr wrap="square" rtlCol="0" anchor="ctr"/>
          <a:lstStyle/>
          <a:p>
            <a:pPr algn="ctr" indent="0" marL="0">
              <a:buNone/>
            </a:pPr>
            <a:r>
              <a:rPr lang="en-US" sz="4600" b="1" dirty="0">
                <a:solidFill>
                  <a:srgbClr val="1F5C8B"/>
                </a:solidFill>
              </a:rPr>
              <a:t>91%</a:t>
            </a:r>
            <a:endParaRPr lang="en-US" sz="4600" dirty="0"/>
          </a:p>
        </p:txBody>
      </p:sp>
      <p:sp>
        <p:nvSpPr>
          <p:cNvPr id="21" name="Text 19"/>
          <p:cNvSpPr/>
          <p:nvPr/>
        </p:nvSpPr>
        <p:spPr>
          <a:xfrm>
            <a:off x="4709160" y="3831336"/>
            <a:ext cx="3749040" cy="292608"/>
          </a:xfrm>
          <a:prstGeom prst="rect">
            <a:avLst/>
          </a:prstGeom>
          <a:noFill/>
          <a:ln/>
        </p:spPr>
        <p:txBody>
          <a:bodyPr wrap="square" lIns="0" tIns="0" rIns="0" bIns="0" rtlCol="0" anchor="ctr"/>
          <a:lstStyle/>
          <a:p>
            <a:pPr algn="ctr" indent="0" marL="0">
              <a:buNone/>
            </a:pPr>
            <a:r>
              <a:rPr lang="en-US" sz="1100" b="1" dirty="0">
                <a:solidFill>
                  <a:srgbClr val="1A1A1A"/>
                </a:solidFill>
              </a:rPr>
              <a:t>Vermonters with a personal provider</a:t>
            </a:r>
            <a:endParaRPr lang="en-US" sz="1100" dirty="0"/>
          </a:p>
        </p:txBody>
      </p:sp>
      <p:sp>
        <p:nvSpPr>
          <p:cNvPr id="22" name="Text 20"/>
          <p:cNvSpPr/>
          <p:nvPr/>
        </p:nvSpPr>
        <p:spPr>
          <a:xfrm>
            <a:off x="4709160" y="4133088"/>
            <a:ext cx="3749040" cy="256032"/>
          </a:xfrm>
          <a:prstGeom prst="rect">
            <a:avLst/>
          </a:prstGeom>
          <a:noFill/>
          <a:ln/>
        </p:spPr>
        <p:txBody>
          <a:bodyPr wrap="square" lIns="0" tIns="0" rIns="0" bIns="0" rtlCol="0" anchor="ctr"/>
          <a:lstStyle/>
          <a:p>
            <a:pPr algn="ctr" indent="0" marL="0">
              <a:buNone/>
            </a:pPr>
            <a:r>
              <a:rPr lang="en-US" sz="950" i="1" dirty="0">
                <a:solidFill>
                  <a:srgbClr val="666666"/>
                </a:solidFill>
              </a:rPr>
              <a:t>4 points above the 87% national benchmark — Blueprint's access foundation</a:t>
            </a:r>
            <a:endParaRPr lang="en-US" sz="950" dirty="0"/>
          </a:p>
        </p:txBody>
      </p:sp>
      <p:sp>
        <p:nvSpPr>
          <p:cNvPr id="23" name="Text 2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10 — Source: Population Health Management (2016 Blueprint ROI study); AHS November 2025 Transformation Report</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COLLABORATIVE CARE MODEL (CoCM) — THE BEHAVIORAL HEALTH INTEGRATION STANDARD</a:t>
            </a:r>
            <a:endParaRPr lang="en-US" sz="1700" dirty="0"/>
          </a:p>
        </p:txBody>
      </p:sp>
      <p:sp>
        <p:nvSpPr>
          <p:cNvPr id="3" name="Text 1"/>
          <p:cNvSpPr/>
          <p:nvPr/>
        </p:nvSpPr>
        <p:spPr>
          <a:xfrm>
            <a:off x="365760" y="566928"/>
            <a:ext cx="8412480" cy="256032"/>
          </a:xfrm>
          <a:prstGeom prst="rect">
            <a:avLst/>
          </a:prstGeom>
          <a:noFill/>
          <a:ln/>
        </p:spPr>
        <p:txBody>
          <a:bodyPr wrap="square" rtlCol="0" anchor="ctr"/>
          <a:lstStyle/>
          <a:p>
            <a:pPr indent="0" marL="0">
              <a:buNone/>
            </a:pPr>
            <a:r>
              <a:rPr lang="en-US" sz="1100" i="1" dirty="0">
                <a:solidFill>
                  <a:srgbClr val="64748B"/>
                </a:solidFill>
              </a:rPr>
              <a:t>The only integrated care model with 90+ randomized controlled trials and designated Medicare billing codes (CPT 99492, 99493, 99494)</a:t>
            </a:r>
            <a:endParaRPr lang="en-US" sz="1100" dirty="0"/>
          </a:p>
        </p:txBody>
      </p:sp>
      <p:sp>
        <p:nvSpPr>
          <p:cNvPr id="4" name="Shape 2"/>
          <p:cNvSpPr/>
          <p:nvPr/>
        </p:nvSpPr>
        <p:spPr>
          <a:xfrm>
            <a:off x="274320" y="960120"/>
            <a:ext cx="2651760" cy="3566160"/>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5" name="Shape 3"/>
          <p:cNvSpPr/>
          <p:nvPr/>
        </p:nvSpPr>
        <p:spPr>
          <a:xfrm>
            <a:off x="274320" y="960120"/>
            <a:ext cx="2651760" cy="640080"/>
          </a:xfrm>
          <a:prstGeom prst="rect">
            <a:avLst/>
          </a:prstGeom>
          <a:solidFill>
            <a:srgbClr val="1F5C8B"/>
          </a:solidFill>
          <a:ln/>
        </p:spPr>
      </p:sp>
      <p:sp>
        <p:nvSpPr>
          <p:cNvPr id="6" name="Text 4"/>
          <p:cNvSpPr/>
          <p:nvPr/>
        </p:nvSpPr>
        <p:spPr>
          <a:xfrm>
            <a:off x="274320" y="960120"/>
            <a:ext cx="2651760" cy="640080"/>
          </a:xfrm>
          <a:prstGeom prst="rect">
            <a:avLst/>
          </a:prstGeom>
          <a:noFill/>
          <a:ln/>
        </p:spPr>
        <p:txBody>
          <a:bodyPr wrap="square" rtlCol="0" anchor="ctr"/>
          <a:lstStyle/>
          <a:p>
            <a:pPr algn="ctr" indent="0" marL="0">
              <a:buNone/>
            </a:pPr>
            <a:r>
              <a:rPr lang="en-US" sz="1300" b="1" dirty="0">
                <a:solidFill>
                  <a:srgbClr val="FFFFFF"/>
                </a:solidFill>
              </a:rPr>
              <a:t>Primary Care Provider</a:t>
            </a:r>
            <a:endParaRPr lang="en-US" sz="1300" dirty="0"/>
          </a:p>
          <a:p>
            <a:pPr algn="ctr" indent="0" marL="0">
              <a:buNone/>
            </a:pPr>
            <a:r>
              <a:rPr lang="en-US" sz="1300" b="1" dirty="0">
                <a:solidFill>
                  <a:srgbClr val="FFFFFF"/>
                </a:solidFill>
              </a:rPr>
              <a:t>(PCP)</a:t>
            </a:r>
            <a:endParaRPr lang="en-US" sz="1300" dirty="0"/>
          </a:p>
        </p:txBody>
      </p:sp>
      <p:sp>
        <p:nvSpPr>
          <p:cNvPr id="7" name="Text 5"/>
          <p:cNvSpPr/>
          <p:nvPr/>
        </p:nvSpPr>
        <p:spPr>
          <a:xfrm>
            <a:off x="384048" y="1691640"/>
            <a:ext cx="2432304" cy="274320"/>
          </a:xfrm>
          <a:prstGeom prst="rect">
            <a:avLst/>
          </a:prstGeom>
          <a:noFill/>
          <a:ln/>
        </p:spPr>
        <p:txBody>
          <a:bodyPr wrap="square" lIns="0" tIns="0" rIns="0" bIns="0" rtlCol="0" anchor="ctr"/>
          <a:lstStyle/>
          <a:p>
            <a:pPr indent="0" marL="0">
              <a:buNone/>
            </a:pPr>
            <a:r>
              <a:rPr lang="en-US" sz="1100" b="1" i="1" dirty="0">
                <a:solidFill>
                  <a:srgbClr val="1F5C8B"/>
                </a:solidFill>
              </a:rPr>
              <a:t>Treating &amp; billing provider</a:t>
            </a:r>
            <a:endParaRPr lang="en-US" sz="1100" dirty="0"/>
          </a:p>
        </p:txBody>
      </p:sp>
      <p:sp>
        <p:nvSpPr>
          <p:cNvPr id="8" name="Text 6"/>
          <p:cNvSpPr/>
          <p:nvPr/>
        </p:nvSpPr>
        <p:spPr>
          <a:xfrm>
            <a:off x="384048" y="2029968"/>
            <a:ext cx="2432304" cy="2395728"/>
          </a:xfrm>
          <a:prstGeom prst="rect">
            <a:avLst/>
          </a:prstGeom>
          <a:noFill/>
          <a:ln/>
        </p:spPr>
        <p:txBody>
          <a:bodyPr wrap="square" lIns="0" tIns="0" rIns="0" bIns="0" rtlCol="0" anchor="ctr"/>
          <a:lstStyle/>
          <a:p>
            <a:pPr indent="0" marL="0">
              <a:buNone/>
            </a:pPr>
            <a:r>
              <a:rPr lang="en-US" sz="1050" dirty="0">
                <a:solidFill>
                  <a:srgbClr val="444444"/>
                </a:solidFill>
              </a:rPr>
              <a:t>Identifies patients via validated screening (PHQ-9, GAD-7). Provides warm handoffs. Bills CoCM codes monthly. Retains clinical ownership.</a:t>
            </a:r>
            <a:endParaRPr lang="en-US" sz="1050" dirty="0"/>
          </a:p>
        </p:txBody>
      </p:sp>
      <p:sp>
        <p:nvSpPr>
          <p:cNvPr id="9" name="Shape 7"/>
          <p:cNvSpPr/>
          <p:nvPr/>
        </p:nvSpPr>
        <p:spPr>
          <a:xfrm>
            <a:off x="3108960" y="960120"/>
            <a:ext cx="2651760" cy="356616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0" name="Shape 8"/>
          <p:cNvSpPr/>
          <p:nvPr/>
        </p:nvSpPr>
        <p:spPr>
          <a:xfrm>
            <a:off x="3108960" y="960120"/>
            <a:ext cx="2651760" cy="640080"/>
          </a:xfrm>
          <a:prstGeom prst="rect">
            <a:avLst/>
          </a:prstGeom>
          <a:solidFill>
            <a:srgbClr val="2E75B6"/>
          </a:solidFill>
          <a:ln/>
        </p:spPr>
      </p:sp>
      <p:sp>
        <p:nvSpPr>
          <p:cNvPr id="11" name="Text 9"/>
          <p:cNvSpPr/>
          <p:nvPr/>
        </p:nvSpPr>
        <p:spPr>
          <a:xfrm>
            <a:off x="3108960" y="960120"/>
            <a:ext cx="2651760" cy="640080"/>
          </a:xfrm>
          <a:prstGeom prst="rect">
            <a:avLst/>
          </a:prstGeom>
          <a:noFill/>
          <a:ln/>
        </p:spPr>
        <p:txBody>
          <a:bodyPr wrap="square" rtlCol="0" anchor="ctr"/>
          <a:lstStyle/>
          <a:p>
            <a:pPr algn="ctr" indent="0" marL="0">
              <a:buNone/>
            </a:pPr>
            <a:r>
              <a:rPr lang="en-US" sz="1300" b="1" dirty="0">
                <a:solidFill>
                  <a:srgbClr val="FFFFFF"/>
                </a:solidFill>
              </a:rPr>
              <a:t>Behavioral Health Care</a:t>
            </a:r>
            <a:endParaRPr lang="en-US" sz="1300" dirty="0"/>
          </a:p>
          <a:p>
            <a:pPr algn="ctr" indent="0" marL="0">
              <a:buNone/>
            </a:pPr>
            <a:r>
              <a:rPr lang="en-US" sz="1300" b="1" dirty="0">
                <a:solidFill>
                  <a:srgbClr val="FFFFFF"/>
                </a:solidFill>
              </a:rPr>
              <a:t>Manager (BHCM)</a:t>
            </a:r>
            <a:endParaRPr lang="en-US" sz="1300" dirty="0"/>
          </a:p>
        </p:txBody>
      </p:sp>
      <p:sp>
        <p:nvSpPr>
          <p:cNvPr id="12" name="Text 10"/>
          <p:cNvSpPr/>
          <p:nvPr/>
        </p:nvSpPr>
        <p:spPr>
          <a:xfrm>
            <a:off x="3218688" y="1691640"/>
            <a:ext cx="2432304" cy="274320"/>
          </a:xfrm>
          <a:prstGeom prst="rect">
            <a:avLst/>
          </a:prstGeom>
          <a:noFill/>
          <a:ln/>
        </p:spPr>
        <p:txBody>
          <a:bodyPr wrap="square" lIns="0" tIns="0" rIns="0" bIns="0" rtlCol="0" anchor="ctr"/>
          <a:lstStyle/>
          <a:p>
            <a:pPr indent="0" marL="0">
              <a:buNone/>
            </a:pPr>
            <a:r>
              <a:rPr lang="en-US" sz="1100" b="1" i="1" dirty="0">
                <a:solidFill>
                  <a:srgbClr val="2E75B6"/>
                </a:solidFill>
              </a:rPr>
              <a:t>Day-to-day care coordinator</a:t>
            </a:r>
            <a:endParaRPr lang="en-US" sz="1100" dirty="0"/>
          </a:p>
        </p:txBody>
      </p:sp>
      <p:sp>
        <p:nvSpPr>
          <p:cNvPr id="13" name="Text 11"/>
          <p:cNvSpPr/>
          <p:nvPr/>
        </p:nvSpPr>
        <p:spPr>
          <a:xfrm>
            <a:off x="3218688" y="2029968"/>
            <a:ext cx="2432304" cy="2395728"/>
          </a:xfrm>
          <a:prstGeom prst="rect">
            <a:avLst/>
          </a:prstGeom>
          <a:noFill/>
          <a:ln/>
        </p:spPr>
        <p:txBody>
          <a:bodyPr wrap="square" lIns="0" tIns="0" rIns="0" bIns="0" rtlCol="0" anchor="ctr"/>
          <a:lstStyle/>
          <a:p>
            <a:pPr indent="0" marL="0">
              <a:buNone/>
            </a:pPr>
            <a:r>
              <a:rPr lang="en-US" sz="1050" dirty="0">
                <a:solidFill>
                  <a:srgbClr val="444444"/>
                </a:solidFill>
              </a:rPr>
              <a:t>Maintains patient registry. Provides brief interventions. Monitors treatment response with validated scales. Escalates to psychiatric consultant as needed.</a:t>
            </a:r>
            <a:endParaRPr lang="en-US" sz="1050" dirty="0"/>
          </a:p>
        </p:txBody>
      </p:sp>
      <p:sp>
        <p:nvSpPr>
          <p:cNvPr id="14" name="Shape 12"/>
          <p:cNvSpPr/>
          <p:nvPr/>
        </p:nvSpPr>
        <p:spPr>
          <a:xfrm>
            <a:off x="5943600" y="960120"/>
            <a:ext cx="2651760" cy="3566160"/>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5" name="Shape 13"/>
          <p:cNvSpPr/>
          <p:nvPr/>
        </p:nvSpPr>
        <p:spPr>
          <a:xfrm>
            <a:off x="5943600" y="960120"/>
            <a:ext cx="2651760" cy="640080"/>
          </a:xfrm>
          <a:prstGeom prst="rect">
            <a:avLst/>
          </a:prstGeom>
          <a:solidFill>
            <a:srgbClr val="0D5F6B"/>
          </a:solidFill>
          <a:ln/>
        </p:spPr>
      </p:sp>
      <p:sp>
        <p:nvSpPr>
          <p:cNvPr id="16" name="Text 14"/>
          <p:cNvSpPr/>
          <p:nvPr/>
        </p:nvSpPr>
        <p:spPr>
          <a:xfrm>
            <a:off x="5943600" y="960120"/>
            <a:ext cx="2651760" cy="640080"/>
          </a:xfrm>
          <a:prstGeom prst="rect">
            <a:avLst/>
          </a:prstGeom>
          <a:noFill/>
          <a:ln/>
        </p:spPr>
        <p:txBody>
          <a:bodyPr wrap="square" rtlCol="0" anchor="ctr"/>
          <a:lstStyle/>
          <a:p>
            <a:pPr algn="ctr" indent="0" marL="0">
              <a:buNone/>
            </a:pPr>
            <a:r>
              <a:rPr lang="en-US" sz="1300" b="1" dirty="0">
                <a:solidFill>
                  <a:srgbClr val="FFFFFF"/>
                </a:solidFill>
              </a:rPr>
              <a:t>Psychiatric</a:t>
            </a:r>
            <a:endParaRPr lang="en-US" sz="1300" dirty="0"/>
          </a:p>
          <a:p>
            <a:pPr algn="ctr" indent="0" marL="0">
              <a:buNone/>
            </a:pPr>
            <a:r>
              <a:rPr lang="en-US" sz="1300" b="1" dirty="0">
                <a:solidFill>
                  <a:srgbClr val="FFFFFF"/>
                </a:solidFill>
              </a:rPr>
              <a:t>Consultant</a:t>
            </a:r>
            <a:endParaRPr lang="en-US" sz="1300" dirty="0"/>
          </a:p>
        </p:txBody>
      </p:sp>
      <p:sp>
        <p:nvSpPr>
          <p:cNvPr id="17" name="Text 15"/>
          <p:cNvSpPr/>
          <p:nvPr/>
        </p:nvSpPr>
        <p:spPr>
          <a:xfrm>
            <a:off x="6053328" y="1691640"/>
            <a:ext cx="2432304" cy="274320"/>
          </a:xfrm>
          <a:prstGeom prst="rect">
            <a:avLst/>
          </a:prstGeom>
          <a:noFill/>
          <a:ln/>
        </p:spPr>
        <p:txBody>
          <a:bodyPr wrap="square" lIns="0" tIns="0" rIns="0" bIns="0" rtlCol="0" anchor="ctr"/>
          <a:lstStyle/>
          <a:p>
            <a:pPr indent="0" marL="0">
              <a:buNone/>
            </a:pPr>
            <a:r>
              <a:rPr lang="en-US" sz="1100" b="1" i="1" dirty="0">
                <a:solidFill>
                  <a:srgbClr val="0D5F6B"/>
                </a:solidFill>
              </a:rPr>
              <a:t>Clinical supervision</a:t>
            </a:r>
            <a:endParaRPr lang="en-US" sz="1100" dirty="0"/>
          </a:p>
        </p:txBody>
      </p:sp>
      <p:sp>
        <p:nvSpPr>
          <p:cNvPr id="18" name="Text 16"/>
          <p:cNvSpPr/>
          <p:nvPr/>
        </p:nvSpPr>
        <p:spPr>
          <a:xfrm>
            <a:off x="6053328" y="2029968"/>
            <a:ext cx="2432304" cy="2395728"/>
          </a:xfrm>
          <a:prstGeom prst="rect">
            <a:avLst/>
          </a:prstGeom>
          <a:noFill/>
          <a:ln/>
        </p:spPr>
        <p:txBody>
          <a:bodyPr wrap="square" lIns="0" tIns="0" rIns="0" bIns="0" rtlCol="0" anchor="ctr"/>
          <a:lstStyle/>
          <a:p>
            <a:pPr indent="0" marL="0">
              <a:buNone/>
            </a:pPr>
            <a:r>
              <a:rPr lang="en-US" sz="1050" dirty="0">
                <a:solidFill>
                  <a:srgbClr val="444444"/>
                </a:solidFill>
              </a:rPr>
              <a:t>Regular case review with BHCM. Consultation on treatment recommendations. Direct care for highest-acuity cases only — one psychiatrist supports an entire practice.</a:t>
            </a:r>
            <a:endParaRPr lang="en-US" sz="1050" dirty="0"/>
          </a:p>
        </p:txBody>
      </p:sp>
      <p:sp>
        <p:nvSpPr>
          <p:cNvPr id="19" name="Shape 17"/>
          <p:cNvSpPr/>
          <p:nvPr/>
        </p:nvSpPr>
        <p:spPr>
          <a:xfrm>
            <a:off x="274320" y="4617720"/>
            <a:ext cx="8595360" cy="347472"/>
          </a:xfrm>
          <a:prstGeom prst="rect">
            <a:avLst/>
          </a:prstGeom>
          <a:solidFill>
            <a:srgbClr val="1F5C8B"/>
          </a:solidFill>
          <a:ln/>
        </p:spPr>
      </p:sp>
      <p:sp>
        <p:nvSpPr>
          <p:cNvPr id="20" name="Text 18"/>
          <p:cNvSpPr/>
          <p:nvPr/>
        </p:nvSpPr>
        <p:spPr>
          <a:xfrm>
            <a:off x="365760" y="4645152"/>
            <a:ext cx="8412480" cy="292608"/>
          </a:xfrm>
          <a:prstGeom prst="rect">
            <a:avLst/>
          </a:prstGeom>
          <a:noFill/>
          <a:ln/>
        </p:spPr>
        <p:txBody>
          <a:bodyPr wrap="square" rtlCol="0" anchor="ctr"/>
          <a:lstStyle/>
          <a:p>
            <a:pPr algn="ctr" indent="0" marL="0">
              <a:buNone/>
            </a:pPr>
            <a:r>
              <a:rPr lang="en-US" sz="1000" dirty="0">
                <a:solidFill>
                  <a:srgbClr val="FFFFFF"/>
                </a:solidFill>
              </a:rPr>
              <a:t>Vermont application: Blueprint MHI pilot — 80% of administrative entities increased CHT staffing | BHCM positions the natural CHT deployment</a:t>
            </a:r>
            <a:endParaRPr lang="en-US" sz="1000" dirty="0"/>
          </a:p>
        </p:txBody>
      </p:sp>
      <p:sp>
        <p:nvSpPr>
          <p:cNvPr id="21" name="Text 1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10 — Source: SAMHSA CoCM Program; CMS Behavioral Health Integration Services (January 2026); Vermont Blueprint MHI Evaluation (2025)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 BEHAVIORAL HEALTH CRISIS: ED PRESENTATIONS BY COUNTY</a:t>
            </a:r>
            <a:endParaRPr lang="en-US" sz="1800" dirty="0"/>
          </a:p>
        </p:txBody>
      </p:sp>
      <p:graphicFrame>
        <p:nvGraphicFramePr>
          <p:cNvPr id="3" name="Chart 0" descr=""/>
          <p:cNvGraphicFramePr/>
          <p:nvPr/>
        </p:nvGraphicFramePr>
        <p:xfrm>
          <a:off x="320040" y="685800"/>
          <a:ext cx="8503920" cy="33832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365760" y="4187952"/>
            <a:ext cx="8412480" cy="713232"/>
          </a:xfrm>
          <a:prstGeom prst="rect">
            <a:avLst/>
          </a:prstGeom>
          <a:noFill/>
          <a:ln/>
        </p:spPr>
        <p:txBody>
          <a:bodyPr wrap="square" rtlCol="0" anchor="ctr"/>
          <a:lstStyle/>
          <a:p>
            <a:pPr algn="ctr" indent="0" marL="0">
              <a:buNone/>
            </a:pPr>
            <a:r>
              <a:rPr lang="en-US" sz="1100" i="1" dirty="0">
                <a:solidFill>
                  <a:srgbClr val="8B1A1A"/>
                </a:solidFill>
              </a:rPr>
              <a:t>245.5 ED visits per 10,000 for suicide ideation/self-harm — the clearest evidence of behavioral health access failure. 5 new CCBHCs by July 2026 and permanent CoCM funding through AHEAD EAST Fund are the operational response.</a:t>
            </a:r>
            <a:endParaRPr lang="en-US" sz="1100" dirty="0"/>
          </a:p>
        </p:txBody>
      </p:sp>
      <p:sp>
        <p:nvSpPr>
          <p:cNvPr id="5" name="Text 2"/>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10 — Source: AHS November 2025 Transformation Report; VDH ED surveillance data</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VERMONT'S THREE-LAYER BEHAVIORAL HEALTH ARCHITECTURE</a:t>
            </a:r>
            <a:endParaRPr lang="en-US" sz="1800" dirty="0"/>
          </a:p>
        </p:txBody>
      </p:sp>
      <p:sp>
        <p:nvSpPr>
          <p:cNvPr id="3" name="Shape 1"/>
          <p:cNvSpPr/>
          <p:nvPr/>
        </p:nvSpPr>
        <p:spPr>
          <a:xfrm>
            <a:off x="274320" y="713232"/>
            <a:ext cx="8595360" cy="123444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13232"/>
            <a:ext cx="1371600" cy="1234440"/>
          </a:xfrm>
          <a:prstGeom prst="rect">
            <a:avLst/>
          </a:prstGeom>
          <a:solidFill>
            <a:srgbClr val="2E75B6"/>
          </a:solidFill>
          <a:ln/>
        </p:spPr>
      </p:sp>
      <p:sp>
        <p:nvSpPr>
          <p:cNvPr id="5" name="Text 3"/>
          <p:cNvSpPr/>
          <p:nvPr/>
        </p:nvSpPr>
        <p:spPr>
          <a:xfrm>
            <a:off x="274320" y="758952"/>
            <a:ext cx="1371600" cy="502920"/>
          </a:xfrm>
          <a:prstGeom prst="rect">
            <a:avLst/>
          </a:prstGeom>
          <a:noFill/>
          <a:ln/>
        </p:spPr>
        <p:txBody>
          <a:bodyPr wrap="square" rtlCol="0" anchor="ctr"/>
          <a:lstStyle/>
          <a:p>
            <a:pPr algn="ctr" indent="0" marL="0">
              <a:buNone/>
            </a:pPr>
            <a:r>
              <a:rPr lang="en-US" sz="1300" b="1" dirty="0">
                <a:solidFill>
                  <a:srgbClr val="FFFFFF"/>
                </a:solidFill>
              </a:rPr>
              <a:t>Layer 1</a:t>
            </a:r>
            <a:endParaRPr lang="en-US" sz="1300" dirty="0"/>
          </a:p>
        </p:txBody>
      </p:sp>
      <p:sp>
        <p:nvSpPr>
          <p:cNvPr id="6" name="Text 4"/>
          <p:cNvSpPr/>
          <p:nvPr/>
        </p:nvSpPr>
        <p:spPr>
          <a:xfrm>
            <a:off x="1783080" y="768096"/>
            <a:ext cx="6949440" cy="320040"/>
          </a:xfrm>
          <a:prstGeom prst="rect">
            <a:avLst/>
          </a:prstGeom>
          <a:noFill/>
          <a:ln/>
        </p:spPr>
        <p:txBody>
          <a:bodyPr wrap="square" lIns="0" tIns="0" rIns="0" bIns="0" rtlCol="0" anchor="ctr"/>
          <a:lstStyle/>
          <a:p>
            <a:pPr indent="0" marL="0">
              <a:buNone/>
            </a:pPr>
            <a:r>
              <a:rPr lang="en-US" sz="1200" b="1" dirty="0">
                <a:solidFill>
                  <a:srgbClr val="2E75B6"/>
                </a:solidFill>
              </a:rPr>
              <a:t>Mental Health Integration in Primary Care</a:t>
            </a:r>
            <a:endParaRPr lang="en-US" sz="1200" dirty="0"/>
          </a:p>
        </p:txBody>
      </p:sp>
      <p:sp>
        <p:nvSpPr>
          <p:cNvPr id="7" name="Text 5"/>
          <p:cNvSpPr/>
          <p:nvPr/>
        </p:nvSpPr>
        <p:spPr>
          <a:xfrm>
            <a:off x="1783080" y="1133856"/>
            <a:ext cx="6949440" cy="502920"/>
          </a:xfrm>
          <a:prstGeom prst="rect">
            <a:avLst/>
          </a:prstGeom>
          <a:noFill/>
          <a:ln/>
        </p:spPr>
        <p:txBody>
          <a:bodyPr wrap="square" lIns="0" tIns="0" rIns="0" bIns="0" rtlCol="0" anchor="ctr"/>
          <a:lstStyle/>
          <a:p>
            <a:pPr indent="0" marL="0">
              <a:buNone/>
            </a:pPr>
            <a:r>
              <a:rPr lang="en-US" sz="1000" dirty="0">
                <a:solidFill>
                  <a:srgbClr val="444444"/>
                </a:solidFill>
              </a:rPr>
              <a:t>CoCM + Blueprint MHI pilot: behavioral health care managers embedded in PCMH practices. PHQ-9/GAD-7 screening. Brief intervention. 80% of Blueprint administrative entities increased CHT staffing in MHI pilot.</a:t>
            </a:r>
            <a:endParaRPr lang="en-US" sz="1000" dirty="0"/>
          </a:p>
        </p:txBody>
      </p:sp>
      <p:sp>
        <p:nvSpPr>
          <p:cNvPr id="8" name="Text 6"/>
          <p:cNvSpPr/>
          <p:nvPr/>
        </p:nvSpPr>
        <p:spPr>
          <a:xfrm>
            <a:off x="1783080" y="1673352"/>
            <a:ext cx="6949440" cy="219456"/>
          </a:xfrm>
          <a:prstGeom prst="rect">
            <a:avLst/>
          </a:prstGeom>
          <a:noFill/>
          <a:ln/>
        </p:spPr>
        <p:txBody>
          <a:bodyPr wrap="square" lIns="0" tIns="0" rIns="0" bIns="0" rtlCol="0" anchor="ctr"/>
          <a:lstStyle/>
          <a:p>
            <a:pPr indent="0" marL="0">
              <a:buNone/>
            </a:pPr>
            <a:r>
              <a:rPr lang="en-US" sz="950" b="1" i="1" dirty="0">
                <a:solidFill>
                  <a:srgbClr val="2E75B6"/>
                </a:solidFill>
              </a:rPr>
              <a:t>Funding vehicle: AHEAD EAST Fund (permanent MHI funding) + Blueprint PCMH</a:t>
            </a:r>
            <a:endParaRPr lang="en-US" sz="950" dirty="0"/>
          </a:p>
        </p:txBody>
      </p:sp>
      <p:sp>
        <p:nvSpPr>
          <p:cNvPr id="9" name="Shape 7"/>
          <p:cNvSpPr/>
          <p:nvPr/>
        </p:nvSpPr>
        <p:spPr>
          <a:xfrm>
            <a:off x="274320" y="2148840"/>
            <a:ext cx="8595360" cy="1234440"/>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0" name="Shape 8"/>
          <p:cNvSpPr/>
          <p:nvPr/>
        </p:nvSpPr>
        <p:spPr>
          <a:xfrm>
            <a:off x="274320" y="2148840"/>
            <a:ext cx="1371600" cy="1234440"/>
          </a:xfrm>
          <a:prstGeom prst="rect">
            <a:avLst/>
          </a:prstGeom>
          <a:solidFill>
            <a:srgbClr val="0D5F6B"/>
          </a:solidFill>
          <a:ln/>
        </p:spPr>
      </p:sp>
      <p:sp>
        <p:nvSpPr>
          <p:cNvPr id="11" name="Text 9"/>
          <p:cNvSpPr/>
          <p:nvPr/>
        </p:nvSpPr>
        <p:spPr>
          <a:xfrm>
            <a:off x="274320" y="2194560"/>
            <a:ext cx="1371600" cy="502920"/>
          </a:xfrm>
          <a:prstGeom prst="rect">
            <a:avLst/>
          </a:prstGeom>
          <a:noFill/>
          <a:ln/>
        </p:spPr>
        <p:txBody>
          <a:bodyPr wrap="square" rtlCol="0" anchor="ctr"/>
          <a:lstStyle/>
          <a:p>
            <a:pPr algn="ctr" indent="0" marL="0">
              <a:buNone/>
            </a:pPr>
            <a:r>
              <a:rPr lang="en-US" sz="1300" b="1" dirty="0">
                <a:solidFill>
                  <a:srgbClr val="FFFFFF"/>
                </a:solidFill>
              </a:rPr>
              <a:t>Layer 2</a:t>
            </a:r>
            <a:endParaRPr lang="en-US" sz="1300" dirty="0"/>
          </a:p>
        </p:txBody>
      </p:sp>
      <p:sp>
        <p:nvSpPr>
          <p:cNvPr id="12" name="Text 10"/>
          <p:cNvSpPr/>
          <p:nvPr/>
        </p:nvSpPr>
        <p:spPr>
          <a:xfrm>
            <a:off x="1783080" y="2203704"/>
            <a:ext cx="6949440" cy="320040"/>
          </a:xfrm>
          <a:prstGeom prst="rect">
            <a:avLst/>
          </a:prstGeom>
          <a:noFill/>
          <a:ln/>
        </p:spPr>
        <p:txBody>
          <a:bodyPr wrap="square" lIns="0" tIns="0" rIns="0" bIns="0" rtlCol="0" anchor="ctr"/>
          <a:lstStyle/>
          <a:p>
            <a:pPr indent="0" marL="0">
              <a:buNone/>
            </a:pPr>
            <a:r>
              <a:rPr lang="en-US" sz="1200" b="1" dirty="0">
                <a:solidFill>
                  <a:srgbClr val="0D5F6B"/>
                </a:solidFill>
              </a:rPr>
              <a:t>Certified Community-Based integrated Health Centers (CCBHCs)</a:t>
            </a:r>
            <a:endParaRPr lang="en-US" sz="1200" dirty="0"/>
          </a:p>
        </p:txBody>
      </p:sp>
      <p:sp>
        <p:nvSpPr>
          <p:cNvPr id="13" name="Text 11"/>
          <p:cNvSpPr/>
          <p:nvPr/>
        </p:nvSpPr>
        <p:spPr>
          <a:xfrm>
            <a:off x="1783080" y="2569464"/>
            <a:ext cx="6949440" cy="502920"/>
          </a:xfrm>
          <a:prstGeom prst="rect">
            <a:avLst/>
          </a:prstGeom>
          <a:noFill/>
          <a:ln/>
        </p:spPr>
        <p:txBody>
          <a:bodyPr wrap="square" lIns="0" tIns="0" rIns="0" bIns="0" rtlCol="0" anchor="ctr"/>
          <a:lstStyle/>
          <a:p>
            <a:pPr indent="0" marL="0">
              <a:buNone/>
            </a:pPr>
            <a:r>
              <a:rPr lang="en-US" sz="1000" dirty="0">
                <a:solidFill>
                  <a:srgbClr val="444444"/>
                </a:solidFill>
              </a:rPr>
              <a:t>Vermont CCBHC Demonstration State since 2024. 2 operational as of 2025. 5 new entities by July 2026 (RHT Program). Serve all patients regardless of insurance status. Comprehensive behavioral health including crisis intervention, SUD treatment, care coordination.</a:t>
            </a:r>
            <a:endParaRPr lang="en-US" sz="1000" dirty="0"/>
          </a:p>
        </p:txBody>
      </p:sp>
      <p:sp>
        <p:nvSpPr>
          <p:cNvPr id="14" name="Text 12"/>
          <p:cNvSpPr/>
          <p:nvPr/>
        </p:nvSpPr>
        <p:spPr>
          <a:xfrm>
            <a:off x="1783080" y="3108960"/>
            <a:ext cx="6949440" cy="219456"/>
          </a:xfrm>
          <a:prstGeom prst="rect">
            <a:avLst/>
          </a:prstGeom>
          <a:noFill/>
          <a:ln/>
        </p:spPr>
        <p:txBody>
          <a:bodyPr wrap="square" lIns="0" tIns="0" rIns="0" bIns="0" rtlCol="0" anchor="ctr"/>
          <a:lstStyle/>
          <a:p>
            <a:pPr indent="0" marL="0">
              <a:buNone/>
            </a:pPr>
            <a:r>
              <a:rPr lang="en-US" sz="950" b="1" i="1" dirty="0">
                <a:solidFill>
                  <a:srgbClr val="0D5F6B"/>
                </a:solidFill>
              </a:rPr>
              <a:t>Funding vehicle: CCBHC Demonstration enhanced Medicaid + RHT Program grants</a:t>
            </a:r>
            <a:endParaRPr lang="en-US" sz="950" dirty="0"/>
          </a:p>
        </p:txBody>
      </p:sp>
      <p:sp>
        <p:nvSpPr>
          <p:cNvPr id="15" name="Shape 13"/>
          <p:cNvSpPr/>
          <p:nvPr/>
        </p:nvSpPr>
        <p:spPr>
          <a:xfrm>
            <a:off x="274320" y="3584448"/>
            <a:ext cx="8595360" cy="1234440"/>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16" name="Shape 14"/>
          <p:cNvSpPr/>
          <p:nvPr/>
        </p:nvSpPr>
        <p:spPr>
          <a:xfrm>
            <a:off x="274320" y="3584448"/>
            <a:ext cx="1371600" cy="1234440"/>
          </a:xfrm>
          <a:prstGeom prst="rect">
            <a:avLst/>
          </a:prstGeom>
          <a:solidFill>
            <a:srgbClr val="1F5C8B"/>
          </a:solidFill>
          <a:ln/>
        </p:spPr>
      </p:sp>
      <p:sp>
        <p:nvSpPr>
          <p:cNvPr id="17" name="Text 15"/>
          <p:cNvSpPr/>
          <p:nvPr/>
        </p:nvSpPr>
        <p:spPr>
          <a:xfrm>
            <a:off x="274320" y="3630168"/>
            <a:ext cx="1371600" cy="502920"/>
          </a:xfrm>
          <a:prstGeom prst="rect">
            <a:avLst/>
          </a:prstGeom>
          <a:noFill/>
          <a:ln/>
        </p:spPr>
        <p:txBody>
          <a:bodyPr wrap="square" rtlCol="0" anchor="ctr"/>
          <a:lstStyle/>
          <a:p>
            <a:pPr algn="ctr" indent="0" marL="0">
              <a:buNone/>
            </a:pPr>
            <a:r>
              <a:rPr lang="en-US" sz="1300" b="1" dirty="0">
                <a:solidFill>
                  <a:srgbClr val="FFFFFF"/>
                </a:solidFill>
              </a:rPr>
              <a:t>Layer 3</a:t>
            </a:r>
            <a:endParaRPr lang="en-US" sz="1300" dirty="0"/>
          </a:p>
        </p:txBody>
      </p:sp>
      <p:sp>
        <p:nvSpPr>
          <p:cNvPr id="18" name="Text 16"/>
          <p:cNvSpPr/>
          <p:nvPr/>
        </p:nvSpPr>
        <p:spPr>
          <a:xfrm>
            <a:off x="1783080" y="3639312"/>
            <a:ext cx="6949440" cy="320040"/>
          </a:xfrm>
          <a:prstGeom prst="rect">
            <a:avLst/>
          </a:prstGeom>
          <a:noFill/>
          <a:ln/>
        </p:spPr>
        <p:txBody>
          <a:bodyPr wrap="square" lIns="0" tIns="0" rIns="0" bIns="0" rtlCol="0" anchor="ctr"/>
          <a:lstStyle/>
          <a:p>
            <a:pPr indent="0" marL="0">
              <a:buNone/>
            </a:pPr>
            <a:r>
              <a:rPr lang="en-US" sz="1200" b="1" dirty="0">
                <a:solidFill>
                  <a:srgbClr val="1F5C8B"/>
                </a:solidFill>
              </a:rPr>
              <a:t>Crisis System and Acute Behavioral Health</a:t>
            </a:r>
            <a:endParaRPr lang="en-US" sz="1200" dirty="0"/>
          </a:p>
        </p:txBody>
      </p:sp>
      <p:sp>
        <p:nvSpPr>
          <p:cNvPr id="19" name="Text 17"/>
          <p:cNvSpPr/>
          <p:nvPr/>
        </p:nvSpPr>
        <p:spPr>
          <a:xfrm>
            <a:off x="1783080" y="4005072"/>
            <a:ext cx="6949440" cy="502920"/>
          </a:xfrm>
          <a:prstGeom prst="rect">
            <a:avLst/>
          </a:prstGeom>
          <a:noFill/>
          <a:ln/>
        </p:spPr>
        <p:txBody>
          <a:bodyPr wrap="square" lIns="0" tIns="0" rIns="0" bIns="0" rtlCol="0" anchor="ctr"/>
          <a:lstStyle/>
          <a:p>
            <a:pPr indent="0" marL="0">
              <a:buNone/>
            </a:pPr>
            <a:r>
              <a:rPr lang="en-US" sz="1000" dirty="0">
                <a:solidFill>
                  <a:srgbClr val="444444"/>
                </a:solidFill>
              </a:rPr>
              <a:t>Mobile crisis (operational January 2024). 988 Suicide and Crisis Lifeline centralized dispatch. 6 Designated Hospitals with inpatient psychiatric units. Brattleboro Retreat: primary psychiatric hospital. Hospital-level youth MH beds added under Act 167 actions.</a:t>
            </a:r>
            <a:endParaRPr lang="en-US" sz="1000" dirty="0"/>
          </a:p>
        </p:txBody>
      </p:sp>
      <p:sp>
        <p:nvSpPr>
          <p:cNvPr id="20" name="Text 18"/>
          <p:cNvSpPr/>
          <p:nvPr/>
        </p:nvSpPr>
        <p:spPr>
          <a:xfrm>
            <a:off x="1783080" y="4544568"/>
            <a:ext cx="6949440" cy="219456"/>
          </a:xfrm>
          <a:prstGeom prst="rect">
            <a:avLst/>
          </a:prstGeom>
          <a:noFill/>
          <a:ln/>
        </p:spPr>
        <p:txBody>
          <a:bodyPr wrap="square" lIns="0" tIns="0" rIns="0" bIns="0" rtlCol="0" anchor="ctr"/>
          <a:lstStyle/>
          <a:p>
            <a:pPr indent="0" marL="0">
              <a:buNone/>
            </a:pPr>
            <a:r>
              <a:rPr lang="en-US" sz="950" b="1" i="1" dirty="0">
                <a:solidFill>
                  <a:srgbClr val="1F5C8B"/>
                </a:solidFill>
              </a:rPr>
              <a:t>Funding vehicle: State funding + Medicaid + Act 167 mandatory actions</a:t>
            </a:r>
            <a:endParaRPr lang="en-US" sz="950" dirty="0"/>
          </a:p>
        </p:txBody>
      </p:sp>
      <p:sp>
        <p:nvSpPr>
          <p:cNvPr id="21" name="Text 1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10 — Source: Vermont DMH CCBHC Program; Vermont Blueprint MHI Evaluation; AHS Transformation Reports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11</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AHS Restructuring Roadmap</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THE FOUR AHS ORGANIZATIONAL GAPS OLIVER WYMAN IDENTIFIED</a:t>
            </a:r>
            <a:endParaRPr lang="en-US" sz="1800" dirty="0"/>
          </a:p>
        </p:txBody>
      </p:sp>
      <p:sp>
        <p:nvSpPr>
          <p:cNvPr id="3" name="Shape 1"/>
          <p:cNvSpPr/>
          <p:nvPr/>
        </p:nvSpPr>
        <p:spPr>
          <a:xfrm>
            <a:off x="274320" y="713232"/>
            <a:ext cx="4023360" cy="1920240"/>
          </a:xfrm>
          <a:prstGeom prst="rect">
            <a:avLst/>
          </a:prstGeom>
          <a:solidFill>
            <a:srgbClr val="FFFFFF"/>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13232"/>
            <a:ext cx="4023360" cy="347472"/>
          </a:xfrm>
          <a:prstGeom prst="rect">
            <a:avLst/>
          </a:prstGeom>
          <a:solidFill>
            <a:srgbClr val="8B1A1A"/>
          </a:solidFill>
          <a:ln/>
        </p:spPr>
      </p:sp>
      <p:sp>
        <p:nvSpPr>
          <p:cNvPr id="5" name="Text 3"/>
          <p:cNvSpPr/>
          <p:nvPr/>
        </p:nvSpPr>
        <p:spPr>
          <a:xfrm>
            <a:off x="274320" y="713232"/>
            <a:ext cx="4023360" cy="347472"/>
          </a:xfrm>
          <a:prstGeom prst="rect">
            <a:avLst/>
          </a:prstGeom>
          <a:noFill/>
          <a:ln/>
        </p:spPr>
        <p:txBody>
          <a:bodyPr wrap="square" rtlCol="0" anchor="ctr"/>
          <a:lstStyle/>
          <a:p>
            <a:pPr algn="ctr" indent="0" marL="0">
              <a:buNone/>
            </a:pPr>
            <a:r>
              <a:rPr lang="en-US" sz="1100" b="1" dirty="0">
                <a:solidFill>
                  <a:srgbClr val="FFFFFF"/>
                </a:solidFill>
              </a:rPr>
              <a:t>Gap 1: Program-Silo Structure</a:t>
            </a:r>
            <a:endParaRPr lang="en-US" sz="1100" dirty="0"/>
          </a:p>
        </p:txBody>
      </p:sp>
      <p:sp>
        <p:nvSpPr>
          <p:cNvPr id="6" name="Text 4"/>
          <p:cNvSpPr/>
          <p:nvPr/>
        </p:nvSpPr>
        <p:spPr>
          <a:xfrm>
            <a:off x="384048" y="1115568"/>
            <a:ext cx="3794760" cy="777240"/>
          </a:xfrm>
          <a:prstGeom prst="rect">
            <a:avLst/>
          </a:prstGeom>
          <a:noFill/>
          <a:ln/>
        </p:spPr>
        <p:txBody>
          <a:bodyPr wrap="square" lIns="0" tIns="0" rIns="0" bIns="0" rtlCol="0" anchor="ctr"/>
          <a:lstStyle/>
          <a:p>
            <a:pPr indent="0" marL="0">
              <a:buNone/>
            </a:pPr>
            <a:r>
              <a:rPr lang="en-US" sz="950" dirty="0">
                <a:solidFill>
                  <a:srgbClr val="1A1A1A"/>
                </a:solidFill>
              </a:rPr>
              <a:t>Problem: Organized around program types (Medicaid, mental health, SUD, aging), not geographic service areas. A hospital working on housing + MH + primary care must navigate 4+ AHS programs.</a:t>
            </a:r>
            <a:endParaRPr lang="en-US" sz="950" dirty="0"/>
          </a:p>
        </p:txBody>
      </p:sp>
      <p:sp>
        <p:nvSpPr>
          <p:cNvPr id="7" name="Text 5"/>
          <p:cNvSpPr/>
          <p:nvPr/>
        </p:nvSpPr>
        <p:spPr>
          <a:xfrm>
            <a:off x="384048" y="1938528"/>
            <a:ext cx="3794760" cy="621792"/>
          </a:xfrm>
          <a:prstGeom prst="rect">
            <a:avLst/>
          </a:prstGeom>
          <a:noFill/>
          <a:ln/>
        </p:spPr>
        <p:txBody>
          <a:bodyPr wrap="square" lIns="0" tIns="0" rIns="0" bIns="0" rtlCol="0" anchor="ctr"/>
          <a:lstStyle/>
          <a:p>
            <a:pPr indent="0" marL="0">
              <a:buNone/>
            </a:pPr>
            <a:r>
              <a:rPr lang="en-US" sz="950" b="1" dirty="0">
                <a:solidFill>
                  <a:srgbClr val="8B1A1A"/>
                </a:solidFill>
              </a:rPr>
              <a:t>Fix: Designate HSA-level AHS Coordinators who convene all relevant programs around each hospital's transformation plan.</a:t>
            </a:r>
            <a:endParaRPr lang="en-US" sz="950" dirty="0"/>
          </a:p>
        </p:txBody>
      </p:sp>
      <p:sp>
        <p:nvSpPr>
          <p:cNvPr id="8" name="Shape 6"/>
          <p:cNvSpPr/>
          <p:nvPr/>
        </p:nvSpPr>
        <p:spPr>
          <a:xfrm>
            <a:off x="4572000" y="713232"/>
            <a:ext cx="4023360" cy="1920240"/>
          </a:xfrm>
          <a:prstGeom prst="rect">
            <a:avLst/>
          </a:prstGeom>
          <a:solidFill>
            <a:srgbClr val="FFFFFF"/>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9" name="Shape 7"/>
          <p:cNvSpPr/>
          <p:nvPr/>
        </p:nvSpPr>
        <p:spPr>
          <a:xfrm>
            <a:off x="4572000" y="713232"/>
            <a:ext cx="4023360" cy="347472"/>
          </a:xfrm>
          <a:prstGeom prst="rect">
            <a:avLst/>
          </a:prstGeom>
          <a:solidFill>
            <a:srgbClr val="7B4A00"/>
          </a:solidFill>
          <a:ln/>
        </p:spPr>
      </p:sp>
      <p:sp>
        <p:nvSpPr>
          <p:cNvPr id="10" name="Text 8"/>
          <p:cNvSpPr/>
          <p:nvPr/>
        </p:nvSpPr>
        <p:spPr>
          <a:xfrm>
            <a:off x="4572000" y="713232"/>
            <a:ext cx="4023360" cy="347472"/>
          </a:xfrm>
          <a:prstGeom prst="rect">
            <a:avLst/>
          </a:prstGeom>
          <a:noFill/>
          <a:ln/>
        </p:spPr>
        <p:txBody>
          <a:bodyPr wrap="square" rtlCol="0" anchor="ctr"/>
          <a:lstStyle/>
          <a:p>
            <a:pPr algn="ctr" indent="0" marL="0">
              <a:buNone/>
            </a:pPr>
            <a:r>
              <a:rPr lang="en-US" sz="1100" b="1" dirty="0">
                <a:solidFill>
                  <a:srgbClr val="FFFFFF"/>
                </a:solidFill>
              </a:rPr>
              <a:t>Gap 2: No Planning &amp; Effectiveness Function</a:t>
            </a:r>
            <a:endParaRPr lang="en-US" sz="1100" dirty="0"/>
          </a:p>
        </p:txBody>
      </p:sp>
      <p:sp>
        <p:nvSpPr>
          <p:cNvPr id="11" name="Text 9"/>
          <p:cNvSpPr/>
          <p:nvPr/>
        </p:nvSpPr>
        <p:spPr>
          <a:xfrm>
            <a:off x="4681728" y="1115568"/>
            <a:ext cx="3794760" cy="777240"/>
          </a:xfrm>
          <a:prstGeom prst="rect">
            <a:avLst/>
          </a:prstGeom>
          <a:noFill/>
          <a:ln/>
        </p:spPr>
        <p:txBody>
          <a:bodyPr wrap="square" lIns="0" tIns="0" rIns="0" bIns="0" rtlCol="0" anchor="ctr"/>
          <a:lstStyle/>
          <a:p>
            <a:pPr indent="0" marL="0">
              <a:buNone/>
            </a:pPr>
            <a:r>
              <a:rPr lang="en-US" sz="950" dirty="0">
                <a:solidFill>
                  <a:srgbClr val="1A1A1A"/>
                </a:solidFill>
              </a:rPr>
              <a:t>Problem: No analytical unit to model financial/access impact of service changes, evaluate hospital proposals, or monitor whether transformation investments are producing results.</a:t>
            </a:r>
            <a:endParaRPr lang="en-US" sz="950" dirty="0"/>
          </a:p>
        </p:txBody>
      </p:sp>
      <p:sp>
        <p:nvSpPr>
          <p:cNvPr id="12" name="Text 10"/>
          <p:cNvSpPr/>
          <p:nvPr/>
        </p:nvSpPr>
        <p:spPr>
          <a:xfrm>
            <a:off x="4681728" y="1938528"/>
            <a:ext cx="3794760" cy="621792"/>
          </a:xfrm>
          <a:prstGeom prst="rect">
            <a:avLst/>
          </a:prstGeom>
          <a:noFill/>
          <a:ln/>
        </p:spPr>
        <p:txBody>
          <a:bodyPr wrap="square" lIns="0" tIns="0" rIns="0" bIns="0" rtlCol="0" anchor="ctr"/>
          <a:lstStyle/>
          <a:p>
            <a:pPr indent="0" marL="0">
              <a:buNone/>
            </a:pPr>
            <a:r>
              <a:rPr lang="en-US" sz="950" b="1" dirty="0">
                <a:solidFill>
                  <a:srgbClr val="7B4A00"/>
                </a:solidFill>
              </a:rPr>
              <a:t>Fix: Establish Division of Planning and Effectiveness. Joint AHS-GMCB analytics vendor (procurement underway 2025-2026).</a:t>
            </a:r>
            <a:endParaRPr lang="en-US" sz="950" dirty="0"/>
          </a:p>
        </p:txBody>
      </p:sp>
      <p:sp>
        <p:nvSpPr>
          <p:cNvPr id="13" name="Shape 11"/>
          <p:cNvSpPr/>
          <p:nvPr/>
        </p:nvSpPr>
        <p:spPr>
          <a:xfrm>
            <a:off x="274320" y="2852928"/>
            <a:ext cx="4023360" cy="1920240"/>
          </a:xfrm>
          <a:prstGeom prst="rect">
            <a:avLst/>
          </a:prstGeom>
          <a:solidFill>
            <a:srgbClr val="FFFFFF"/>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14" name="Shape 12"/>
          <p:cNvSpPr/>
          <p:nvPr/>
        </p:nvSpPr>
        <p:spPr>
          <a:xfrm>
            <a:off x="274320" y="2852928"/>
            <a:ext cx="4023360" cy="347472"/>
          </a:xfrm>
          <a:prstGeom prst="rect">
            <a:avLst/>
          </a:prstGeom>
          <a:solidFill>
            <a:srgbClr val="7B4A00"/>
          </a:solidFill>
          <a:ln/>
        </p:spPr>
      </p:sp>
      <p:sp>
        <p:nvSpPr>
          <p:cNvPr id="15" name="Text 13"/>
          <p:cNvSpPr/>
          <p:nvPr/>
        </p:nvSpPr>
        <p:spPr>
          <a:xfrm>
            <a:off x="274320" y="2852928"/>
            <a:ext cx="4023360" cy="347472"/>
          </a:xfrm>
          <a:prstGeom prst="rect">
            <a:avLst/>
          </a:prstGeom>
          <a:noFill/>
          <a:ln/>
        </p:spPr>
        <p:txBody>
          <a:bodyPr wrap="square" rtlCol="0" anchor="ctr"/>
          <a:lstStyle/>
          <a:p>
            <a:pPr algn="ctr" indent="0" marL="0">
              <a:buNone/>
            </a:pPr>
            <a:r>
              <a:rPr lang="en-US" sz="1100" b="1" dirty="0">
                <a:solidFill>
                  <a:srgbClr val="FFFFFF"/>
                </a:solidFill>
              </a:rPr>
              <a:t>Gap 3: Under-Resourced Transformation Mgmt</a:t>
            </a:r>
            <a:endParaRPr lang="en-US" sz="1100" dirty="0"/>
          </a:p>
        </p:txBody>
      </p:sp>
      <p:sp>
        <p:nvSpPr>
          <p:cNvPr id="16" name="Text 14"/>
          <p:cNvSpPr/>
          <p:nvPr/>
        </p:nvSpPr>
        <p:spPr>
          <a:xfrm>
            <a:off x="384048" y="3255264"/>
            <a:ext cx="3794760" cy="777240"/>
          </a:xfrm>
          <a:prstGeom prst="rect">
            <a:avLst/>
          </a:prstGeom>
          <a:noFill/>
          <a:ln/>
        </p:spPr>
        <p:txBody>
          <a:bodyPr wrap="square" lIns="0" tIns="0" rIns="0" bIns="0" rtlCol="0" anchor="ctr"/>
          <a:lstStyle/>
          <a:p>
            <a:pPr indent="0" marL="0">
              <a:buNone/>
            </a:pPr>
            <a:r>
              <a:rPr lang="en-US" sz="950" dirty="0">
                <a:solidFill>
                  <a:srgbClr val="1A1A1A"/>
                </a:solidFill>
              </a:rPr>
              <a:t>Problem: AHS must simultaneously manage AHEAD, 14 hospital plans, RHT Program ($195M), GMCB coordination, and monthly legislative reporting. Insufficient staff for this portfolio.</a:t>
            </a:r>
            <a:endParaRPr lang="en-US" sz="950" dirty="0"/>
          </a:p>
        </p:txBody>
      </p:sp>
      <p:sp>
        <p:nvSpPr>
          <p:cNvPr id="17" name="Text 15"/>
          <p:cNvSpPr/>
          <p:nvPr/>
        </p:nvSpPr>
        <p:spPr>
          <a:xfrm>
            <a:off x="384048" y="4078224"/>
            <a:ext cx="3794760" cy="621792"/>
          </a:xfrm>
          <a:prstGeom prst="rect">
            <a:avLst/>
          </a:prstGeom>
          <a:noFill/>
          <a:ln/>
        </p:spPr>
        <p:txBody>
          <a:bodyPr wrap="square" lIns="0" tIns="0" rIns="0" bIns="0" rtlCol="0" anchor="ctr"/>
          <a:lstStyle/>
          <a:p>
            <a:pPr indent="0" marL="0">
              <a:buNone/>
            </a:pPr>
            <a:r>
              <a:rPr lang="en-US" sz="950" b="1" dirty="0">
                <a:solidFill>
                  <a:srgbClr val="7B4A00"/>
                </a:solidFill>
              </a:rPr>
              <a:t>Fix: Hire dedicated transformation staff using RHT Program funds (explicitly authorized). Establish Project Management Office.</a:t>
            </a:r>
            <a:endParaRPr lang="en-US" sz="950" dirty="0"/>
          </a:p>
        </p:txBody>
      </p:sp>
      <p:sp>
        <p:nvSpPr>
          <p:cNvPr id="18" name="Shape 16"/>
          <p:cNvSpPr/>
          <p:nvPr/>
        </p:nvSpPr>
        <p:spPr>
          <a:xfrm>
            <a:off x="4572000" y="2852928"/>
            <a:ext cx="4023360" cy="192024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9" name="Shape 17"/>
          <p:cNvSpPr/>
          <p:nvPr/>
        </p:nvSpPr>
        <p:spPr>
          <a:xfrm>
            <a:off x="4572000" y="2852928"/>
            <a:ext cx="4023360" cy="347472"/>
          </a:xfrm>
          <a:prstGeom prst="rect">
            <a:avLst/>
          </a:prstGeom>
          <a:solidFill>
            <a:srgbClr val="2E75B6"/>
          </a:solidFill>
          <a:ln/>
        </p:spPr>
      </p:sp>
      <p:sp>
        <p:nvSpPr>
          <p:cNvPr id="20" name="Text 18"/>
          <p:cNvSpPr/>
          <p:nvPr/>
        </p:nvSpPr>
        <p:spPr>
          <a:xfrm>
            <a:off x="4572000" y="2852928"/>
            <a:ext cx="4023360" cy="347472"/>
          </a:xfrm>
          <a:prstGeom prst="rect">
            <a:avLst/>
          </a:prstGeom>
          <a:noFill/>
          <a:ln/>
        </p:spPr>
        <p:txBody>
          <a:bodyPr wrap="square" rtlCol="0" anchor="ctr"/>
          <a:lstStyle/>
          <a:p>
            <a:pPr algn="ctr" indent="0" marL="0">
              <a:buNone/>
            </a:pPr>
            <a:r>
              <a:rPr lang="en-US" sz="1100" b="1" dirty="0">
                <a:solidFill>
                  <a:srgbClr val="FFFFFF"/>
                </a:solidFill>
              </a:rPr>
              <a:t>Gap 4: Fragmented SDOH Integration</a:t>
            </a:r>
            <a:endParaRPr lang="en-US" sz="1100" dirty="0"/>
          </a:p>
        </p:txBody>
      </p:sp>
      <p:sp>
        <p:nvSpPr>
          <p:cNvPr id="21" name="Text 19"/>
          <p:cNvSpPr/>
          <p:nvPr/>
        </p:nvSpPr>
        <p:spPr>
          <a:xfrm>
            <a:off x="4681728" y="3255264"/>
            <a:ext cx="3794760" cy="777240"/>
          </a:xfrm>
          <a:prstGeom prst="rect">
            <a:avLst/>
          </a:prstGeom>
          <a:noFill/>
          <a:ln/>
        </p:spPr>
        <p:txBody>
          <a:bodyPr wrap="square" lIns="0" tIns="0" rIns="0" bIns="0" rtlCol="0" anchor="ctr"/>
          <a:lstStyle/>
          <a:p>
            <a:pPr indent="0" marL="0">
              <a:buNone/>
            </a:pPr>
            <a:r>
              <a:rPr lang="en-US" sz="950" dirty="0">
                <a:solidFill>
                  <a:srgbClr val="1A1A1A"/>
                </a:solidFill>
              </a:rPr>
              <a:t>Problem: Housing, transportation, food assistance programs are separate from healthcare transformation goals. Cannot demonstrate SDOH → healthcare utilization reduction link.</a:t>
            </a:r>
            <a:endParaRPr lang="en-US" sz="950" dirty="0"/>
          </a:p>
        </p:txBody>
      </p:sp>
      <p:sp>
        <p:nvSpPr>
          <p:cNvPr id="22" name="Text 20"/>
          <p:cNvSpPr/>
          <p:nvPr/>
        </p:nvSpPr>
        <p:spPr>
          <a:xfrm>
            <a:off x="4681728" y="4078224"/>
            <a:ext cx="3794760" cy="621792"/>
          </a:xfrm>
          <a:prstGeom prst="rect">
            <a:avLst/>
          </a:prstGeom>
          <a:noFill/>
          <a:ln/>
        </p:spPr>
        <p:txBody>
          <a:bodyPr wrap="square" lIns="0" tIns="0" rIns="0" bIns="0" rtlCol="0" anchor="ctr"/>
          <a:lstStyle/>
          <a:p>
            <a:pPr indent="0" marL="0">
              <a:buNone/>
            </a:pPr>
            <a:r>
              <a:rPr lang="en-US" sz="950" b="1" dirty="0">
                <a:solidFill>
                  <a:srgbClr val="2E75B6"/>
                </a:solidFill>
              </a:rPr>
              <a:t>Fix: Cross-program SDOH integration protocols. HSA Coordinator model links health and social services. VHCURES linkage to social service data.</a:t>
            </a:r>
            <a:endParaRPr lang="en-US" sz="950" dirty="0"/>
          </a:p>
        </p:txBody>
      </p:sp>
      <p:sp>
        <p:nvSpPr>
          <p:cNvPr id="23" name="Text 2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11 — Source: Oliver Wyman Act 167 Report (2024); AHS November 2025 Transformation Report</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THE REDESIGNED AHS: THREE-LEVEL POPULATION HEALTH OPERATING MODEL</a:t>
            </a:r>
            <a:endParaRPr lang="en-US" sz="1700" dirty="0"/>
          </a:p>
        </p:txBody>
      </p:sp>
      <p:sp>
        <p:nvSpPr>
          <p:cNvPr id="3" name="Shape 1"/>
          <p:cNvSpPr/>
          <p:nvPr/>
        </p:nvSpPr>
        <p:spPr>
          <a:xfrm>
            <a:off x="274320" y="749808"/>
            <a:ext cx="8595360" cy="1261872"/>
          </a:xfrm>
          <a:prstGeom prst="rect">
            <a:avLst/>
          </a:prstGeom>
          <a:solidFill>
            <a:srgbClr val="D5E8F0"/>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49808"/>
            <a:ext cx="1737360" cy="1261872"/>
          </a:xfrm>
          <a:prstGeom prst="rect">
            <a:avLst/>
          </a:prstGeom>
          <a:solidFill>
            <a:srgbClr val="1F5C8B"/>
          </a:solidFill>
          <a:ln/>
        </p:spPr>
      </p:sp>
      <p:sp>
        <p:nvSpPr>
          <p:cNvPr id="5" name="Text 3"/>
          <p:cNvSpPr/>
          <p:nvPr/>
        </p:nvSpPr>
        <p:spPr>
          <a:xfrm>
            <a:off x="274320" y="795528"/>
            <a:ext cx="1737360" cy="411480"/>
          </a:xfrm>
          <a:prstGeom prst="rect">
            <a:avLst/>
          </a:prstGeom>
          <a:noFill/>
          <a:ln/>
        </p:spPr>
        <p:txBody>
          <a:bodyPr wrap="square" rtlCol="0" anchor="ctr"/>
          <a:lstStyle/>
          <a:p>
            <a:pPr algn="ctr" indent="0" marL="0">
              <a:buNone/>
            </a:pPr>
            <a:r>
              <a:rPr lang="en-US" sz="1100" b="1" spc="100" kern="0" dirty="0">
                <a:solidFill>
                  <a:srgbClr val="FFFFFF"/>
                </a:solidFill>
              </a:rPr>
              <a:t>Level 1</a:t>
            </a:r>
            <a:endParaRPr lang="en-US" sz="1100" dirty="0"/>
          </a:p>
        </p:txBody>
      </p:sp>
      <p:sp>
        <p:nvSpPr>
          <p:cNvPr id="6" name="Text 4"/>
          <p:cNvSpPr/>
          <p:nvPr/>
        </p:nvSpPr>
        <p:spPr>
          <a:xfrm>
            <a:off x="274320" y="1225296"/>
            <a:ext cx="1737360" cy="713232"/>
          </a:xfrm>
          <a:prstGeom prst="rect">
            <a:avLst/>
          </a:prstGeom>
          <a:noFill/>
          <a:ln/>
        </p:spPr>
        <p:txBody>
          <a:bodyPr wrap="square" rtlCol="0" anchor="ctr"/>
          <a:lstStyle/>
          <a:p>
            <a:pPr algn="ctr" indent="0" marL="0">
              <a:buNone/>
            </a:pPr>
            <a:r>
              <a:rPr lang="en-US" sz="1000" b="1" dirty="0">
                <a:solidFill>
                  <a:srgbClr val="FFFFFF"/>
                </a:solidFill>
              </a:rPr>
              <a:t>STATEWIDE SYSTEM ARCHITECT</a:t>
            </a:r>
            <a:endParaRPr lang="en-US" sz="1000" dirty="0"/>
          </a:p>
        </p:txBody>
      </p:sp>
      <p:sp>
        <p:nvSpPr>
          <p:cNvPr id="7" name="Text 5"/>
          <p:cNvSpPr/>
          <p:nvPr/>
        </p:nvSpPr>
        <p:spPr>
          <a:xfrm>
            <a:off x="2148840" y="841248"/>
            <a:ext cx="6583680" cy="475488"/>
          </a:xfrm>
          <a:prstGeom prst="rect">
            <a:avLst/>
          </a:prstGeom>
          <a:noFill/>
          <a:ln/>
        </p:spPr>
        <p:txBody>
          <a:bodyPr wrap="square" lIns="0" tIns="0" rIns="0" bIns="0" rtlCol="0" anchor="ctr"/>
          <a:lstStyle/>
          <a:p>
            <a:pPr indent="0" marL="0">
              <a:buNone/>
            </a:pPr>
            <a:r>
              <a:rPr lang="en-US" sz="1050" dirty="0">
                <a:solidFill>
                  <a:srgbClr val="1A1A1A"/>
                </a:solidFill>
              </a:rPr>
              <a:t>Strategic direction and six-pillar framework  •  Payment reform trajectory (with GMCB)  •  Capital allocation: RHT, EAST Fund, Act 68 grants</a:t>
            </a:r>
            <a:endParaRPr lang="en-US" sz="1050" dirty="0"/>
          </a:p>
        </p:txBody>
      </p:sp>
      <p:sp>
        <p:nvSpPr>
          <p:cNvPr id="8" name="Text 6"/>
          <p:cNvSpPr/>
          <p:nvPr/>
        </p:nvSpPr>
        <p:spPr>
          <a:xfrm>
            <a:off x="2148840" y="1362456"/>
            <a:ext cx="6583680" cy="566928"/>
          </a:xfrm>
          <a:prstGeom prst="rect">
            <a:avLst/>
          </a:prstGeom>
          <a:noFill/>
          <a:ln/>
        </p:spPr>
        <p:txBody>
          <a:bodyPr wrap="square" lIns="0" tIns="0" rIns="0" bIns="0" rtlCol="0" anchor="ctr"/>
          <a:lstStyle/>
          <a:p>
            <a:pPr indent="0" marL="0">
              <a:buNone/>
            </a:pPr>
            <a:r>
              <a:rPr lang="en-US" sz="1050" dirty="0">
                <a:solidFill>
                  <a:srgbClr val="444444"/>
                </a:solidFill>
              </a:rPr>
              <a:t>Federal relationship management (CMS, HRSA, CMMI)  •  Accountability framework and monthly reporting  •  Statewide Strategic Plan development (Dec 2028)</a:t>
            </a:r>
            <a:endParaRPr lang="en-US" sz="1050" dirty="0"/>
          </a:p>
        </p:txBody>
      </p:sp>
      <p:sp>
        <p:nvSpPr>
          <p:cNvPr id="9" name="Shape 7"/>
          <p:cNvSpPr/>
          <p:nvPr/>
        </p:nvSpPr>
        <p:spPr>
          <a:xfrm>
            <a:off x="274320" y="2167128"/>
            <a:ext cx="8595360" cy="1261872"/>
          </a:xfrm>
          <a:prstGeom prst="rect">
            <a:avLst/>
          </a:prstGeom>
          <a:solidFill>
            <a:srgbClr val="EBF4FA"/>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0" name="Shape 8"/>
          <p:cNvSpPr/>
          <p:nvPr/>
        </p:nvSpPr>
        <p:spPr>
          <a:xfrm>
            <a:off x="274320" y="2167128"/>
            <a:ext cx="1737360" cy="1261872"/>
          </a:xfrm>
          <a:prstGeom prst="rect">
            <a:avLst/>
          </a:prstGeom>
          <a:solidFill>
            <a:srgbClr val="2E75B6"/>
          </a:solidFill>
          <a:ln/>
        </p:spPr>
      </p:sp>
      <p:sp>
        <p:nvSpPr>
          <p:cNvPr id="11" name="Text 9"/>
          <p:cNvSpPr/>
          <p:nvPr/>
        </p:nvSpPr>
        <p:spPr>
          <a:xfrm>
            <a:off x="274320" y="2212848"/>
            <a:ext cx="1737360" cy="411480"/>
          </a:xfrm>
          <a:prstGeom prst="rect">
            <a:avLst/>
          </a:prstGeom>
          <a:noFill/>
          <a:ln/>
        </p:spPr>
        <p:txBody>
          <a:bodyPr wrap="square" rtlCol="0" anchor="ctr"/>
          <a:lstStyle/>
          <a:p>
            <a:pPr algn="ctr" indent="0" marL="0">
              <a:buNone/>
            </a:pPr>
            <a:r>
              <a:rPr lang="en-US" sz="1100" b="1" spc="100" kern="0" dirty="0">
                <a:solidFill>
                  <a:srgbClr val="FFFFFF"/>
                </a:solidFill>
              </a:rPr>
              <a:t>Level 2</a:t>
            </a:r>
            <a:endParaRPr lang="en-US" sz="1100" dirty="0"/>
          </a:p>
        </p:txBody>
      </p:sp>
      <p:sp>
        <p:nvSpPr>
          <p:cNvPr id="12" name="Text 10"/>
          <p:cNvSpPr/>
          <p:nvPr/>
        </p:nvSpPr>
        <p:spPr>
          <a:xfrm>
            <a:off x="274320" y="2642616"/>
            <a:ext cx="1737360" cy="713232"/>
          </a:xfrm>
          <a:prstGeom prst="rect">
            <a:avLst/>
          </a:prstGeom>
          <a:noFill/>
          <a:ln/>
        </p:spPr>
        <p:txBody>
          <a:bodyPr wrap="square" rtlCol="0" anchor="ctr"/>
          <a:lstStyle/>
          <a:p>
            <a:pPr algn="ctr" indent="0" marL="0">
              <a:buNone/>
            </a:pPr>
            <a:r>
              <a:rPr lang="en-US" sz="1000" b="1" dirty="0">
                <a:solidFill>
                  <a:srgbClr val="FFFFFF"/>
                </a:solidFill>
              </a:rPr>
              <a:t>REGIONAL NETWORK CONVENER (14 HSAs)</a:t>
            </a:r>
            <a:endParaRPr lang="en-US" sz="1000" dirty="0"/>
          </a:p>
        </p:txBody>
      </p:sp>
      <p:sp>
        <p:nvSpPr>
          <p:cNvPr id="13" name="Text 11"/>
          <p:cNvSpPr/>
          <p:nvPr/>
        </p:nvSpPr>
        <p:spPr>
          <a:xfrm>
            <a:off x="2148840" y="2258568"/>
            <a:ext cx="6583680" cy="475488"/>
          </a:xfrm>
          <a:prstGeom prst="rect">
            <a:avLst/>
          </a:prstGeom>
          <a:noFill/>
          <a:ln/>
        </p:spPr>
        <p:txBody>
          <a:bodyPr wrap="square" lIns="0" tIns="0" rIns="0" bIns="0" rtlCol="0" anchor="ctr"/>
          <a:lstStyle/>
          <a:p>
            <a:pPr indent="0" marL="0">
              <a:buNone/>
            </a:pPr>
            <a:r>
              <a:rPr lang="en-US" sz="1050" dirty="0">
                <a:solidFill>
                  <a:srgbClr val="1A1A1A"/>
                </a:solidFill>
              </a:rPr>
              <a:t>HSA Coordinator for each of 14 Hospital Service Areas  •  Cross-program coordination: DVHA, DMH, Blueprint, ADS, DAIL  •  Hospital transformation plan integration and support</a:t>
            </a:r>
            <a:endParaRPr lang="en-US" sz="1050" dirty="0"/>
          </a:p>
        </p:txBody>
      </p:sp>
      <p:sp>
        <p:nvSpPr>
          <p:cNvPr id="14" name="Text 12"/>
          <p:cNvSpPr/>
          <p:nvPr/>
        </p:nvSpPr>
        <p:spPr>
          <a:xfrm>
            <a:off x="2148840" y="2779776"/>
            <a:ext cx="6583680" cy="566928"/>
          </a:xfrm>
          <a:prstGeom prst="rect">
            <a:avLst/>
          </a:prstGeom>
          <a:noFill/>
          <a:ln/>
        </p:spPr>
        <p:txBody>
          <a:bodyPr wrap="square" lIns="0" tIns="0" rIns="0" bIns="0" rtlCol="0" anchor="ctr"/>
          <a:lstStyle/>
          <a:p>
            <a:pPr indent="0" marL="0">
              <a:buNone/>
            </a:pPr>
            <a:r>
              <a:rPr lang="en-US" sz="1050" dirty="0">
                <a:solidFill>
                  <a:srgbClr val="444444"/>
                </a:solidFill>
              </a:rPr>
              <a:t>Regional analytics using CIN analytics platform  •  Community engagement: hospitals, FQHCs, CBOs, SDOH programs</a:t>
            </a:r>
            <a:endParaRPr lang="en-US" sz="1050" dirty="0"/>
          </a:p>
        </p:txBody>
      </p:sp>
      <p:sp>
        <p:nvSpPr>
          <p:cNvPr id="15" name="Shape 13"/>
          <p:cNvSpPr/>
          <p:nvPr/>
        </p:nvSpPr>
        <p:spPr>
          <a:xfrm>
            <a:off x="274320" y="3584448"/>
            <a:ext cx="8595360" cy="1261872"/>
          </a:xfrm>
          <a:prstGeom prst="rect">
            <a:avLst/>
          </a:prstGeom>
          <a:solidFill>
            <a:srgbClr val="F5F5F5"/>
          </a:solidFill>
          <a:ln w="12700">
            <a:solidFill>
              <a:srgbClr val="444444"/>
            </a:solidFill>
            <a:prstDash val="solid"/>
          </a:ln>
          <a:effectLst>
            <a:outerShdw sx="100000" sy="100000" kx="0" ky="0" algn="bl" rotWithShape="0" blurRad="76200" dist="25400" dir="16200000">
              <a:srgbClr val="000000">
                <a:alpha val="12000"/>
              </a:srgbClr>
            </a:outerShdw>
          </a:effectLst>
        </p:spPr>
      </p:sp>
      <p:sp>
        <p:nvSpPr>
          <p:cNvPr id="16" name="Shape 14"/>
          <p:cNvSpPr/>
          <p:nvPr/>
        </p:nvSpPr>
        <p:spPr>
          <a:xfrm>
            <a:off x="274320" y="3584448"/>
            <a:ext cx="1737360" cy="1261872"/>
          </a:xfrm>
          <a:prstGeom prst="rect">
            <a:avLst/>
          </a:prstGeom>
          <a:solidFill>
            <a:srgbClr val="444444"/>
          </a:solidFill>
          <a:ln/>
        </p:spPr>
      </p:sp>
      <p:sp>
        <p:nvSpPr>
          <p:cNvPr id="17" name="Text 15"/>
          <p:cNvSpPr/>
          <p:nvPr/>
        </p:nvSpPr>
        <p:spPr>
          <a:xfrm>
            <a:off x="274320" y="3630168"/>
            <a:ext cx="1737360" cy="411480"/>
          </a:xfrm>
          <a:prstGeom prst="rect">
            <a:avLst/>
          </a:prstGeom>
          <a:noFill/>
          <a:ln/>
        </p:spPr>
        <p:txBody>
          <a:bodyPr wrap="square" rtlCol="0" anchor="ctr"/>
          <a:lstStyle/>
          <a:p>
            <a:pPr algn="ctr" indent="0" marL="0">
              <a:buNone/>
            </a:pPr>
            <a:r>
              <a:rPr lang="en-US" sz="1100" b="1" spc="100" kern="0" dirty="0">
                <a:solidFill>
                  <a:srgbClr val="FFFFFF"/>
                </a:solidFill>
              </a:rPr>
              <a:t>Level 3</a:t>
            </a:r>
            <a:endParaRPr lang="en-US" sz="1100" dirty="0"/>
          </a:p>
        </p:txBody>
      </p:sp>
      <p:sp>
        <p:nvSpPr>
          <p:cNvPr id="18" name="Text 16"/>
          <p:cNvSpPr/>
          <p:nvPr/>
        </p:nvSpPr>
        <p:spPr>
          <a:xfrm>
            <a:off x="274320" y="4059936"/>
            <a:ext cx="1737360" cy="713232"/>
          </a:xfrm>
          <a:prstGeom prst="rect">
            <a:avLst/>
          </a:prstGeom>
          <a:noFill/>
          <a:ln/>
        </p:spPr>
        <p:txBody>
          <a:bodyPr wrap="square" rtlCol="0" anchor="ctr"/>
          <a:lstStyle/>
          <a:p>
            <a:pPr algn="ctr" indent="0" marL="0">
              <a:buNone/>
            </a:pPr>
            <a:r>
              <a:rPr lang="en-US" sz="1000" b="1" dirty="0">
                <a:solidFill>
                  <a:srgbClr val="FFFFFF"/>
                </a:solidFill>
              </a:rPr>
              <a:t>PROGRAM DELIVERY OPERATOR</a:t>
            </a:r>
            <a:endParaRPr lang="en-US" sz="1000" dirty="0"/>
          </a:p>
        </p:txBody>
      </p:sp>
      <p:sp>
        <p:nvSpPr>
          <p:cNvPr id="19" name="Text 17"/>
          <p:cNvSpPr/>
          <p:nvPr/>
        </p:nvSpPr>
        <p:spPr>
          <a:xfrm>
            <a:off x="2148840" y="3675888"/>
            <a:ext cx="6583680" cy="475488"/>
          </a:xfrm>
          <a:prstGeom prst="rect">
            <a:avLst/>
          </a:prstGeom>
          <a:noFill/>
          <a:ln/>
        </p:spPr>
        <p:txBody>
          <a:bodyPr wrap="square" lIns="0" tIns="0" rIns="0" bIns="0" rtlCol="0" anchor="ctr"/>
          <a:lstStyle/>
          <a:p>
            <a:pPr indent="0" marL="0">
              <a:buNone/>
            </a:pPr>
            <a:r>
              <a:rPr lang="en-US" sz="1050" dirty="0">
                <a:solidFill>
                  <a:srgbClr val="1A1A1A"/>
                </a:solidFill>
              </a:rPr>
              <a:t>Medicaid (DVHA): AHEAD alignment, global budget Medicaid component  •  Blueprint for Health: PCMH expansion, MHI, CHT network  •  DMH: CCBHC development, crisis system, SUD continuum</a:t>
            </a:r>
            <a:endParaRPr lang="en-US" sz="1050" dirty="0"/>
          </a:p>
        </p:txBody>
      </p:sp>
      <p:sp>
        <p:nvSpPr>
          <p:cNvPr id="20" name="Text 18"/>
          <p:cNvSpPr/>
          <p:nvPr/>
        </p:nvSpPr>
        <p:spPr>
          <a:xfrm>
            <a:off x="2148840" y="4197096"/>
            <a:ext cx="6583680" cy="566928"/>
          </a:xfrm>
          <a:prstGeom prst="rect">
            <a:avLst/>
          </a:prstGeom>
          <a:noFill/>
          <a:ln/>
        </p:spPr>
        <p:txBody>
          <a:bodyPr wrap="square" lIns="0" tIns="0" rIns="0" bIns="0" rtlCol="0" anchor="ctr"/>
          <a:lstStyle/>
          <a:p>
            <a:pPr indent="0" marL="0">
              <a:buNone/>
            </a:pPr>
            <a:r>
              <a:rPr lang="en-US" sz="1050" dirty="0">
                <a:solidFill>
                  <a:srgbClr val="444444"/>
                </a:solidFill>
              </a:rPr>
              <a:t>SDOH programs: cross-program integration via HSA Coordinator layer</a:t>
            </a:r>
            <a:endParaRPr lang="en-US" sz="1050" dirty="0"/>
          </a:p>
        </p:txBody>
      </p:sp>
      <p:sp>
        <p:nvSpPr>
          <p:cNvPr id="21" name="Text 1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11 — Source: Oliver Wyman Act 167 Report; Act 68 of 2025; AHS Health Care Delivery Advisory Committee mandate</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 2028 STATEWIDE STRATEGIC PLAN — PROPOSED STRUCTURE</a:t>
            </a:r>
            <a:endParaRPr lang="en-US" sz="1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4297680"/>
        </p:xfrm>
        <a:graphic>
          <a:graphicData uri="http://schemas.openxmlformats.org/drawingml/2006/table">
            <a:tbl>
              <a:tblPr/>
              <a:tblGrid>
                <a:gridCol w="3657600"/>
                <a:gridCol w="4937760"/>
              </a:tblGrid>
              <a:tr h="365760">
                <a:tc>
                  <a:txBody>
                    <a:bodyPr/>
                    <a:lstStyle/>
                    <a:p>
                      <a:pPr indent="0" marL="0">
                        <a:buNone/>
                      </a:pPr>
                      <a:r>
                        <a:rPr lang="en-US" sz="1100" b="1" dirty="0">
                          <a:solidFill>
                            <a:srgbClr val="FFFFFF"/>
                          </a:solidFill>
                        </a:rPr>
                        <a:t>Plan Section</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Key Commitment Required</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365760">
                <a:tc>
                  <a:txBody>
                    <a:bodyPr/>
                    <a:lstStyle/>
                    <a:p>
                      <a:pPr indent="0" marL="0">
                        <a:buNone/>
                      </a:pPr>
                      <a:r>
                        <a:rPr lang="en-US" sz="950" dirty="0">
                          <a:solidFill>
                            <a:srgbClr val="000000"/>
                          </a:solidFill>
                        </a:rPr>
                        <a:t>Executive Summary — Vermont's crisis, progress, central commitments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Quantified 2031/2035/2040 trajectory — specific, not aspirational</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1: System Context — Updated diagnosis as of 2028 baseline</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Hospital financial positions updated with post-RBP/global budget data</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2: Payment Reform Architecture — RBP status, global budgets, AHEAD</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RBP and global budget dollar savings documented by payer and HSA</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3: Primary Care &amp; Behavioral Health — Blueprint, CCBHC, CoCM</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AHEAD primary care investment % target vs. baseline</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4: Hospital Network &amp; Regionalization — Tier designations, COE status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Confirmed tier designations — all 14 hospitals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5: Data &amp; Technology Infrastructure — VHCURES, HIE, analytics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VHCURES-VHIE integration status; statewide EHR decision</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6: Health Equity Strategy — Geographic, racial, SDOH equity</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Disparity metrics by county — Northeast Kingdom as priority</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7: Workforce Strategy — Supply, deployment, retention</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370 FTE gap plan with RHT workforce investment tracking</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8: AHS Organizational Architecture — HSA Coordinators, PMO</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HSA Coordinator deployments confirmed; PMO operational</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9: Accountability Framework — 17+ Act 167/68 metrics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Performance targets for 2028-2031 on all 17+ measures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365760">
                <a:tc>
                  <a:txBody>
                    <a:bodyPr/>
                    <a:lstStyle/>
                    <a:p>
                      <a:pPr indent="0" marL="0">
                        <a:buNone/>
                      </a:pPr>
                      <a:r>
                        <a:rPr lang="en-US" sz="950" dirty="0">
                          <a:solidFill>
                            <a:srgbClr val="000000"/>
                          </a:solidFill>
                        </a:rPr>
                        <a:t>Section 10: Financial Plan — RHT balance, EAST Fund, projected savings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Capital allocation plan; projected system savings vs. Oliver Wyman baseline</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11 — Source: Act 68 of 2025; HTR six-pillar framework; Health Care Delivery Advisory Committee mandate</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HEALTH CARE DELIVERY ADVISORY COMMITTEE — ACT 68 MANDATE</a:t>
            </a:r>
            <a:endParaRPr lang="en-US" sz="1800" dirty="0"/>
          </a:p>
        </p:txBody>
      </p:sp>
      <p:graphicFrame>
        <p:nvGraphicFramePr>
          <p:cNvPr id="3" name="Chart 0" descr=""/>
          <p:cNvGraphicFramePr/>
          <p:nvPr/>
        </p:nvGraphicFramePr>
        <p:xfrm>
          <a:off x="320040" y="685800"/>
          <a:ext cx="4572000" cy="41148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5212080" y="777240"/>
            <a:ext cx="3566160" cy="347472"/>
          </a:xfrm>
          <a:prstGeom prst="rect">
            <a:avLst/>
          </a:prstGeom>
          <a:noFill/>
          <a:ln/>
        </p:spPr>
        <p:txBody>
          <a:bodyPr wrap="square" lIns="0" tIns="0" rIns="0" bIns="0" rtlCol="0" anchor="ctr"/>
          <a:lstStyle/>
          <a:p>
            <a:pPr indent="0" marL="0">
              <a:buNone/>
            </a:pPr>
            <a:r>
              <a:rPr lang="en-US" sz="1300" b="1" dirty="0">
                <a:solidFill>
                  <a:srgbClr val="1F5C8B"/>
                </a:solidFill>
              </a:rPr>
              <a:t>PRIMARY RESPONSIBILITIES:</a:t>
            </a:r>
            <a:endParaRPr lang="en-US" sz="1300" dirty="0"/>
          </a:p>
        </p:txBody>
      </p:sp>
      <p:sp>
        <p:nvSpPr>
          <p:cNvPr id="5" name="Text 2"/>
          <p:cNvSpPr/>
          <p:nvPr/>
        </p:nvSpPr>
        <p:spPr>
          <a:xfrm>
            <a:off x="5212080" y="1188720"/>
            <a:ext cx="3566160" cy="438912"/>
          </a:xfrm>
          <a:prstGeom prst="rect">
            <a:avLst/>
          </a:prstGeom>
          <a:noFill/>
          <a:ln/>
        </p:spPr>
        <p:txBody>
          <a:bodyPr wrap="square" lIns="0" tIns="0" rIns="0" bIns="0" rtlCol="0" anchor="ctr"/>
          <a:lstStyle/>
          <a:p>
            <a:pPr indent="0" marL="0">
              <a:buNone/>
            </a:pPr>
            <a:r>
              <a:rPr lang="en-US" sz="1050" dirty="0">
                <a:solidFill>
                  <a:srgbClr val="1A1A1A"/>
                </a:solidFill>
              </a:rPr>
              <a:t>• Set affordability benchmarks</a:t>
            </a:r>
            <a:endParaRPr lang="en-US" sz="1050" dirty="0"/>
          </a:p>
        </p:txBody>
      </p:sp>
      <p:sp>
        <p:nvSpPr>
          <p:cNvPr id="6" name="Text 3"/>
          <p:cNvSpPr/>
          <p:nvPr/>
        </p:nvSpPr>
        <p:spPr>
          <a:xfrm>
            <a:off x="5212080" y="1691640"/>
            <a:ext cx="3566160" cy="438912"/>
          </a:xfrm>
          <a:prstGeom prst="rect">
            <a:avLst/>
          </a:prstGeom>
          <a:noFill/>
          <a:ln/>
        </p:spPr>
        <p:txBody>
          <a:bodyPr wrap="square" lIns="0" tIns="0" rIns="0" bIns="0" rtlCol="0" anchor="ctr"/>
          <a:lstStyle/>
          <a:p>
            <a:pPr indent="0" marL="0">
              <a:buNone/>
            </a:pPr>
            <a:r>
              <a:rPr lang="en-US" sz="1050" dirty="0">
                <a:solidFill>
                  <a:srgbClr val="1A1A1A"/>
                </a:solidFill>
              </a:rPr>
              <a:t>• Monitor system performance</a:t>
            </a:r>
            <a:endParaRPr lang="en-US" sz="1050" dirty="0"/>
          </a:p>
        </p:txBody>
      </p:sp>
      <p:sp>
        <p:nvSpPr>
          <p:cNvPr id="7" name="Text 4"/>
          <p:cNvSpPr/>
          <p:nvPr/>
        </p:nvSpPr>
        <p:spPr>
          <a:xfrm>
            <a:off x="5212080" y="2194560"/>
            <a:ext cx="3566160" cy="438912"/>
          </a:xfrm>
          <a:prstGeom prst="rect">
            <a:avLst/>
          </a:prstGeom>
          <a:noFill/>
          <a:ln/>
        </p:spPr>
        <p:txBody>
          <a:bodyPr wrap="square" lIns="0" tIns="0" rIns="0" bIns="0" rtlCol="0" anchor="ctr"/>
          <a:lstStyle/>
          <a:p>
            <a:pPr indent="0" marL="0">
              <a:buNone/>
            </a:pPr>
            <a:r>
              <a:rPr lang="en-US" sz="1050" dirty="0">
                <a:solidFill>
                  <a:srgbClr val="1A1A1A"/>
                </a:solidFill>
              </a:rPr>
              <a:t>• Develop Statewide Strategic Plan (with AHS)</a:t>
            </a:r>
            <a:endParaRPr lang="en-US" sz="1050" dirty="0"/>
          </a:p>
        </p:txBody>
      </p:sp>
      <p:sp>
        <p:nvSpPr>
          <p:cNvPr id="8" name="Text 5"/>
          <p:cNvSpPr/>
          <p:nvPr/>
        </p:nvSpPr>
        <p:spPr>
          <a:xfrm>
            <a:off x="5212080" y="2697480"/>
            <a:ext cx="3566160" cy="438912"/>
          </a:xfrm>
          <a:prstGeom prst="rect">
            <a:avLst/>
          </a:prstGeom>
          <a:noFill/>
          <a:ln/>
        </p:spPr>
        <p:txBody>
          <a:bodyPr wrap="square" lIns="0" tIns="0" rIns="0" bIns="0" rtlCol="0" anchor="ctr"/>
          <a:lstStyle/>
          <a:p>
            <a:pPr indent="0" marL="0">
              <a:buNone/>
            </a:pPr>
            <a:r>
              <a:rPr lang="en-US" sz="1050" dirty="0">
                <a:solidFill>
                  <a:srgbClr val="1A1A1A"/>
                </a:solidFill>
              </a:rPr>
              <a:t>• Incorporate Comprehensive Primary Health Care Steering Committee recommendations</a:t>
            </a:r>
            <a:endParaRPr lang="en-US" sz="1050" dirty="0"/>
          </a:p>
        </p:txBody>
      </p:sp>
      <p:sp>
        <p:nvSpPr>
          <p:cNvPr id="9" name="Text 6"/>
          <p:cNvSpPr/>
          <p:nvPr/>
        </p:nvSpPr>
        <p:spPr>
          <a:xfrm>
            <a:off x="5212080" y="3200400"/>
            <a:ext cx="3566160" cy="438912"/>
          </a:xfrm>
          <a:prstGeom prst="rect">
            <a:avLst/>
          </a:prstGeom>
          <a:noFill/>
          <a:ln/>
        </p:spPr>
        <p:txBody>
          <a:bodyPr wrap="square" lIns="0" tIns="0" rIns="0" bIns="0" rtlCol="0" anchor="ctr"/>
          <a:lstStyle/>
          <a:p>
            <a:pPr indent="0" marL="0">
              <a:buNone/>
            </a:pPr>
            <a:r>
              <a:rPr lang="en-US" sz="1050" dirty="0">
                <a:solidFill>
                  <a:srgbClr val="1A1A1A"/>
                </a:solidFill>
              </a:rPr>
              <a:t>• Advise GMCB on continuous evaluation process</a:t>
            </a:r>
            <a:endParaRPr lang="en-US" sz="1050" dirty="0"/>
          </a:p>
        </p:txBody>
      </p:sp>
      <p:sp>
        <p:nvSpPr>
          <p:cNvPr id="10" name="Text 7"/>
          <p:cNvSpPr/>
          <p:nvPr/>
        </p:nvSpPr>
        <p:spPr>
          <a:xfrm>
            <a:off x="5212080" y="3703320"/>
            <a:ext cx="3566160" cy="438912"/>
          </a:xfrm>
          <a:prstGeom prst="rect">
            <a:avLst/>
          </a:prstGeom>
          <a:noFill/>
          <a:ln/>
        </p:spPr>
        <p:txBody>
          <a:bodyPr wrap="square" lIns="0" tIns="0" rIns="0" bIns="0" rtlCol="0" anchor="ctr"/>
          <a:lstStyle/>
          <a:p>
            <a:pPr indent="0" marL="0">
              <a:buNone/>
            </a:pPr>
            <a:r>
              <a:rPr lang="en-US" sz="1050" dirty="0">
                <a:solidFill>
                  <a:srgbClr val="1A1A1A"/>
                </a:solidFill>
              </a:rPr>
              <a:t>• Provide coordinated recommendations to General Assembly</a:t>
            </a:r>
            <a:endParaRPr lang="en-US" sz="1050" dirty="0"/>
          </a:p>
        </p:txBody>
      </p:sp>
      <p:sp>
        <p:nvSpPr>
          <p:cNvPr id="11" name="Text 8"/>
          <p:cNvSpPr/>
          <p:nvPr/>
        </p:nvSpPr>
        <p:spPr>
          <a:xfrm>
            <a:off x="5212080" y="4206240"/>
            <a:ext cx="3566160" cy="438912"/>
          </a:xfrm>
          <a:prstGeom prst="rect">
            <a:avLst/>
          </a:prstGeom>
          <a:noFill/>
          <a:ln/>
        </p:spPr>
        <p:txBody>
          <a:bodyPr wrap="square" lIns="0" tIns="0" rIns="0" bIns="0" rtlCol="0" anchor="ctr"/>
          <a:lstStyle/>
          <a:p>
            <a:pPr indent="0" marL="0">
              <a:buNone/>
            </a:pPr>
            <a:r>
              <a:rPr lang="en-US" sz="1050" dirty="0">
                <a:solidFill>
                  <a:srgbClr val="1A1A1A"/>
                </a:solidFill>
              </a:rPr>
              <a:t>• Consult with Health Equity Advisory Commission</a:t>
            </a:r>
            <a:endParaRPr lang="en-US" sz="1050" dirty="0"/>
          </a:p>
        </p:txBody>
      </p:sp>
      <p:sp>
        <p:nvSpPr>
          <p:cNvPr id="12" name="Text 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11 — Source: Act 68 of 2025; healthcarereform.vermont.gov/health-care-reform-delivery-advisory-committee</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12</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Equity Pillar — Closing Gaps</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VERMONT'S GEOGRAPHIC EQUITY DISPARITIES — KEY COUNTY DATA</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4251960"/>
        </p:xfrm>
        <a:graphic>
          <a:graphicData uri="http://schemas.openxmlformats.org/drawingml/2006/table">
            <a:tbl>
              <a:tblPr/>
              <a:tblGrid>
                <a:gridCol w="2286000"/>
                <a:gridCol w="1645920"/>
                <a:gridCol w="3108960"/>
                <a:gridCol w="1554480"/>
              </a:tblGrid>
              <a:tr h="457200">
                <a:tc>
                  <a:txBody>
                    <a:bodyPr/>
                    <a:lstStyle/>
                    <a:p>
                      <a:pPr indent="0" marL="0">
                        <a:buNone/>
                      </a:pPr>
                      <a:r>
                        <a:rPr lang="en-US" sz="1100" b="1" dirty="0">
                          <a:solidFill>
                            <a:srgbClr val="FFFFFF"/>
                          </a:solidFill>
                        </a:rPr>
                        <a:t>County / Region</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Uninsured Rate</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Key Disparity</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Priority</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457200">
                <a:tc>
                  <a:txBody>
                    <a:bodyPr/>
                    <a:lstStyle/>
                    <a:p>
                      <a:pPr indent="0" marL="0">
                        <a:buNone/>
                      </a:pPr>
                      <a:r>
                        <a:rPr lang="en-US" sz="1000" dirty="0">
                          <a:solidFill>
                            <a:srgbClr val="000000"/>
                          </a:solidFill>
                        </a:rPr>
                        <a:t>Vermont statewide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~3%</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Baseline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Reference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57200">
                <a:tc>
                  <a:txBody>
                    <a:bodyPr/>
                    <a:lstStyle/>
                    <a:p>
                      <a:pPr indent="0" marL="0">
                        <a:buNone/>
                      </a:pPr>
                      <a:r>
                        <a:rPr lang="en-US" sz="1000" dirty="0">
                          <a:solidFill>
                            <a:srgbClr val="000000"/>
                          </a:solidFill>
                        </a:rPr>
                        <a:t>Essex County (NE Kingdom)</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1000" dirty="0">
                          <a:solidFill>
                            <a:srgbClr val="000000"/>
                          </a:solidFill>
                        </a:rPr>
                        <a:t>~8% — nearly 3× statewide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1000" dirty="0">
                          <a:solidFill>
                            <a:srgbClr val="000000"/>
                          </a:solidFill>
                        </a:rPr>
                        <a:t>Highest uninsurance, most rural, highest poverty</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1000" b="1" dirty="0">
                          <a:solidFill>
                            <a:srgbClr val="8B1A1A"/>
                          </a:solidFill>
                        </a:rPr>
                        <a:t>CRITICAL</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r>
              <a:tr h="457200">
                <a:tc>
                  <a:txBody>
                    <a:bodyPr/>
                    <a:lstStyle/>
                    <a:p>
                      <a:pPr indent="0" marL="0">
                        <a:buNone/>
                      </a:pPr>
                      <a:r>
                        <a:rPr lang="en-US" sz="1000" dirty="0">
                          <a:solidFill>
                            <a:srgbClr val="000000"/>
                          </a:solidFill>
                        </a:rPr>
                        <a:t>Orleans County (NE Kingdom)</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1000" dirty="0">
                          <a:solidFill>
                            <a:srgbClr val="000000"/>
                          </a:solidFill>
                        </a:rPr>
                        <a:t>6-7%</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1000" dirty="0">
                          <a:solidFill>
                            <a:srgbClr val="000000"/>
                          </a:solidFill>
                        </a:rPr>
                        <a:t>Limited provider access; North Country Hospital vulnerable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1000" b="1" dirty="0">
                          <a:solidFill>
                            <a:srgbClr val="8B1A1A"/>
                          </a:solidFill>
                        </a:rPr>
                        <a:t>HIGH</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r>
              <a:tr h="457200">
                <a:tc>
                  <a:txBody>
                    <a:bodyPr/>
                    <a:lstStyle/>
                    <a:p>
                      <a:pPr indent="0" marL="0">
                        <a:buNone/>
                      </a:pPr>
                      <a:r>
                        <a:rPr lang="en-US" sz="1000" dirty="0">
                          <a:solidFill>
                            <a:srgbClr val="000000"/>
                          </a:solidFill>
                        </a:rPr>
                        <a:t>Caledonia County (NE Kingdom)</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5-6%</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NE VT Regional Hospital serves area; financial fragility</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HIGH</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57200">
                <a:tc>
                  <a:txBody>
                    <a:bodyPr/>
                    <a:lstStyle/>
                    <a:p>
                      <a:pPr indent="0" marL="0">
                        <a:buNone/>
                      </a:pPr>
                      <a:r>
                        <a:rPr lang="en-US" sz="1000" dirty="0">
                          <a:solidFill>
                            <a:srgbClr val="000000"/>
                          </a:solidFill>
                        </a:rPr>
                        <a:t>Rutland County</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c>
                  <a:txBody>
                    <a:bodyPr/>
                    <a:lstStyle/>
                    <a:p>
                      <a:pPr indent="0" marL="0">
                        <a:buNone/>
                      </a:pPr>
                      <a:r>
                        <a:rPr lang="en-US" sz="1000" dirty="0">
                          <a:solidFill>
                            <a:srgbClr val="000000"/>
                          </a:solidFill>
                        </a:rPr>
                        <a:t>~3.5%</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c>
                  <a:txBody>
                    <a:bodyPr/>
                    <a:lstStyle/>
                    <a:p>
                      <a:pPr indent="0" marL="0">
                        <a:buNone/>
                      </a:pPr>
                      <a:r>
                        <a:rPr lang="en-US" sz="1000" dirty="0">
                          <a:solidFill>
                            <a:srgbClr val="000000"/>
                          </a:solidFill>
                        </a:rPr>
                        <a:t>Higher opioid overdose rates; above-avg MH crisis ED presentations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c>
                  <a:txBody>
                    <a:bodyPr/>
                    <a:lstStyle/>
                    <a:p>
                      <a:pPr indent="0" marL="0">
                        <a:buNone/>
                      </a:pPr>
                      <a:r>
                        <a:rPr lang="en-US" sz="1000" b="1" dirty="0">
                          <a:solidFill>
                            <a:srgbClr val="7B4A00"/>
                          </a:solidFill>
                        </a:rPr>
                        <a:t>ELEVATED</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r>
              <a:tr h="457200">
                <a:tc>
                  <a:txBody>
                    <a:bodyPr/>
                    <a:lstStyle/>
                    <a:p>
                      <a:pPr indent="0" marL="0">
                        <a:buNone/>
                      </a:pPr>
                      <a:r>
                        <a:rPr lang="en-US" sz="1000" dirty="0">
                          <a:solidFill>
                            <a:srgbClr val="000000"/>
                          </a:solidFill>
                        </a:rPr>
                        <a:t>Windham County</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c>
                  <a:txBody>
                    <a:bodyPr/>
                    <a:lstStyle/>
                    <a:p>
                      <a:pPr indent="0" marL="0">
                        <a:buNone/>
                      </a:pPr>
                      <a:r>
                        <a:rPr lang="en-US" sz="1000" dirty="0">
                          <a:solidFill>
                            <a:srgbClr val="000000"/>
                          </a:solidFill>
                        </a:rPr>
                        <a:t>~4%</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c>
                  <a:txBody>
                    <a:bodyPr/>
                    <a:lstStyle/>
                    <a:p>
                      <a:pPr indent="0" marL="0">
                        <a:buNone/>
                      </a:pPr>
                      <a:r>
                        <a:rPr lang="en-US" sz="1000" dirty="0">
                          <a:solidFill>
                            <a:srgbClr val="000000"/>
                          </a:solidFill>
                        </a:rPr>
                        <a:t>Higher suicide/SH and opioid rates; SUD corridor with Springfield Hospital</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c>
                  <a:txBody>
                    <a:bodyPr/>
                    <a:lstStyle/>
                    <a:p>
                      <a:pPr indent="0" marL="0">
                        <a:buNone/>
                      </a:pPr>
                      <a:r>
                        <a:rPr lang="en-US" sz="1000" b="1" dirty="0">
                          <a:solidFill>
                            <a:srgbClr val="7B4A00"/>
                          </a:solidFill>
                        </a:rPr>
                        <a:t>ELEVATED</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r>
              <a:tr h="457200">
                <a:tc>
                  <a:txBody>
                    <a:bodyPr/>
                    <a:lstStyle/>
                    <a:p>
                      <a:pPr indent="0" marL="0">
                        <a:buNone/>
                      </a:pPr>
                      <a:r>
                        <a:rPr lang="en-US" sz="1000" dirty="0">
                          <a:solidFill>
                            <a:srgbClr val="000000"/>
                          </a:solidFill>
                        </a:rPr>
                        <a:t>Chittenden County (Burlington)</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~2.5%</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Best-served county; UVMMC anchor</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BASELINE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57200">
                <a:tc>
                  <a:txBody>
                    <a:bodyPr/>
                    <a:lstStyle/>
                    <a:p>
                      <a:pPr indent="0" marL="0">
                        <a:buNone/>
                      </a:pPr>
                      <a:r>
                        <a:rPr lang="en-US" sz="1000" dirty="0">
                          <a:solidFill>
                            <a:srgbClr val="000000"/>
                          </a:solidFill>
                        </a:rPr>
                        <a:t>Black adults (statewide)</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~18% uninsured (vs. 6% white adults)</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82% have insurance vs. 94% statewide; 80% have personal provider vs. 91%</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1000" dirty="0">
                          <a:solidFill>
                            <a:srgbClr val="000000"/>
                          </a:solidFill>
                        </a:rPr>
                        <a:t>SIGNIFICANT</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12 — Source: Vermont Department of Health Health Equity Report (January 2025); Vermont RHT Application; AHS November 2025 Report</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HEALTH DISPARITY ROOT CAUSE TAXONOMY — MATCHING INTERVENTIONS TO CAUSES</a:t>
            </a:r>
            <a:endParaRPr lang="en-US" sz="1700" dirty="0"/>
          </a:p>
        </p:txBody>
      </p:sp>
      <p:sp>
        <p:nvSpPr>
          <p:cNvPr id="3" name="Shape 1"/>
          <p:cNvSpPr/>
          <p:nvPr/>
        </p:nvSpPr>
        <p:spPr>
          <a:xfrm>
            <a:off x="228600" y="713232"/>
            <a:ext cx="1572768" cy="4224528"/>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28600" y="713232"/>
            <a:ext cx="1572768" cy="475488"/>
          </a:xfrm>
          <a:prstGeom prst="rect">
            <a:avLst/>
          </a:prstGeom>
          <a:solidFill>
            <a:srgbClr val="1F5C8B"/>
          </a:solidFill>
          <a:ln/>
        </p:spPr>
      </p:sp>
      <p:sp>
        <p:nvSpPr>
          <p:cNvPr id="5" name="Text 3"/>
          <p:cNvSpPr/>
          <p:nvPr/>
        </p:nvSpPr>
        <p:spPr>
          <a:xfrm>
            <a:off x="228600" y="713232"/>
            <a:ext cx="1572768" cy="475488"/>
          </a:xfrm>
          <a:prstGeom prst="rect">
            <a:avLst/>
          </a:prstGeom>
          <a:noFill/>
          <a:ln/>
        </p:spPr>
        <p:txBody>
          <a:bodyPr wrap="square" rtlCol="0" anchor="ctr"/>
          <a:lstStyle/>
          <a:p>
            <a:pPr algn="ctr" indent="0" marL="0">
              <a:buNone/>
            </a:pPr>
            <a:r>
              <a:rPr lang="en-US" sz="2000" b="1" dirty="0">
                <a:solidFill>
                  <a:srgbClr val="FFFFFF"/>
                </a:solidFill>
              </a:rPr>
              <a:t>1</a:t>
            </a:r>
            <a:endParaRPr lang="en-US" sz="2000" dirty="0"/>
          </a:p>
        </p:txBody>
      </p:sp>
      <p:sp>
        <p:nvSpPr>
          <p:cNvPr id="6" name="Text 4"/>
          <p:cNvSpPr/>
          <p:nvPr/>
        </p:nvSpPr>
        <p:spPr>
          <a:xfrm>
            <a:off x="301752" y="1243584"/>
            <a:ext cx="1426464" cy="502920"/>
          </a:xfrm>
          <a:prstGeom prst="rect">
            <a:avLst/>
          </a:prstGeom>
          <a:noFill/>
          <a:ln/>
        </p:spPr>
        <p:txBody>
          <a:bodyPr wrap="square" lIns="0" tIns="0" rIns="0" bIns="0" rtlCol="0" anchor="ctr"/>
          <a:lstStyle/>
          <a:p>
            <a:pPr algn="ctr" indent="0" marL="0">
              <a:buNone/>
            </a:pPr>
            <a:r>
              <a:rPr lang="en-US" sz="1050" b="1" dirty="0">
                <a:solidFill>
                  <a:srgbClr val="1F5C8B"/>
                </a:solidFill>
              </a:rPr>
              <a:t>Geographic</a:t>
            </a:r>
            <a:endParaRPr lang="en-US" sz="1050" dirty="0"/>
          </a:p>
          <a:p>
            <a:pPr algn="ctr" indent="0" marL="0">
              <a:buNone/>
            </a:pPr>
            <a:r>
              <a:rPr lang="en-US" sz="1050" b="1" dirty="0">
                <a:solidFill>
                  <a:srgbClr val="1F5C8B"/>
                </a:solidFill>
              </a:rPr>
              <a:t>Access Barriers</a:t>
            </a:r>
            <a:endParaRPr lang="en-US" sz="1050" dirty="0"/>
          </a:p>
        </p:txBody>
      </p:sp>
      <p:sp>
        <p:nvSpPr>
          <p:cNvPr id="7" name="Text 5"/>
          <p:cNvSpPr/>
          <p:nvPr/>
        </p:nvSpPr>
        <p:spPr>
          <a:xfrm>
            <a:off x="301752" y="1828800"/>
            <a:ext cx="1426464" cy="256032"/>
          </a:xfrm>
          <a:prstGeom prst="rect">
            <a:avLst/>
          </a:prstGeom>
          <a:noFill/>
          <a:ln/>
        </p:spPr>
        <p:txBody>
          <a:bodyPr wrap="square" lIns="0" tIns="0" rIns="0" bIns="0" rtlCol="0" anchor="ctr"/>
          <a:lstStyle/>
          <a:p>
            <a:pPr indent="0" marL="0">
              <a:buNone/>
            </a:pPr>
            <a:r>
              <a:rPr lang="en-US" sz="900" b="1" dirty="0">
                <a:solidFill>
                  <a:srgbClr val="1A1A1A"/>
                </a:solidFill>
              </a:rPr>
              <a:t>MECHANISMS:</a:t>
            </a:r>
            <a:endParaRPr lang="en-US" sz="900" dirty="0"/>
          </a:p>
        </p:txBody>
      </p:sp>
      <p:sp>
        <p:nvSpPr>
          <p:cNvPr id="8" name="Text 6"/>
          <p:cNvSpPr/>
          <p:nvPr/>
        </p:nvSpPr>
        <p:spPr>
          <a:xfrm>
            <a:off x="301752" y="2103120"/>
            <a:ext cx="1426464" cy="1051560"/>
          </a:xfrm>
          <a:prstGeom prst="rect">
            <a:avLst/>
          </a:prstGeom>
          <a:noFill/>
          <a:ln/>
        </p:spPr>
        <p:txBody>
          <a:bodyPr wrap="square" lIns="0" tIns="0" rIns="0" bIns="0" rtlCol="0" anchor="ctr"/>
          <a:lstStyle/>
          <a:p>
            <a:pPr indent="0" marL="0">
              <a:buNone/>
            </a:pPr>
            <a:r>
              <a:rPr lang="en-US" sz="900" dirty="0">
                <a:solidFill>
                  <a:srgbClr val="444444"/>
                </a:solidFill>
              </a:rPr>
              <a:t>Distance; transportation; provider shortage; broadband gaps; limited hours</a:t>
            </a:r>
            <a:endParaRPr lang="en-US" sz="900" dirty="0"/>
          </a:p>
        </p:txBody>
      </p:sp>
      <p:sp>
        <p:nvSpPr>
          <p:cNvPr id="9" name="Text 7"/>
          <p:cNvSpPr/>
          <p:nvPr/>
        </p:nvSpPr>
        <p:spPr>
          <a:xfrm>
            <a:off x="301752" y="3200400"/>
            <a:ext cx="1426464" cy="256032"/>
          </a:xfrm>
          <a:prstGeom prst="rect">
            <a:avLst/>
          </a:prstGeom>
          <a:noFill/>
          <a:ln/>
        </p:spPr>
        <p:txBody>
          <a:bodyPr wrap="square" lIns="0" tIns="0" rIns="0" bIns="0" rtlCol="0" anchor="ctr"/>
          <a:lstStyle/>
          <a:p>
            <a:pPr indent="0" marL="0">
              <a:buNone/>
            </a:pPr>
            <a:r>
              <a:rPr lang="en-US" sz="900" b="1" dirty="0">
                <a:solidFill>
                  <a:srgbClr val="1F5C8B"/>
                </a:solidFill>
              </a:rPr>
              <a:t>INTERVENTIONS:</a:t>
            </a:r>
            <a:endParaRPr lang="en-US" sz="900" dirty="0"/>
          </a:p>
        </p:txBody>
      </p:sp>
      <p:sp>
        <p:nvSpPr>
          <p:cNvPr id="10" name="Text 8"/>
          <p:cNvSpPr/>
          <p:nvPr/>
        </p:nvSpPr>
        <p:spPr>
          <a:xfrm>
            <a:off x="301752" y="3493008"/>
            <a:ext cx="1426464" cy="1325880"/>
          </a:xfrm>
          <a:prstGeom prst="rect">
            <a:avLst/>
          </a:prstGeom>
          <a:noFill/>
          <a:ln/>
        </p:spPr>
        <p:txBody>
          <a:bodyPr wrap="square" lIns="0" tIns="0" rIns="0" bIns="0" rtlCol="0" anchor="ctr"/>
          <a:lstStyle/>
          <a:p>
            <a:pPr indent="0" marL="0">
              <a:buNone/>
            </a:pPr>
            <a:r>
              <a:rPr lang="en-US" sz="900" dirty="0">
                <a:solidFill>
                  <a:srgbClr val="444444"/>
                </a:solidFill>
              </a:rPr>
              <a:t>COE regionalization + EMS; telehealth (RHT); broadband investment; Blueprint expansion</a:t>
            </a:r>
            <a:endParaRPr lang="en-US" sz="900" dirty="0"/>
          </a:p>
        </p:txBody>
      </p:sp>
      <p:sp>
        <p:nvSpPr>
          <p:cNvPr id="11" name="Shape 9"/>
          <p:cNvSpPr/>
          <p:nvPr/>
        </p:nvSpPr>
        <p:spPr>
          <a:xfrm>
            <a:off x="1938528" y="713232"/>
            <a:ext cx="1572768" cy="4224528"/>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2" name="Shape 10"/>
          <p:cNvSpPr/>
          <p:nvPr/>
        </p:nvSpPr>
        <p:spPr>
          <a:xfrm>
            <a:off x="1938528" y="713232"/>
            <a:ext cx="1572768" cy="475488"/>
          </a:xfrm>
          <a:prstGeom prst="rect">
            <a:avLst/>
          </a:prstGeom>
          <a:solidFill>
            <a:srgbClr val="0D5F6B"/>
          </a:solidFill>
          <a:ln/>
        </p:spPr>
      </p:sp>
      <p:sp>
        <p:nvSpPr>
          <p:cNvPr id="13" name="Text 11"/>
          <p:cNvSpPr/>
          <p:nvPr/>
        </p:nvSpPr>
        <p:spPr>
          <a:xfrm>
            <a:off x="1938528" y="713232"/>
            <a:ext cx="1572768" cy="475488"/>
          </a:xfrm>
          <a:prstGeom prst="rect">
            <a:avLst/>
          </a:prstGeom>
          <a:noFill/>
          <a:ln/>
        </p:spPr>
        <p:txBody>
          <a:bodyPr wrap="square" rtlCol="0" anchor="ctr"/>
          <a:lstStyle/>
          <a:p>
            <a:pPr algn="ctr" indent="0" marL="0">
              <a:buNone/>
            </a:pPr>
            <a:r>
              <a:rPr lang="en-US" sz="2000" b="1" dirty="0">
                <a:solidFill>
                  <a:srgbClr val="FFFFFF"/>
                </a:solidFill>
              </a:rPr>
              <a:t>2</a:t>
            </a:r>
            <a:endParaRPr lang="en-US" sz="2000" dirty="0"/>
          </a:p>
        </p:txBody>
      </p:sp>
      <p:sp>
        <p:nvSpPr>
          <p:cNvPr id="14" name="Text 12"/>
          <p:cNvSpPr/>
          <p:nvPr/>
        </p:nvSpPr>
        <p:spPr>
          <a:xfrm>
            <a:off x="2011680" y="1243584"/>
            <a:ext cx="1426464" cy="502920"/>
          </a:xfrm>
          <a:prstGeom prst="rect">
            <a:avLst/>
          </a:prstGeom>
          <a:noFill/>
          <a:ln/>
        </p:spPr>
        <p:txBody>
          <a:bodyPr wrap="square" lIns="0" tIns="0" rIns="0" bIns="0" rtlCol="0" anchor="ctr"/>
          <a:lstStyle/>
          <a:p>
            <a:pPr algn="ctr" indent="0" marL="0">
              <a:buNone/>
            </a:pPr>
            <a:r>
              <a:rPr lang="en-US" sz="1050" b="1" dirty="0">
                <a:solidFill>
                  <a:srgbClr val="0D5F6B"/>
                </a:solidFill>
              </a:rPr>
              <a:t>Social Needs</a:t>
            </a:r>
            <a:endParaRPr lang="en-US" sz="1050" dirty="0"/>
          </a:p>
          <a:p>
            <a:pPr algn="ctr" indent="0" marL="0">
              <a:buNone/>
            </a:pPr>
            <a:r>
              <a:rPr lang="en-US" sz="1050" b="1" dirty="0">
                <a:solidFill>
                  <a:srgbClr val="0D5F6B"/>
                </a:solidFill>
              </a:rPr>
              <a:t>Barriers</a:t>
            </a:r>
            <a:endParaRPr lang="en-US" sz="1050" dirty="0"/>
          </a:p>
        </p:txBody>
      </p:sp>
      <p:sp>
        <p:nvSpPr>
          <p:cNvPr id="15" name="Text 13"/>
          <p:cNvSpPr/>
          <p:nvPr/>
        </p:nvSpPr>
        <p:spPr>
          <a:xfrm>
            <a:off x="2011680" y="1828800"/>
            <a:ext cx="1426464" cy="256032"/>
          </a:xfrm>
          <a:prstGeom prst="rect">
            <a:avLst/>
          </a:prstGeom>
          <a:noFill/>
          <a:ln/>
        </p:spPr>
        <p:txBody>
          <a:bodyPr wrap="square" lIns="0" tIns="0" rIns="0" bIns="0" rtlCol="0" anchor="ctr"/>
          <a:lstStyle/>
          <a:p>
            <a:pPr indent="0" marL="0">
              <a:buNone/>
            </a:pPr>
            <a:r>
              <a:rPr lang="en-US" sz="900" b="1" dirty="0">
                <a:solidFill>
                  <a:srgbClr val="1A1A1A"/>
                </a:solidFill>
              </a:rPr>
              <a:t>MECHANISMS:</a:t>
            </a:r>
            <a:endParaRPr lang="en-US" sz="900" dirty="0"/>
          </a:p>
        </p:txBody>
      </p:sp>
      <p:sp>
        <p:nvSpPr>
          <p:cNvPr id="16" name="Text 14"/>
          <p:cNvSpPr/>
          <p:nvPr/>
        </p:nvSpPr>
        <p:spPr>
          <a:xfrm>
            <a:off x="2011680" y="2103120"/>
            <a:ext cx="1426464" cy="1051560"/>
          </a:xfrm>
          <a:prstGeom prst="rect">
            <a:avLst/>
          </a:prstGeom>
          <a:noFill/>
          <a:ln/>
        </p:spPr>
        <p:txBody>
          <a:bodyPr wrap="square" lIns="0" tIns="0" rIns="0" bIns="0" rtlCol="0" anchor="ctr"/>
          <a:lstStyle/>
          <a:p>
            <a:pPr indent="0" marL="0">
              <a:buNone/>
            </a:pPr>
            <a:r>
              <a:rPr lang="en-US" sz="900" dirty="0">
                <a:solidFill>
                  <a:srgbClr val="444444"/>
                </a:solidFill>
              </a:rPr>
              <a:t>Housing instability; food insecurity; transportation; economic stress</a:t>
            </a:r>
            <a:endParaRPr lang="en-US" sz="900" dirty="0"/>
          </a:p>
        </p:txBody>
      </p:sp>
      <p:sp>
        <p:nvSpPr>
          <p:cNvPr id="17" name="Text 15"/>
          <p:cNvSpPr/>
          <p:nvPr/>
        </p:nvSpPr>
        <p:spPr>
          <a:xfrm>
            <a:off x="2011680" y="3200400"/>
            <a:ext cx="1426464" cy="256032"/>
          </a:xfrm>
          <a:prstGeom prst="rect">
            <a:avLst/>
          </a:prstGeom>
          <a:noFill/>
          <a:ln/>
        </p:spPr>
        <p:txBody>
          <a:bodyPr wrap="square" lIns="0" tIns="0" rIns="0" bIns="0" rtlCol="0" anchor="ctr"/>
          <a:lstStyle/>
          <a:p>
            <a:pPr indent="0" marL="0">
              <a:buNone/>
            </a:pPr>
            <a:r>
              <a:rPr lang="en-US" sz="900" b="1" dirty="0">
                <a:solidFill>
                  <a:srgbClr val="0D5F6B"/>
                </a:solidFill>
              </a:rPr>
              <a:t>INTERVENTIONS:</a:t>
            </a:r>
            <a:endParaRPr lang="en-US" sz="900" dirty="0"/>
          </a:p>
        </p:txBody>
      </p:sp>
      <p:sp>
        <p:nvSpPr>
          <p:cNvPr id="18" name="Text 16"/>
          <p:cNvSpPr/>
          <p:nvPr/>
        </p:nvSpPr>
        <p:spPr>
          <a:xfrm>
            <a:off x="2011680" y="3493008"/>
            <a:ext cx="1426464" cy="1325880"/>
          </a:xfrm>
          <a:prstGeom prst="rect">
            <a:avLst/>
          </a:prstGeom>
          <a:noFill/>
          <a:ln/>
        </p:spPr>
        <p:txBody>
          <a:bodyPr wrap="square" lIns="0" tIns="0" rIns="0" bIns="0" rtlCol="0" anchor="ctr"/>
          <a:lstStyle/>
          <a:p>
            <a:pPr indent="0" marL="0">
              <a:buNone/>
            </a:pPr>
            <a:r>
              <a:rPr lang="en-US" sz="900" dirty="0">
                <a:solidFill>
                  <a:srgbClr val="444444"/>
                </a:solidFill>
              </a:rPr>
              <a:t>AHEAD EAST Fund SDOH; Blueprint HRSN screening; AHS HSA Coordinators; CHW deployment</a:t>
            </a:r>
            <a:endParaRPr lang="en-US" sz="900" dirty="0"/>
          </a:p>
        </p:txBody>
      </p:sp>
      <p:sp>
        <p:nvSpPr>
          <p:cNvPr id="19" name="Shape 17"/>
          <p:cNvSpPr/>
          <p:nvPr/>
        </p:nvSpPr>
        <p:spPr>
          <a:xfrm>
            <a:off x="3648456" y="713232"/>
            <a:ext cx="1572768" cy="4224528"/>
          </a:xfrm>
          <a:prstGeom prst="rect">
            <a:avLst/>
          </a:prstGeom>
          <a:solidFill>
            <a:srgbClr val="FFFFFF"/>
          </a:solidFill>
          <a:ln w="12700">
            <a:solidFill>
              <a:srgbClr val="4A2070"/>
            </a:solidFill>
            <a:prstDash val="solid"/>
          </a:ln>
          <a:effectLst>
            <a:outerShdw sx="100000" sy="100000" kx="0" ky="0" algn="bl" rotWithShape="0" blurRad="76200" dist="25400" dir="16200000">
              <a:srgbClr val="000000">
                <a:alpha val="12000"/>
              </a:srgbClr>
            </a:outerShdw>
          </a:effectLst>
        </p:spPr>
      </p:sp>
      <p:sp>
        <p:nvSpPr>
          <p:cNvPr id="20" name="Shape 18"/>
          <p:cNvSpPr/>
          <p:nvPr/>
        </p:nvSpPr>
        <p:spPr>
          <a:xfrm>
            <a:off x="3648456" y="713232"/>
            <a:ext cx="1572768" cy="475488"/>
          </a:xfrm>
          <a:prstGeom prst="rect">
            <a:avLst/>
          </a:prstGeom>
          <a:solidFill>
            <a:srgbClr val="4A2070"/>
          </a:solidFill>
          <a:ln/>
        </p:spPr>
      </p:sp>
      <p:sp>
        <p:nvSpPr>
          <p:cNvPr id="21" name="Text 19"/>
          <p:cNvSpPr/>
          <p:nvPr/>
        </p:nvSpPr>
        <p:spPr>
          <a:xfrm>
            <a:off x="3648456" y="713232"/>
            <a:ext cx="1572768" cy="475488"/>
          </a:xfrm>
          <a:prstGeom prst="rect">
            <a:avLst/>
          </a:prstGeom>
          <a:noFill/>
          <a:ln/>
        </p:spPr>
        <p:txBody>
          <a:bodyPr wrap="square" rtlCol="0" anchor="ctr"/>
          <a:lstStyle/>
          <a:p>
            <a:pPr algn="ctr" indent="0" marL="0">
              <a:buNone/>
            </a:pPr>
            <a:r>
              <a:rPr lang="en-US" sz="2000" b="1" dirty="0">
                <a:solidFill>
                  <a:srgbClr val="FFFFFF"/>
                </a:solidFill>
              </a:rPr>
              <a:t>3</a:t>
            </a:r>
            <a:endParaRPr lang="en-US" sz="2000" dirty="0"/>
          </a:p>
        </p:txBody>
      </p:sp>
      <p:sp>
        <p:nvSpPr>
          <p:cNvPr id="22" name="Text 20"/>
          <p:cNvSpPr/>
          <p:nvPr/>
        </p:nvSpPr>
        <p:spPr>
          <a:xfrm>
            <a:off x="3721608" y="1243584"/>
            <a:ext cx="1426464" cy="502920"/>
          </a:xfrm>
          <a:prstGeom prst="rect">
            <a:avLst/>
          </a:prstGeom>
          <a:noFill/>
          <a:ln/>
        </p:spPr>
        <p:txBody>
          <a:bodyPr wrap="square" lIns="0" tIns="0" rIns="0" bIns="0" rtlCol="0" anchor="ctr"/>
          <a:lstStyle/>
          <a:p>
            <a:pPr algn="ctr" indent="0" marL="0">
              <a:buNone/>
            </a:pPr>
            <a:r>
              <a:rPr lang="en-US" sz="1050" b="1" dirty="0">
                <a:solidFill>
                  <a:srgbClr val="4A2070"/>
                </a:solidFill>
              </a:rPr>
              <a:t>Clinical Practice</a:t>
            </a:r>
            <a:endParaRPr lang="en-US" sz="1050" dirty="0"/>
          </a:p>
          <a:p>
            <a:pPr algn="ctr" indent="0" marL="0">
              <a:buNone/>
            </a:pPr>
            <a:r>
              <a:rPr lang="en-US" sz="1050" b="1" dirty="0">
                <a:solidFill>
                  <a:srgbClr val="4A2070"/>
                </a:solidFill>
              </a:rPr>
              <a:t>Variation</a:t>
            </a:r>
            <a:endParaRPr lang="en-US" sz="1050" dirty="0"/>
          </a:p>
        </p:txBody>
      </p:sp>
      <p:sp>
        <p:nvSpPr>
          <p:cNvPr id="23" name="Text 21"/>
          <p:cNvSpPr/>
          <p:nvPr/>
        </p:nvSpPr>
        <p:spPr>
          <a:xfrm>
            <a:off x="3721608" y="1828800"/>
            <a:ext cx="1426464" cy="256032"/>
          </a:xfrm>
          <a:prstGeom prst="rect">
            <a:avLst/>
          </a:prstGeom>
          <a:noFill/>
          <a:ln/>
        </p:spPr>
        <p:txBody>
          <a:bodyPr wrap="square" lIns="0" tIns="0" rIns="0" bIns="0" rtlCol="0" anchor="ctr"/>
          <a:lstStyle/>
          <a:p>
            <a:pPr indent="0" marL="0">
              <a:buNone/>
            </a:pPr>
            <a:r>
              <a:rPr lang="en-US" sz="900" b="1" dirty="0">
                <a:solidFill>
                  <a:srgbClr val="1A1A1A"/>
                </a:solidFill>
              </a:rPr>
              <a:t>MECHANISMS:</a:t>
            </a:r>
            <a:endParaRPr lang="en-US" sz="900" dirty="0"/>
          </a:p>
        </p:txBody>
      </p:sp>
      <p:sp>
        <p:nvSpPr>
          <p:cNvPr id="24" name="Text 22"/>
          <p:cNvSpPr/>
          <p:nvPr/>
        </p:nvSpPr>
        <p:spPr>
          <a:xfrm>
            <a:off x="3721608" y="2103120"/>
            <a:ext cx="1426464" cy="1051560"/>
          </a:xfrm>
          <a:prstGeom prst="rect">
            <a:avLst/>
          </a:prstGeom>
          <a:noFill/>
          <a:ln/>
        </p:spPr>
        <p:txBody>
          <a:bodyPr wrap="square" lIns="0" tIns="0" rIns="0" bIns="0" rtlCol="0" anchor="ctr"/>
          <a:lstStyle/>
          <a:p>
            <a:pPr indent="0" marL="0">
              <a:buNone/>
            </a:pPr>
            <a:r>
              <a:rPr lang="en-US" sz="900" dirty="0">
                <a:solidFill>
                  <a:srgbClr val="444444"/>
                </a:solidFill>
              </a:rPr>
              <a:t>Weight bias; racial bias in treatment; cultural incompetence; language barriers</a:t>
            </a:r>
            <a:endParaRPr lang="en-US" sz="900" dirty="0"/>
          </a:p>
        </p:txBody>
      </p:sp>
      <p:sp>
        <p:nvSpPr>
          <p:cNvPr id="25" name="Text 23"/>
          <p:cNvSpPr/>
          <p:nvPr/>
        </p:nvSpPr>
        <p:spPr>
          <a:xfrm>
            <a:off x="3721608" y="3200400"/>
            <a:ext cx="1426464" cy="256032"/>
          </a:xfrm>
          <a:prstGeom prst="rect">
            <a:avLst/>
          </a:prstGeom>
          <a:noFill/>
          <a:ln/>
        </p:spPr>
        <p:txBody>
          <a:bodyPr wrap="square" lIns="0" tIns="0" rIns="0" bIns="0" rtlCol="0" anchor="ctr"/>
          <a:lstStyle/>
          <a:p>
            <a:pPr indent="0" marL="0">
              <a:buNone/>
            </a:pPr>
            <a:r>
              <a:rPr lang="en-US" sz="900" b="1" dirty="0">
                <a:solidFill>
                  <a:srgbClr val="4A2070"/>
                </a:solidFill>
              </a:rPr>
              <a:t>INTERVENTIONS:</a:t>
            </a:r>
            <a:endParaRPr lang="en-US" sz="900" dirty="0"/>
          </a:p>
        </p:txBody>
      </p:sp>
      <p:sp>
        <p:nvSpPr>
          <p:cNvPr id="26" name="Text 24"/>
          <p:cNvSpPr/>
          <p:nvPr/>
        </p:nvSpPr>
        <p:spPr>
          <a:xfrm>
            <a:off x="3721608" y="3493008"/>
            <a:ext cx="1426464" cy="1325880"/>
          </a:xfrm>
          <a:prstGeom prst="rect">
            <a:avLst/>
          </a:prstGeom>
          <a:noFill/>
          <a:ln/>
        </p:spPr>
        <p:txBody>
          <a:bodyPr wrap="square" lIns="0" tIns="0" rIns="0" bIns="0" rtlCol="0" anchor="ctr"/>
          <a:lstStyle/>
          <a:p>
            <a:pPr indent="0" marL="0">
              <a:buNone/>
            </a:pPr>
            <a:r>
              <a:rPr lang="en-US" sz="900" dirty="0">
                <a:solidFill>
                  <a:srgbClr val="444444"/>
                </a:solidFill>
              </a:rPr>
              <a:t>Provider diversity recruitment; implicit bias training; standardized protocols; patient advisory councils</a:t>
            </a:r>
            <a:endParaRPr lang="en-US" sz="900" dirty="0"/>
          </a:p>
        </p:txBody>
      </p:sp>
      <p:sp>
        <p:nvSpPr>
          <p:cNvPr id="27" name="Shape 25"/>
          <p:cNvSpPr/>
          <p:nvPr/>
        </p:nvSpPr>
        <p:spPr>
          <a:xfrm>
            <a:off x="5358384" y="713232"/>
            <a:ext cx="1572768" cy="4224528"/>
          </a:xfrm>
          <a:prstGeom prst="rect">
            <a:avLst/>
          </a:prstGeom>
          <a:solidFill>
            <a:srgbClr val="FFFFFF"/>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28" name="Shape 26"/>
          <p:cNvSpPr/>
          <p:nvPr/>
        </p:nvSpPr>
        <p:spPr>
          <a:xfrm>
            <a:off x="5358384" y="713232"/>
            <a:ext cx="1572768" cy="475488"/>
          </a:xfrm>
          <a:prstGeom prst="rect">
            <a:avLst/>
          </a:prstGeom>
          <a:solidFill>
            <a:srgbClr val="7B4A00"/>
          </a:solidFill>
          <a:ln/>
        </p:spPr>
      </p:sp>
      <p:sp>
        <p:nvSpPr>
          <p:cNvPr id="29" name="Text 27"/>
          <p:cNvSpPr/>
          <p:nvPr/>
        </p:nvSpPr>
        <p:spPr>
          <a:xfrm>
            <a:off x="5358384" y="713232"/>
            <a:ext cx="1572768" cy="475488"/>
          </a:xfrm>
          <a:prstGeom prst="rect">
            <a:avLst/>
          </a:prstGeom>
          <a:noFill/>
          <a:ln/>
        </p:spPr>
        <p:txBody>
          <a:bodyPr wrap="square" rtlCol="0" anchor="ctr"/>
          <a:lstStyle/>
          <a:p>
            <a:pPr algn="ctr" indent="0" marL="0">
              <a:buNone/>
            </a:pPr>
            <a:r>
              <a:rPr lang="en-US" sz="2000" b="1" dirty="0">
                <a:solidFill>
                  <a:srgbClr val="FFFFFF"/>
                </a:solidFill>
              </a:rPr>
              <a:t>4</a:t>
            </a:r>
            <a:endParaRPr lang="en-US" sz="2000" dirty="0"/>
          </a:p>
        </p:txBody>
      </p:sp>
      <p:sp>
        <p:nvSpPr>
          <p:cNvPr id="30" name="Text 28"/>
          <p:cNvSpPr/>
          <p:nvPr/>
        </p:nvSpPr>
        <p:spPr>
          <a:xfrm>
            <a:off x="5431536" y="1243584"/>
            <a:ext cx="1426464" cy="502920"/>
          </a:xfrm>
          <a:prstGeom prst="rect">
            <a:avLst/>
          </a:prstGeom>
          <a:noFill/>
          <a:ln/>
        </p:spPr>
        <p:txBody>
          <a:bodyPr wrap="square" lIns="0" tIns="0" rIns="0" bIns="0" rtlCol="0" anchor="ctr"/>
          <a:lstStyle/>
          <a:p>
            <a:pPr algn="ctr" indent="0" marL="0">
              <a:buNone/>
            </a:pPr>
            <a:r>
              <a:rPr lang="en-US" sz="1050" b="1" dirty="0">
                <a:solidFill>
                  <a:srgbClr val="7B4A00"/>
                </a:solidFill>
              </a:rPr>
              <a:t>Coverage &amp; Cost</a:t>
            </a:r>
            <a:endParaRPr lang="en-US" sz="1050" dirty="0"/>
          </a:p>
          <a:p>
            <a:pPr algn="ctr" indent="0" marL="0">
              <a:buNone/>
            </a:pPr>
            <a:r>
              <a:rPr lang="en-US" sz="1050" b="1" dirty="0">
                <a:solidFill>
                  <a:srgbClr val="7B4A00"/>
                </a:solidFill>
              </a:rPr>
              <a:t>Barriers</a:t>
            </a:r>
            <a:endParaRPr lang="en-US" sz="1050" dirty="0"/>
          </a:p>
        </p:txBody>
      </p:sp>
      <p:sp>
        <p:nvSpPr>
          <p:cNvPr id="31" name="Text 29"/>
          <p:cNvSpPr/>
          <p:nvPr/>
        </p:nvSpPr>
        <p:spPr>
          <a:xfrm>
            <a:off x="5431536" y="1828800"/>
            <a:ext cx="1426464" cy="256032"/>
          </a:xfrm>
          <a:prstGeom prst="rect">
            <a:avLst/>
          </a:prstGeom>
          <a:noFill/>
          <a:ln/>
        </p:spPr>
        <p:txBody>
          <a:bodyPr wrap="square" lIns="0" tIns="0" rIns="0" bIns="0" rtlCol="0" anchor="ctr"/>
          <a:lstStyle/>
          <a:p>
            <a:pPr indent="0" marL="0">
              <a:buNone/>
            </a:pPr>
            <a:r>
              <a:rPr lang="en-US" sz="900" b="1" dirty="0">
                <a:solidFill>
                  <a:srgbClr val="1A1A1A"/>
                </a:solidFill>
              </a:rPr>
              <a:t>MECHANISMS:</a:t>
            </a:r>
            <a:endParaRPr lang="en-US" sz="900" dirty="0"/>
          </a:p>
        </p:txBody>
      </p:sp>
      <p:sp>
        <p:nvSpPr>
          <p:cNvPr id="32" name="Text 30"/>
          <p:cNvSpPr/>
          <p:nvPr/>
        </p:nvSpPr>
        <p:spPr>
          <a:xfrm>
            <a:off x="5431536" y="2103120"/>
            <a:ext cx="1426464" cy="1051560"/>
          </a:xfrm>
          <a:prstGeom prst="rect">
            <a:avLst/>
          </a:prstGeom>
          <a:noFill/>
          <a:ln/>
        </p:spPr>
        <p:txBody>
          <a:bodyPr wrap="square" lIns="0" tIns="0" rIns="0" bIns="0" rtlCol="0" anchor="ctr"/>
          <a:lstStyle/>
          <a:p>
            <a:pPr indent="0" marL="0">
              <a:buNone/>
            </a:pPr>
            <a:r>
              <a:rPr lang="en-US" sz="900" dirty="0">
                <a:solidFill>
                  <a:srgbClr val="444444"/>
                </a:solidFill>
              </a:rPr>
              <a:t>High deductibles; copays causing care avoidance; coverage gaps (GLP-1s for obesity)</a:t>
            </a:r>
            <a:endParaRPr lang="en-US" sz="900" dirty="0"/>
          </a:p>
        </p:txBody>
      </p:sp>
      <p:sp>
        <p:nvSpPr>
          <p:cNvPr id="33" name="Text 31"/>
          <p:cNvSpPr/>
          <p:nvPr/>
        </p:nvSpPr>
        <p:spPr>
          <a:xfrm>
            <a:off x="5431536" y="3200400"/>
            <a:ext cx="1426464" cy="256032"/>
          </a:xfrm>
          <a:prstGeom prst="rect">
            <a:avLst/>
          </a:prstGeom>
          <a:noFill/>
          <a:ln/>
        </p:spPr>
        <p:txBody>
          <a:bodyPr wrap="square" lIns="0" tIns="0" rIns="0" bIns="0" rtlCol="0" anchor="ctr"/>
          <a:lstStyle/>
          <a:p>
            <a:pPr indent="0" marL="0">
              <a:buNone/>
            </a:pPr>
            <a:r>
              <a:rPr lang="en-US" sz="900" b="1" dirty="0">
                <a:solidFill>
                  <a:srgbClr val="7B4A00"/>
                </a:solidFill>
              </a:rPr>
              <a:t>INTERVENTIONS:</a:t>
            </a:r>
            <a:endParaRPr lang="en-US" sz="900" dirty="0"/>
          </a:p>
        </p:txBody>
      </p:sp>
      <p:sp>
        <p:nvSpPr>
          <p:cNvPr id="34" name="Text 32"/>
          <p:cNvSpPr/>
          <p:nvPr/>
        </p:nvSpPr>
        <p:spPr>
          <a:xfrm>
            <a:off x="5431536" y="3493008"/>
            <a:ext cx="1426464" cy="1325880"/>
          </a:xfrm>
          <a:prstGeom prst="rect">
            <a:avLst/>
          </a:prstGeom>
          <a:noFill/>
          <a:ln/>
        </p:spPr>
        <p:txBody>
          <a:bodyPr wrap="square" lIns="0" tIns="0" rIns="0" bIns="0" rtlCol="0" anchor="ctr"/>
          <a:lstStyle/>
          <a:p>
            <a:pPr indent="0" marL="0">
              <a:buNone/>
            </a:pPr>
            <a:r>
              <a:rPr lang="en-US" sz="900" dirty="0">
                <a:solidFill>
                  <a:srgbClr val="444444"/>
                </a:solidFill>
              </a:rPr>
              <a:t>Act 68 affordability benchmarks; RBP premium passthrough; BALANCE Model GLP-1 decision</a:t>
            </a:r>
            <a:endParaRPr lang="en-US" sz="900" dirty="0"/>
          </a:p>
        </p:txBody>
      </p:sp>
      <p:sp>
        <p:nvSpPr>
          <p:cNvPr id="35" name="Shape 33"/>
          <p:cNvSpPr/>
          <p:nvPr/>
        </p:nvSpPr>
        <p:spPr>
          <a:xfrm>
            <a:off x="7068312" y="713232"/>
            <a:ext cx="1572768" cy="4224528"/>
          </a:xfrm>
          <a:prstGeom prst="rect">
            <a:avLst/>
          </a:prstGeom>
          <a:solidFill>
            <a:srgbClr val="FFFFFF"/>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36" name="Shape 34"/>
          <p:cNvSpPr/>
          <p:nvPr/>
        </p:nvSpPr>
        <p:spPr>
          <a:xfrm>
            <a:off x="7068312" y="713232"/>
            <a:ext cx="1572768" cy="475488"/>
          </a:xfrm>
          <a:prstGeom prst="rect">
            <a:avLst/>
          </a:prstGeom>
          <a:solidFill>
            <a:srgbClr val="8B1A1A"/>
          </a:solidFill>
          <a:ln/>
        </p:spPr>
      </p:sp>
      <p:sp>
        <p:nvSpPr>
          <p:cNvPr id="37" name="Text 35"/>
          <p:cNvSpPr/>
          <p:nvPr/>
        </p:nvSpPr>
        <p:spPr>
          <a:xfrm>
            <a:off x="7068312" y="713232"/>
            <a:ext cx="1572768" cy="475488"/>
          </a:xfrm>
          <a:prstGeom prst="rect">
            <a:avLst/>
          </a:prstGeom>
          <a:noFill/>
          <a:ln/>
        </p:spPr>
        <p:txBody>
          <a:bodyPr wrap="square" rtlCol="0" anchor="ctr"/>
          <a:lstStyle/>
          <a:p>
            <a:pPr algn="ctr" indent="0" marL="0">
              <a:buNone/>
            </a:pPr>
            <a:r>
              <a:rPr lang="en-US" sz="2000" b="1" dirty="0">
                <a:solidFill>
                  <a:srgbClr val="FFFFFF"/>
                </a:solidFill>
              </a:rPr>
              <a:t>5</a:t>
            </a:r>
            <a:endParaRPr lang="en-US" sz="2000" dirty="0"/>
          </a:p>
        </p:txBody>
      </p:sp>
      <p:sp>
        <p:nvSpPr>
          <p:cNvPr id="38" name="Text 36"/>
          <p:cNvSpPr/>
          <p:nvPr/>
        </p:nvSpPr>
        <p:spPr>
          <a:xfrm>
            <a:off x="7141464" y="1243584"/>
            <a:ext cx="1426464" cy="502920"/>
          </a:xfrm>
          <a:prstGeom prst="rect">
            <a:avLst/>
          </a:prstGeom>
          <a:noFill/>
          <a:ln/>
        </p:spPr>
        <p:txBody>
          <a:bodyPr wrap="square" lIns="0" tIns="0" rIns="0" bIns="0" rtlCol="0" anchor="ctr"/>
          <a:lstStyle/>
          <a:p>
            <a:pPr algn="ctr" indent="0" marL="0">
              <a:buNone/>
            </a:pPr>
            <a:r>
              <a:rPr lang="en-US" sz="1050" b="1" dirty="0">
                <a:solidFill>
                  <a:srgbClr val="8B1A1A"/>
                </a:solidFill>
              </a:rPr>
              <a:t>Trust &amp;</a:t>
            </a:r>
            <a:endParaRPr lang="en-US" sz="1050" dirty="0"/>
          </a:p>
          <a:p>
            <a:pPr algn="ctr" indent="0" marL="0">
              <a:buNone/>
            </a:pPr>
            <a:r>
              <a:rPr lang="en-US" sz="1050" b="1" dirty="0">
                <a:solidFill>
                  <a:srgbClr val="8B1A1A"/>
                </a:solidFill>
              </a:rPr>
              <a:t>Engagement Barriers</a:t>
            </a:r>
            <a:endParaRPr lang="en-US" sz="1050" dirty="0"/>
          </a:p>
        </p:txBody>
      </p:sp>
      <p:sp>
        <p:nvSpPr>
          <p:cNvPr id="39" name="Text 37"/>
          <p:cNvSpPr/>
          <p:nvPr/>
        </p:nvSpPr>
        <p:spPr>
          <a:xfrm>
            <a:off x="7141464" y="1828800"/>
            <a:ext cx="1426464" cy="256032"/>
          </a:xfrm>
          <a:prstGeom prst="rect">
            <a:avLst/>
          </a:prstGeom>
          <a:noFill/>
          <a:ln/>
        </p:spPr>
        <p:txBody>
          <a:bodyPr wrap="square" lIns="0" tIns="0" rIns="0" bIns="0" rtlCol="0" anchor="ctr"/>
          <a:lstStyle/>
          <a:p>
            <a:pPr indent="0" marL="0">
              <a:buNone/>
            </a:pPr>
            <a:r>
              <a:rPr lang="en-US" sz="900" b="1" dirty="0">
                <a:solidFill>
                  <a:srgbClr val="1A1A1A"/>
                </a:solidFill>
              </a:rPr>
              <a:t>MECHANISMS:</a:t>
            </a:r>
            <a:endParaRPr lang="en-US" sz="900" dirty="0"/>
          </a:p>
        </p:txBody>
      </p:sp>
      <p:sp>
        <p:nvSpPr>
          <p:cNvPr id="40" name="Text 38"/>
          <p:cNvSpPr/>
          <p:nvPr/>
        </p:nvSpPr>
        <p:spPr>
          <a:xfrm>
            <a:off x="7141464" y="2103120"/>
            <a:ext cx="1426464" cy="1051560"/>
          </a:xfrm>
          <a:prstGeom prst="rect">
            <a:avLst/>
          </a:prstGeom>
          <a:noFill/>
          <a:ln/>
        </p:spPr>
        <p:txBody>
          <a:bodyPr wrap="square" lIns="0" tIns="0" rIns="0" bIns="0" rtlCol="0" anchor="ctr"/>
          <a:lstStyle/>
          <a:p>
            <a:pPr indent="0" marL="0">
              <a:buNone/>
            </a:pPr>
            <a:r>
              <a:rPr lang="en-US" sz="900" dirty="0">
                <a:solidFill>
                  <a:srgbClr val="444444"/>
                </a:solidFill>
              </a:rPr>
              <a:t>Discrimination in care; stigma; historical mistreatment; lack of culturally competent providers</a:t>
            </a:r>
            <a:endParaRPr lang="en-US" sz="900" dirty="0"/>
          </a:p>
        </p:txBody>
      </p:sp>
      <p:sp>
        <p:nvSpPr>
          <p:cNvPr id="41" name="Text 39"/>
          <p:cNvSpPr/>
          <p:nvPr/>
        </p:nvSpPr>
        <p:spPr>
          <a:xfrm>
            <a:off x="7141464" y="3200400"/>
            <a:ext cx="1426464" cy="256032"/>
          </a:xfrm>
          <a:prstGeom prst="rect">
            <a:avLst/>
          </a:prstGeom>
          <a:noFill/>
          <a:ln/>
        </p:spPr>
        <p:txBody>
          <a:bodyPr wrap="square" lIns="0" tIns="0" rIns="0" bIns="0" rtlCol="0" anchor="ctr"/>
          <a:lstStyle/>
          <a:p>
            <a:pPr indent="0" marL="0">
              <a:buNone/>
            </a:pPr>
            <a:r>
              <a:rPr lang="en-US" sz="900" b="1" dirty="0">
                <a:solidFill>
                  <a:srgbClr val="8B1A1A"/>
                </a:solidFill>
              </a:rPr>
              <a:t>INTERVENTIONS:</a:t>
            </a:r>
            <a:endParaRPr lang="en-US" sz="900" dirty="0"/>
          </a:p>
        </p:txBody>
      </p:sp>
      <p:sp>
        <p:nvSpPr>
          <p:cNvPr id="42" name="Text 40"/>
          <p:cNvSpPr/>
          <p:nvPr/>
        </p:nvSpPr>
        <p:spPr>
          <a:xfrm>
            <a:off x="7141464" y="3493008"/>
            <a:ext cx="1426464" cy="1325880"/>
          </a:xfrm>
          <a:prstGeom prst="rect">
            <a:avLst/>
          </a:prstGeom>
          <a:noFill/>
          <a:ln/>
        </p:spPr>
        <p:txBody>
          <a:bodyPr wrap="square" lIns="0" tIns="0" rIns="0" bIns="0" rtlCol="0" anchor="ctr"/>
          <a:lstStyle/>
          <a:p>
            <a:pPr indent="0" marL="0">
              <a:buNone/>
            </a:pPr>
            <a:r>
              <a:rPr lang="en-US" sz="900" dirty="0">
                <a:solidFill>
                  <a:srgbClr val="444444"/>
                </a:solidFill>
              </a:rPr>
              <a:t>CHWs from served communities; HEART program (LGBTQ+); BIPOC community partnerships; CCBHCs</a:t>
            </a:r>
            <a:endParaRPr lang="en-US" sz="900" dirty="0"/>
          </a:p>
        </p:txBody>
      </p:sp>
      <p:sp>
        <p:nvSpPr>
          <p:cNvPr id="43" name="Text 4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12 — Source: HTR Equity Pillar framework; Vermont Department of Health; Oliver Wyman Act 167 Report</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THE GLP-1 ACCESS EQUITY CRISIS — WHO GETS TRANSFORMATIVE OBESITY DRUGS</a:t>
            </a:r>
            <a:endParaRPr lang="en-US" sz="1700" dirty="0"/>
          </a:p>
        </p:txBody>
      </p:sp>
      <p:graphicFrame>
        <p:nvGraphicFramePr>
          <p:cNvPr id="3" name="Chart 0" descr=""/>
          <p:cNvGraphicFramePr/>
          <p:nvPr/>
        </p:nvGraphicFramePr>
        <p:xfrm>
          <a:off x="320040" y="685800"/>
          <a:ext cx="4389120" cy="33832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029200" y="713232"/>
            <a:ext cx="3749040" cy="1170432"/>
          </a:xfrm>
          <a:prstGeom prst="rect">
            <a:avLst/>
          </a:prstGeom>
          <a:solidFill>
            <a:srgbClr val="F7FAFB"/>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5" name="Text 2"/>
          <p:cNvSpPr/>
          <p:nvPr/>
        </p:nvSpPr>
        <p:spPr>
          <a:xfrm>
            <a:off x="5166360" y="777240"/>
            <a:ext cx="3474720" cy="320040"/>
          </a:xfrm>
          <a:prstGeom prst="rect">
            <a:avLst/>
          </a:prstGeom>
          <a:noFill/>
          <a:ln/>
        </p:spPr>
        <p:txBody>
          <a:bodyPr wrap="square" lIns="0" tIns="0" rIns="0" bIns="0" rtlCol="0" anchor="ctr"/>
          <a:lstStyle/>
          <a:p>
            <a:pPr indent="0" marL="0">
              <a:buNone/>
            </a:pPr>
            <a:r>
              <a:rPr lang="en-US" sz="1100" b="1" dirty="0">
                <a:solidFill>
                  <a:srgbClr val="0D5F6B"/>
                </a:solidFill>
              </a:rPr>
              <a:t>CMS BALANCE Model (Dec 2025)</a:t>
            </a:r>
            <a:endParaRPr lang="en-US" sz="1100" dirty="0"/>
          </a:p>
        </p:txBody>
      </p:sp>
      <p:sp>
        <p:nvSpPr>
          <p:cNvPr id="6" name="Text 3"/>
          <p:cNvSpPr/>
          <p:nvPr/>
        </p:nvSpPr>
        <p:spPr>
          <a:xfrm>
            <a:off x="5166360" y="1143000"/>
            <a:ext cx="3474720" cy="658368"/>
          </a:xfrm>
          <a:prstGeom prst="rect">
            <a:avLst/>
          </a:prstGeom>
          <a:noFill/>
          <a:ln/>
        </p:spPr>
        <p:txBody>
          <a:bodyPr wrap="square" lIns="0" tIns="0" rIns="0" bIns="0" rtlCol="0" anchor="ctr"/>
          <a:lstStyle/>
          <a:p>
            <a:pPr indent="0" marL="0">
              <a:buNone/>
            </a:pPr>
            <a:r>
              <a:rPr lang="en-US" sz="1000" dirty="0">
                <a:solidFill>
                  <a:srgbClr val="1A1A1A"/>
                </a:solidFill>
              </a:rPr>
              <a:t>Voluntary model for Medicaid agencies to cover GLP-1s for obesity at negotiated prices. Launch: May 2026. Vermont DVHA must opt in.</a:t>
            </a:r>
            <a:endParaRPr lang="en-US" sz="1000" dirty="0"/>
          </a:p>
        </p:txBody>
      </p:sp>
      <p:sp>
        <p:nvSpPr>
          <p:cNvPr id="7" name="Shape 4"/>
          <p:cNvSpPr/>
          <p:nvPr/>
        </p:nvSpPr>
        <p:spPr>
          <a:xfrm>
            <a:off x="5029200" y="1993392"/>
            <a:ext cx="3749040" cy="1170432"/>
          </a:xfrm>
          <a:prstGeom prst="rect">
            <a:avLst/>
          </a:prstGeom>
          <a:solidFill>
            <a:srgbClr val="F7FAFB"/>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8" name="Text 5"/>
          <p:cNvSpPr/>
          <p:nvPr/>
        </p:nvSpPr>
        <p:spPr>
          <a:xfrm>
            <a:off x="5166360" y="2057400"/>
            <a:ext cx="3474720" cy="320040"/>
          </a:xfrm>
          <a:prstGeom prst="rect">
            <a:avLst/>
          </a:prstGeom>
          <a:noFill/>
          <a:ln/>
        </p:spPr>
        <p:txBody>
          <a:bodyPr wrap="square" lIns="0" tIns="0" rIns="0" bIns="0" rtlCol="0" anchor="ctr"/>
          <a:lstStyle/>
          <a:p>
            <a:pPr indent="0" marL="0">
              <a:buNone/>
            </a:pPr>
            <a:r>
              <a:rPr lang="en-US" sz="1100" b="1" dirty="0">
                <a:solidFill>
                  <a:srgbClr val="0D5F6B"/>
                </a:solidFill>
              </a:rPr>
              <a:t>Drug Costs After Negotiation</a:t>
            </a:r>
            <a:endParaRPr lang="en-US" sz="1100" dirty="0"/>
          </a:p>
        </p:txBody>
      </p:sp>
      <p:sp>
        <p:nvSpPr>
          <p:cNvPr id="9" name="Text 6"/>
          <p:cNvSpPr/>
          <p:nvPr/>
        </p:nvSpPr>
        <p:spPr>
          <a:xfrm>
            <a:off x="5166360" y="2423160"/>
            <a:ext cx="3474720" cy="658368"/>
          </a:xfrm>
          <a:prstGeom prst="rect">
            <a:avLst/>
          </a:prstGeom>
          <a:noFill/>
          <a:ln/>
        </p:spPr>
        <p:txBody>
          <a:bodyPr wrap="square" lIns="0" tIns="0" rIns="0" bIns="0" rtlCol="0" anchor="ctr"/>
          <a:lstStyle/>
          <a:p>
            <a:pPr indent="0" marL="0">
              <a:buNone/>
            </a:pPr>
            <a:r>
              <a:rPr lang="en-US" sz="1000" dirty="0">
                <a:solidFill>
                  <a:srgbClr val="1A1A1A"/>
                </a:solidFill>
              </a:rPr>
              <a:t>IRA negotiated price: $274/month (effective 2027) vs. $1,000+ list price. Still out of reach without Medicaid coverage for Vermont's lowest-income patients.</a:t>
            </a:r>
            <a:endParaRPr lang="en-US" sz="1000" dirty="0"/>
          </a:p>
        </p:txBody>
      </p:sp>
      <p:sp>
        <p:nvSpPr>
          <p:cNvPr id="10" name="Shape 7"/>
          <p:cNvSpPr/>
          <p:nvPr/>
        </p:nvSpPr>
        <p:spPr>
          <a:xfrm>
            <a:off x="5029200" y="3273552"/>
            <a:ext cx="3749040" cy="1170432"/>
          </a:xfrm>
          <a:prstGeom prst="rect">
            <a:avLst/>
          </a:prstGeom>
          <a:solidFill>
            <a:srgbClr val="F7FAFB"/>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1" name="Text 8"/>
          <p:cNvSpPr/>
          <p:nvPr/>
        </p:nvSpPr>
        <p:spPr>
          <a:xfrm>
            <a:off x="5166360" y="3337560"/>
            <a:ext cx="3474720" cy="320040"/>
          </a:xfrm>
          <a:prstGeom prst="rect">
            <a:avLst/>
          </a:prstGeom>
          <a:noFill/>
          <a:ln/>
        </p:spPr>
        <p:txBody>
          <a:bodyPr wrap="square" lIns="0" tIns="0" rIns="0" bIns="0" rtlCol="0" anchor="ctr"/>
          <a:lstStyle/>
          <a:p>
            <a:pPr indent="0" marL="0">
              <a:buNone/>
            </a:pPr>
            <a:r>
              <a:rPr lang="en-US" sz="1100" b="1" dirty="0">
                <a:solidFill>
                  <a:srgbClr val="0D5F6B"/>
                </a:solidFill>
              </a:rPr>
              <a:t>Vermont's Equity Decision</a:t>
            </a:r>
            <a:endParaRPr lang="en-US" sz="1100" dirty="0"/>
          </a:p>
        </p:txBody>
      </p:sp>
      <p:sp>
        <p:nvSpPr>
          <p:cNvPr id="12" name="Text 9"/>
          <p:cNvSpPr/>
          <p:nvPr/>
        </p:nvSpPr>
        <p:spPr>
          <a:xfrm>
            <a:off x="5166360" y="3703320"/>
            <a:ext cx="3474720" cy="658368"/>
          </a:xfrm>
          <a:prstGeom prst="rect">
            <a:avLst/>
          </a:prstGeom>
          <a:noFill/>
          <a:ln/>
        </p:spPr>
        <p:txBody>
          <a:bodyPr wrap="square" lIns="0" tIns="0" rIns="0" bIns="0" rtlCol="0" anchor="ctr"/>
          <a:lstStyle/>
          <a:p>
            <a:pPr indent="0" marL="0">
              <a:buNone/>
            </a:pPr>
            <a:r>
              <a:rPr lang="en-US" sz="1000" dirty="0">
                <a:solidFill>
                  <a:srgbClr val="1A1A1A"/>
                </a:solidFill>
              </a:rPr>
              <a:t>Vermont Medicaid covers GLP-1s for diabetes but NOT obesity. BALANCE opt-in is an equity policy choice: Medicaid patients have higher obesity, diabetes, and cardiovascular disease rates.</a:t>
            </a:r>
            <a:endParaRPr lang="en-US" sz="1000" dirty="0"/>
          </a:p>
        </p:txBody>
      </p:sp>
      <p:sp>
        <p:nvSpPr>
          <p:cNvPr id="13" name="Text 10"/>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12 — Source: KFF GLP-1 Medicaid Coverage Analysis (January 2026); CMS BALANCE Model (December 2025)</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VERMONT EQUITY ACCOUNTABILITY FRAMEWORK — 2028 STRATEGIC PLAN TARGETS</a:t>
            </a:r>
            <a:endParaRPr lang="en-US" sz="17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274320" y="685800"/>
          <a:ext cx="8595360" cy="4297680"/>
        </p:xfrm>
        <a:graphic>
          <a:graphicData uri="http://schemas.openxmlformats.org/drawingml/2006/table">
            <a:tbl>
              <a:tblPr/>
              <a:tblGrid>
                <a:gridCol w="2194560"/>
                <a:gridCol w="1920240"/>
                <a:gridCol w="2194560"/>
                <a:gridCol w="2286000"/>
              </a:tblGrid>
              <a:tr h="475488">
                <a:tc>
                  <a:txBody>
                    <a:bodyPr/>
                    <a:lstStyle/>
                    <a:p>
                      <a:pPr indent="0" marL="0">
                        <a:buNone/>
                      </a:pPr>
                      <a:r>
                        <a:rPr lang="en-US" sz="1100" b="1" dirty="0">
                          <a:solidFill>
                            <a:srgbClr val="FFFFFF"/>
                          </a:solidFill>
                        </a:rPr>
                        <a:t>Equity Indicator</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Stratification</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Current Status</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100" b="1" dirty="0">
                          <a:solidFill>
                            <a:srgbClr val="FFFFFF"/>
                          </a:solidFill>
                        </a:rPr>
                        <a:t>Target Direction</a:t>
                      </a:r>
                      <a:endParaRPr lang="en-US" sz="11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475488">
                <a:tc>
                  <a:txBody>
                    <a:bodyPr/>
                    <a:lstStyle/>
                    <a:p>
                      <a:pPr indent="0" marL="0">
                        <a:buNone/>
                      </a:pPr>
                      <a:r>
                        <a:rPr lang="en-US" sz="980" dirty="0">
                          <a:solidFill>
                            <a:srgbClr val="000000"/>
                          </a:solidFill>
                        </a:rPr>
                        <a:t>Uninsured rate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By county (focus: Essex, Orleans, Caledonia)</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Essex: ~8% vs. 3% statewide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980" dirty="0">
                          <a:solidFill>
                            <a:srgbClr val="000000"/>
                          </a:solidFill>
                        </a:rPr>
                        <a:t>Reduce NE Kingdom gap toward statewide 3% by 2030</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75488">
                <a:tc>
                  <a:txBody>
                    <a:bodyPr/>
                    <a:lstStyle/>
                    <a:p>
                      <a:pPr indent="0" marL="0">
                        <a:buNone/>
                      </a:pPr>
                      <a:r>
                        <a:rPr lang="en-US" sz="980" dirty="0">
                          <a:solidFill>
                            <a:srgbClr val="000000"/>
                          </a:solidFill>
                        </a:rPr>
                        <a:t>Primary care access rate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By race/ethnicity (BIPOC vs. white)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BIPOC adults: 79-81% vs. 91% statewide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AE0E0"/>
                    </a:solidFill>
                  </a:tcPr>
                </a:tc>
                <a:tc>
                  <a:txBody>
                    <a:bodyPr/>
                    <a:lstStyle/>
                    <a:p>
                      <a:pPr indent="0" marL="0">
                        <a:buNone/>
                      </a:pPr>
                      <a:r>
                        <a:rPr lang="en-US" sz="980" dirty="0">
                          <a:solidFill>
                            <a:srgbClr val="000000"/>
                          </a:solidFill>
                        </a:rPr>
                        <a:t>Reduce gap — target 87%+ for all race/ethnicity groups</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75488">
                <a:tc>
                  <a:txBody>
                    <a:bodyPr/>
                    <a:lstStyle/>
                    <a:p>
                      <a:pPr indent="0" marL="0">
                        <a:buNone/>
                      </a:pPr>
                      <a:r>
                        <a:rPr lang="en-US" sz="980" dirty="0">
                          <a:solidFill>
                            <a:srgbClr val="000000"/>
                          </a:solidFill>
                        </a:rPr>
                        <a:t>Potentially avoidable ED visits</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By county; by income quintile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32.3% statewide — higher in rural counties</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Track NE Kingdom rate; reduce toward statewide average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75488">
                <a:tc>
                  <a:txBody>
                    <a:bodyPr/>
                    <a:lstStyle/>
                    <a:p>
                      <a:pPr indent="0" marL="0">
                        <a:buNone/>
                      </a:pPr>
                      <a:r>
                        <a:rPr lang="en-US" sz="980" dirty="0">
                          <a:solidFill>
                            <a:srgbClr val="000000"/>
                          </a:solidFill>
                        </a:rPr>
                        <a:t>30-day MH/SUD follow-up</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By county; by race/ethnicity</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76% MH / 68% SUD — gaps in Rutland, Windham</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0CC"/>
                    </a:solidFill>
                  </a:tcPr>
                </a:tc>
                <a:tc>
                  <a:txBody>
                    <a:bodyPr/>
                    <a:lstStyle/>
                    <a:p>
                      <a:pPr indent="0" marL="0">
                        <a:buNone/>
                      </a:pPr>
                      <a:r>
                        <a:rPr lang="en-US" sz="980" dirty="0">
                          <a:solidFill>
                            <a:srgbClr val="000000"/>
                          </a:solidFill>
                        </a:rPr>
                        <a:t>Increase toward 85%+ in all counties</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75488">
                <a:tc>
                  <a:txBody>
                    <a:bodyPr/>
                    <a:lstStyle/>
                    <a:p>
                      <a:pPr indent="0" marL="0">
                        <a:buNone/>
                      </a:pPr>
                      <a:r>
                        <a:rPr lang="en-US" sz="980" dirty="0">
                          <a:solidFill>
                            <a:srgbClr val="000000"/>
                          </a:solidFill>
                        </a:rPr>
                        <a:t>GLP-1 access for Medicaid enrollees</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By income; by county</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Not covered for obesity indication</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BALANCE Model opt-in decision 2026</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75488">
                <a:tc>
                  <a:txBody>
                    <a:bodyPr/>
                    <a:lstStyle/>
                    <a:p>
                      <a:pPr indent="0" marL="0">
                        <a:buNone/>
                      </a:pPr>
                      <a:r>
                        <a:rPr lang="en-US" sz="980" dirty="0">
                          <a:solidFill>
                            <a:srgbClr val="000000"/>
                          </a:solidFill>
                        </a:rPr>
                        <a:t>SDOH screening completion</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By HSA; by patient demographics</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Operational in Blueprint PCMHs; not uniform</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Universal completion in all Blueprint PCMHs by 2027</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475488">
                <a:tc>
                  <a:txBody>
                    <a:bodyPr/>
                    <a:lstStyle/>
                    <a:p>
                      <a:pPr indent="0" marL="0">
                        <a:buNone/>
                      </a:pPr>
                      <a:r>
                        <a:rPr lang="en-US" sz="980" dirty="0">
                          <a:solidFill>
                            <a:srgbClr val="000000"/>
                          </a:solidFill>
                        </a:rPr>
                        <a:t>Emergency response time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By county (focus: NE Kingdom)</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No current baseline</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80" dirty="0">
                          <a:solidFill>
                            <a:srgbClr val="000000"/>
                          </a:solidFill>
                        </a:rPr>
                        <a:t>Establish baseline; track improvement via EMS regionalization</a:t>
                      </a:r>
                      <a:endParaRPr lang="en-US" sz="98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12 — Source: Act 167; Act 68; VDH Health Equity Data Report (January 2025); AHS November 2025 Transformation Report</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14</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Technology Pillar — Data Infrastructure</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VERMONT'S TARGET TECHNOLOGY ARCHITECTURE — FIVE LAYERS</a:t>
            </a:r>
            <a:endParaRPr lang="en-US" sz="1800" dirty="0"/>
          </a:p>
        </p:txBody>
      </p:sp>
      <p:sp>
        <p:nvSpPr>
          <p:cNvPr id="3" name="Shape 1"/>
          <p:cNvSpPr/>
          <p:nvPr/>
        </p:nvSpPr>
        <p:spPr>
          <a:xfrm>
            <a:off x="274320" y="713232"/>
            <a:ext cx="8595360" cy="749808"/>
          </a:xfrm>
          <a:prstGeom prst="rect">
            <a:avLst/>
          </a:prstGeom>
          <a:solidFill>
            <a:srgbClr val="E8D5F5"/>
          </a:solidFill>
          <a:ln w="12700">
            <a:solidFill>
              <a:srgbClr val="4A2070"/>
            </a:solidFill>
            <a:prstDash val="solid"/>
          </a:ln>
        </p:spPr>
      </p:sp>
      <p:sp>
        <p:nvSpPr>
          <p:cNvPr id="4" name="Shape 2"/>
          <p:cNvSpPr/>
          <p:nvPr/>
        </p:nvSpPr>
        <p:spPr>
          <a:xfrm>
            <a:off x="274320" y="713232"/>
            <a:ext cx="1234440" cy="749808"/>
          </a:xfrm>
          <a:prstGeom prst="rect">
            <a:avLst/>
          </a:prstGeom>
          <a:solidFill>
            <a:srgbClr val="4A2070"/>
          </a:solidFill>
          <a:ln/>
        </p:spPr>
      </p:sp>
      <p:sp>
        <p:nvSpPr>
          <p:cNvPr id="5" name="Text 3"/>
          <p:cNvSpPr/>
          <p:nvPr/>
        </p:nvSpPr>
        <p:spPr>
          <a:xfrm>
            <a:off x="274320" y="713232"/>
            <a:ext cx="1234440" cy="749808"/>
          </a:xfrm>
          <a:prstGeom prst="rect">
            <a:avLst/>
          </a:prstGeom>
          <a:noFill/>
          <a:ln/>
        </p:spPr>
        <p:txBody>
          <a:bodyPr wrap="square" rtlCol="0" anchor="ctr"/>
          <a:lstStyle/>
          <a:p>
            <a:pPr algn="ctr" indent="0" marL="0">
              <a:buNone/>
            </a:pPr>
            <a:r>
              <a:rPr lang="en-US" sz="1000" b="1" dirty="0">
                <a:solidFill>
                  <a:srgbClr val="FFFFFF"/>
                </a:solidFill>
              </a:rPr>
              <a:t>Layer 5</a:t>
            </a:r>
            <a:endParaRPr lang="en-US" sz="1000" dirty="0"/>
          </a:p>
        </p:txBody>
      </p:sp>
      <p:sp>
        <p:nvSpPr>
          <p:cNvPr id="6" name="Text 4"/>
          <p:cNvSpPr/>
          <p:nvPr/>
        </p:nvSpPr>
        <p:spPr>
          <a:xfrm>
            <a:off x="1600200" y="758952"/>
            <a:ext cx="7132320" cy="292608"/>
          </a:xfrm>
          <a:prstGeom prst="rect">
            <a:avLst/>
          </a:prstGeom>
          <a:noFill/>
          <a:ln/>
        </p:spPr>
        <p:txBody>
          <a:bodyPr wrap="square" lIns="0" tIns="0" rIns="0" bIns="0" rtlCol="0" anchor="ctr"/>
          <a:lstStyle/>
          <a:p>
            <a:pPr indent="0" marL="0">
              <a:buNone/>
            </a:pPr>
            <a:r>
              <a:rPr lang="en-US" sz="1100" b="1" dirty="0">
                <a:solidFill>
                  <a:srgbClr val="4A2070"/>
                </a:solidFill>
              </a:rPr>
              <a:t>Advanced Analytics &amp; AI Applications</a:t>
            </a:r>
            <a:endParaRPr lang="en-US" sz="1100" dirty="0"/>
          </a:p>
        </p:txBody>
      </p:sp>
      <p:sp>
        <p:nvSpPr>
          <p:cNvPr id="7" name="Text 5"/>
          <p:cNvSpPr/>
          <p:nvPr/>
        </p:nvSpPr>
        <p:spPr>
          <a:xfrm>
            <a:off x="1600200" y="1097280"/>
            <a:ext cx="7132320" cy="320040"/>
          </a:xfrm>
          <a:prstGeom prst="rect">
            <a:avLst/>
          </a:prstGeom>
          <a:noFill/>
          <a:ln/>
        </p:spPr>
        <p:txBody>
          <a:bodyPr wrap="square" lIns="0" tIns="0" rIns="0" bIns="0" rtlCol="0" anchor="ctr"/>
          <a:lstStyle/>
          <a:p>
            <a:pPr indent="0" marL="0">
              <a:buNone/>
            </a:pPr>
            <a:r>
              <a:rPr lang="en-US" sz="1000" dirty="0">
                <a:solidFill>
                  <a:srgbClr val="444444"/>
                </a:solidFill>
              </a:rPr>
              <a:t>Population health analytics platform (AHS-GMCB)  ·  AI scribe grants (RHT)  ·  Diagnostic AI (CIN)  ·  RPM  ·  Price transparency</a:t>
            </a:r>
            <a:endParaRPr lang="en-US" sz="1000" dirty="0"/>
          </a:p>
        </p:txBody>
      </p:sp>
      <p:sp>
        <p:nvSpPr>
          <p:cNvPr id="8" name="Shape 6"/>
          <p:cNvSpPr/>
          <p:nvPr/>
        </p:nvSpPr>
        <p:spPr>
          <a:xfrm>
            <a:off x="274320" y="1554480"/>
            <a:ext cx="8595360" cy="749808"/>
          </a:xfrm>
          <a:prstGeom prst="rect">
            <a:avLst/>
          </a:prstGeom>
          <a:solidFill>
            <a:srgbClr val="D4F1F4"/>
          </a:solidFill>
          <a:ln w="12700">
            <a:solidFill>
              <a:srgbClr val="0D5F6B"/>
            </a:solidFill>
            <a:prstDash val="solid"/>
          </a:ln>
        </p:spPr>
      </p:sp>
      <p:sp>
        <p:nvSpPr>
          <p:cNvPr id="9" name="Shape 7"/>
          <p:cNvSpPr/>
          <p:nvPr/>
        </p:nvSpPr>
        <p:spPr>
          <a:xfrm>
            <a:off x="274320" y="1554480"/>
            <a:ext cx="1234440" cy="749808"/>
          </a:xfrm>
          <a:prstGeom prst="rect">
            <a:avLst/>
          </a:prstGeom>
          <a:solidFill>
            <a:srgbClr val="0D5F6B"/>
          </a:solidFill>
          <a:ln/>
        </p:spPr>
      </p:sp>
      <p:sp>
        <p:nvSpPr>
          <p:cNvPr id="10" name="Text 8"/>
          <p:cNvSpPr/>
          <p:nvPr/>
        </p:nvSpPr>
        <p:spPr>
          <a:xfrm>
            <a:off x="274320" y="1554480"/>
            <a:ext cx="1234440" cy="749808"/>
          </a:xfrm>
          <a:prstGeom prst="rect">
            <a:avLst/>
          </a:prstGeom>
          <a:noFill/>
          <a:ln/>
        </p:spPr>
        <p:txBody>
          <a:bodyPr wrap="square" rtlCol="0" anchor="ctr"/>
          <a:lstStyle/>
          <a:p>
            <a:pPr algn="ctr" indent="0" marL="0">
              <a:buNone/>
            </a:pPr>
            <a:r>
              <a:rPr lang="en-US" sz="1000" b="1" dirty="0">
                <a:solidFill>
                  <a:srgbClr val="FFFFFF"/>
                </a:solidFill>
              </a:rPr>
              <a:t>Layer 4</a:t>
            </a:r>
            <a:endParaRPr lang="en-US" sz="1000" dirty="0"/>
          </a:p>
        </p:txBody>
      </p:sp>
      <p:sp>
        <p:nvSpPr>
          <p:cNvPr id="11" name="Text 9"/>
          <p:cNvSpPr/>
          <p:nvPr/>
        </p:nvSpPr>
        <p:spPr>
          <a:xfrm>
            <a:off x="1600200" y="1600200"/>
            <a:ext cx="7132320" cy="292608"/>
          </a:xfrm>
          <a:prstGeom prst="rect">
            <a:avLst/>
          </a:prstGeom>
          <a:noFill/>
          <a:ln/>
        </p:spPr>
        <p:txBody>
          <a:bodyPr wrap="square" lIns="0" tIns="0" rIns="0" bIns="0" rtlCol="0" anchor="ctr"/>
          <a:lstStyle/>
          <a:p>
            <a:pPr indent="0" marL="0">
              <a:buNone/>
            </a:pPr>
            <a:r>
              <a:rPr lang="en-US" sz="1100" b="1" dirty="0">
                <a:solidFill>
                  <a:srgbClr val="0D5F6B"/>
                </a:solidFill>
              </a:rPr>
              <a:t>Population Health Management</a:t>
            </a:r>
            <a:endParaRPr lang="en-US" sz="1100" dirty="0"/>
          </a:p>
        </p:txBody>
      </p:sp>
      <p:sp>
        <p:nvSpPr>
          <p:cNvPr id="12" name="Text 10"/>
          <p:cNvSpPr/>
          <p:nvPr/>
        </p:nvSpPr>
        <p:spPr>
          <a:xfrm>
            <a:off x="1600200" y="1938528"/>
            <a:ext cx="7132320" cy="320040"/>
          </a:xfrm>
          <a:prstGeom prst="rect">
            <a:avLst/>
          </a:prstGeom>
          <a:noFill/>
          <a:ln/>
        </p:spPr>
        <p:txBody>
          <a:bodyPr wrap="square" lIns="0" tIns="0" rIns="0" bIns="0" rtlCol="0" anchor="ctr"/>
          <a:lstStyle/>
          <a:p>
            <a:pPr indent="0" marL="0">
              <a:buNone/>
            </a:pPr>
            <a:r>
              <a:rPr lang="en-US" sz="1000" dirty="0">
                <a:solidFill>
                  <a:srgbClr val="444444"/>
                </a:solidFill>
              </a:rPr>
              <a:t>Blueprint clinical data registry  ·  Attribution management  ·  SDOH screening data  ·  CHT care coordination registry</a:t>
            </a:r>
            <a:endParaRPr lang="en-US" sz="1000" dirty="0"/>
          </a:p>
        </p:txBody>
      </p:sp>
      <p:sp>
        <p:nvSpPr>
          <p:cNvPr id="13" name="Shape 11"/>
          <p:cNvSpPr/>
          <p:nvPr/>
        </p:nvSpPr>
        <p:spPr>
          <a:xfrm>
            <a:off x="274320" y="2395728"/>
            <a:ext cx="8595360" cy="749808"/>
          </a:xfrm>
          <a:prstGeom prst="rect">
            <a:avLst/>
          </a:prstGeom>
          <a:solidFill>
            <a:srgbClr val="D5E8F0"/>
          </a:solidFill>
          <a:ln w="12700">
            <a:solidFill>
              <a:srgbClr val="2E75B6"/>
            </a:solidFill>
            <a:prstDash val="solid"/>
          </a:ln>
        </p:spPr>
      </p:sp>
      <p:sp>
        <p:nvSpPr>
          <p:cNvPr id="14" name="Shape 12"/>
          <p:cNvSpPr/>
          <p:nvPr/>
        </p:nvSpPr>
        <p:spPr>
          <a:xfrm>
            <a:off x="274320" y="2395728"/>
            <a:ext cx="1234440" cy="749808"/>
          </a:xfrm>
          <a:prstGeom prst="rect">
            <a:avLst/>
          </a:prstGeom>
          <a:solidFill>
            <a:srgbClr val="2E75B6"/>
          </a:solidFill>
          <a:ln/>
        </p:spPr>
      </p:sp>
      <p:sp>
        <p:nvSpPr>
          <p:cNvPr id="15" name="Text 13"/>
          <p:cNvSpPr/>
          <p:nvPr/>
        </p:nvSpPr>
        <p:spPr>
          <a:xfrm>
            <a:off x="274320" y="2395728"/>
            <a:ext cx="1234440" cy="749808"/>
          </a:xfrm>
          <a:prstGeom prst="rect">
            <a:avLst/>
          </a:prstGeom>
          <a:noFill/>
          <a:ln/>
        </p:spPr>
        <p:txBody>
          <a:bodyPr wrap="square" rtlCol="0" anchor="ctr"/>
          <a:lstStyle/>
          <a:p>
            <a:pPr algn="ctr" indent="0" marL="0">
              <a:buNone/>
            </a:pPr>
            <a:r>
              <a:rPr lang="en-US" sz="1000" b="1" dirty="0">
                <a:solidFill>
                  <a:srgbClr val="FFFFFF"/>
                </a:solidFill>
              </a:rPr>
              <a:t>Layer 3</a:t>
            </a:r>
            <a:endParaRPr lang="en-US" sz="1000" dirty="0"/>
          </a:p>
        </p:txBody>
      </p:sp>
      <p:sp>
        <p:nvSpPr>
          <p:cNvPr id="16" name="Text 14"/>
          <p:cNvSpPr/>
          <p:nvPr/>
        </p:nvSpPr>
        <p:spPr>
          <a:xfrm>
            <a:off x="1600200" y="2441448"/>
            <a:ext cx="7132320" cy="292608"/>
          </a:xfrm>
          <a:prstGeom prst="rect">
            <a:avLst/>
          </a:prstGeom>
          <a:noFill/>
          <a:ln/>
        </p:spPr>
        <p:txBody>
          <a:bodyPr wrap="square" lIns="0" tIns="0" rIns="0" bIns="0" rtlCol="0" anchor="ctr"/>
          <a:lstStyle/>
          <a:p>
            <a:pPr indent="0" marL="0">
              <a:buNone/>
            </a:pPr>
            <a:r>
              <a:rPr lang="en-US" sz="1100" b="1" dirty="0">
                <a:solidFill>
                  <a:srgbClr val="2E75B6"/>
                </a:solidFill>
              </a:rPr>
              <a:t>Integrated Health Record (Target State)</a:t>
            </a:r>
            <a:endParaRPr lang="en-US" sz="1100" dirty="0"/>
          </a:p>
        </p:txBody>
      </p:sp>
      <p:sp>
        <p:nvSpPr>
          <p:cNvPr id="17" name="Text 15"/>
          <p:cNvSpPr/>
          <p:nvPr/>
        </p:nvSpPr>
        <p:spPr>
          <a:xfrm>
            <a:off x="1600200" y="2779776"/>
            <a:ext cx="7132320" cy="320040"/>
          </a:xfrm>
          <a:prstGeom prst="rect">
            <a:avLst/>
          </a:prstGeom>
          <a:noFill/>
          <a:ln/>
        </p:spPr>
        <p:txBody>
          <a:bodyPr wrap="square" lIns="0" tIns="0" rIns="0" bIns="0" rtlCol="0" anchor="ctr"/>
          <a:lstStyle/>
          <a:p>
            <a:pPr indent="0" marL="0">
              <a:buNone/>
            </a:pPr>
            <a:r>
              <a:rPr lang="en-US" sz="1000" dirty="0">
                <a:solidFill>
                  <a:srgbClr val="444444"/>
                </a:solidFill>
              </a:rPr>
              <a:t>VHCURES-VHIE integration  ·  MH and SUD data (42 CFR Part 2 compliant)  ·  SDOH data  ·  Single patient identity</a:t>
            </a:r>
            <a:endParaRPr lang="en-US" sz="1000" dirty="0"/>
          </a:p>
        </p:txBody>
      </p:sp>
      <p:sp>
        <p:nvSpPr>
          <p:cNvPr id="18" name="Shape 16"/>
          <p:cNvSpPr/>
          <p:nvPr/>
        </p:nvSpPr>
        <p:spPr>
          <a:xfrm>
            <a:off x="274320" y="3236976"/>
            <a:ext cx="8595360" cy="749808"/>
          </a:xfrm>
          <a:prstGeom prst="rect">
            <a:avLst/>
          </a:prstGeom>
          <a:solidFill>
            <a:srgbClr val="D9EFE3"/>
          </a:solidFill>
          <a:ln w="12700">
            <a:solidFill>
              <a:srgbClr val="1E6B3C"/>
            </a:solidFill>
            <a:prstDash val="solid"/>
          </a:ln>
        </p:spPr>
      </p:sp>
      <p:sp>
        <p:nvSpPr>
          <p:cNvPr id="19" name="Shape 17"/>
          <p:cNvSpPr/>
          <p:nvPr/>
        </p:nvSpPr>
        <p:spPr>
          <a:xfrm>
            <a:off x="274320" y="3236976"/>
            <a:ext cx="1234440" cy="749808"/>
          </a:xfrm>
          <a:prstGeom prst="rect">
            <a:avLst/>
          </a:prstGeom>
          <a:solidFill>
            <a:srgbClr val="1E6B3C"/>
          </a:solidFill>
          <a:ln/>
        </p:spPr>
      </p:sp>
      <p:sp>
        <p:nvSpPr>
          <p:cNvPr id="20" name="Text 18"/>
          <p:cNvSpPr/>
          <p:nvPr/>
        </p:nvSpPr>
        <p:spPr>
          <a:xfrm>
            <a:off x="274320" y="3236976"/>
            <a:ext cx="1234440" cy="749808"/>
          </a:xfrm>
          <a:prstGeom prst="rect">
            <a:avLst/>
          </a:prstGeom>
          <a:noFill/>
          <a:ln/>
        </p:spPr>
        <p:txBody>
          <a:bodyPr wrap="square" rtlCol="0" anchor="ctr"/>
          <a:lstStyle/>
          <a:p>
            <a:pPr algn="ctr" indent="0" marL="0">
              <a:buNone/>
            </a:pPr>
            <a:r>
              <a:rPr lang="en-US" sz="1000" b="1" dirty="0">
                <a:solidFill>
                  <a:srgbClr val="FFFFFF"/>
                </a:solidFill>
              </a:rPr>
              <a:t>Layer 2</a:t>
            </a:r>
            <a:endParaRPr lang="en-US" sz="1000" dirty="0"/>
          </a:p>
        </p:txBody>
      </p:sp>
      <p:sp>
        <p:nvSpPr>
          <p:cNvPr id="21" name="Text 19"/>
          <p:cNvSpPr/>
          <p:nvPr/>
        </p:nvSpPr>
        <p:spPr>
          <a:xfrm>
            <a:off x="1600200" y="3282696"/>
            <a:ext cx="7132320" cy="292608"/>
          </a:xfrm>
          <a:prstGeom prst="rect">
            <a:avLst/>
          </a:prstGeom>
          <a:noFill/>
          <a:ln/>
        </p:spPr>
        <p:txBody>
          <a:bodyPr wrap="square" lIns="0" tIns="0" rIns="0" bIns="0" rtlCol="0" anchor="ctr"/>
          <a:lstStyle/>
          <a:p>
            <a:pPr indent="0" marL="0">
              <a:buNone/>
            </a:pPr>
            <a:r>
              <a:rPr lang="en-US" sz="1100" b="1" dirty="0">
                <a:solidFill>
                  <a:srgbClr val="1E6B3C"/>
                </a:solidFill>
              </a:rPr>
              <a:t>Data Exchange Infrastructure</a:t>
            </a:r>
            <a:endParaRPr lang="en-US" sz="1100" dirty="0"/>
          </a:p>
        </p:txBody>
      </p:sp>
      <p:sp>
        <p:nvSpPr>
          <p:cNvPr id="22" name="Text 20"/>
          <p:cNvSpPr/>
          <p:nvPr/>
        </p:nvSpPr>
        <p:spPr>
          <a:xfrm>
            <a:off x="1600200" y="3621024"/>
            <a:ext cx="7132320" cy="320040"/>
          </a:xfrm>
          <a:prstGeom prst="rect">
            <a:avLst/>
          </a:prstGeom>
          <a:noFill/>
          <a:ln/>
        </p:spPr>
        <p:txBody>
          <a:bodyPr wrap="square" lIns="0" tIns="0" rIns="0" bIns="0" rtlCol="0" anchor="ctr"/>
          <a:lstStyle/>
          <a:p>
            <a:pPr indent="0" marL="0">
              <a:buNone/>
            </a:pPr>
            <a:r>
              <a:rPr lang="en-US" sz="1000" dirty="0">
                <a:solidFill>
                  <a:srgbClr val="444444"/>
                </a:solidFill>
              </a:rPr>
              <a:t>Vermont VHIE/VITL  ·  FHIR R4 APIs  ·  Vermont CIN data standards  ·  CommonWell/Carequality national connectivity</a:t>
            </a:r>
            <a:endParaRPr lang="en-US" sz="1000" dirty="0"/>
          </a:p>
        </p:txBody>
      </p:sp>
      <p:sp>
        <p:nvSpPr>
          <p:cNvPr id="23" name="Shape 21"/>
          <p:cNvSpPr/>
          <p:nvPr/>
        </p:nvSpPr>
        <p:spPr>
          <a:xfrm>
            <a:off x="274320" y="4078224"/>
            <a:ext cx="8595360" cy="749808"/>
          </a:xfrm>
          <a:prstGeom prst="rect">
            <a:avLst/>
          </a:prstGeom>
          <a:solidFill>
            <a:srgbClr val="ECEFF1"/>
          </a:solidFill>
          <a:ln w="12700">
            <a:solidFill>
              <a:srgbClr val="36454F"/>
            </a:solidFill>
            <a:prstDash val="solid"/>
          </a:ln>
        </p:spPr>
      </p:sp>
      <p:sp>
        <p:nvSpPr>
          <p:cNvPr id="24" name="Shape 22"/>
          <p:cNvSpPr/>
          <p:nvPr/>
        </p:nvSpPr>
        <p:spPr>
          <a:xfrm>
            <a:off x="274320" y="4078224"/>
            <a:ext cx="1234440" cy="749808"/>
          </a:xfrm>
          <a:prstGeom prst="rect">
            <a:avLst/>
          </a:prstGeom>
          <a:solidFill>
            <a:srgbClr val="36454F"/>
          </a:solidFill>
          <a:ln/>
        </p:spPr>
      </p:sp>
      <p:sp>
        <p:nvSpPr>
          <p:cNvPr id="25" name="Text 23"/>
          <p:cNvSpPr/>
          <p:nvPr/>
        </p:nvSpPr>
        <p:spPr>
          <a:xfrm>
            <a:off x="274320" y="4078224"/>
            <a:ext cx="1234440" cy="749808"/>
          </a:xfrm>
          <a:prstGeom prst="rect">
            <a:avLst/>
          </a:prstGeom>
          <a:noFill/>
          <a:ln/>
        </p:spPr>
        <p:txBody>
          <a:bodyPr wrap="square" rtlCol="0" anchor="ctr"/>
          <a:lstStyle/>
          <a:p>
            <a:pPr algn="ctr" indent="0" marL="0">
              <a:buNone/>
            </a:pPr>
            <a:r>
              <a:rPr lang="en-US" sz="1000" b="1" dirty="0">
                <a:solidFill>
                  <a:srgbClr val="FFFFFF"/>
                </a:solidFill>
              </a:rPr>
              <a:t>Layer 1</a:t>
            </a:r>
            <a:endParaRPr lang="en-US" sz="1000" dirty="0"/>
          </a:p>
        </p:txBody>
      </p:sp>
      <p:sp>
        <p:nvSpPr>
          <p:cNvPr id="26" name="Text 24"/>
          <p:cNvSpPr/>
          <p:nvPr/>
        </p:nvSpPr>
        <p:spPr>
          <a:xfrm>
            <a:off x="1600200" y="4123944"/>
            <a:ext cx="7132320" cy="292608"/>
          </a:xfrm>
          <a:prstGeom prst="rect">
            <a:avLst/>
          </a:prstGeom>
          <a:noFill/>
          <a:ln/>
        </p:spPr>
        <p:txBody>
          <a:bodyPr wrap="square" lIns="0" tIns="0" rIns="0" bIns="0" rtlCol="0" anchor="ctr"/>
          <a:lstStyle/>
          <a:p>
            <a:pPr indent="0" marL="0">
              <a:buNone/>
            </a:pPr>
            <a:r>
              <a:rPr lang="en-US" sz="1100" b="1" dirty="0">
                <a:solidFill>
                  <a:srgbClr val="36454F"/>
                </a:solidFill>
              </a:rPr>
              <a:t>Core Data Assets (Foundation)</a:t>
            </a:r>
            <a:endParaRPr lang="en-US" sz="1100" dirty="0"/>
          </a:p>
        </p:txBody>
      </p:sp>
      <p:sp>
        <p:nvSpPr>
          <p:cNvPr id="27" name="Text 25"/>
          <p:cNvSpPr/>
          <p:nvPr/>
        </p:nvSpPr>
        <p:spPr>
          <a:xfrm>
            <a:off x="1600200" y="4462272"/>
            <a:ext cx="7132320" cy="320040"/>
          </a:xfrm>
          <a:prstGeom prst="rect">
            <a:avLst/>
          </a:prstGeom>
          <a:noFill/>
          <a:ln/>
        </p:spPr>
        <p:txBody>
          <a:bodyPr wrap="square" lIns="0" tIns="0" rIns="0" bIns="0" rtlCol="0" anchor="ctr"/>
          <a:lstStyle/>
          <a:p>
            <a:pPr indent="0" marL="0">
              <a:buNone/>
            </a:pPr>
            <a:r>
              <a:rPr lang="en-US" sz="1000" dirty="0">
                <a:solidFill>
                  <a:srgbClr val="444444"/>
                </a:solidFill>
              </a:rPr>
              <a:t>VHCURES (100% Medicare/Medicaid; 60% commercial)  ·  VUHDDS (14 hospitals)  ·  4 EHR platforms  ·  Blueprint clinical registry  ·  GMCB regulatory data</a:t>
            </a:r>
            <a:endParaRPr lang="en-US" sz="1000" dirty="0"/>
          </a:p>
        </p:txBody>
      </p:sp>
      <p:sp>
        <p:nvSpPr>
          <p:cNvPr id="28" name="Text 26"/>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14 — Source: GMCB VHCURES documentation; Vermont HIE Strategic Plan; Oliver Wyman Report; Vermont RHT Application</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VHCURES — VERMONT'S ALL-PAYER CLAIMS DATABASE: COVERAGE AND GAPS</a:t>
            </a:r>
            <a:endParaRPr lang="en-US" sz="1800" dirty="0"/>
          </a:p>
        </p:txBody>
      </p:sp>
      <p:graphicFrame>
        <p:nvGraphicFramePr>
          <p:cNvPr id="3" name="Chart 0" descr=""/>
          <p:cNvGraphicFramePr/>
          <p:nvPr/>
        </p:nvGraphicFramePr>
        <p:xfrm>
          <a:off x="274320" y="685800"/>
          <a:ext cx="4389120" cy="34747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029200" y="713232"/>
            <a:ext cx="3749040" cy="1170432"/>
          </a:xfrm>
          <a:prstGeom prst="rect">
            <a:avLst/>
          </a:prstGeom>
          <a:solidFill>
            <a:srgbClr val="FFFFFF"/>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5" name="Shape 2"/>
          <p:cNvSpPr/>
          <p:nvPr/>
        </p:nvSpPr>
        <p:spPr>
          <a:xfrm>
            <a:off x="5029200" y="713232"/>
            <a:ext cx="3749040" cy="292608"/>
          </a:xfrm>
          <a:prstGeom prst="rect">
            <a:avLst/>
          </a:prstGeom>
          <a:solidFill>
            <a:srgbClr val="7B4A00"/>
          </a:solidFill>
          <a:ln/>
        </p:spPr>
      </p:sp>
      <p:sp>
        <p:nvSpPr>
          <p:cNvPr id="6" name="Text 3"/>
          <p:cNvSpPr/>
          <p:nvPr/>
        </p:nvSpPr>
        <p:spPr>
          <a:xfrm>
            <a:off x="5029200" y="713232"/>
            <a:ext cx="3749040" cy="292608"/>
          </a:xfrm>
          <a:prstGeom prst="rect">
            <a:avLst/>
          </a:prstGeom>
          <a:noFill/>
          <a:ln/>
        </p:spPr>
        <p:txBody>
          <a:bodyPr wrap="square" rtlCol="0" anchor="ctr"/>
          <a:lstStyle/>
          <a:p>
            <a:pPr algn="ctr" indent="0" marL="0">
              <a:buNone/>
            </a:pPr>
            <a:r>
              <a:rPr lang="en-US" sz="1050" b="1" dirty="0">
                <a:solidFill>
                  <a:srgbClr val="FFFFFF"/>
                </a:solidFill>
              </a:rPr>
              <a:t>ERISA Gap (~40% of commercial)</a:t>
            </a:r>
            <a:endParaRPr lang="en-US" sz="1050" dirty="0"/>
          </a:p>
        </p:txBody>
      </p:sp>
      <p:sp>
        <p:nvSpPr>
          <p:cNvPr id="7" name="Text 4"/>
          <p:cNvSpPr/>
          <p:nvPr/>
        </p:nvSpPr>
        <p:spPr>
          <a:xfrm>
            <a:off x="5138928" y="1060704"/>
            <a:ext cx="3520440" cy="411480"/>
          </a:xfrm>
          <a:prstGeom prst="rect">
            <a:avLst/>
          </a:prstGeom>
          <a:noFill/>
          <a:ln/>
        </p:spPr>
        <p:txBody>
          <a:bodyPr wrap="square" lIns="0" tIns="0" rIns="0" bIns="0" rtlCol="0" anchor="ctr"/>
          <a:lstStyle/>
          <a:p>
            <a:pPr indent="0" marL="0">
              <a:buNone/>
            </a:pPr>
            <a:r>
              <a:rPr lang="en-US" sz="950" dirty="0">
                <a:solidFill>
                  <a:srgbClr val="1A1A1A"/>
                </a:solidFill>
              </a:rPr>
              <a:t>Self-insured employers cannot be required by states to submit data (federal law). Many large Vermont employers excluded.</a:t>
            </a:r>
            <a:endParaRPr lang="en-US" sz="950" dirty="0"/>
          </a:p>
        </p:txBody>
      </p:sp>
      <p:sp>
        <p:nvSpPr>
          <p:cNvPr id="8" name="Text 5"/>
          <p:cNvSpPr/>
          <p:nvPr/>
        </p:nvSpPr>
        <p:spPr>
          <a:xfrm>
            <a:off x="5138928" y="1490472"/>
            <a:ext cx="3520440" cy="320040"/>
          </a:xfrm>
          <a:prstGeom prst="rect">
            <a:avLst/>
          </a:prstGeom>
          <a:noFill/>
          <a:ln/>
        </p:spPr>
        <p:txBody>
          <a:bodyPr wrap="square" lIns="0" tIns="0" rIns="0" bIns="0" rtlCol="0" anchor="ctr"/>
          <a:lstStyle/>
          <a:p>
            <a:pPr indent="0" marL="0">
              <a:buNone/>
            </a:pPr>
            <a:r>
              <a:rPr lang="en-US" sz="950" i="1" dirty="0">
                <a:solidFill>
                  <a:srgbClr val="7B4A00"/>
                </a:solidFill>
              </a:rPr>
              <a:t>Impact: Total cost of care calculations systematically undercount commercially insured population.</a:t>
            </a:r>
            <a:endParaRPr lang="en-US" sz="950" dirty="0"/>
          </a:p>
        </p:txBody>
      </p:sp>
      <p:sp>
        <p:nvSpPr>
          <p:cNvPr id="9" name="Shape 6"/>
          <p:cNvSpPr/>
          <p:nvPr/>
        </p:nvSpPr>
        <p:spPr>
          <a:xfrm>
            <a:off x="5029200" y="2011680"/>
            <a:ext cx="3749040" cy="1170432"/>
          </a:xfrm>
          <a:prstGeom prst="rect">
            <a:avLst/>
          </a:prstGeom>
          <a:solidFill>
            <a:srgbClr val="FFFFFF"/>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10" name="Shape 7"/>
          <p:cNvSpPr/>
          <p:nvPr/>
        </p:nvSpPr>
        <p:spPr>
          <a:xfrm>
            <a:off x="5029200" y="2011680"/>
            <a:ext cx="3749040" cy="292608"/>
          </a:xfrm>
          <a:prstGeom prst="rect">
            <a:avLst/>
          </a:prstGeom>
          <a:solidFill>
            <a:srgbClr val="8B1A1A"/>
          </a:solidFill>
          <a:ln/>
        </p:spPr>
      </p:sp>
      <p:sp>
        <p:nvSpPr>
          <p:cNvPr id="11" name="Text 8"/>
          <p:cNvSpPr/>
          <p:nvPr/>
        </p:nvSpPr>
        <p:spPr>
          <a:xfrm>
            <a:off x="5029200" y="2011680"/>
            <a:ext cx="3749040" cy="292608"/>
          </a:xfrm>
          <a:prstGeom prst="rect">
            <a:avLst/>
          </a:prstGeom>
          <a:noFill/>
          <a:ln/>
        </p:spPr>
        <p:txBody>
          <a:bodyPr wrap="square" rtlCol="0" anchor="ctr"/>
          <a:lstStyle/>
          <a:p>
            <a:pPr algn="ctr" indent="0" marL="0">
              <a:buNone/>
            </a:pPr>
            <a:r>
              <a:rPr lang="en-US" sz="1050" b="1" dirty="0">
                <a:solidFill>
                  <a:srgbClr val="FFFFFF"/>
                </a:solidFill>
              </a:rPr>
              <a:t>12-18 Month Data Lag</a:t>
            </a:r>
            <a:endParaRPr lang="en-US" sz="1050" dirty="0"/>
          </a:p>
        </p:txBody>
      </p:sp>
      <p:sp>
        <p:nvSpPr>
          <p:cNvPr id="12" name="Text 9"/>
          <p:cNvSpPr/>
          <p:nvPr/>
        </p:nvSpPr>
        <p:spPr>
          <a:xfrm>
            <a:off x="5138928" y="2359152"/>
            <a:ext cx="3520440" cy="411480"/>
          </a:xfrm>
          <a:prstGeom prst="rect">
            <a:avLst/>
          </a:prstGeom>
          <a:noFill/>
          <a:ln/>
        </p:spPr>
        <p:txBody>
          <a:bodyPr wrap="square" lIns="0" tIns="0" rIns="0" bIns="0" rtlCol="0" anchor="ctr"/>
          <a:lstStyle/>
          <a:p>
            <a:pPr indent="0" marL="0">
              <a:buNone/>
            </a:pPr>
            <a:r>
              <a:rPr lang="en-US" sz="950" dirty="0">
                <a:solidFill>
                  <a:srgbClr val="1A1A1A"/>
                </a:solidFill>
              </a:rPr>
              <a:t>Most VHCURES data reflects conditions 12-18 months prior. November 2025 AHS report acknowledged most measures reflect 2023 or earlier.</a:t>
            </a:r>
            <a:endParaRPr lang="en-US" sz="950" dirty="0"/>
          </a:p>
        </p:txBody>
      </p:sp>
      <p:sp>
        <p:nvSpPr>
          <p:cNvPr id="13" name="Text 10"/>
          <p:cNvSpPr/>
          <p:nvPr/>
        </p:nvSpPr>
        <p:spPr>
          <a:xfrm>
            <a:off x="5138928" y="2788920"/>
            <a:ext cx="3520440" cy="320040"/>
          </a:xfrm>
          <a:prstGeom prst="rect">
            <a:avLst/>
          </a:prstGeom>
          <a:noFill/>
          <a:ln/>
        </p:spPr>
        <p:txBody>
          <a:bodyPr wrap="square" lIns="0" tIns="0" rIns="0" bIns="0" rtlCol="0" anchor="ctr"/>
          <a:lstStyle/>
          <a:p>
            <a:pPr indent="0" marL="0">
              <a:buNone/>
            </a:pPr>
            <a:r>
              <a:rPr lang="en-US" sz="950" i="1" dirty="0">
                <a:solidFill>
                  <a:srgbClr val="8B1A1A"/>
                </a:solidFill>
              </a:rPr>
              <a:t>Impact: Cannot manage global budgets in real-time. AHS-GMCB analytics vendor procurement addresses this.</a:t>
            </a:r>
            <a:endParaRPr lang="en-US" sz="950" dirty="0"/>
          </a:p>
        </p:txBody>
      </p:sp>
      <p:sp>
        <p:nvSpPr>
          <p:cNvPr id="14" name="Shape 11"/>
          <p:cNvSpPr/>
          <p:nvPr/>
        </p:nvSpPr>
        <p:spPr>
          <a:xfrm>
            <a:off x="5029200" y="3310128"/>
            <a:ext cx="3749040" cy="1170432"/>
          </a:xfrm>
          <a:prstGeom prst="rect">
            <a:avLst/>
          </a:prstGeom>
          <a:solidFill>
            <a:srgbClr val="FFFFFF"/>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15" name="Shape 12"/>
          <p:cNvSpPr/>
          <p:nvPr/>
        </p:nvSpPr>
        <p:spPr>
          <a:xfrm>
            <a:off x="5029200" y="3310128"/>
            <a:ext cx="3749040" cy="292608"/>
          </a:xfrm>
          <a:prstGeom prst="rect">
            <a:avLst/>
          </a:prstGeom>
          <a:solidFill>
            <a:srgbClr val="8B1A1A"/>
          </a:solidFill>
          <a:ln/>
        </p:spPr>
      </p:sp>
      <p:sp>
        <p:nvSpPr>
          <p:cNvPr id="16" name="Text 13"/>
          <p:cNvSpPr/>
          <p:nvPr/>
        </p:nvSpPr>
        <p:spPr>
          <a:xfrm>
            <a:off x="5029200" y="3310128"/>
            <a:ext cx="3749040" cy="292608"/>
          </a:xfrm>
          <a:prstGeom prst="rect">
            <a:avLst/>
          </a:prstGeom>
          <a:noFill/>
          <a:ln/>
        </p:spPr>
        <p:txBody>
          <a:bodyPr wrap="square" rtlCol="0" anchor="ctr"/>
          <a:lstStyle/>
          <a:p>
            <a:pPr algn="ctr" indent="0" marL="0">
              <a:buNone/>
            </a:pPr>
            <a:r>
              <a:rPr lang="en-US" sz="1050" b="1" dirty="0">
                <a:solidFill>
                  <a:srgbClr val="FFFFFF"/>
                </a:solidFill>
              </a:rPr>
              <a:t>No Behavioral Health / SDOH Data</a:t>
            </a:r>
            <a:endParaRPr lang="en-US" sz="1050" dirty="0"/>
          </a:p>
        </p:txBody>
      </p:sp>
      <p:sp>
        <p:nvSpPr>
          <p:cNvPr id="17" name="Text 14"/>
          <p:cNvSpPr/>
          <p:nvPr/>
        </p:nvSpPr>
        <p:spPr>
          <a:xfrm>
            <a:off x="5138928" y="3657600"/>
            <a:ext cx="3520440" cy="411480"/>
          </a:xfrm>
          <a:prstGeom prst="rect">
            <a:avLst/>
          </a:prstGeom>
          <a:noFill/>
          <a:ln/>
        </p:spPr>
        <p:txBody>
          <a:bodyPr wrap="square" lIns="0" tIns="0" rIns="0" bIns="0" rtlCol="0" anchor="ctr"/>
          <a:lstStyle/>
          <a:p>
            <a:pPr indent="0" marL="0">
              <a:buNone/>
            </a:pPr>
            <a:r>
              <a:rPr lang="en-US" sz="950" dirty="0">
                <a:solidFill>
                  <a:srgbClr val="1A1A1A"/>
                </a:solidFill>
              </a:rPr>
              <a:t>MH/SUD records governed by 42 CFR Part 2. Social service utilization not in VHCURES.</a:t>
            </a:r>
            <a:endParaRPr lang="en-US" sz="950" dirty="0"/>
          </a:p>
        </p:txBody>
      </p:sp>
      <p:sp>
        <p:nvSpPr>
          <p:cNvPr id="18" name="Text 15"/>
          <p:cNvSpPr/>
          <p:nvPr/>
        </p:nvSpPr>
        <p:spPr>
          <a:xfrm>
            <a:off x="5138928" y="4087368"/>
            <a:ext cx="3520440" cy="320040"/>
          </a:xfrm>
          <a:prstGeom prst="rect">
            <a:avLst/>
          </a:prstGeom>
          <a:noFill/>
          <a:ln/>
        </p:spPr>
        <p:txBody>
          <a:bodyPr wrap="square" lIns="0" tIns="0" rIns="0" bIns="0" rtlCol="0" anchor="ctr"/>
          <a:lstStyle/>
          <a:p>
            <a:pPr indent="0" marL="0">
              <a:buNone/>
            </a:pPr>
            <a:r>
              <a:rPr lang="en-US" sz="950" i="1" dirty="0">
                <a:solidFill>
                  <a:srgbClr val="8B1A1A"/>
                </a:solidFill>
              </a:rPr>
              <a:t>Impact: Cannot link housing/transportation/food programs to healthcare outcomes — breaks SDOH → utilization analysis.</a:t>
            </a:r>
            <a:endParaRPr lang="en-US" sz="950" dirty="0"/>
          </a:p>
        </p:txBody>
      </p:sp>
      <p:sp>
        <p:nvSpPr>
          <p:cNvPr id="19" name="Text 16"/>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14 — Source: GMCB VHCURES documentation; Oliver Wyman Act 167 Report; AHS November 2025 Transformation Report</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VERMONT'S THREE PRIORITY FHIR USE CASES — FROM STANDARD TO WORKING SYSTEM</a:t>
            </a:r>
            <a:endParaRPr lang="en-US" sz="1700" dirty="0"/>
          </a:p>
        </p:txBody>
      </p:sp>
      <p:sp>
        <p:nvSpPr>
          <p:cNvPr id="3" name="Shape 1"/>
          <p:cNvSpPr/>
          <p:nvPr/>
        </p:nvSpPr>
        <p:spPr>
          <a:xfrm>
            <a:off x="274320" y="749808"/>
            <a:ext cx="8595360" cy="1280160"/>
          </a:xfrm>
          <a:prstGeom prst="rect">
            <a:avLst/>
          </a:prstGeom>
          <a:solidFill>
            <a:srgbClr val="FFFFFF"/>
          </a:solidFill>
          <a:ln w="12700">
            <a:solidFill>
              <a:srgbClr val="7B4A00"/>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49808"/>
            <a:ext cx="566928" cy="1280160"/>
          </a:xfrm>
          <a:prstGeom prst="rect">
            <a:avLst/>
          </a:prstGeom>
          <a:solidFill>
            <a:srgbClr val="7B4A00"/>
          </a:solidFill>
          <a:ln/>
        </p:spPr>
      </p:sp>
      <p:sp>
        <p:nvSpPr>
          <p:cNvPr id="5" name="Text 3"/>
          <p:cNvSpPr/>
          <p:nvPr/>
        </p:nvSpPr>
        <p:spPr>
          <a:xfrm>
            <a:off x="274320" y="1069848"/>
            <a:ext cx="566928" cy="640080"/>
          </a:xfrm>
          <a:prstGeom prst="rect">
            <a:avLst/>
          </a:prstGeom>
          <a:noFill/>
          <a:ln/>
        </p:spPr>
        <p:txBody>
          <a:bodyPr wrap="square" rtlCol="0" anchor="ctr"/>
          <a:lstStyle/>
          <a:p>
            <a:pPr algn="ctr" indent="0" marL="0">
              <a:buNone/>
            </a:pPr>
            <a:r>
              <a:rPr lang="en-US" sz="2200" b="1" dirty="0">
                <a:solidFill>
                  <a:srgbClr val="FFFFFF"/>
                </a:solidFill>
              </a:rPr>
              <a:t>1</a:t>
            </a:r>
            <a:endParaRPr lang="en-US" sz="2200" dirty="0"/>
          </a:p>
        </p:txBody>
      </p:sp>
      <p:sp>
        <p:nvSpPr>
          <p:cNvPr id="6" name="Text 4"/>
          <p:cNvSpPr/>
          <p:nvPr/>
        </p:nvSpPr>
        <p:spPr>
          <a:xfrm>
            <a:off x="960120" y="813816"/>
            <a:ext cx="7772400" cy="347472"/>
          </a:xfrm>
          <a:prstGeom prst="rect">
            <a:avLst/>
          </a:prstGeom>
          <a:noFill/>
          <a:ln/>
        </p:spPr>
        <p:txBody>
          <a:bodyPr wrap="square" lIns="0" tIns="0" rIns="0" bIns="0" rtlCol="0" anchor="ctr"/>
          <a:lstStyle/>
          <a:p>
            <a:pPr indent="0" marL="0">
              <a:buNone/>
            </a:pPr>
            <a:r>
              <a:rPr lang="en-US" sz="1200" b="1" dirty="0">
                <a:solidFill>
                  <a:srgbClr val="7B4A00"/>
                </a:solidFill>
              </a:rPr>
              <a:t>Patient Access API — §170.315(g)(10) compliance</a:t>
            </a:r>
            <a:endParaRPr lang="en-US" sz="1200" dirty="0"/>
          </a:p>
        </p:txBody>
      </p:sp>
      <p:sp>
        <p:nvSpPr>
          <p:cNvPr id="7" name="Text 5"/>
          <p:cNvSpPr/>
          <p:nvPr/>
        </p:nvSpPr>
        <p:spPr>
          <a:xfrm>
            <a:off x="960120" y="1207008"/>
            <a:ext cx="7772400" cy="384048"/>
          </a:xfrm>
          <a:prstGeom prst="rect">
            <a:avLst/>
          </a:prstGeom>
          <a:noFill/>
          <a:ln/>
        </p:spPr>
        <p:txBody>
          <a:bodyPr wrap="square" lIns="0" tIns="0" rIns="0" bIns="0" rtlCol="0" anchor="ctr"/>
          <a:lstStyle/>
          <a:p>
            <a:pPr indent="0" marL="0">
              <a:buNone/>
            </a:pPr>
            <a:r>
              <a:rPr lang="en-US" sz="1000" dirty="0">
                <a:solidFill>
                  <a:srgbClr val="1A1A1A"/>
                </a:solidFill>
              </a:rPr>
              <a:t>Enables: Patients access their health records through third-party apps. Required by CMS for hospitals and clinicians receiving Medicare/Medicaid payments.</a:t>
            </a:r>
            <a:endParaRPr lang="en-US" sz="1000" dirty="0"/>
          </a:p>
        </p:txBody>
      </p:sp>
      <p:sp>
        <p:nvSpPr>
          <p:cNvPr id="8" name="Text 6"/>
          <p:cNvSpPr/>
          <p:nvPr/>
        </p:nvSpPr>
        <p:spPr>
          <a:xfrm>
            <a:off x="960120" y="1618488"/>
            <a:ext cx="7772400" cy="347472"/>
          </a:xfrm>
          <a:prstGeom prst="rect">
            <a:avLst/>
          </a:prstGeom>
          <a:noFill/>
          <a:ln/>
        </p:spPr>
        <p:txBody>
          <a:bodyPr wrap="square" lIns="0" tIns="0" rIns="0" bIns="0" rtlCol="0" anchor="ctr"/>
          <a:lstStyle/>
          <a:p>
            <a:pPr indent="0" marL="0">
              <a:buNone/>
            </a:pPr>
            <a:r>
              <a:rPr lang="en-US" sz="1000" i="1" dirty="0">
                <a:solidFill>
                  <a:srgbClr val="444444"/>
                </a:solidFill>
              </a:rPr>
              <a:t>Vermont: All Vermont hospitals must be compliant. Monitor smaller CAHs without robust IT departments.</a:t>
            </a:r>
            <a:endParaRPr lang="en-US" sz="1000" dirty="0"/>
          </a:p>
        </p:txBody>
      </p:sp>
      <p:sp>
        <p:nvSpPr>
          <p:cNvPr id="9" name="Shape 7"/>
          <p:cNvSpPr/>
          <p:nvPr/>
        </p:nvSpPr>
        <p:spPr>
          <a:xfrm>
            <a:off x="274320" y="2167128"/>
            <a:ext cx="8595360" cy="1280160"/>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10" name="Shape 8"/>
          <p:cNvSpPr/>
          <p:nvPr/>
        </p:nvSpPr>
        <p:spPr>
          <a:xfrm>
            <a:off x="274320" y="2167128"/>
            <a:ext cx="566928" cy="1280160"/>
          </a:xfrm>
          <a:prstGeom prst="rect">
            <a:avLst/>
          </a:prstGeom>
          <a:solidFill>
            <a:srgbClr val="1E6B3C"/>
          </a:solidFill>
          <a:ln/>
        </p:spPr>
      </p:sp>
      <p:sp>
        <p:nvSpPr>
          <p:cNvPr id="11" name="Text 9"/>
          <p:cNvSpPr/>
          <p:nvPr/>
        </p:nvSpPr>
        <p:spPr>
          <a:xfrm>
            <a:off x="274320" y="2487168"/>
            <a:ext cx="566928" cy="640080"/>
          </a:xfrm>
          <a:prstGeom prst="rect">
            <a:avLst/>
          </a:prstGeom>
          <a:noFill/>
          <a:ln/>
        </p:spPr>
        <p:txBody>
          <a:bodyPr wrap="square" rtlCol="0" anchor="ctr"/>
          <a:lstStyle/>
          <a:p>
            <a:pPr algn="ctr" indent="0" marL="0">
              <a:buNone/>
            </a:pPr>
            <a:r>
              <a:rPr lang="en-US" sz="2200" b="1" dirty="0">
                <a:solidFill>
                  <a:srgbClr val="FFFFFF"/>
                </a:solidFill>
              </a:rPr>
              <a:t>2</a:t>
            </a:r>
            <a:endParaRPr lang="en-US" sz="2200" dirty="0"/>
          </a:p>
        </p:txBody>
      </p:sp>
      <p:sp>
        <p:nvSpPr>
          <p:cNvPr id="12" name="Text 10"/>
          <p:cNvSpPr/>
          <p:nvPr/>
        </p:nvSpPr>
        <p:spPr>
          <a:xfrm>
            <a:off x="960120" y="2231136"/>
            <a:ext cx="7772400" cy="347472"/>
          </a:xfrm>
          <a:prstGeom prst="rect">
            <a:avLst/>
          </a:prstGeom>
          <a:noFill/>
          <a:ln/>
        </p:spPr>
        <p:txBody>
          <a:bodyPr wrap="square" lIns="0" tIns="0" rIns="0" bIns="0" rtlCol="0" anchor="ctr"/>
          <a:lstStyle/>
          <a:p>
            <a:pPr indent="0" marL="0">
              <a:buNone/>
            </a:pPr>
            <a:r>
              <a:rPr lang="en-US" sz="1200" b="1" dirty="0">
                <a:solidFill>
                  <a:srgbClr val="1E6B3C"/>
                </a:solidFill>
              </a:rPr>
              <a:t>Provider Access API — Care coordination across CIN</a:t>
            </a:r>
            <a:endParaRPr lang="en-US" sz="1200" dirty="0"/>
          </a:p>
        </p:txBody>
      </p:sp>
      <p:sp>
        <p:nvSpPr>
          <p:cNvPr id="13" name="Text 11"/>
          <p:cNvSpPr/>
          <p:nvPr/>
        </p:nvSpPr>
        <p:spPr>
          <a:xfrm>
            <a:off x="960120" y="2624328"/>
            <a:ext cx="7772400" cy="384048"/>
          </a:xfrm>
          <a:prstGeom prst="rect">
            <a:avLst/>
          </a:prstGeom>
          <a:noFill/>
          <a:ln/>
        </p:spPr>
        <p:txBody>
          <a:bodyPr wrap="square" lIns="0" tIns="0" rIns="0" bIns="0" rtlCol="0" anchor="ctr"/>
          <a:lstStyle/>
          <a:p>
            <a:pPr indent="0" marL="0">
              <a:buNone/>
            </a:pPr>
            <a:r>
              <a:rPr lang="en-US" sz="1000" dirty="0">
                <a:solidFill>
                  <a:srgbClr val="1A1A1A"/>
                </a:solidFill>
              </a:rPr>
              <a:t>Enables: Care coordinators at one organization can query clinical records from another for shared patients. Enables real-time cross-facility care coordination.</a:t>
            </a:r>
            <a:endParaRPr lang="en-US" sz="1000" dirty="0"/>
          </a:p>
        </p:txBody>
      </p:sp>
      <p:sp>
        <p:nvSpPr>
          <p:cNvPr id="14" name="Text 12"/>
          <p:cNvSpPr/>
          <p:nvPr/>
        </p:nvSpPr>
        <p:spPr>
          <a:xfrm>
            <a:off x="960120" y="3035808"/>
            <a:ext cx="7772400" cy="347472"/>
          </a:xfrm>
          <a:prstGeom prst="rect">
            <a:avLst/>
          </a:prstGeom>
          <a:noFill/>
          <a:ln/>
        </p:spPr>
        <p:txBody>
          <a:bodyPr wrap="square" lIns="0" tIns="0" rIns="0" bIns="0" rtlCol="0" anchor="ctr"/>
          <a:lstStyle/>
          <a:p>
            <a:pPr indent="0" marL="0">
              <a:buNone/>
            </a:pPr>
            <a:r>
              <a:rPr lang="en-US" sz="1000" i="1" dirty="0">
                <a:solidFill>
                  <a:srgbClr val="444444"/>
                </a:solidFill>
              </a:rPr>
              <a:t>Vermont: Priority RHT IT investment. Enables inter-hospital care coordination that regionalization blueprint requires.</a:t>
            </a:r>
            <a:endParaRPr lang="en-US" sz="1000" dirty="0"/>
          </a:p>
        </p:txBody>
      </p:sp>
      <p:sp>
        <p:nvSpPr>
          <p:cNvPr id="15" name="Shape 13"/>
          <p:cNvSpPr/>
          <p:nvPr/>
        </p:nvSpPr>
        <p:spPr>
          <a:xfrm>
            <a:off x="274320" y="3584448"/>
            <a:ext cx="8595360" cy="1280160"/>
          </a:xfrm>
          <a:prstGeom prst="rect">
            <a:avLst/>
          </a:prstGeom>
          <a:solidFill>
            <a:srgbClr val="FFFFFF"/>
          </a:solidFill>
          <a:ln w="12700">
            <a:solidFill>
              <a:srgbClr val="2E75B6"/>
            </a:solidFill>
            <a:prstDash val="solid"/>
          </a:ln>
          <a:effectLst>
            <a:outerShdw sx="100000" sy="100000" kx="0" ky="0" algn="bl" rotWithShape="0" blurRad="76200" dist="25400" dir="16200000">
              <a:srgbClr val="000000">
                <a:alpha val="12000"/>
              </a:srgbClr>
            </a:outerShdw>
          </a:effectLst>
        </p:spPr>
      </p:sp>
      <p:sp>
        <p:nvSpPr>
          <p:cNvPr id="16" name="Shape 14"/>
          <p:cNvSpPr/>
          <p:nvPr/>
        </p:nvSpPr>
        <p:spPr>
          <a:xfrm>
            <a:off x="274320" y="3584448"/>
            <a:ext cx="566928" cy="1280160"/>
          </a:xfrm>
          <a:prstGeom prst="rect">
            <a:avLst/>
          </a:prstGeom>
          <a:solidFill>
            <a:srgbClr val="2E75B6"/>
          </a:solidFill>
          <a:ln/>
        </p:spPr>
      </p:sp>
      <p:sp>
        <p:nvSpPr>
          <p:cNvPr id="17" name="Text 15"/>
          <p:cNvSpPr/>
          <p:nvPr/>
        </p:nvSpPr>
        <p:spPr>
          <a:xfrm>
            <a:off x="274320" y="3904488"/>
            <a:ext cx="566928" cy="640080"/>
          </a:xfrm>
          <a:prstGeom prst="rect">
            <a:avLst/>
          </a:prstGeom>
          <a:noFill/>
          <a:ln/>
        </p:spPr>
        <p:txBody>
          <a:bodyPr wrap="square" rtlCol="0" anchor="ctr"/>
          <a:lstStyle/>
          <a:p>
            <a:pPr algn="ctr" indent="0" marL="0">
              <a:buNone/>
            </a:pPr>
            <a:r>
              <a:rPr lang="en-US" sz="2200" b="1" dirty="0">
                <a:solidFill>
                  <a:srgbClr val="FFFFFF"/>
                </a:solidFill>
              </a:rPr>
              <a:t>3</a:t>
            </a:r>
            <a:endParaRPr lang="en-US" sz="2200" dirty="0"/>
          </a:p>
        </p:txBody>
      </p:sp>
      <p:sp>
        <p:nvSpPr>
          <p:cNvPr id="18" name="Text 16"/>
          <p:cNvSpPr/>
          <p:nvPr/>
        </p:nvSpPr>
        <p:spPr>
          <a:xfrm>
            <a:off x="960120" y="3648456"/>
            <a:ext cx="7772400" cy="347472"/>
          </a:xfrm>
          <a:prstGeom prst="rect">
            <a:avLst/>
          </a:prstGeom>
          <a:noFill/>
          <a:ln/>
        </p:spPr>
        <p:txBody>
          <a:bodyPr wrap="square" lIns="0" tIns="0" rIns="0" bIns="0" rtlCol="0" anchor="ctr"/>
          <a:lstStyle/>
          <a:p>
            <a:pPr indent="0" marL="0">
              <a:buNone/>
            </a:pPr>
            <a:r>
              <a:rPr lang="en-US" sz="1200" b="1" dirty="0">
                <a:solidFill>
                  <a:srgbClr val="2E75B6"/>
                </a:solidFill>
              </a:rPr>
              <a:t>Payer-to-Provider API — Electronic prior authorization</a:t>
            </a:r>
            <a:endParaRPr lang="en-US" sz="1200" dirty="0"/>
          </a:p>
        </p:txBody>
      </p:sp>
      <p:sp>
        <p:nvSpPr>
          <p:cNvPr id="19" name="Text 17"/>
          <p:cNvSpPr/>
          <p:nvPr/>
        </p:nvSpPr>
        <p:spPr>
          <a:xfrm>
            <a:off x="960120" y="4041648"/>
            <a:ext cx="7772400" cy="384048"/>
          </a:xfrm>
          <a:prstGeom prst="rect">
            <a:avLst/>
          </a:prstGeom>
          <a:noFill/>
          <a:ln/>
        </p:spPr>
        <p:txBody>
          <a:bodyPr wrap="square" lIns="0" tIns="0" rIns="0" bIns="0" rtlCol="0" anchor="ctr"/>
          <a:lstStyle/>
          <a:p>
            <a:pPr indent="0" marL="0">
              <a:buNone/>
            </a:pPr>
            <a:r>
              <a:rPr lang="en-US" sz="1000" dirty="0">
                <a:solidFill>
                  <a:srgbClr val="1A1A1A"/>
                </a:solidFill>
              </a:rPr>
              <a:t>Enables: FHIR-based prior authorization eliminates manual PA. Formulary exchange reduces prescription errors. Uses Da Vinci CRD and DTR implementation guides.</a:t>
            </a:r>
            <a:endParaRPr lang="en-US" sz="1000" dirty="0"/>
          </a:p>
        </p:txBody>
      </p:sp>
      <p:sp>
        <p:nvSpPr>
          <p:cNvPr id="20" name="Text 18"/>
          <p:cNvSpPr/>
          <p:nvPr/>
        </p:nvSpPr>
        <p:spPr>
          <a:xfrm>
            <a:off x="960120" y="4453128"/>
            <a:ext cx="7772400" cy="347472"/>
          </a:xfrm>
          <a:prstGeom prst="rect">
            <a:avLst/>
          </a:prstGeom>
          <a:noFill/>
          <a:ln/>
        </p:spPr>
        <p:txBody>
          <a:bodyPr wrap="square" lIns="0" tIns="0" rIns="0" bIns="0" rtlCol="0" anchor="ctr"/>
          <a:lstStyle/>
          <a:p>
            <a:pPr indent="0" marL="0">
              <a:buNone/>
            </a:pPr>
            <a:r>
              <a:rPr lang="en-US" sz="1000" i="1" dirty="0">
                <a:solidFill>
                  <a:srgbClr val="444444"/>
                </a:solidFill>
              </a:rPr>
              <a:t>Vermont: Accelerates Vermont's PA reform agenda. GMCB should require payer FHIR API compliance as condition of rate approval.</a:t>
            </a:r>
            <a:endParaRPr lang="en-US" sz="1000" dirty="0"/>
          </a:p>
        </p:txBody>
      </p:sp>
      <p:sp>
        <p:nvSpPr>
          <p:cNvPr id="21" name="Text 19"/>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14 / Chapter 15 — Source: CMS Interoperability Rule; ONC 21st Century Cures Rule; Vermont RHT Application; HTR Technology framework</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AI SCRIBE TECHNOLOGY — WORKFORCE MULTIPLIER FOR VERMONT'S RURAL PRACTICES</a:t>
            </a:r>
            <a:endParaRPr lang="en-US" sz="1700" dirty="0"/>
          </a:p>
        </p:txBody>
      </p:sp>
      <p:sp>
        <p:nvSpPr>
          <p:cNvPr id="3" name="Shape 1"/>
          <p:cNvSpPr/>
          <p:nvPr/>
        </p:nvSpPr>
        <p:spPr>
          <a:xfrm>
            <a:off x="274320" y="713232"/>
            <a:ext cx="4023360" cy="1719072"/>
          </a:xfrm>
          <a:prstGeom prst="rect">
            <a:avLst/>
          </a:prstGeom>
          <a:solidFill>
            <a:srgbClr val="FFFFFF"/>
          </a:solidFill>
          <a:ln w="12700">
            <a:solidFill>
              <a:srgbClr val="1E6B3C"/>
            </a:solidFill>
            <a:prstDash val="solid"/>
          </a:ln>
          <a:effectLst>
            <a:outerShdw sx="100000" sy="100000" kx="0" ky="0" algn="bl" rotWithShape="0" blurRad="76200" dist="25400" dir="16200000">
              <a:srgbClr val="000000">
                <a:alpha val="12000"/>
              </a:srgbClr>
            </a:outerShdw>
          </a:effectLst>
        </p:spPr>
      </p:sp>
      <p:sp>
        <p:nvSpPr>
          <p:cNvPr id="4" name="Shape 2"/>
          <p:cNvSpPr/>
          <p:nvPr/>
        </p:nvSpPr>
        <p:spPr>
          <a:xfrm>
            <a:off x="274320" y="713232"/>
            <a:ext cx="4023360" cy="329184"/>
          </a:xfrm>
          <a:prstGeom prst="rect">
            <a:avLst/>
          </a:prstGeom>
          <a:solidFill>
            <a:srgbClr val="1E6B3C"/>
          </a:solidFill>
          <a:ln/>
        </p:spPr>
      </p:sp>
      <p:sp>
        <p:nvSpPr>
          <p:cNvPr id="5" name="Text 3"/>
          <p:cNvSpPr/>
          <p:nvPr/>
        </p:nvSpPr>
        <p:spPr>
          <a:xfrm>
            <a:off x="274320" y="1097280"/>
            <a:ext cx="4023360" cy="685800"/>
          </a:xfrm>
          <a:prstGeom prst="rect">
            <a:avLst/>
          </a:prstGeom>
          <a:noFill/>
          <a:ln/>
        </p:spPr>
        <p:txBody>
          <a:bodyPr wrap="square" rtlCol="0" anchor="ctr"/>
          <a:lstStyle/>
          <a:p>
            <a:pPr algn="ctr" indent="0" marL="0">
              <a:buNone/>
            </a:pPr>
            <a:r>
              <a:rPr lang="en-US" sz="4400" b="1" dirty="0">
                <a:solidFill>
                  <a:srgbClr val="1E6B3C"/>
                </a:solidFill>
              </a:rPr>
              <a:t>2+ hrs</a:t>
            </a:r>
            <a:endParaRPr lang="en-US" sz="4400" dirty="0"/>
          </a:p>
        </p:txBody>
      </p:sp>
      <p:sp>
        <p:nvSpPr>
          <p:cNvPr id="6" name="Text 4"/>
          <p:cNvSpPr/>
          <p:nvPr/>
        </p:nvSpPr>
        <p:spPr>
          <a:xfrm>
            <a:off x="384048" y="1810512"/>
            <a:ext cx="3794760" cy="292608"/>
          </a:xfrm>
          <a:prstGeom prst="rect">
            <a:avLst/>
          </a:prstGeom>
          <a:noFill/>
          <a:ln/>
        </p:spPr>
        <p:txBody>
          <a:bodyPr wrap="square" lIns="0" tIns="0" rIns="0" bIns="0" rtlCol="0" anchor="ctr"/>
          <a:lstStyle/>
          <a:p>
            <a:pPr algn="ctr" indent="0" marL="0">
              <a:buNone/>
            </a:pPr>
            <a:r>
              <a:rPr lang="en-US" sz="1100" b="1" dirty="0">
                <a:solidFill>
                  <a:srgbClr val="1A1A1A"/>
                </a:solidFill>
              </a:rPr>
              <a:t>Daily documentation time saved per provider</a:t>
            </a:r>
            <a:endParaRPr lang="en-US" sz="1100" dirty="0"/>
          </a:p>
        </p:txBody>
      </p:sp>
      <p:sp>
        <p:nvSpPr>
          <p:cNvPr id="7" name="Text 5"/>
          <p:cNvSpPr/>
          <p:nvPr/>
        </p:nvSpPr>
        <p:spPr>
          <a:xfrm>
            <a:off x="384048" y="2121408"/>
            <a:ext cx="3794760" cy="256032"/>
          </a:xfrm>
          <a:prstGeom prst="rect">
            <a:avLst/>
          </a:prstGeom>
          <a:noFill/>
          <a:ln/>
        </p:spPr>
        <p:txBody>
          <a:bodyPr wrap="square" lIns="0" tIns="0" rIns="0" bIns="0" rtlCol="0" anchor="ctr"/>
          <a:lstStyle/>
          <a:p>
            <a:pPr algn="ctr" indent="0" marL="0">
              <a:buNone/>
            </a:pPr>
            <a:r>
              <a:rPr lang="en-US" sz="950" i="1" dirty="0">
                <a:solidFill>
                  <a:srgbClr val="666666"/>
                </a:solidFill>
              </a:rPr>
              <a:t>AI scribe automates transcription of clinical encounters</a:t>
            </a:r>
            <a:endParaRPr lang="en-US" sz="950" dirty="0"/>
          </a:p>
        </p:txBody>
      </p:sp>
      <p:sp>
        <p:nvSpPr>
          <p:cNvPr id="8" name="Shape 6"/>
          <p:cNvSpPr/>
          <p:nvPr/>
        </p:nvSpPr>
        <p:spPr>
          <a:xfrm>
            <a:off x="4572000" y="713232"/>
            <a:ext cx="4023360" cy="1719072"/>
          </a:xfrm>
          <a:prstGeom prst="rect">
            <a:avLst/>
          </a:prstGeom>
          <a:solidFill>
            <a:srgbClr val="FFFFFF"/>
          </a:solidFill>
          <a:ln w="12700">
            <a:solidFill>
              <a:srgbClr val="8B1A1A"/>
            </a:solidFill>
            <a:prstDash val="solid"/>
          </a:ln>
          <a:effectLst>
            <a:outerShdw sx="100000" sy="100000" kx="0" ky="0" algn="bl" rotWithShape="0" blurRad="76200" dist="25400" dir="16200000">
              <a:srgbClr val="000000">
                <a:alpha val="12000"/>
              </a:srgbClr>
            </a:outerShdw>
          </a:effectLst>
        </p:spPr>
      </p:sp>
      <p:sp>
        <p:nvSpPr>
          <p:cNvPr id="9" name="Shape 7"/>
          <p:cNvSpPr/>
          <p:nvPr/>
        </p:nvSpPr>
        <p:spPr>
          <a:xfrm>
            <a:off x="4572000" y="713232"/>
            <a:ext cx="4023360" cy="329184"/>
          </a:xfrm>
          <a:prstGeom prst="rect">
            <a:avLst/>
          </a:prstGeom>
          <a:solidFill>
            <a:srgbClr val="8B1A1A"/>
          </a:solidFill>
          <a:ln/>
        </p:spPr>
      </p:sp>
      <p:sp>
        <p:nvSpPr>
          <p:cNvPr id="10" name="Text 8"/>
          <p:cNvSpPr/>
          <p:nvPr/>
        </p:nvSpPr>
        <p:spPr>
          <a:xfrm>
            <a:off x="4572000" y="1097280"/>
            <a:ext cx="4023360" cy="685800"/>
          </a:xfrm>
          <a:prstGeom prst="rect">
            <a:avLst/>
          </a:prstGeom>
          <a:noFill/>
          <a:ln/>
        </p:spPr>
        <p:txBody>
          <a:bodyPr wrap="square" rtlCol="0" anchor="ctr"/>
          <a:lstStyle/>
          <a:p>
            <a:pPr algn="ctr" indent="0" marL="0">
              <a:buNone/>
            </a:pPr>
            <a:r>
              <a:rPr lang="en-US" sz="4400" b="1" dirty="0">
                <a:solidFill>
                  <a:srgbClr val="8B1A1A"/>
                </a:solidFill>
              </a:rPr>
              <a:t>370 FTE</a:t>
            </a:r>
            <a:endParaRPr lang="en-US" sz="4400" dirty="0"/>
          </a:p>
        </p:txBody>
      </p:sp>
      <p:sp>
        <p:nvSpPr>
          <p:cNvPr id="11" name="Text 9"/>
          <p:cNvSpPr/>
          <p:nvPr/>
        </p:nvSpPr>
        <p:spPr>
          <a:xfrm>
            <a:off x="4681728" y="1810512"/>
            <a:ext cx="3794760" cy="292608"/>
          </a:xfrm>
          <a:prstGeom prst="rect">
            <a:avLst/>
          </a:prstGeom>
          <a:noFill/>
          <a:ln/>
        </p:spPr>
        <p:txBody>
          <a:bodyPr wrap="square" lIns="0" tIns="0" rIns="0" bIns="0" rtlCol="0" anchor="ctr"/>
          <a:lstStyle/>
          <a:p>
            <a:pPr algn="ctr" indent="0" marL="0">
              <a:buNone/>
            </a:pPr>
            <a:r>
              <a:rPr lang="en-US" sz="1100" b="1" dirty="0">
                <a:solidFill>
                  <a:srgbClr val="1A1A1A"/>
                </a:solidFill>
              </a:rPr>
              <a:t>Vermont primary care shortage by 2030</a:t>
            </a:r>
            <a:endParaRPr lang="en-US" sz="1100" dirty="0"/>
          </a:p>
        </p:txBody>
      </p:sp>
      <p:sp>
        <p:nvSpPr>
          <p:cNvPr id="12" name="Text 10"/>
          <p:cNvSpPr/>
          <p:nvPr/>
        </p:nvSpPr>
        <p:spPr>
          <a:xfrm>
            <a:off x="4681728" y="2121408"/>
            <a:ext cx="3794760" cy="256032"/>
          </a:xfrm>
          <a:prstGeom prst="rect">
            <a:avLst/>
          </a:prstGeom>
          <a:noFill/>
          <a:ln/>
        </p:spPr>
        <p:txBody>
          <a:bodyPr wrap="square" lIns="0" tIns="0" rIns="0" bIns="0" rtlCol="0" anchor="ctr"/>
          <a:lstStyle/>
          <a:p>
            <a:pPr algn="ctr" indent="0" marL="0">
              <a:buNone/>
            </a:pPr>
            <a:r>
              <a:rPr lang="en-US" sz="950" i="1" dirty="0">
                <a:solidFill>
                  <a:srgbClr val="666666"/>
                </a:solidFill>
              </a:rPr>
              <a:t>AI scribe = equivalent capacity gain without hiring</a:t>
            </a:r>
            <a:endParaRPr lang="en-US" sz="950" dirty="0"/>
          </a:p>
        </p:txBody>
      </p:sp>
      <p:sp>
        <p:nvSpPr>
          <p:cNvPr id="13" name="Shape 11"/>
          <p:cNvSpPr/>
          <p:nvPr/>
        </p:nvSpPr>
        <p:spPr>
          <a:xfrm>
            <a:off x="274320" y="2697480"/>
            <a:ext cx="4023360" cy="1719072"/>
          </a:xfrm>
          <a:prstGeom prst="rect">
            <a:avLst/>
          </a:prstGeom>
          <a:solidFill>
            <a:srgbClr val="FFFFFF"/>
          </a:solidFill>
          <a:ln w="12700">
            <a:solidFill>
              <a:srgbClr val="0D5F6B"/>
            </a:solidFill>
            <a:prstDash val="solid"/>
          </a:ln>
          <a:effectLst>
            <a:outerShdw sx="100000" sy="100000" kx="0" ky="0" algn="bl" rotWithShape="0" blurRad="76200" dist="25400" dir="16200000">
              <a:srgbClr val="000000">
                <a:alpha val="12000"/>
              </a:srgbClr>
            </a:outerShdw>
          </a:effectLst>
        </p:spPr>
      </p:sp>
      <p:sp>
        <p:nvSpPr>
          <p:cNvPr id="14" name="Shape 12"/>
          <p:cNvSpPr/>
          <p:nvPr/>
        </p:nvSpPr>
        <p:spPr>
          <a:xfrm>
            <a:off x="274320" y="2697480"/>
            <a:ext cx="4023360" cy="329184"/>
          </a:xfrm>
          <a:prstGeom prst="rect">
            <a:avLst/>
          </a:prstGeom>
          <a:solidFill>
            <a:srgbClr val="0D5F6B"/>
          </a:solidFill>
          <a:ln/>
        </p:spPr>
      </p:sp>
      <p:sp>
        <p:nvSpPr>
          <p:cNvPr id="15" name="Text 13"/>
          <p:cNvSpPr/>
          <p:nvPr/>
        </p:nvSpPr>
        <p:spPr>
          <a:xfrm>
            <a:off x="274320" y="3081528"/>
            <a:ext cx="4023360" cy="685800"/>
          </a:xfrm>
          <a:prstGeom prst="rect">
            <a:avLst/>
          </a:prstGeom>
          <a:noFill/>
          <a:ln/>
        </p:spPr>
        <p:txBody>
          <a:bodyPr wrap="square" rtlCol="0" anchor="ctr"/>
          <a:lstStyle/>
          <a:p>
            <a:pPr algn="ctr" indent="0" marL="0">
              <a:buNone/>
            </a:pPr>
            <a:r>
              <a:rPr lang="en-US" sz="4400" b="1" dirty="0">
                <a:solidFill>
                  <a:srgbClr val="0D5F6B"/>
                </a:solidFill>
              </a:rPr>
              <a:t>&gt;25%</a:t>
            </a:r>
            <a:endParaRPr lang="en-US" sz="4400" dirty="0"/>
          </a:p>
        </p:txBody>
      </p:sp>
      <p:sp>
        <p:nvSpPr>
          <p:cNvPr id="16" name="Text 14"/>
          <p:cNvSpPr/>
          <p:nvPr/>
        </p:nvSpPr>
        <p:spPr>
          <a:xfrm>
            <a:off x="384048" y="3794760"/>
            <a:ext cx="3794760" cy="292608"/>
          </a:xfrm>
          <a:prstGeom prst="rect">
            <a:avLst/>
          </a:prstGeom>
          <a:noFill/>
          <a:ln/>
        </p:spPr>
        <p:txBody>
          <a:bodyPr wrap="square" lIns="0" tIns="0" rIns="0" bIns="0" rtlCol="0" anchor="ctr"/>
          <a:lstStyle/>
          <a:p>
            <a:pPr algn="ctr" indent="0" marL="0">
              <a:buNone/>
            </a:pPr>
            <a:r>
              <a:rPr lang="en-US" sz="1100" b="1" dirty="0">
                <a:solidFill>
                  <a:srgbClr val="1A1A1A"/>
                </a:solidFill>
              </a:rPr>
              <a:t>Effective capacity gain per provider</a:t>
            </a:r>
            <a:endParaRPr lang="en-US" sz="1100" dirty="0"/>
          </a:p>
        </p:txBody>
      </p:sp>
      <p:sp>
        <p:nvSpPr>
          <p:cNvPr id="17" name="Text 15"/>
          <p:cNvSpPr/>
          <p:nvPr/>
        </p:nvSpPr>
        <p:spPr>
          <a:xfrm>
            <a:off x="384048" y="4105656"/>
            <a:ext cx="3794760" cy="256032"/>
          </a:xfrm>
          <a:prstGeom prst="rect">
            <a:avLst/>
          </a:prstGeom>
          <a:noFill/>
          <a:ln/>
        </p:spPr>
        <p:txBody>
          <a:bodyPr wrap="square" lIns="0" tIns="0" rIns="0" bIns="0" rtlCol="0" anchor="ctr"/>
          <a:lstStyle/>
          <a:p>
            <a:pPr algn="ctr" indent="0" marL="0">
              <a:buNone/>
            </a:pPr>
            <a:r>
              <a:rPr lang="en-US" sz="950" i="1" dirty="0">
                <a:solidFill>
                  <a:srgbClr val="666666"/>
                </a:solidFill>
              </a:rPr>
              <a:t>At 8 patients/day, 2 hours saved = 4+ additional appointments</a:t>
            </a:r>
            <a:endParaRPr lang="en-US" sz="950" dirty="0"/>
          </a:p>
        </p:txBody>
      </p:sp>
      <p:sp>
        <p:nvSpPr>
          <p:cNvPr id="18" name="Shape 16"/>
          <p:cNvSpPr/>
          <p:nvPr/>
        </p:nvSpPr>
        <p:spPr>
          <a:xfrm>
            <a:off x="4572000" y="2697480"/>
            <a:ext cx="4023360" cy="1719072"/>
          </a:xfrm>
          <a:prstGeom prst="rect">
            <a:avLst/>
          </a:prstGeom>
          <a:solidFill>
            <a:srgbClr val="FFFFFF"/>
          </a:solidFill>
          <a:ln w="12700">
            <a:solidFill>
              <a:srgbClr val="1F5C8B"/>
            </a:solidFill>
            <a:prstDash val="solid"/>
          </a:ln>
          <a:effectLst>
            <a:outerShdw sx="100000" sy="100000" kx="0" ky="0" algn="bl" rotWithShape="0" blurRad="76200" dist="25400" dir="16200000">
              <a:srgbClr val="000000">
                <a:alpha val="12000"/>
              </a:srgbClr>
            </a:outerShdw>
          </a:effectLst>
        </p:spPr>
      </p:sp>
      <p:sp>
        <p:nvSpPr>
          <p:cNvPr id="19" name="Shape 17"/>
          <p:cNvSpPr/>
          <p:nvPr/>
        </p:nvSpPr>
        <p:spPr>
          <a:xfrm>
            <a:off x="4572000" y="2697480"/>
            <a:ext cx="4023360" cy="329184"/>
          </a:xfrm>
          <a:prstGeom prst="rect">
            <a:avLst/>
          </a:prstGeom>
          <a:solidFill>
            <a:srgbClr val="1F5C8B"/>
          </a:solidFill>
          <a:ln/>
        </p:spPr>
      </p:sp>
      <p:sp>
        <p:nvSpPr>
          <p:cNvPr id="20" name="Text 18"/>
          <p:cNvSpPr/>
          <p:nvPr/>
        </p:nvSpPr>
        <p:spPr>
          <a:xfrm>
            <a:off x="4572000" y="3081528"/>
            <a:ext cx="4023360" cy="685800"/>
          </a:xfrm>
          <a:prstGeom prst="rect">
            <a:avLst/>
          </a:prstGeom>
          <a:noFill/>
          <a:ln/>
        </p:spPr>
        <p:txBody>
          <a:bodyPr wrap="square" rtlCol="0" anchor="ctr"/>
          <a:lstStyle/>
          <a:p>
            <a:pPr algn="ctr" indent="0" marL="0">
              <a:buNone/>
            </a:pPr>
            <a:r>
              <a:rPr lang="en-US" sz="4400" b="1" dirty="0">
                <a:solidFill>
                  <a:srgbClr val="1F5C8B"/>
                </a:solidFill>
              </a:rPr>
              <a:t>$195M</a:t>
            </a:r>
            <a:endParaRPr lang="en-US" sz="4400" dirty="0"/>
          </a:p>
        </p:txBody>
      </p:sp>
      <p:sp>
        <p:nvSpPr>
          <p:cNvPr id="21" name="Text 19"/>
          <p:cNvSpPr/>
          <p:nvPr/>
        </p:nvSpPr>
        <p:spPr>
          <a:xfrm>
            <a:off x="4681728" y="3794760"/>
            <a:ext cx="3794760" cy="292608"/>
          </a:xfrm>
          <a:prstGeom prst="rect">
            <a:avLst/>
          </a:prstGeom>
          <a:noFill/>
          <a:ln/>
        </p:spPr>
        <p:txBody>
          <a:bodyPr wrap="square" lIns="0" tIns="0" rIns="0" bIns="0" rtlCol="0" anchor="ctr"/>
          <a:lstStyle/>
          <a:p>
            <a:pPr algn="ctr" indent="0" marL="0">
              <a:buNone/>
            </a:pPr>
            <a:r>
              <a:rPr lang="en-US" sz="1100" b="1" dirty="0">
                <a:solidFill>
                  <a:srgbClr val="1A1A1A"/>
                </a:solidFill>
              </a:rPr>
              <a:t>RHT Program — includes AI scribe grants</a:t>
            </a:r>
            <a:endParaRPr lang="en-US" sz="1100" dirty="0"/>
          </a:p>
        </p:txBody>
      </p:sp>
      <p:sp>
        <p:nvSpPr>
          <p:cNvPr id="22" name="Text 20"/>
          <p:cNvSpPr/>
          <p:nvPr/>
        </p:nvSpPr>
        <p:spPr>
          <a:xfrm>
            <a:off x="4681728" y="4105656"/>
            <a:ext cx="3794760" cy="256032"/>
          </a:xfrm>
          <a:prstGeom prst="rect">
            <a:avLst/>
          </a:prstGeom>
          <a:noFill/>
          <a:ln/>
        </p:spPr>
        <p:txBody>
          <a:bodyPr wrap="square" lIns="0" tIns="0" rIns="0" bIns="0" rtlCol="0" anchor="ctr"/>
          <a:lstStyle/>
          <a:p>
            <a:pPr algn="ctr" indent="0" marL="0">
              <a:buNone/>
            </a:pPr>
            <a:r>
              <a:rPr lang="en-US" sz="950" i="1" dirty="0">
                <a:solidFill>
                  <a:srgbClr val="666666"/>
                </a:solidFill>
              </a:rPr>
              <a:t>Explicitly for rural/independent practices that can't afford enterprise pricing</a:t>
            </a:r>
            <a:endParaRPr lang="en-US" sz="950" dirty="0"/>
          </a:p>
        </p:txBody>
      </p:sp>
      <p:sp>
        <p:nvSpPr>
          <p:cNvPr id="23" name="Text 2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14 — Source: Vermont RHT Application; JAMA Network Open ambient scribe study (2024); National Consortium Telehealth (2026)</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1F5C8B"/>
          </a:solidFill>
          <a:ln/>
        </p:spPr>
      </p:sp>
      <p:sp>
        <p:nvSpPr>
          <p:cNvPr id="3" name="Text 1"/>
          <p:cNvSpPr/>
          <p:nvPr/>
        </p:nvSpPr>
        <p:spPr>
          <a:xfrm>
            <a:off x="457200" y="1371600"/>
            <a:ext cx="8229600" cy="457200"/>
          </a:xfrm>
          <a:prstGeom prst="rect">
            <a:avLst/>
          </a:prstGeom>
          <a:noFill/>
          <a:ln/>
        </p:spPr>
        <p:txBody>
          <a:bodyPr wrap="square" rtlCol="0" anchor="ctr"/>
          <a:lstStyle/>
          <a:p>
            <a:pPr indent="0" marL="0">
              <a:buNone/>
            </a:pPr>
            <a:r>
              <a:rPr lang="en-US" sz="1300" b="1" spc="600" kern="0" dirty="0">
                <a:solidFill>
                  <a:srgbClr val="2E75B6"/>
                </a:solidFill>
              </a:rPr>
              <a:t>CHAPTER 17</a:t>
            </a:r>
            <a:endParaRPr lang="en-US" sz="1300" dirty="0"/>
          </a:p>
        </p:txBody>
      </p:sp>
      <p:sp>
        <p:nvSpPr>
          <p:cNvPr id="4" name="Text 2"/>
          <p:cNvSpPr/>
          <p:nvPr/>
        </p:nvSpPr>
        <p:spPr>
          <a:xfrm>
            <a:off x="457200" y="1828800"/>
            <a:ext cx="8229600" cy="1371600"/>
          </a:xfrm>
          <a:prstGeom prst="rect">
            <a:avLst/>
          </a:prstGeom>
          <a:noFill/>
          <a:ln/>
        </p:spPr>
        <p:txBody>
          <a:bodyPr wrap="square" rtlCol="0" anchor="ctr"/>
          <a:lstStyle/>
          <a:p>
            <a:pPr indent="0" marL="0">
              <a:buNone/>
            </a:pPr>
            <a:r>
              <a:rPr lang="en-US" sz="3400" b="1" dirty="0">
                <a:solidFill>
                  <a:srgbClr val="1F5C8B"/>
                </a:solidFill>
                <a:latin typeface="Georgia" pitchFamily="34" charset="0"/>
                <a:ea typeface="Georgia" pitchFamily="34" charset="-122"/>
                <a:cs typeface="Georgia" pitchFamily="34" charset="-120"/>
              </a:rPr>
              <a:t>The Future — 2026 and Beyond</a:t>
            </a:r>
            <a:endParaRPr lang="en-US" sz="3400" dirty="0"/>
          </a:p>
        </p:txBody>
      </p:sp>
      <p:sp>
        <p:nvSpPr>
          <p:cNvPr id="5" name="Text 3"/>
          <p:cNvSpPr/>
          <p:nvPr/>
        </p:nvSpPr>
        <p:spPr>
          <a:xfrm>
            <a:off x="457200" y="4663440"/>
            <a:ext cx="8229600" cy="365760"/>
          </a:xfrm>
          <a:prstGeom prst="rect">
            <a:avLst/>
          </a:prstGeom>
          <a:noFill/>
          <a:ln/>
        </p:spPr>
        <p:txBody>
          <a:bodyPr wrap="square" rtlCol="0" anchor="ctr"/>
          <a:lstStyle/>
          <a:p>
            <a:pPr indent="0" marL="0">
              <a:buNone/>
            </a:pPr>
            <a:r>
              <a:rPr lang="en-US" sz="1000" i="1" dirty="0">
                <a:solidFill>
                  <a:srgbClr val="64748B"/>
                </a:solidFill>
              </a:rPr>
              <a:t>Health Transformation Review  |  Transforming American Healthcare</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700" b="1" dirty="0">
                <a:solidFill>
                  <a:srgbClr val="1F5C8B"/>
                </a:solidFill>
                <a:latin typeface="Georgia" pitchFamily="34" charset="0"/>
                <a:ea typeface="Georgia" pitchFamily="34" charset="-122"/>
                <a:cs typeface="Georgia" pitchFamily="34" charset="-120"/>
              </a:rPr>
              <a:t>THE RURAL HEALTH FISCAL CLIFF: RHT FUNDS vs. MEDICAID CUT TIMELINE</a:t>
            </a:r>
            <a:endParaRPr lang="en-US" sz="1700" dirty="0"/>
          </a:p>
        </p:txBody>
      </p:sp>
      <p:graphicFrame>
        <p:nvGraphicFramePr>
          <p:cNvPr id="3" name="Chart 0" descr=""/>
          <p:cNvGraphicFramePr/>
          <p:nvPr/>
        </p:nvGraphicFramePr>
        <p:xfrm>
          <a:off x="320040" y="658368"/>
          <a:ext cx="8503920" cy="36576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365760" y="4407408"/>
            <a:ext cx="8412480" cy="530352"/>
          </a:xfrm>
          <a:prstGeom prst="rect">
            <a:avLst/>
          </a:prstGeom>
          <a:noFill/>
          <a:ln/>
        </p:spPr>
        <p:txBody>
          <a:bodyPr wrap="square" rtlCol="0" anchor="ctr"/>
          <a:lstStyle/>
          <a:p>
            <a:pPr algn="ctr" indent="0" marL="0">
              <a:buNone/>
            </a:pPr>
            <a:r>
              <a:rPr lang="en-US" sz="1100" i="1" dirty="0">
                <a:solidFill>
                  <a:srgbClr val="8B1A1A"/>
                </a:solidFill>
              </a:rPr>
              <a:t>64% of Medicaid cuts hit AFTER 2030 when RHT funds expire. Vermont must achieve structural efficiency by 2030 to survive the back-loaded cuts.</a:t>
            </a:r>
            <a:endParaRPr lang="en-US" sz="1100" dirty="0"/>
          </a:p>
        </p:txBody>
      </p:sp>
      <p:sp>
        <p:nvSpPr>
          <p:cNvPr id="5" name="Text 2"/>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17 — Source: KFF 'A Closer Look at the $50B Rural Health Fund' (September 2025); CBO H.R.1 estimate; HTR analysis</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2200" b="1" dirty="0">
                <a:solidFill>
                  <a:srgbClr val="1F5C8B"/>
                </a:solidFill>
                <a:latin typeface="Georgia" pitchFamily="34" charset="0"/>
                <a:ea typeface="Georgia" pitchFamily="34" charset="-122"/>
                <a:cs typeface="Georgia" pitchFamily="34" charset="-120"/>
              </a:rPr>
              <a:t>VERMONT 2026–2030: TWO SCENARIOS</a:t>
            </a:r>
            <a:endParaRPr lang="en-US" sz="2200" dirty="0"/>
          </a:p>
        </p:txBody>
      </p:sp>
      <p:sp>
        <p:nvSpPr>
          <p:cNvPr id="3" name="Shape 1"/>
          <p:cNvSpPr/>
          <p:nvPr/>
        </p:nvSpPr>
        <p:spPr>
          <a:xfrm>
            <a:off x="274320" y="685800"/>
            <a:ext cx="4160520" cy="475488"/>
          </a:xfrm>
          <a:prstGeom prst="rect">
            <a:avLst/>
          </a:prstGeom>
          <a:solidFill>
            <a:srgbClr val="1E6B3C"/>
          </a:solidFill>
          <a:ln/>
        </p:spPr>
      </p:sp>
      <p:sp>
        <p:nvSpPr>
          <p:cNvPr id="4" name="Text 2"/>
          <p:cNvSpPr/>
          <p:nvPr/>
        </p:nvSpPr>
        <p:spPr>
          <a:xfrm>
            <a:off x="274320" y="685800"/>
            <a:ext cx="4160520" cy="475488"/>
          </a:xfrm>
          <a:prstGeom prst="rect">
            <a:avLst/>
          </a:prstGeom>
          <a:noFill/>
          <a:ln/>
        </p:spPr>
        <p:txBody>
          <a:bodyPr wrap="square" rtlCol="0" anchor="ctr"/>
          <a:lstStyle/>
          <a:p>
            <a:pPr algn="ctr" indent="0" marL="0">
              <a:buNone/>
            </a:pPr>
            <a:r>
              <a:rPr lang="en-US" sz="1200" b="1" dirty="0">
                <a:solidFill>
                  <a:srgbClr val="FFFFFF"/>
                </a:solidFill>
              </a:rPr>
              <a:t>TRANSFORMATION SUCCESS SCENARIO</a:t>
            </a:r>
            <a:endParaRPr lang="en-US" sz="1200" dirty="0"/>
          </a:p>
        </p:txBody>
      </p:sp>
      <p:sp>
        <p:nvSpPr>
          <p:cNvPr id="5" name="Shape 3"/>
          <p:cNvSpPr/>
          <p:nvPr/>
        </p:nvSpPr>
        <p:spPr>
          <a:xfrm>
            <a:off x="274320" y="1234440"/>
            <a:ext cx="4160520" cy="612648"/>
          </a:xfrm>
          <a:prstGeom prst="rect">
            <a:avLst/>
          </a:prstGeom>
          <a:solidFill>
            <a:srgbClr val="D9EFE3"/>
          </a:solidFill>
          <a:ln w="12700">
            <a:solidFill>
              <a:srgbClr val="1E6B3C"/>
            </a:solidFill>
            <a:prstDash val="solid"/>
          </a:ln>
        </p:spPr>
      </p:sp>
      <p:sp>
        <p:nvSpPr>
          <p:cNvPr id="6" name="Text 4"/>
          <p:cNvSpPr/>
          <p:nvPr/>
        </p:nvSpPr>
        <p:spPr>
          <a:xfrm>
            <a:off x="384048" y="1280160"/>
            <a:ext cx="3931920" cy="521208"/>
          </a:xfrm>
          <a:prstGeom prst="rect">
            <a:avLst/>
          </a:prstGeom>
          <a:noFill/>
          <a:ln/>
        </p:spPr>
        <p:txBody>
          <a:bodyPr wrap="square" lIns="0" tIns="0" rIns="0" bIns="0" rtlCol="0" anchor="ctr"/>
          <a:lstStyle/>
          <a:p>
            <a:pPr indent="0" marL="0">
              <a:buNone/>
            </a:pPr>
            <a:r>
              <a:rPr lang="en-US" sz="1000" dirty="0">
                <a:solidFill>
                  <a:srgbClr val="1A1A1A"/>
                </a:solidFill>
              </a:rPr>
              <a:t>FY2027: RBP implemented. First premium growth slowdown in a decade.</a:t>
            </a:r>
            <a:endParaRPr lang="en-US" sz="1000" dirty="0"/>
          </a:p>
        </p:txBody>
      </p:sp>
      <p:sp>
        <p:nvSpPr>
          <p:cNvPr id="7" name="Shape 5"/>
          <p:cNvSpPr/>
          <p:nvPr/>
        </p:nvSpPr>
        <p:spPr>
          <a:xfrm>
            <a:off x="274320" y="1911096"/>
            <a:ext cx="4160520" cy="612648"/>
          </a:xfrm>
          <a:prstGeom prst="rect">
            <a:avLst/>
          </a:prstGeom>
          <a:solidFill>
            <a:srgbClr val="D9EFE3"/>
          </a:solidFill>
          <a:ln w="12700">
            <a:solidFill>
              <a:srgbClr val="1E6B3C"/>
            </a:solidFill>
            <a:prstDash val="solid"/>
          </a:ln>
        </p:spPr>
      </p:sp>
      <p:sp>
        <p:nvSpPr>
          <p:cNvPr id="8" name="Text 6"/>
          <p:cNvSpPr/>
          <p:nvPr/>
        </p:nvSpPr>
        <p:spPr>
          <a:xfrm>
            <a:off x="384048" y="1956816"/>
            <a:ext cx="3931920" cy="521208"/>
          </a:xfrm>
          <a:prstGeom prst="rect">
            <a:avLst/>
          </a:prstGeom>
          <a:noFill/>
          <a:ln/>
        </p:spPr>
        <p:txBody>
          <a:bodyPr wrap="square" lIns="0" tIns="0" rIns="0" bIns="0" rtlCol="0" anchor="ctr"/>
          <a:lstStyle/>
          <a:p>
            <a:pPr indent="0" marL="0">
              <a:buNone/>
            </a:pPr>
            <a:r>
              <a:rPr lang="en-US" sz="1000" dirty="0">
                <a:solidFill>
                  <a:srgbClr val="1A1A1A"/>
                </a:solidFill>
              </a:rPr>
              <a:t>FY2028: Non-CAH global budgets operational. AHEAD delivers population health improvements.</a:t>
            </a:r>
            <a:endParaRPr lang="en-US" sz="1000" dirty="0"/>
          </a:p>
        </p:txBody>
      </p:sp>
      <p:sp>
        <p:nvSpPr>
          <p:cNvPr id="9" name="Shape 7"/>
          <p:cNvSpPr/>
          <p:nvPr/>
        </p:nvSpPr>
        <p:spPr>
          <a:xfrm>
            <a:off x="274320" y="2587752"/>
            <a:ext cx="4160520" cy="612648"/>
          </a:xfrm>
          <a:prstGeom prst="rect">
            <a:avLst/>
          </a:prstGeom>
          <a:solidFill>
            <a:srgbClr val="D9EFE3"/>
          </a:solidFill>
          <a:ln w="12700">
            <a:solidFill>
              <a:srgbClr val="1E6B3C"/>
            </a:solidFill>
            <a:prstDash val="solid"/>
          </a:ln>
        </p:spPr>
      </p:sp>
      <p:sp>
        <p:nvSpPr>
          <p:cNvPr id="10" name="Text 8"/>
          <p:cNvSpPr/>
          <p:nvPr/>
        </p:nvSpPr>
        <p:spPr>
          <a:xfrm>
            <a:off x="384048" y="2633472"/>
            <a:ext cx="3931920" cy="521208"/>
          </a:xfrm>
          <a:prstGeom prst="rect">
            <a:avLst/>
          </a:prstGeom>
          <a:noFill/>
          <a:ln/>
        </p:spPr>
        <p:txBody>
          <a:bodyPr wrap="square" lIns="0" tIns="0" rIns="0" bIns="0" rtlCol="0" anchor="ctr"/>
          <a:lstStyle/>
          <a:p>
            <a:pPr indent="0" marL="0">
              <a:buNone/>
            </a:pPr>
            <a:r>
              <a:rPr lang="en-US" sz="1000" dirty="0">
                <a:solidFill>
                  <a:srgbClr val="1A1A1A"/>
                </a:solidFill>
              </a:rPr>
              <a:t>2028: AHS delivers Strategic Plan with specific quantified commitments.</a:t>
            </a:r>
            <a:endParaRPr lang="en-US" sz="1000" dirty="0"/>
          </a:p>
        </p:txBody>
      </p:sp>
      <p:sp>
        <p:nvSpPr>
          <p:cNvPr id="11" name="Shape 9"/>
          <p:cNvSpPr/>
          <p:nvPr/>
        </p:nvSpPr>
        <p:spPr>
          <a:xfrm>
            <a:off x="274320" y="3264408"/>
            <a:ext cx="4160520" cy="612648"/>
          </a:xfrm>
          <a:prstGeom prst="rect">
            <a:avLst/>
          </a:prstGeom>
          <a:solidFill>
            <a:srgbClr val="D9EFE3"/>
          </a:solidFill>
          <a:ln w="12700">
            <a:solidFill>
              <a:srgbClr val="1E6B3C"/>
            </a:solidFill>
            <a:prstDash val="solid"/>
          </a:ln>
        </p:spPr>
      </p:sp>
      <p:sp>
        <p:nvSpPr>
          <p:cNvPr id="12" name="Text 10"/>
          <p:cNvSpPr/>
          <p:nvPr/>
        </p:nvSpPr>
        <p:spPr>
          <a:xfrm>
            <a:off x="384048" y="3310128"/>
            <a:ext cx="3931920" cy="521208"/>
          </a:xfrm>
          <a:prstGeom prst="rect">
            <a:avLst/>
          </a:prstGeom>
          <a:noFill/>
          <a:ln/>
        </p:spPr>
        <p:txBody>
          <a:bodyPr wrap="square" lIns="0" tIns="0" rIns="0" bIns="0" rtlCol="0" anchor="ctr"/>
          <a:lstStyle/>
          <a:p>
            <a:pPr indent="0" marL="0">
              <a:buNone/>
            </a:pPr>
            <a:r>
              <a:rPr lang="en-US" sz="1000" dirty="0">
                <a:solidFill>
                  <a:srgbClr val="1A1A1A"/>
                </a:solidFill>
              </a:rPr>
              <a:t>2030: RHT capital fully deployed. Medicaid cuts absorbed through efficiency gains.</a:t>
            </a:r>
            <a:endParaRPr lang="en-US" sz="1000" dirty="0"/>
          </a:p>
        </p:txBody>
      </p:sp>
      <p:sp>
        <p:nvSpPr>
          <p:cNvPr id="13" name="Shape 11"/>
          <p:cNvSpPr/>
          <p:nvPr/>
        </p:nvSpPr>
        <p:spPr>
          <a:xfrm>
            <a:off x="274320" y="3941064"/>
            <a:ext cx="4160520" cy="612648"/>
          </a:xfrm>
          <a:prstGeom prst="rect">
            <a:avLst/>
          </a:prstGeom>
          <a:solidFill>
            <a:srgbClr val="D9EFE3"/>
          </a:solidFill>
          <a:ln w="12700">
            <a:solidFill>
              <a:srgbClr val="1E6B3C"/>
            </a:solidFill>
            <a:prstDash val="solid"/>
          </a:ln>
        </p:spPr>
      </p:sp>
      <p:sp>
        <p:nvSpPr>
          <p:cNvPr id="14" name="Text 12"/>
          <p:cNvSpPr/>
          <p:nvPr/>
        </p:nvSpPr>
        <p:spPr>
          <a:xfrm>
            <a:off x="384048" y="3986784"/>
            <a:ext cx="3931920" cy="521208"/>
          </a:xfrm>
          <a:prstGeom prst="rect">
            <a:avLst/>
          </a:prstGeom>
          <a:noFill/>
          <a:ln/>
        </p:spPr>
        <p:txBody>
          <a:bodyPr wrap="square" lIns="0" tIns="0" rIns="0" bIns="0" rtlCol="0" anchor="ctr"/>
          <a:lstStyle/>
          <a:p>
            <a:pPr indent="0" marL="0">
              <a:buNone/>
            </a:pPr>
            <a:r>
              <a:rPr lang="en-US" sz="1000" dirty="0">
                <a:solidFill>
                  <a:srgbClr val="1A1A1A"/>
                </a:solidFill>
              </a:rPr>
              <a:t>2031-35: Vermont as national template. AHEAD expands nationally using Vermont evidence.</a:t>
            </a:r>
            <a:endParaRPr lang="en-US" sz="1000" dirty="0"/>
          </a:p>
        </p:txBody>
      </p:sp>
      <p:sp>
        <p:nvSpPr>
          <p:cNvPr id="15" name="Shape 13"/>
          <p:cNvSpPr/>
          <p:nvPr/>
        </p:nvSpPr>
        <p:spPr>
          <a:xfrm>
            <a:off x="4709160" y="685800"/>
            <a:ext cx="4160520" cy="475488"/>
          </a:xfrm>
          <a:prstGeom prst="rect">
            <a:avLst/>
          </a:prstGeom>
          <a:solidFill>
            <a:srgbClr val="7B4A00"/>
          </a:solidFill>
          <a:ln/>
        </p:spPr>
      </p:sp>
      <p:sp>
        <p:nvSpPr>
          <p:cNvPr id="16" name="Text 14"/>
          <p:cNvSpPr/>
          <p:nvPr/>
        </p:nvSpPr>
        <p:spPr>
          <a:xfrm>
            <a:off x="4709160" y="685800"/>
            <a:ext cx="4160520" cy="475488"/>
          </a:xfrm>
          <a:prstGeom prst="rect">
            <a:avLst/>
          </a:prstGeom>
          <a:noFill/>
          <a:ln/>
        </p:spPr>
        <p:txBody>
          <a:bodyPr wrap="square" rtlCol="0" anchor="ctr"/>
          <a:lstStyle/>
          <a:p>
            <a:pPr algn="ctr" indent="0" marL="0">
              <a:buNone/>
            </a:pPr>
            <a:r>
              <a:rPr lang="en-US" sz="1200" b="1" dirty="0">
                <a:solidFill>
                  <a:srgbClr val="FFFFFF"/>
                </a:solidFill>
              </a:rPr>
              <a:t>PARTIAL TRANSFORMATION SCENARIO</a:t>
            </a:r>
            <a:endParaRPr lang="en-US" sz="1200" dirty="0"/>
          </a:p>
        </p:txBody>
      </p:sp>
      <p:sp>
        <p:nvSpPr>
          <p:cNvPr id="17" name="Shape 15"/>
          <p:cNvSpPr/>
          <p:nvPr/>
        </p:nvSpPr>
        <p:spPr>
          <a:xfrm>
            <a:off x="4709160" y="1234440"/>
            <a:ext cx="4160520" cy="612648"/>
          </a:xfrm>
          <a:prstGeom prst="rect">
            <a:avLst/>
          </a:prstGeom>
          <a:solidFill>
            <a:srgbClr val="FFF0CC"/>
          </a:solidFill>
          <a:ln w="12700">
            <a:solidFill>
              <a:srgbClr val="7B4A00"/>
            </a:solidFill>
            <a:prstDash val="solid"/>
          </a:ln>
        </p:spPr>
      </p:sp>
      <p:sp>
        <p:nvSpPr>
          <p:cNvPr id="18" name="Text 16"/>
          <p:cNvSpPr/>
          <p:nvPr/>
        </p:nvSpPr>
        <p:spPr>
          <a:xfrm>
            <a:off x="4818888" y="1280160"/>
            <a:ext cx="3931920" cy="521208"/>
          </a:xfrm>
          <a:prstGeom prst="rect">
            <a:avLst/>
          </a:prstGeom>
          <a:noFill/>
          <a:ln/>
        </p:spPr>
        <p:txBody>
          <a:bodyPr wrap="square" lIns="0" tIns="0" rIns="0" bIns="0" rtlCol="0" anchor="ctr"/>
          <a:lstStyle/>
          <a:p>
            <a:pPr indent="0" marL="0">
              <a:buNone/>
            </a:pPr>
            <a:r>
              <a:rPr lang="en-US" sz="1000" dirty="0">
                <a:solidFill>
                  <a:srgbClr val="1A1A1A"/>
                </a:solidFill>
              </a:rPr>
              <a:t>FY2027: RBP contested — UVMMC seeks legislative relief. Modified glide path.</a:t>
            </a:r>
            <a:endParaRPr lang="en-US" sz="1000" dirty="0"/>
          </a:p>
        </p:txBody>
      </p:sp>
      <p:sp>
        <p:nvSpPr>
          <p:cNvPr id="19" name="Shape 17"/>
          <p:cNvSpPr/>
          <p:nvPr/>
        </p:nvSpPr>
        <p:spPr>
          <a:xfrm>
            <a:off x="4709160" y="1911096"/>
            <a:ext cx="4160520" cy="612648"/>
          </a:xfrm>
          <a:prstGeom prst="rect">
            <a:avLst/>
          </a:prstGeom>
          <a:solidFill>
            <a:srgbClr val="FFF0CC"/>
          </a:solidFill>
          <a:ln w="12700">
            <a:solidFill>
              <a:srgbClr val="7B4A00"/>
            </a:solidFill>
            <a:prstDash val="solid"/>
          </a:ln>
        </p:spPr>
      </p:sp>
      <p:sp>
        <p:nvSpPr>
          <p:cNvPr id="20" name="Text 18"/>
          <p:cNvSpPr/>
          <p:nvPr/>
        </p:nvSpPr>
        <p:spPr>
          <a:xfrm>
            <a:off x="4818888" y="1956816"/>
            <a:ext cx="3931920" cy="521208"/>
          </a:xfrm>
          <a:prstGeom prst="rect">
            <a:avLst/>
          </a:prstGeom>
          <a:noFill/>
          <a:ln/>
        </p:spPr>
        <p:txBody>
          <a:bodyPr wrap="square" lIns="0" tIns="0" rIns="0" bIns="0" rtlCol="0" anchor="ctr"/>
          <a:lstStyle/>
          <a:p>
            <a:pPr indent="0" marL="0">
              <a:buNone/>
            </a:pPr>
            <a:r>
              <a:rPr lang="en-US" sz="1000" dirty="0">
                <a:solidFill>
                  <a:srgbClr val="1A1A1A"/>
                </a:solidFill>
              </a:rPr>
              <a:t>FY2028: Global budget methodology not finalized. Deadline extended.</a:t>
            </a:r>
            <a:endParaRPr lang="en-US" sz="1000" dirty="0"/>
          </a:p>
        </p:txBody>
      </p:sp>
      <p:sp>
        <p:nvSpPr>
          <p:cNvPr id="21" name="Shape 19"/>
          <p:cNvSpPr/>
          <p:nvPr/>
        </p:nvSpPr>
        <p:spPr>
          <a:xfrm>
            <a:off x="4709160" y="2587752"/>
            <a:ext cx="4160520" cy="612648"/>
          </a:xfrm>
          <a:prstGeom prst="rect">
            <a:avLst/>
          </a:prstGeom>
          <a:solidFill>
            <a:srgbClr val="FFF0CC"/>
          </a:solidFill>
          <a:ln w="12700">
            <a:solidFill>
              <a:srgbClr val="7B4A00"/>
            </a:solidFill>
            <a:prstDash val="solid"/>
          </a:ln>
        </p:spPr>
      </p:sp>
      <p:sp>
        <p:nvSpPr>
          <p:cNvPr id="22" name="Text 20"/>
          <p:cNvSpPr/>
          <p:nvPr/>
        </p:nvSpPr>
        <p:spPr>
          <a:xfrm>
            <a:off x="4818888" y="2633472"/>
            <a:ext cx="3931920" cy="521208"/>
          </a:xfrm>
          <a:prstGeom prst="rect">
            <a:avLst/>
          </a:prstGeom>
          <a:noFill/>
          <a:ln/>
        </p:spPr>
        <p:txBody>
          <a:bodyPr wrap="square" lIns="0" tIns="0" rIns="0" bIns="0" rtlCol="0" anchor="ctr"/>
          <a:lstStyle/>
          <a:p>
            <a:pPr indent="0" marL="0">
              <a:buNone/>
            </a:pPr>
            <a:r>
              <a:rPr lang="en-US" sz="1000" dirty="0">
                <a:solidFill>
                  <a:srgbClr val="1A1A1A"/>
                </a:solidFill>
              </a:rPr>
              <a:t>2028: Strategic Plan descriptive, not prescriptive — identifies questions, avoids commitments.</a:t>
            </a:r>
            <a:endParaRPr lang="en-US" sz="1000" dirty="0"/>
          </a:p>
        </p:txBody>
      </p:sp>
      <p:sp>
        <p:nvSpPr>
          <p:cNvPr id="23" name="Shape 21"/>
          <p:cNvSpPr/>
          <p:nvPr/>
        </p:nvSpPr>
        <p:spPr>
          <a:xfrm>
            <a:off x="4709160" y="3264408"/>
            <a:ext cx="4160520" cy="612648"/>
          </a:xfrm>
          <a:prstGeom prst="rect">
            <a:avLst/>
          </a:prstGeom>
          <a:solidFill>
            <a:srgbClr val="FFF0CC"/>
          </a:solidFill>
          <a:ln w="12700">
            <a:solidFill>
              <a:srgbClr val="7B4A00"/>
            </a:solidFill>
            <a:prstDash val="solid"/>
          </a:ln>
        </p:spPr>
      </p:sp>
      <p:sp>
        <p:nvSpPr>
          <p:cNvPr id="24" name="Text 22"/>
          <p:cNvSpPr/>
          <p:nvPr/>
        </p:nvSpPr>
        <p:spPr>
          <a:xfrm>
            <a:off x="4818888" y="3310128"/>
            <a:ext cx="3931920" cy="521208"/>
          </a:xfrm>
          <a:prstGeom prst="rect">
            <a:avLst/>
          </a:prstGeom>
          <a:noFill/>
          <a:ln/>
        </p:spPr>
        <p:txBody>
          <a:bodyPr wrap="square" lIns="0" tIns="0" rIns="0" bIns="0" rtlCol="0" anchor="ctr"/>
          <a:lstStyle/>
          <a:p>
            <a:pPr indent="0" marL="0">
              <a:buNone/>
            </a:pPr>
            <a:r>
              <a:rPr lang="en-US" sz="1000" dirty="0">
                <a:solidFill>
                  <a:srgbClr val="1A1A1A"/>
                </a:solidFill>
              </a:rPr>
              <a:t>2030: RHT capital partially for operations support, not structural transformation.</a:t>
            </a:r>
            <a:endParaRPr lang="en-US" sz="1000" dirty="0"/>
          </a:p>
        </p:txBody>
      </p:sp>
      <p:sp>
        <p:nvSpPr>
          <p:cNvPr id="25" name="Shape 23"/>
          <p:cNvSpPr/>
          <p:nvPr/>
        </p:nvSpPr>
        <p:spPr>
          <a:xfrm>
            <a:off x="4709160" y="3941064"/>
            <a:ext cx="4160520" cy="612648"/>
          </a:xfrm>
          <a:prstGeom prst="rect">
            <a:avLst/>
          </a:prstGeom>
          <a:solidFill>
            <a:srgbClr val="FFF0CC"/>
          </a:solidFill>
          <a:ln w="12700">
            <a:solidFill>
              <a:srgbClr val="7B4A00"/>
            </a:solidFill>
            <a:prstDash val="solid"/>
          </a:ln>
        </p:spPr>
      </p:sp>
      <p:sp>
        <p:nvSpPr>
          <p:cNvPr id="26" name="Text 24"/>
          <p:cNvSpPr/>
          <p:nvPr/>
        </p:nvSpPr>
        <p:spPr>
          <a:xfrm>
            <a:off x="4818888" y="3986784"/>
            <a:ext cx="3931920" cy="521208"/>
          </a:xfrm>
          <a:prstGeom prst="rect">
            <a:avLst/>
          </a:prstGeom>
          <a:noFill/>
          <a:ln/>
        </p:spPr>
        <p:txBody>
          <a:bodyPr wrap="square" lIns="0" tIns="0" rIns="0" bIns="0" rtlCol="0" anchor="ctr"/>
          <a:lstStyle/>
          <a:p>
            <a:pPr indent="0" marL="0">
              <a:buNone/>
            </a:pPr>
            <a:r>
              <a:rPr lang="en-US" sz="1000" dirty="0">
                <a:solidFill>
                  <a:srgbClr val="1A1A1A"/>
                </a:solidFill>
              </a:rPr>
              <a:t>2031-35: Transformation real but incomplete. Second reform wave required.</a:t>
            </a:r>
            <a:endParaRPr lang="en-US" sz="1000" dirty="0"/>
          </a:p>
        </p:txBody>
      </p:sp>
      <p:sp>
        <p:nvSpPr>
          <p:cNvPr id="27" name="Text 25"/>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17 — Source: HTR analysis; Oliver Wyman Act 167 Report; Vermont AHEAD State Agreement; Act 68 of 2025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411480"/>
          </a:xfrm>
          <a:prstGeom prst="rect">
            <a:avLst/>
          </a:prstGeom>
          <a:noFill/>
          <a:ln/>
        </p:spPr>
        <p:txBody>
          <a:bodyPr wrap="square" rtlCol="0" anchor="ctr"/>
          <a:lstStyle/>
          <a:p>
            <a:pPr indent="0" marL="0">
              <a:buNone/>
            </a:pPr>
            <a:r>
              <a:rPr lang="en-US" sz="1800" b="1" dirty="0">
                <a:solidFill>
                  <a:srgbClr val="1F5C8B"/>
                </a:solidFill>
                <a:latin typeface="Georgia" pitchFamily="34" charset="0"/>
                <a:ea typeface="Georgia" pitchFamily="34" charset="-122"/>
                <a:cs typeface="Georgia" pitchFamily="34" charset="-120"/>
              </a:rPr>
              <a:t>SIX-PILLAR FORECAST 2026–2035: HEADWINDS AND TAILWINDS</a:t>
            </a:r>
            <a:endParaRPr lang="en-US" sz="18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274320" y="658368"/>
          <a:ext cx="8595360" cy="4297680"/>
        </p:xfrm>
        <a:graphic>
          <a:graphicData uri="http://schemas.openxmlformats.org/drawingml/2006/table">
            <a:tbl>
              <a:tblPr/>
              <a:tblGrid>
                <a:gridCol w="1097280"/>
                <a:gridCol w="2286000"/>
                <a:gridCol w="2286000"/>
                <a:gridCol w="2926080"/>
              </a:tblGrid>
              <a:tr h="576072">
                <a:tc>
                  <a:txBody>
                    <a:bodyPr/>
                    <a:lstStyle/>
                    <a:p>
                      <a:pPr indent="0" marL="0">
                        <a:buNone/>
                      </a:pPr>
                      <a:r>
                        <a:rPr lang="en-US" sz="1000" b="1" dirty="0">
                          <a:solidFill>
                            <a:srgbClr val="FFFFFF"/>
                          </a:solidFill>
                        </a:rPr>
                        <a:t>Pillar</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000" b="1" dirty="0">
                          <a:solidFill>
                            <a:srgbClr val="FFFFFF"/>
                          </a:solidFill>
                        </a:rPr>
                        <a:t>Primary Headwind</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000" b="1" dirty="0">
                          <a:solidFill>
                            <a:srgbClr val="FFFFFF"/>
                          </a:solidFill>
                        </a:rPr>
                        <a:t>Primary Tailwind</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c>
                  <a:txBody>
                    <a:bodyPr/>
                    <a:lstStyle/>
                    <a:p>
                      <a:pPr indent="0" marL="0">
                        <a:buNone/>
                      </a:pPr>
                      <a:r>
                        <a:rPr lang="en-US" sz="1000" b="1" dirty="0">
                          <a:solidFill>
                            <a:srgbClr val="FFFFFF"/>
                          </a:solidFill>
                        </a:rPr>
                        <a:t>2035 Outlook</a:t>
                      </a:r>
                      <a:endParaRPr lang="en-US" sz="100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F5C8B"/>
                    </a:solidFill>
                  </a:tcPr>
                </a:tc>
              </a:tr>
              <a:tr h="576072">
                <a:tc>
                  <a:txBody>
                    <a:bodyPr/>
                    <a:lstStyle/>
                    <a:p>
                      <a:pPr indent="0" marL="0">
                        <a:buNone/>
                      </a:pPr>
                      <a:r>
                        <a:rPr lang="en-US" sz="950" dirty="0">
                          <a:solidFill>
                            <a:srgbClr val="000000"/>
                          </a:solidFill>
                        </a:rPr>
                        <a:t>Policy</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H.R.1 Medicaid cuts; federal policy instability; work requirements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AHEAD expanding; mandatory RBP/global budgets; price transparency momentum</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Moderate national progress; Vermont high if execution holds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76072">
                <a:tc>
                  <a:txBody>
                    <a:bodyPr/>
                    <a:lstStyle/>
                    <a:p>
                      <a:pPr indent="0" marL="0">
                        <a:buNone/>
                      </a:pPr>
                      <a:r>
                        <a:rPr lang="en-US" sz="950" dirty="0">
                          <a:solidFill>
                            <a:srgbClr val="000000"/>
                          </a:solidFill>
                        </a:rPr>
                        <a:t>Economics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Medicaid revenue reductions; GLP-1 spending wave</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RBP producing savings; IRA drug negotiation; ACO REACH maturing</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VBC reaches 70-75% commercial by 2030; global budgets beyond Vermont/MD limited</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76072">
                <a:tc>
                  <a:txBody>
                    <a:bodyPr/>
                    <a:lstStyle/>
                    <a:p>
                      <a:pPr indent="0" marL="0">
                        <a:buNone/>
                      </a:pPr>
                      <a:r>
                        <a:rPr lang="en-US" sz="950" dirty="0">
                          <a:solidFill>
                            <a:srgbClr val="000000"/>
                          </a:solidFill>
                        </a:rPr>
                        <a:t>Technology</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Data lag; AI governance absent; FHIR incomplete at smaller facilities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CIN analytics; RHT IT grants; ambient AI reducing burden; FHIR maturing</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Fastest-improving pillar nationally; AI governance the critical risk</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76072">
                <a:tc>
                  <a:txBody>
                    <a:bodyPr/>
                    <a:lstStyle/>
                    <a:p>
                      <a:pPr indent="0" marL="0">
                        <a:buNone/>
                      </a:pPr>
                      <a:r>
                        <a:rPr lang="en-US" sz="950" dirty="0">
                          <a:solidFill>
                            <a:srgbClr val="000000"/>
                          </a:solidFill>
                        </a:rPr>
                        <a:t>Clinical</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Primary care workforce shortage; MHI sustainability; PACE gap</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Blueprint + AHEAD primary care investment; CCBHC expansion; CoCM billing</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Steady improvement nationally; Vermont has country's strongest primary care infrastructure</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76072">
                <a:tc>
                  <a:txBody>
                    <a:bodyPr/>
                    <a:lstStyle/>
                    <a:p>
                      <a:pPr indent="0" marL="0">
                        <a:buNone/>
                      </a:pPr>
                      <a:r>
                        <a:rPr lang="en-US" sz="950" dirty="0">
                          <a:solidFill>
                            <a:srgbClr val="000000"/>
                          </a:solidFill>
                        </a:rPr>
                        <a:t>Equity</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H.R.1 coverage losses hitting most vulnerable; federal equity funding cuts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BALANCE GLP-1; CCBHC access policy; HRSN screening; Act 68 equity requirements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Highest-risk pillar nationally; explicit equity targets in Vermont Strategic Plan essential</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r h="576072">
                <a:tc>
                  <a:txBody>
                    <a:bodyPr/>
                    <a:lstStyle/>
                    <a:p>
                      <a:pPr indent="0" marL="0">
                        <a:buNone/>
                      </a:pPr>
                      <a:r>
                        <a:rPr lang="en-US" sz="950" dirty="0">
                          <a:solidFill>
                            <a:srgbClr val="000000"/>
                          </a:solidFill>
                        </a:rPr>
                        <a:t>Operations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Hospital transformation pace; AHS capacity gaps; administrative complexity</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$195M RHT; all 14 hospitals engaged; GMCB capacity added; CIN shared services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c>
                  <a:txBody>
                    <a:bodyPr/>
                    <a:lstStyle/>
                    <a:p>
                      <a:pPr indent="0" marL="0">
                        <a:buNone/>
                      </a:pPr>
                      <a:r>
                        <a:rPr lang="en-US" sz="950" dirty="0">
                          <a:solidFill>
                            <a:srgbClr val="000000"/>
                          </a:solidFill>
                        </a:rPr>
                        <a:t>Vermont: transformation underway; question is whether execution matches deadlines</a:t>
                      </a:r>
                      <a:endParaRPr lang="en-US" sz="950" dirty="0"/>
                    </a:p>
                  </a:txBody>
                  <a:tcPr marL="91440" marR="91440" marT="45720" marB="45720">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tcPr>
                </a:tc>
              </a:tr>
            </a:tbl>
          </a:graphicData>
        </a:graphic>
      </p:graphicFrame>
      <p:sp>
        <p:nvSpPr>
          <p:cNvPr id="4" name="Text 1"/>
          <p:cNvSpPr/>
          <p:nvPr/>
        </p:nvSpPr>
        <p:spPr>
          <a:xfrm>
            <a:off x="365760" y="4754880"/>
            <a:ext cx="8412480" cy="274320"/>
          </a:xfrm>
          <a:prstGeom prst="rect">
            <a:avLst/>
          </a:prstGeom>
          <a:noFill/>
          <a:ln/>
        </p:spPr>
        <p:txBody>
          <a:bodyPr wrap="square" rtlCol="0" anchor="ctr"/>
          <a:lstStyle/>
          <a:p>
            <a:pPr indent="0" marL="0">
              <a:buNone/>
            </a:pPr>
            <a:r>
              <a:rPr lang="en-US" sz="900" i="1" dirty="0">
                <a:solidFill>
                  <a:srgbClr val="64748B"/>
                </a:solidFill>
              </a:rPr>
              <a:t>Chapter 17 — Source: HTR analysis; KFF; Chartis 2026; Oliver Wyman; Vermont AHEAD Agreement; Act 68 of 2025</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F5C8B"/>
        </a:solidFill>
      </p:bgPr>
    </p:bg>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163F61"/>
          </a:solidFill>
          <a:ln/>
        </p:spPr>
      </p:sp>
      <p:sp>
        <p:nvSpPr>
          <p:cNvPr id="3" name="Text 1"/>
          <p:cNvSpPr/>
          <p:nvPr/>
        </p:nvSpPr>
        <p:spPr>
          <a:xfrm>
            <a:off x="548640" y="777240"/>
            <a:ext cx="8046720" cy="822960"/>
          </a:xfrm>
          <a:prstGeom prst="rect">
            <a:avLst/>
          </a:prstGeom>
          <a:noFill/>
          <a:ln/>
        </p:spPr>
        <p:txBody>
          <a:bodyPr wrap="square"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VERMONT IS NOT JUST VERMONT.</a:t>
            </a:r>
            <a:endParaRPr lang="en-US" sz="4200" dirty="0"/>
          </a:p>
        </p:txBody>
      </p:sp>
      <p:sp>
        <p:nvSpPr>
          <p:cNvPr id="4" name="Text 2"/>
          <p:cNvSpPr/>
          <p:nvPr/>
        </p:nvSpPr>
        <p:spPr>
          <a:xfrm>
            <a:off x="548640" y="1691640"/>
            <a:ext cx="8046720" cy="1097280"/>
          </a:xfrm>
          <a:prstGeom prst="rect">
            <a:avLst/>
          </a:prstGeom>
          <a:noFill/>
          <a:ln/>
        </p:spPr>
        <p:txBody>
          <a:bodyPr wrap="square" rtlCol="0" anchor="ctr"/>
          <a:lstStyle/>
          <a:p>
            <a:pPr algn="ctr" indent="0" marL="0">
              <a:buNone/>
            </a:pPr>
            <a:r>
              <a:rPr lang="en-US" sz="2800" i="1" dirty="0">
                <a:solidFill>
                  <a:srgbClr val="CADCFC"/>
                </a:solidFill>
                <a:latin typeface="Georgia" pitchFamily="34" charset="0"/>
                <a:ea typeface="Georgia" pitchFamily="34" charset="-122"/>
                <a:cs typeface="Georgia" pitchFamily="34" charset="-120"/>
              </a:rPr>
              <a:t>It is every state,</a:t>
            </a:r>
            <a:endParaRPr lang="en-US" sz="2800" dirty="0"/>
          </a:p>
          <a:p>
            <a:pPr algn="ctr" indent="0" marL="0">
              <a:buNone/>
            </a:pPr>
            <a:r>
              <a:rPr lang="en-US" sz="2800" i="1" dirty="0">
                <a:solidFill>
                  <a:srgbClr val="CADCFC"/>
                </a:solidFill>
                <a:latin typeface="Georgia" pitchFamily="34" charset="0"/>
                <a:ea typeface="Georgia" pitchFamily="34" charset="-122"/>
                <a:cs typeface="Georgia" pitchFamily="34" charset="-120"/>
              </a:rPr>
              <a:t>ten to twenty years from now.</a:t>
            </a:r>
            <a:endParaRPr lang="en-US" sz="2800" dirty="0"/>
          </a:p>
        </p:txBody>
      </p:sp>
      <p:sp>
        <p:nvSpPr>
          <p:cNvPr id="5" name="Text 3"/>
          <p:cNvSpPr/>
          <p:nvPr/>
        </p:nvSpPr>
        <p:spPr>
          <a:xfrm>
            <a:off x="914400" y="2926080"/>
            <a:ext cx="7315200" cy="731520"/>
          </a:xfrm>
          <a:prstGeom prst="rect">
            <a:avLst/>
          </a:prstGeom>
          <a:noFill/>
          <a:ln/>
        </p:spPr>
        <p:txBody>
          <a:bodyPr wrap="square" rtlCol="0" anchor="ctr"/>
          <a:lstStyle/>
          <a:p>
            <a:pPr algn="ctr" indent="0" marL="0">
              <a:buNone/>
            </a:pPr>
            <a:r>
              <a:rPr lang="en-US" sz="1400" i="1" dirty="0">
                <a:solidFill>
                  <a:srgbClr val="FFFFFF"/>
                </a:solidFill>
              </a:rPr>
              <a:t>The forces producing Vermont's crisis — demographic aging, hospital financial fragility,</a:t>
            </a:r>
            <a:endParaRPr lang="en-US" sz="1400" dirty="0"/>
          </a:p>
          <a:p>
            <a:pPr algn="ctr" indent="0" marL="0">
              <a:buNone/>
            </a:pPr>
            <a:r>
              <a:rPr lang="en-US" sz="1400" i="1" dirty="0">
                <a:solidFill>
                  <a:srgbClr val="FFFFFF"/>
                </a:solidFill>
              </a:rPr>
              <a:t>commercial cross-subsidy collapse, voluntary reform failure — are present nationally.</a:t>
            </a:r>
            <a:endParaRPr lang="en-US" sz="1400" dirty="0"/>
          </a:p>
        </p:txBody>
      </p:sp>
      <p:sp>
        <p:nvSpPr>
          <p:cNvPr id="6" name="Text 4"/>
          <p:cNvSpPr/>
          <p:nvPr/>
        </p:nvSpPr>
        <p:spPr>
          <a:xfrm>
            <a:off x="457200" y="4160520"/>
            <a:ext cx="8229600" cy="457200"/>
          </a:xfrm>
          <a:prstGeom prst="rect">
            <a:avLst/>
          </a:prstGeom>
          <a:noFill/>
          <a:ln/>
        </p:spPr>
        <p:txBody>
          <a:bodyPr wrap="square" rtlCol="0" anchor="ctr"/>
          <a:lstStyle/>
          <a:p>
            <a:pPr algn="ctr" indent="0" marL="0">
              <a:buNone/>
            </a:pPr>
            <a:r>
              <a:rPr lang="en-US" sz="1100" dirty="0">
                <a:solidFill>
                  <a:srgbClr val="CADCFC"/>
                </a:solidFill>
              </a:rPr>
              <a:t>Health Transformation Review  |  Transforming American Healthcare  |  April 2026  |  htreview.com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American Healthcare — Visual Companion</dc:title>
  <dc:subject>Six-Pillar Framework | Vermont Case Study</dc:subject>
  <dc:creator>Health Transformation Review</dc:creator>
  <cp:lastModifiedBy>Health Transformation Review</cp:lastModifiedBy>
  <cp:revision>1</cp:revision>
  <dcterms:created xsi:type="dcterms:W3CDTF">2026-04-17T16:00:47Z</dcterms:created>
  <dcterms:modified xsi:type="dcterms:W3CDTF">2026-04-17T16:00:47Z</dcterms:modified>
</cp:coreProperties>
</file>