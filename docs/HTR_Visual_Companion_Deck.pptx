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D9B9E4-F9D2-4EFC-BB1D-056C6BACCCB8}">
  <a:tblStyle styleId="{A1D9B9E4-F9D2-4EFC-BB1D-056C6BACCC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 name="Google Shape;76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 name="Google Shape;85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 name="Google Shape;929;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9" name="Google Shape;989;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0" name="Google Shape;990;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9" name="Google Shape;102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0" name="Google Shape;103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5C8B"/>
        </a:solidFill>
      </p:bgPr>
    </p:bg>
    <p:spTree>
      <p:nvGrpSpPr>
        <p:cNvPr id="15" name="Shape 15"/>
        <p:cNvGrpSpPr/>
        <p:nvPr/>
      </p:nvGrpSpPr>
      <p:grpSpPr>
        <a:xfrm>
          <a:off x="0" y="0"/>
          <a:ext cx="0" cy="0"/>
          <a:chOff x="0" y="0"/>
          <a:chExt cx="0" cy="0"/>
        </a:xfrm>
      </p:grpSpPr>
      <p:sp>
        <p:nvSpPr>
          <p:cNvPr id="16" name="Google Shape;16;p3"/>
          <p:cNvSpPr/>
          <p:nvPr/>
        </p:nvSpPr>
        <p:spPr>
          <a:xfrm>
            <a:off x="0" y="3931920"/>
            <a:ext cx="9144000" cy="1211580"/>
          </a:xfrm>
          <a:prstGeom prst="rect">
            <a:avLst/>
          </a:prstGeom>
          <a:solidFill>
            <a:srgbClr val="163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57200" y="640080"/>
            <a:ext cx="8229600" cy="1645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TRANSFORMING AMERICAN HEALTHCARE</a:t>
            </a:r>
            <a:endParaRPr b="0" i="0" sz="4800" u="none" cap="none" strike="noStrike">
              <a:solidFill>
                <a:schemeClr val="dk1"/>
              </a:solidFill>
              <a:latin typeface="Calibri"/>
              <a:ea typeface="Calibri"/>
              <a:cs typeface="Calibri"/>
              <a:sym typeface="Calibri"/>
            </a:endParaRPr>
          </a:p>
        </p:txBody>
      </p:sp>
      <p:sp>
        <p:nvSpPr>
          <p:cNvPr id="18" name="Google Shape;18;p3"/>
          <p:cNvSpPr/>
          <p:nvPr/>
        </p:nvSpPr>
        <p:spPr>
          <a:xfrm>
            <a:off x="3200400" y="2395728"/>
            <a:ext cx="2743200" cy="54864"/>
          </a:xfrm>
          <a:prstGeom prst="rect">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640080" y="2542032"/>
            <a:ext cx="78638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900"/>
              <a:buFont typeface="Calibri"/>
              <a:buNone/>
            </a:pPr>
            <a:r>
              <a:rPr b="0" i="1" lang="en-US" sz="1900" u="none" cap="none" strike="noStrike">
                <a:solidFill>
                  <a:srgbClr val="FFFFFF"/>
                </a:solidFill>
                <a:latin typeface="Calibri"/>
                <a:ea typeface="Calibri"/>
                <a:cs typeface="Calibri"/>
                <a:sym typeface="Calibri"/>
              </a:rPr>
              <a:t>A Six-Pillar Framework for System Transformation</a:t>
            </a:r>
            <a:endParaRPr b="0" i="0" sz="1900" u="none" cap="none" strike="noStrike">
              <a:solidFill>
                <a:schemeClr val="dk1"/>
              </a:solidFill>
              <a:latin typeface="Calibri"/>
              <a:ea typeface="Calibri"/>
              <a:cs typeface="Calibri"/>
              <a:sym typeface="Calibri"/>
            </a:endParaRPr>
          </a:p>
        </p:txBody>
      </p:sp>
      <p:sp>
        <p:nvSpPr>
          <p:cNvPr id="20" name="Google Shape;20;p3"/>
          <p:cNvSpPr/>
          <p:nvPr/>
        </p:nvSpPr>
        <p:spPr>
          <a:xfrm>
            <a:off x="640080" y="3200400"/>
            <a:ext cx="7863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Vermont as the National Template  |  April 2026</a:t>
            </a:r>
            <a:endParaRPr b="0" i="0" sz="1300" u="none" cap="none" strike="noStrike">
              <a:solidFill>
                <a:schemeClr val="dk1"/>
              </a:solidFill>
              <a:latin typeface="Calibri"/>
              <a:ea typeface="Calibri"/>
              <a:cs typeface="Calibri"/>
              <a:sym typeface="Calibri"/>
            </a:endParaRPr>
          </a:p>
        </p:txBody>
      </p:sp>
      <p:sp>
        <p:nvSpPr>
          <p:cNvPr id="21" name="Google Shape;21;p3"/>
          <p:cNvSpPr/>
          <p:nvPr/>
        </p:nvSpPr>
        <p:spPr>
          <a:xfrm>
            <a:off x="640080" y="4206240"/>
            <a:ext cx="7863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Health Transformation Review  |  htreview.com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5C8B"/>
        </a:solidFill>
      </p:bgPr>
    </p:bg>
    <p:spTree>
      <p:nvGrpSpPr>
        <p:cNvPr id="26" name="Shape 26"/>
        <p:cNvGrpSpPr/>
        <p:nvPr/>
      </p:nvGrpSpPr>
      <p:grpSpPr>
        <a:xfrm>
          <a:off x="0" y="0"/>
          <a:ext cx="0" cy="0"/>
          <a:chOff x="0" y="0"/>
          <a:chExt cx="0" cy="0"/>
        </a:xfrm>
      </p:grpSpPr>
      <p:sp>
        <p:nvSpPr>
          <p:cNvPr id="27" name="Google Shape;27;p4"/>
          <p:cNvSpPr/>
          <p:nvPr/>
        </p:nvSpPr>
        <p:spPr>
          <a:xfrm>
            <a:off x="0" y="0"/>
            <a:ext cx="914400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640080" y="1463040"/>
            <a:ext cx="78638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PART I</a:t>
            </a:r>
            <a:endParaRPr b="0" i="0" sz="1400" u="none" cap="none" strike="noStrike">
              <a:solidFill>
                <a:schemeClr val="dk1"/>
              </a:solidFill>
              <a:latin typeface="Calibri"/>
              <a:ea typeface="Calibri"/>
              <a:cs typeface="Calibri"/>
              <a:sym typeface="Calibri"/>
            </a:endParaRPr>
          </a:p>
        </p:txBody>
      </p:sp>
      <p:sp>
        <p:nvSpPr>
          <p:cNvPr id="29" name="Google Shape;29;p4"/>
          <p:cNvSpPr/>
          <p:nvPr/>
        </p:nvSpPr>
        <p:spPr>
          <a:xfrm>
            <a:off x="640080" y="2103120"/>
            <a:ext cx="78638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THE FOUNDATION</a:t>
            </a:r>
            <a:endParaRPr b="0" i="0" sz="4000" u="none" cap="none" strike="noStrike">
              <a:solidFill>
                <a:schemeClr val="dk1"/>
              </a:solidFill>
              <a:latin typeface="Calibri"/>
              <a:ea typeface="Calibri"/>
              <a:cs typeface="Calibri"/>
              <a:sym typeface="Calibri"/>
            </a:endParaRPr>
          </a:p>
        </p:txBody>
      </p:sp>
      <p:sp>
        <p:nvSpPr>
          <p:cNvPr id="30" name="Google Shape;30;p4"/>
          <p:cNvSpPr/>
          <p:nvPr/>
        </p:nvSpPr>
        <p:spPr>
          <a:xfrm>
            <a:off x="1371600" y="3108960"/>
            <a:ext cx="64008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Framework, Portrait, and Reader's Guide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35" name="Shape 35"/>
        <p:cNvGrpSpPr/>
        <p:nvPr/>
      </p:nvGrpSpPr>
      <p:grpSpPr>
        <a:xfrm>
          <a:off x="0" y="0"/>
          <a:ext cx="0" cy="0"/>
          <a:chOff x="0" y="0"/>
          <a:chExt cx="0" cy="0"/>
        </a:xfrm>
      </p:grpSpPr>
      <p:sp>
        <p:nvSpPr>
          <p:cNvPr id="36" name="Google Shape;36;p5"/>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1</a:t>
            </a:r>
            <a:endParaRPr b="0" i="0" sz="1300" u="none" cap="none" strike="noStrike">
              <a:solidFill>
                <a:schemeClr val="dk1"/>
              </a:solidFill>
              <a:latin typeface="Calibri"/>
              <a:ea typeface="Calibri"/>
              <a:cs typeface="Calibri"/>
              <a:sym typeface="Calibri"/>
            </a:endParaRPr>
          </a:p>
        </p:txBody>
      </p:sp>
      <p:sp>
        <p:nvSpPr>
          <p:cNvPr id="38" name="Google Shape;38;p5"/>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Six-Pillar Framework</a:t>
            </a:r>
            <a:endParaRPr b="0" i="0" sz="3400" u="none" cap="none" strike="noStrike">
              <a:solidFill>
                <a:schemeClr val="dk1"/>
              </a:solidFill>
              <a:latin typeface="Calibri"/>
              <a:ea typeface="Calibri"/>
              <a:cs typeface="Calibri"/>
              <a:sym typeface="Calibri"/>
            </a:endParaRPr>
          </a:p>
        </p:txBody>
      </p:sp>
      <p:sp>
        <p:nvSpPr>
          <p:cNvPr id="39" name="Google Shape;39;p5"/>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6"/>
          <p:cNvSpPr/>
          <p:nvPr/>
        </p:nvSpPr>
        <p:spPr>
          <a:xfrm>
            <a:off x="365760" y="16459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THE SIX-PILLAR TRANSFORMATION FRAMEWORK</a:t>
            </a:r>
            <a:endParaRPr b="0" i="0" sz="2000" u="none" cap="none" strike="noStrike">
              <a:solidFill>
                <a:schemeClr val="dk1"/>
              </a:solidFill>
              <a:latin typeface="Calibri"/>
              <a:ea typeface="Calibri"/>
              <a:cs typeface="Calibri"/>
              <a:sym typeface="Calibri"/>
            </a:endParaRPr>
          </a:p>
        </p:txBody>
      </p:sp>
      <p:sp>
        <p:nvSpPr>
          <p:cNvPr id="46" name="Google Shape;46;p6"/>
          <p:cNvSpPr/>
          <p:nvPr/>
        </p:nvSpPr>
        <p:spPr>
          <a:xfrm>
            <a:off x="274320" y="777240"/>
            <a:ext cx="2697480" cy="1645920"/>
          </a:xfrm>
          <a:prstGeom prst="rect">
            <a:avLst/>
          </a:prstGeom>
          <a:solidFill>
            <a:srgbClr val="D5E8F0"/>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a:off x="384048" y="868680"/>
            <a:ext cx="502920" cy="502920"/>
          </a:xfrm>
          <a:prstGeom prst="ellipse">
            <a:avLst/>
          </a:prstGeom>
          <a:solidFill>
            <a:srgbClr val="1F5C8B"/>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48" name="Google Shape;48;p6"/>
          <p:cNvSpPr/>
          <p:nvPr/>
        </p:nvSpPr>
        <p:spPr>
          <a:xfrm>
            <a:off x="960120" y="88696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400"/>
              <a:buFont typeface="Calibri"/>
              <a:buNone/>
            </a:pPr>
            <a:r>
              <a:rPr b="1" i="0" lang="en-US" sz="1400" u="none" cap="none" strike="noStrike">
                <a:solidFill>
                  <a:srgbClr val="1F5C8B"/>
                </a:solidFill>
                <a:latin typeface="Calibri"/>
                <a:ea typeface="Calibri"/>
                <a:cs typeface="Calibri"/>
                <a:sym typeface="Calibri"/>
              </a:rPr>
              <a:t>POLICY</a:t>
            </a:r>
            <a:endParaRPr b="0" i="0" sz="1400" u="none" cap="none" strike="noStrike">
              <a:solidFill>
                <a:schemeClr val="dk1"/>
              </a:solidFill>
              <a:latin typeface="Calibri"/>
              <a:ea typeface="Calibri"/>
              <a:cs typeface="Calibri"/>
              <a:sym typeface="Calibri"/>
            </a:endParaRPr>
          </a:p>
        </p:txBody>
      </p:sp>
      <p:sp>
        <p:nvSpPr>
          <p:cNvPr id="49" name="Google Shape;49;p6"/>
          <p:cNvSpPr/>
          <p:nvPr/>
        </p:nvSpPr>
        <p:spPr>
          <a:xfrm>
            <a:off x="384048" y="1325880"/>
            <a:ext cx="2468880" cy="96012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Mandatory architecture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for structural reform</a:t>
            </a:r>
            <a:endParaRPr b="0" i="0" sz="1100" u="none" cap="none" strike="noStrike">
              <a:solidFill>
                <a:schemeClr val="dk1"/>
              </a:solidFill>
              <a:latin typeface="Calibri"/>
              <a:ea typeface="Calibri"/>
              <a:cs typeface="Calibri"/>
              <a:sym typeface="Calibri"/>
            </a:endParaRPr>
          </a:p>
        </p:txBody>
      </p:sp>
      <p:sp>
        <p:nvSpPr>
          <p:cNvPr id="50" name="Google Shape;50;p6"/>
          <p:cNvSpPr/>
          <p:nvPr/>
        </p:nvSpPr>
        <p:spPr>
          <a:xfrm>
            <a:off x="3246120" y="777240"/>
            <a:ext cx="2697480" cy="1645920"/>
          </a:xfrm>
          <a:prstGeom prst="rect">
            <a:avLst/>
          </a:prstGeom>
          <a:solidFill>
            <a:srgbClr val="FFF0CC"/>
          </a:solidFill>
          <a:ln cap="flat" cmpd="sng" w="12700">
            <a:solidFill>
              <a:srgbClr val="6B3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3355848" y="868680"/>
            <a:ext cx="502920" cy="502920"/>
          </a:xfrm>
          <a:prstGeom prst="ellipse">
            <a:avLst/>
          </a:prstGeom>
          <a:solidFill>
            <a:srgbClr val="6B3A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52" name="Google Shape;52;p6"/>
          <p:cNvSpPr/>
          <p:nvPr/>
        </p:nvSpPr>
        <p:spPr>
          <a:xfrm>
            <a:off x="3931920" y="88696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3A00"/>
              </a:buClr>
              <a:buSzPts val="1400"/>
              <a:buFont typeface="Calibri"/>
              <a:buNone/>
            </a:pPr>
            <a:r>
              <a:rPr b="1" i="0" lang="en-US" sz="1400" u="none" cap="none" strike="noStrike">
                <a:solidFill>
                  <a:srgbClr val="6B3A00"/>
                </a:solidFill>
                <a:latin typeface="Calibri"/>
                <a:ea typeface="Calibri"/>
                <a:cs typeface="Calibri"/>
                <a:sym typeface="Calibri"/>
              </a:rPr>
              <a:t>ECONOMICS</a:t>
            </a:r>
            <a:endParaRPr b="0" i="0" sz="1400" u="none" cap="none" strike="noStrike">
              <a:solidFill>
                <a:schemeClr val="dk1"/>
              </a:solidFill>
              <a:latin typeface="Calibri"/>
              <a:ea typeface="Calibri"/>
              <a:cs typeface="Calibri"/>
              <a:sym typeface="Calibri"/>
            </a:endParaRPr>
          </a:p>
        </p:txBody>
      </p:sp>
      <p:sp>
        <p:nvSpPr>
          <p:cNvPr id="53" name="Google Shape;53;p6"/>
          <p:cNvSpPr/>
          <p:nvPr/>
        </p:nvSpPr>
        <p:spPr>
          <a:xfrm>
            <a:off x="3355848" y="1325880"/>
            <a:ext cx="2468880" cy="96012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Payment reform &amp;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global budget design</a:t>
            </a:r>
            <a:endParaRPr b="0" i="0" sz="1100" u="none" cap="none" strike="noStrike">
              <a:solidFill>
                <a:schemeClr val="dk1"/>
              </a:solidFill>
              <a:latin typeface="Calibri"/>
              <a:ea typeface="Calibri"/>
              <a:cs typeface="Calibri"/>
              <a:sym typeface="Calibri"/>
            </a:endParaRPr>
          </a:p>
        </p:txBody>
      </p:sp>
      <p:sp>
        <p:nvSpPr>
          <p:cNvPr id="54" name="Google Shape;54;p6"/>
          <p:cNvSpPr/>
          <p:nvPr/>
        </p:nvSpPr>
        <p:spPr>
          <a:xfrm>
            <a:off x="6217920" y="777240"/>
            <a:ext cx="2697480" cy="1645920"/>
          </a:xfrm>
          <a:prstGeom prst="rect">
            <a:avLst/>
          </a:prstGeom>
          <a:solidFill>
            <a:srgbClr val="D4F1F4"/>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6327648" y="868680"/>
            <a:ext cx="502920" cy="502920"/>
          </a:xfrm>
          <a:prstGeom prst="ellipse">
            <a:avLst/>
          </a:prstGeom>
          <a:solidFill>
            <a:srgbClr val="0D5F6B"/>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56" name="Google Shape;56;p6"/>
          <p:cNvSpPr/>
          <p:nvPr/>
        </p:nvSpPr>
        <p:spPr>
          <a:xfrm>
            <a:off x="6903720" y="88696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400"/>
              <a:buFont typeface="Calibri"/>
              <a:buNone/>
            </a:pPr>
            <a:r>
              <a:rPr b="1" i="0" lang="en-US" sz="1400" u="none" cap="none" strike="noStrike">
                <a:solidFill>
                  <a:srgbClr val="0D5F6B"/>
                </a:solidFill>
                <a:latin typeface="Calibri"/>
                <a:ea typeface="Calibri"/>
                <a:cs typeface="Calibri"/>
                <a:sym typeface="Calibri"/>
              </a:rPr>
              <a:t>TECHNOLOGY</a:t>
            </a:r>
            <a:endParaRPr b="0" i="0" sz="1400" u="none" cap="none" strike="noStrike">
              <a:solidFill>
                <a:schemeClr val="dk1"/>
              </a:solidFill>
              <a:latin typeface="Calibri"/>
              <a:ea typeface="Calibri"/>
              <a:cs typeface="Calibri"/>
              <a:sym typeface="Calibri"/>
            </a:endParaRPr>
          </a:p>
        </p:txBody>
      </p:sp>
      <p:sp>
        <p:nvSpPr>
          <p:cNvPr id="57" name="Google Shape;57;p6"/>
          <p:cNvSpPr/>
          <p:nvPr/>
        </p:nvSpPr>
        <p:spPr>
          <a:xfrm>
            <a:off x="6327648" y="1325880"/>
            <a:ext cx="2468880" cy="96012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Data infrastructure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for population health</a:t>
            </a:r>
            <a:endParaRPr b="0" i="0" sz="1100" u="none" cap="none" strike="noStrike">
              <a:solidFill>
                <a:schemeClr val="dk1"/>
              </a:solidFill>
              <a:latin typeface="Calibri"/>
              <a:ea typeface="Calibri"/>
              <a:cs typeface="Calibri"/>
              <a:sym typeface="Calibri"/>
            </a:endParaRPr>
          </a:p>
        </p:txBody>
      </p:sp>
      <p:sp>
        <p:nvSpPr>
          <p:cNvPr id="58" name="Google Shape;58;p6"/>
          <p:cNvSpPr/>
          <p:nvPr/>
        </p:nvSpPr>
        <p:spPr>
          <a:xfrm>
            <a:off x="274320" y="2651760"/>
            <a:ext cx="2697480" cy="1645920"/>
          </a:xfrm>
          <a:prstGeom prst="rect">
            <a:avLst/>
          </a:prstGeom>
          <a:solidFill>
            <a:srgbClr val="D9EFE3"/>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384048" y="2743200"/>
            <a:ext cx="502920" cy="502920"/>
          </a:xfrm>
          <a:prstGeom prst="ellipse">
            <a:avLst/>
          </a:prstGeom>
          <a:solidFill>
            <a:srgbClr val="1E6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4</a:t>
            </a:r>
            <a:endParaRPr b="0" i="0" sz="2200" u="none" cap="none" strike="noStrike">
              <a:solidFill>
                <a:schemeClr val="dk1"/>
              </a:solidFill>
              <a:latin typeface="Calibri"/>
              <a:ea typeface="Calibri"/>
              <a:cs typeface="Calibri"/>
              <a:sym typeface="Calibri"/>
            </a:endParaRPr>
          </a:p>
        </p:txBody>
      </p:sp>
      <p:sp>
        <p:nvSpPr>
          <p:cNvPr id="60" name="Google Shape;60;p6"/>
          <p:cNvSpPr/>
          <p:nvPr/>
        </p:nvSpPr>
        <p:spPr>
          <a:xfrm>
            <a:off x="960120" y="276148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400"/>
              <a:buFont typeface="Calibri"/>
              <a:buNone/>
            </a:pPr>
            <a:r>
              <a:rPr b="1" i="0" lang="en-US" sz="1400" u="none" cap="none" strike="noStrike">
                <a:solidFill>
                  <a:srgbClr val="1E6B3C"/>
                </a:solidFill>
                <a:latin typeface="Calibri"/>
                <a:ea typeface="Calibri"/>
                <a:cs typeface="Calibri"/>
                <a:sym typeface="Calibri"/>
              </a:rPr>
              <a:t>CLINICAL</a:t>
            </a:r>
            <a:endParaRPr b="0" i="0" sz="1400" u="none" cap="none" strike="noStrike">
              <a:solidFill>
                <a:schemeClr val="dk1"/>
              </a:solidFill>
              <a:latin typeface="Calibri"/>
              <a:ea typeface="Calibri"/>
              <a:cs typeface="Calibri"/>
              <a:sym typeface="Calibri"/>
            </a:endParaRPr>
          </a:p>
        </p:txBody>
      </p:sp>
      <p:sp>
        <p:nvSpPr>
          <p:cNvPr id="61" name="Google Shape;61;p6"/>
          <p:cNvSpPr/>
          <p:nvPr/>
        </p:nvSpPr>
        <p:spPr>
          <a:xfrm>
            <a:off x="384048" y="3200400"/>
            <a:ext cx="2468880" cy="96012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Care delivery redesign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for the transformed system</a:t>
            </a:r>
            <a:endParaRPr b="0" i="0" sz="1100" u="none" cap="none" strike="noStrike">
              <a:solidFill>
                <a:schemeClr val="dk1"/>
              </a:solidFill>
              <a:latin typeface="Calibri"/>
              <a:ea typeface="Calibri"/>
              <a:cs typeface="Calibri"/>
              <a:sym typeface="Calibri"/>
            </a:endParaRPr>
          </a:p>
        </p:txBody>
      </p:sp>
      <p:sp>
        <p:nvSpPr>
          <p:cNvPr id="62" name="Google Shape;62;p6"/>
          <p:cNvSpPr/>
          <p:nvPr/>
        </p:nvSpPr>
        <p:spPr>
          <a:xfrm>
            <a:off x="3246120" y="2651760"/>
            <a:ext cx="2697480" cy="1645920"/>
          </a:xfrm>
          <a:prstGeom prst="rect">
            <a:avLst/>
          </a:prstGeom>
          <a:solidFill>
            <a:srgbClr val="E8D5F5"/>
          </a:solidFill>
          <a:ln cap="flat" cmpd="sng" w="12700">
            <a:solidFill>
              <a:srgbClr val="4A207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3355848" y="2743200"/>
            <a:ext cx="502920" cy="502920"/>
          </a:xfrm>
          <a:prstGeom prst="ellipse">
            <a:avLst/>
          </a:prstGeom>
          <a:solidFill>
            <a:srgbClr val="4A207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5</a:t>
            </a:r>
            <a:endParaRPr b="0" i="0" sz="2200" u="none" cap="none" strike="noStrike">
              <a:solidFill>
                <a:schemeClr val="dk1"/>
              </a:solidFill>
              <a:latin typeface="Calibri"/>
              <a:ea typeface="Calibri"/>
              <a:cs typeface="Calibri"/>
              <a:sym typeface="Calibri"/>
            </a:endParaRPr>
          </a:p>
        </p:txBody>
      </p:sp>
      <p:sp>
        <p:nvSpPr>
          <p:cNvPr id="64" name="Google Shape;64;p6"/>
          <p:cNvSpPr/>
          <p:nvPr/>
        </p:nvSpPr>
        <p:spPr>
          <a:xfrm>
            <a:off x="3931920" y="276148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070"/>
              </a:buClr>
              <a:buSzPts val="1400"/>
              <a:buFont typeface="Calibri"/>
              <a:buNone/>
            </a:pPr>
            <a:r>
              <a:rPr b="1" i="0" lang="en-US" sz="1400" u="none" cap="none" strike="noStrike">
                <a:solidFill>
                  <a:srgbClr val="4A2070"/>
                </a:solidFill>
                <a:latin typeface="Calibri"/>
                <a:ea typeface="Calibri"/>
                <a:cs typeface="Calibri"/>
                <a:sym typeface="Calibri"/>
              </a:rPr>
              <a:t>EQUITY</a:t>
            </a:r>
            <a:endParaRPr b="0" i="0" sz="1400" u="none" cap="none" strike="noStrike">
              <a:solidFill>
                <a:schemeClr val="dk1"/>
              </a:solidFill>
              <a:latin typeface="Calibri"/>
              <a:ea typeface="Calibri"/>
              <a:cs typeface="Calibri"/>
              <a:sym typeface="Calibri"/>
            </a:endParaRPr>
          </a:p>
        </p:txBody>
      </p:sp>
      <p:sp>
        <p:nvSpPr>
          <p:cNvPr id="65" name="Google Shape;65;p6"/>
          <p:cNvSpPr/>
          <p:nvPr/>
        </p:nvSpPr>
        <p:spPr>
          <a:xfrm>
            <a:off x="3355848" y="3200400"/>
            <a:ext cx="2468880" cy="96012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Closing gaps, not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just averaging them</a:t>
            </a:r>
            <a:endParaRPr b="0" i="0" sz="1100" u="none" cap="none" strike="noStrike">
              <a:solidFill>
                <a:schemeClr val="dk1"/>
              </a:solidFill>
              <a:latin typeface="Calibri"/>
              <a:ea typeface="Calibri"/>
              <a:cs typeface="Calibri"/>
              <a:sym typeface="Calibri"/>
            </a:endParaRPr>
          </a:p>
        </p:txBody>
      </p:sp>
      <p:sp>
        <p:nvSpPr>
          <p:cNvPr id="66" name="Google Shape;66;p6"/>
          <p:cNvSpPr/>
          <p:nvPr/>
        </p:nvSpPr>
        <p:spPr>
          <a:xfrm>
            <a:off x="6217920" y="2651760"/>
            <a:ext cx="2697480" cy="1645920"/>
          </a:xfrm>
          <a:prstGeom prst="rect">
            <a:avLst/>
          </a:prstGeom>
          <a:solidFill>
            <a:srgbClr val="ECEFF1"/>
          </a:solidFill>
          <a:ln cap="flat" cmpd="sng" w="12700">
            <a:solidFill>
              <a:srgbClr val="36454F"/>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6327648" y="2743200"/>
            <a:ext cx="502920" cy="502920"/>
          </a:xfrm>
          <a:prstGeom prst="ellipse">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6</a:t>
            </a:r>
            <a:endParaRPr b="0" i="0" sz="2200" u="none" cap="none" strike="noStrike">
              <a:solidFill>
                <a:schemeClr val="dk1"/>
              </a:solidFill>
              <a:latin typeface="Calibri"/>
              <a:ea typeface="Calibri"/>
              <a:cs typeface="Calibri"/>
              <a:sym typeface="Calibri"/>
            </a:endParaRPr>
          </a:p>
        </p:txBody>
      </p:sp>
      <p:sp>
        <p:nvSpPr>
          <p:cNvPr id="68" name="Google Shape;68;p6"/>
          <p:cNvSpPr/>
          <p:nvPr/>
        </p:nvSpPr>
        <p:spPr>
          <a:xfrm>
            <a:off x="6903720" y="276148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400"/>
              <a:buFont typeface="Calibri"/>
              <a:buNone/>
            </a:pPr>
            <a:r>
              <a:rPr b="1" i="0" lang="en-US" sz="1400" u="none" cap="none" strike="noStrike">
                <a:solidFill>
                  <a:srgbClr val="36454F"/>
                </a:solidFill>
                <a:latin typeface="Calibri"/>
                <a:ea typeface="Calibri"/>
                <a:cs typeface="Calibri"/>
                <a:sym typeface="Calibri"/>
              </a:rPr>
              <a:t>OPERATIONS</a:t>
            </a:r>
            <a:endParaRPr b="0" i="0" sz="1400" u="none" cap="none" strike="noStrike">
              <a:solidFill>
                <a:schemeClr val="dk1"/>
              </a:solidFill>
              <a:latin typeface="Calibri"/>
              <a:ea typeface="Calibri"/>
              <a:cs typeface="Calibri"/>
              <a:sym typeface="Calibri"/>
            </a:endParaRPr>
          </a:p>
        </p:txBody>
      </p:sp>
      <p:sp>
        <p:nvSpPr>
          <p:cNvPr id="69" name="Google Shape;69;p6"/>
          <p:cNvSpPr/>
          <p:nvPr/>
        </p:nvSpPr>
        <p:spPr>
          <a:xfrm>
            <a:off x="6327648" y="3200400"/>
            <a:ext cx="2468880" cy="96012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Where strategy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becomes execution</a:t>
            </a:r>
            <a:endParaRPr b="0" i="0" sz="1100" u="none" cap="none" strike="noStrike">
              <a:solidFill>
                <a:schemeClr val="dk1"/>
              </a:solidFill>
              <a:latin typeface="Calibri"/>
              <a:ea typeface="Calibri"/>
              <a:cs typeface="Calibri"/>
              <a:sym typeface="Calibri"/>
            </a:endParaRPr>
          </a:p>
        </p:txBody>
      </p:sp>
      <p:sp>
        <p:nvSpPr>
          <p:cNvPr id="70" name="Google Shape;70;p6"/>
          <p:cNvSpPr/>
          <p:nvPr/>
        </p:nvSpPr>
        <p:spPr>
          <a:xfrm>
            <a:off x="365760" y="4663440"/>
            <a:ext cx="84124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All six must move together — single-pillar interventions consistently fail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75" name="Shape 75"/>
        <p:cNvGrpSpPr/>
        <p:nvPr/>
      </p:nvGrpSpPr>
      <p:grpSpPr>
        <a:xfrm>
          <a:off x="0" y="0"/>
          <a:ext cx="0" cy="0"/>
          <a:chOff x="0" y="0"/>
          <a:chExt cx="0" cy="0"/>
        </a:xfrm>
      </p:grpSpPr>
      <p:sp>
        <p:nvSpPr>
          <p:cNvPr id="76" name="Google Shape;76;p7"/>
          <p:cNvSpPr/>
          <p:nvPr/>
        </p:nvSpPr>
        <p:spPr>
          <a:xfrm>
            <a:off x="365760" y="16459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WHY SINGLE-PILLAR INTERVENTIONS FAIL</a:t>
            </a:r>
            <a:endParaRPr b="0" i="0" sz="2000" u="none" cap="none" strike="noStrike">
              <a:solidFill>
                <a:schemeClr val="dk1"/>
              </a:solidFill>
              <a:latin typeface="Calibri"/>
              <a:ea typeface="Calibri"/>
              <a:cs typeface="Calibri"/>
              <a:sym typeface="Calibri"/>
            </a:endParaRPr>
          </a:p>
        </p:txBody>
      </p:sp>
      <p:sp>
        <p:nvSpPr>
          <p:cNvPr id="77" name="Google Shape;77;p7"/>
          <p:cNvSpPr/>
          <p:nvPr/>
        </p:nvSpPr>
        <p:spPr>
          <a:xfrm>
            <a:off x="320040" y="777240"/>
            <a:ext cx="3977640" cy="502920"/>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320040" y="777240"/>
            <a:ext cx="39776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SINGLE-PILLAR APPROACH  →  FAILS</a:t>
            </a:r>
            <a:endParaRPr b="0" i="0" sz="1300" u="none" cap="none" strike="noStrike">
              <a:solidFill>
                <a:schemeClr val="dk1"/>
              </a:solidFill>
              <a:latin typeface="Calibri"/>
              <a:ea typeface="Calibri"/>
              <a:cs typeface="Calibri"/>
              <a:sym typeface="Calibri"/>
            </a:endParaRPr>
          </a:p>
        </p:txBody>
      </p:sp>
      <p:sp>
        <p:nvSpPr>
          <p:cNvPr id="79" name="Google Shape;79;p7"/>
          <p:cNvSpPr/>
          <p:nvPr/>
        </p:nvSpPr>
        <p:spPr>
          <a:xfrm>
            <a:off x="320040" y="1417320"/>
            <a:ext cx="3977640" cy="713232"/>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457200" y="146304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1200"/>
              <a:buFont typeface="Calibri"/>
              <a:buNone/>
            </a:pPr>
            <a:r>
              <a:rPr b="1" i="0" lang="en-US" sz="1200" u="none" cap="none" strike="noStrike">
                <a:solidFill>
                  <a:srgbClr val="8B1A1A"/>
                </a:solidFill>
                <a:latin typeface="Calibri"/>
                <a:ea typeface="Calibri"/>
                <a:cs typeface="Calibri"/>
                <a:sym typeface="Calibri"/>
              </a:rPr>
              <a:t>Payment Reform Only</a:t>
            </a:r>
            <a:endParaRPr b="0" i="0" sz="1200" u="none" cap="none" strike="noStrike">
              <a:solidFill>
                <a:schemeClr val="dk1"/>
              </a:solidFill>
              <a:latin typeface="Calibri"/>
              <a:ea typeface="Calibri"/>
              <a:cs typeface="Calibri"/>
              <a:sym typeface="Calibri"/>
            </a:endParaRPr>
          </a:p>
        </p:txBody>
      </p:sp>
      <p:sp>
        <p:nvSpPr>
          <p:cNvPr id="81" name="Google Shape;81;p7"/>
          <p:cNvSpPr/>
          <p:nvPr/>
        </p:nvSpPr>
        <p:spPr>
          <a:xfrm>
            <a:off x="457200" y="173736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Hospitals have no population health</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infrastructure to respond</a:t>
            </a:r>
            <a:endParaRPr b="0" i="0" sz="1050" u="none" cap="none" strike="noStrike">
              <a:solidFill>
                <a:schemeClr val="dk1"/>
              </a:solidFill>
              <a:latin typeface="Calibri"/>
              <a:ea typeface="Calibri"/>
              <a:cs typeface="Calibri"/>
              <a:sym typeface="Calibri"/>
            </a:endParaRPr>
          </a:p>
        </p:txBody>
      </p:sp>
      <p:sp>
        <p:nvSpPr>
          <p:cNvPr id="82" name="Google Shape;82;p7"/>
          <p:cNvSpPr/>
          <p:nvPr/>
        </p:nvSpPr>
        <p:spPr>
          <a:xfrm>
            <a:off x="320040" y="2240280"/>
            <a:ext cx="3977640" cy="713232"/>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457200" y="228600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1200"/>
              <a:buFont typeface="Calibri"/>
              <a:buNone/>
            </a:pPr>
            <a:r>
              <a:rPr b="1" i="0" lang="en-US" sz="1200" u="none" cap="none" strike="noStrike">
                <a:solidFill>
                  <a:srgbClr val="8B1A1A"/>
                </a:solidFill>
                <a:latin typeface="Calibri"/>
                <a:ea typeface="Calibri"/>
                <a:cs typeface="Calibri"/>
                <a:sym typeface="Calibri"/>
              </a:rPr>
              <a:t>Clinical Redesign Only</a:t>
            </a:r>
            <a:endParaRPr b="0" i="0" sz="1200" u="none" cap="none" strike="noStrike">
              <a:solidFill>
                <a:schemeClr val="dk1"/>
              </a:solidFill>
              <a:latin typeface="Calibri"/>
              <a:ea typeface="Calibri"/>
              <a:cs typeface="Calibri"/>
              <a:sym typeface="Calibri"/>
            </a:endParaRPr>
          </a:p>
        </p:txBody>
      </p:sp>
      <p:sp>
        <p:nvSpPr>
          <p:cNvPr id="84" name="Google Shape;84;p7"/>
          <p:cNvSpPr/>
          <p:nvPr/>
        </p:nvSpPr>
        <p:spPr>
          <a:xfrm>
            <a:off x="457200" y="256032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Payment system penalizes utilization</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reduction with lost revenue</a:t>
            </a:r>
            <a:endParaRPr b="0" i="0" sz="1050" u="none" cap="none" strike="noStrike">
              <a:solidFill>
                <a:schemeClr val="dk1"/>
              </a:solidFill>
              <a:latin typeface="Calibri"/>
              <a:ea typeface="Calibri"/>
              <a:cs typeface="Calibri"/>
              <a:sym typeface="Calibri"/>
            </a:endParaRPr>
          </a:p>
        </p:txBody>
      </p:sp>
      <p:sp>
        <p:nvSpPr>
          <p:cNvPr id="85" name="Google Shape;85;p7"/>
          <p:cNvSpPr/>
          <p:nvPr/>
        </p:nvSpPr>
        <p:spPr>
          <a:xfrm>
            <a:off x="320040" y="3063240"/>
            <a:ext cx="3977640" cy="713232"/>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457200" y="310896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1200"/>
              <a:buFont typeface="Calibri"/>
              <a:buNone/>
            </a:pPr>
            <a:r>
              <a:rPr b="1" i="0" lang="en-US" sz="1200" u="none" cap="none" strike="noStrike">
                <a:solidFill>
                  <a:srgbClr val="8B1A1A"/>
                </a:solidFill>
                <a:latin typeface="Calibri"/>
                <a:ea typeface="Calibri"/>
                <a:cs typeface="Calibri"/>
                <a:sym typeface="Calibri"/>
              </a:rPr>
              <a:t>Technology Only</a:t>
            </a:r>
            <a:endParaRPr b="0" i="0" sz="1200" u="none" cap="none" strike="noStrike">
              <a:solidFill>
                <a:schemeClr val="dk1"/>
              </a:solidFill>
              <a:latin typeface="Calibri"/>
              <a:ea typeface="Calibri"/>
              <a:cs typeface="Calibri"/>
              <a:sym typeface="Calibri"/>
            </a:endParaRPr>
          </a:p>
        </p:txBody>
      </p:sp>
      <p:sp>
        <p:nvSpPr>
          <p:cNvPr id="87" name="Google Shape;87;p7"/>
          <p:cNvSpPr/>
          <p:nvPr/>
        </p:nvSpPr>
        <p:spPr>
          <a:xfrm>
            <a:off x="457200" y="338328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Platforms deployed with no incentive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or capacity to use them</a:t>
            </a:r>
            <a:endParaRPr b="0" i="0" sz="1050" u="none" cap="none" strike="noStrike">
              <a:solidFill>
                <a:schemeClr val="dk1"/>
              </a:solidFill>
              <a:latin typeface="Calibri"/>
              <a:ea typeface="Calibri"/>
              <a:cs typeface="Calibri"/>
              <a:sym typeface="Calibri"/>
            </a:endParaRPr>
          </a:p>
        </p:txBody>
      </p:sp>
      <p:sp>
        <p:nvSpPr>
          <p:cNvPr id="88" name="Google Shape;88;p7"/>
          <p:cNvSpPr/>
          <p:nvPr/>
        </p:nvSpPr>
        <p:spPr>
          <a:xfrm>
            <a:off x="320040" y="3886200"/>
            <a:ext cx="3977640" cy="713232"/>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457200" y="39319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1200"/>
              <a:buFont typeface="Calibri"/>
              <a:buNone/>
            </a:pPr>
            <a:r>
              <a:rPr b="1" i="0" lang="en-US" sz="1200" u="none" cap="none" strike="noStrike">
                <a:solidFill>
                  <a:srgbClr val="8B1A1A"/>
                </a:solidFill>
                <a:latin typeface="Calibri"/>
                <a:ea typeface="Calibri"/>
                <a:cs typeface="Calibri"/>
                <a:sym typeface="Calibri"/>
              </a:rPr>
              <a:t>Equity Program Only</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457200" y="420624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Structural drivers — access, payment,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SDOH — go unaddressed</a:t>
            </a:r>
            <a:endParaRPr b="0" i="0" sz="1050" u="none" cap="none" strike="noStrike">
              <a:solidFill>
                <a:schemeClr val="dk1"/>
              </a:solidFill>
              <a:latin typeface="Calibri"/>
              <a:ea typeface="Calibri"/>
              <a:cs typeface="Calibri"/>
              <a:sym typeface="Calibri"/>
            </a:endParaRPr>
          </a:p>
        </p:txBody>
      </p:sp>
      <p:sp>
        <p:nvSpPr>
          <p:cNvPr id="91" name="Google Shape;91;p7"/>
          <p:cNvSpPr/>
          <p:nvPr/>
        </p:nvSpPr>
        <p:spPr>
          <a:xfrm>
            <a:off x="4846320" y="777240"/>
            <a:ext cx="3977640" cy="50292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4846320" y="777240"/>
            <a:ext cx="39776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SIX-PILLAR APPROACH  →  WORKS</a:t>
            </a:r>
            <a:endParaRPr b="0" i="0" sz="1300" u="none" cap="none" strike="noStrike">
              <a:solidFill>
                <a:schemeClr val="dk1"/>
              </a:solidFill>
              <a:latin typeface="Calibri"/>
              <a:ea typeface="Calibri"/>
              <a:cs typeface="Calibri"/>
              <a:sym typeface="Calibri"/>
            </a:endParaRPr>
          </a:p>
        </p:txBody>
      </p:sp>
      <p:sp>
        <p:nvSpPr>
          <p:cNvPr id="93" name="Google Shape;93;p7"/>
          <p:cNvSpPr/>
          <p:nvPr/>
        </p:nvSpPr>
        <p:spPr>
          <a:xfrm>
            <a:off x="4846320" y="1417320"/>
            <a:ext cx="3977640" cy="713232"/>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4983480" y="146304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Policy enables Economics</a:t>
            </a:r>
            <a:endParaRPr b="0" i="0" sz="1200" u="none" cap="none" strike="noStrike">
              <a:solidFill>
                <a:schemeClr val="dk1"/>
              </a:solidFill>
              <a:latin typeface="Calibri"/>
              <a:ea typeface="Calibri"/>
              <a:cs typeface="Calibri"/>
              <a:sym typeface="Calibri"/>
            </a:endParaRPr>
          </a:p>
        </p:txBody>
      </p:sp>
      <p:sp>
        <p:nvSpPr>
          <p:cNvPr id="95" name="Google Shape;95;p7"/>
          <p:cNvSpPr/>
          <p:nvPr/>
        </p:nvSpPr>
        <p:spPr>
          <a:xfrm>
            <a:off x="4983480" y="173736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Mandatory RBP/global budgets remove voluntary opt-out by highest-cost actors</a:t>
            </a:r>
            <a:endParaRPr b="0" i="0" sz="1050" u="none" cap="none" strike="noStrike">
              <a:solidFill>
                <a:schemeClr val="dk1"/>
              </a:solidFill>
              <a:latin typeface="Calibri"/>
              <a:ea typeface="Calibri"/>
              <a:cs typeface="Calibri"/>
              <a:sym typeface="Calibri"/>
            </a:endParaRPr>
          </a:p>
        </p:txBody>
      </p:sp>
      <p:sp>
        <p:nvSpPr>
          <p:cNvPr id="96" name="Google Shape;96;p7"/>
          <p:cNvSpPr/>
          <p:nvPr/>
        </p:nvSpPr>
        <p:spPr>
          <a:xfrm>
            <a:off x="4846320" y="2240280"/>
            <a:ext cx="3977640" cy="713232"/>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4983480" y="228600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Economics drives Clinical</a:t>
            </a:r>
            <a:endParaRPr b="0" i="0" sz="1200" u="none" cap="none" strike="noStrike">
              <a:solidFill>
                <a:schemeClr val="dk1"/>
              </a:solidFill>
              <a:latin typeface="Calibri"/>
              <a:ea typeface="Calibri"/>
              <a:cs typeface="Calibri"/>
              <a:sym typeface="Calibri"/>
            </a:endParaRPr>
          </a:p>
        </p:txBody>
      </p:sp>
      <p:sp>
        <p:nvSpPr>
          <p:cNvPr id="98" name="Google Shape;98;p7"/>
          <p:cNvSpPr/>
          <p:nvPr/>
        </p:nvSpPr>
        <p:spPr>
          <a:xfrm>
            <a:off x="4983480" y="256032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Payment incentives align with population health model requirements</a:t>
            </a:r>
            <a:endParaRPr b="0" i="0" sz="1050" u="none" cap="none" strike="noStrike">
              <a:solidFill>
                <a:schemeClr val="dk1"/>
              </a:solidFill>
              <a:latin typeface="Calibri"/>
              <a:ea typeface="Calibri"/>
              <a:cs typeface="Calibri"/>
              <a:sym typeface="Calibri"/>
            </a:endParaRPr>
          </a:p>
        </p:txBody>
      </p:sp>
      <p:sp>
        <p:nvSpPr>
          <p:cNvPr id="99" name="Google Shape;99;p7"/>
          <p:cNvSpPr/>
          <p:nvPr/>
        </p:nvSpPr>
        <p:spPr>
          <a:xfrm>
            <a:off x="4846320" y="3063240"/>
            <a:ext cx="3977640" cy="713232"/>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4983480" y="310896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Technology enables all</a:t>
            </a:r>
            <a:endParaRPr b="0" i="0" sz="1200" u="none" cap="none" strike="noStrike">
              <a:solidFill>
                <a:schemeClr val="dk1"/>
              </a:solidFill>
              <a:latin typeface="Calibri"/>
              <a:ea typeface="Calibri"/>
              <a:cs typeface="Calibri"/>
              <a:sym typeface="Calibri"/>
            </a:endParaRPr>
          </a:p>
        </p:txBody>
      </p:sp>
      <p:sp>
        <p:nvSpPr>
          <p:cNvPr id="101" name="Google Shape;101;p7"/>
          <p:cNvSpPr/>
          <p:nvPr/>
        </p:nvSpPr>
        <p:spPr>
          <a:xfrm>
            <a:off x="4983480" y="338328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Data infrastructure makes population health management scalable</a:t>
            </a:r>
            <a:endParaRPr b="0" i="0" sz="1050" u="none" cap="none" strike="noStrike">
              <a:solidFill>
                <a:schemeClr val="dk1"/>
              </a:solidFill>
              <a:latin typeface="Calibri"/>
              <a:ea typeface="Calibri"/>
              <a:cs typeface="Calibri"/>
              <a:sym typeface="Calibri"/>
            </a:endParaRPr>
          </a:p>
        </p:txBody>
      </p:sp>
      <p:sp>
        <p:nvSpPr>
          <p:cNvPr id="102" name="Google Shape;102;p7"/>
          <p:cNvSpPr/>
          <p:nvPr/>
        </p:nvSpPr>
        <p:spPr>
          <a:xfrm>
            <a:off x="4846320" y="3886200"/>
            <a:ext cx="3977640" cy="713232"/>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4983480" y="39319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Equity monitors all</a:t>
            </a:r>
            <a:endParaRPr b="0" i="0" sz="1200" u="none" cap="none" strike="noStrike">
              <a:solidFill>
                <a:schemeClr val="dk1"/>
              </a:solidFill>
              <a:latin typeface="Calibri"/>
              <a:ea typeface="Calibri"/>
              <a:cs typeface="Calibri"/>
              <a:sym typeface="Calibri"/>
            </a:endParaRPr>
          </a:p>
        </p:txBody>
      </p:sp>
      <p:sp>
        <p:nvSpPr>
          <p:cNvPr id="104" name="Google Shape;104;p7"/>
          <p:cNvSpPr/>
          <p:nvPr/>
        </p:nvSpPr>
        <p:spPr>
          <a:xfrm>
            <a:off x="4983480" y="420624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Every pillar decision evaluated for equity implications — no blind spots</a:t>
            </a:r>
            <a:endParaRPr b="0" i="0" sz="1050" u="none" cap="none" strike="noStrike">
              <a:solidFill>
                <a:schemeClr val="dk1"/>
              </a:solidFill>
              <a:latin typeface="Calibri"/>
              <a:ea typeface="Calibri"/>
              <a:cs typeface="Calibri"/>
              <a:sym typeface="Calibri"/>
            </a:endParaRPr>
          </a:p>
        </p:txBody>
      </p:sp>
      <p:sp>
        <p:nvSpPr>
          <p:cNvPr id="105" name="Google Shape;105;p7"/>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 — Source: CMMI evaluation literature; Oliver Wyman Act 167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8"/>
          <p:cNvSpPr/>
          <p:nvPr/>
        </p:nvSpPr>
        <p:spPr>
          <a:xfrm>
            <a:off x="274320" y="137160"/>
            <a:ext cx="85953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VERMONT'S SIX-PILLAR TRANSFORMATION MAP</a:t>
            </a:r>
            <a:endParaRPr b="0" i="0" sz="1800" u="none" cap="none" strike="noStrike">
              <a:solidFill>
                <a:schemeClr val="dk1"/>
              </a:solidFill>
              <a:latin typeface="Calibri"/>
              <a:ea typeface="Calibri"/>
              <a:cs typeface="Calibri"/>
              <a:sym typeface="Calibri"/>
            </a:endParaRPr>
          </a:p>
        </p:txBody>
      </p:sp>
      <p:graphicFrame>
        <p:nvGraphicFramePr>
          <p:cNvPr id="112" name="Google Shape;112;p8"/>
          <p:cNvGraphicFramePr/>
          <p:nvPr/>
        </p:nvGraphicFramePr>
        <p:xfrm>
          <a:off x="274320" y="640080"/>
          <a:ext cx="3000000" cy="3000000"/>
        </p:xfrm>
        <a:graphic>
          <a:graphicData uri="http://schemas.openxmlformats.org/drawingml/2006/table">
            <a:tbl>
              <a:tblPr>
                <a:noFill/>
                <a:tableStyleId>{A1D9B9E4-F9D2-4EFC-BB1D-056C6BACCCB8}</a:tableStyleId>
              </a:tblPr>
              <a:tblGrid>
                <a:gridCol w="1188725"/>
                <a:gridCol w="3108950"/>
                <a:gridCol w="2011675"/>
                <a:gridCol w="2286000"/>
              </a:tblGrid>
              <a:tr h="5486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Pillar</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Primary Vermont Intervention</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Act / Vehicle</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Key Deadline</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5486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Policy</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Acts 167 (2022), 51, 55, 68 (2025); AHEAD State Agreement</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Vermont legislature + CMS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December 2028 Strategic Plan</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486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Economics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Mandatory RBP (FY2027); Hospital global budgets (FY2028-2030); AHEAD TCOC</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GMCB + DVHA</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FY2027 / FY2028 / FY2030</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486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Technology</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VHCURES all-payer database; Vermont CIN; AHS-GMCB analytics vendor</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GMCB + DVHA + AHS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Analytics vendor 2026</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486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Clinical</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Blueprint for Health (all-payer PCMH+CHT); CoCM; CCBHC expansion (7 entities)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DVHA + Blueprint + DMH</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5 new CCBHCs by July 2026</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486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Equity</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Geographic equity monitoring; SDOH integration; GLP-1 BALANCE decision</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AHS + VDH + DVHA</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BALANCE decision 2026</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486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Operations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14-hospital transformation plans; Vermont CIN shared services; PMO</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AHS + 14 hospitals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Final plans early 2026</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113" name="Google Shape;113;p8"/>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 — Source: Acts 167 &amp; 68; AHEAD State Agreement; Vermont RHT Program Application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118" name="Shape 118"/>
        <p:cNvGrpSpPr/>
        <p:nvPr/>
      </p:nvGrpSpPr>
      <p:grpSpPr>
        <a:xfrm>
          <a:off x="0" y="0"/>
          <a:ext cx="0" cy="0"/>
          <a:chOff x="0" y="0"/>
          <a:chExt cx="0" cy="0"/>
        </a:xfrm>
      </p:grpSpPr>
      <p:sp>
        <p:nvSpPr>
          <p:cNvPr id="119" name="Google Shape;119;p9"/>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VERMONT'S LEGISLATIVE REFORM CASCADE  2022 – 2025</a:t>
            </a:r>
            <a:endParaRPr b="0" i="0" sz="1800" u="none" cap="none" strike="noStrike">
              <a:solidFill>
                <a:schemeClr val="dk1"/>
              </a:solidFill>
              <a:latin typeface="Calibri"/>
              <a:ea typeface="Calibri"/>
              <a:cs typeface="Calibri"/>
              <a:sym typeface="Calibri"/>
            </a:endParaRPr>
          </a:p>
        </p:txBody>
      </p:sp>
      <p:sp>
        <p:nvSpPr>
          <p:cNvPr id="120" name="Google Shape;120;p9"/>
          <p:cNvSpPr/>
          <p:nvPr/>
        </p:nvSpPr>
        <p:spPr>
          <a:xfrm>
            <a:off x="228600" y="713232"/>
            <a:ext cx="2011680" cy="594360"/>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228600" y="713232"/>
            <a:ext cx="20116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2022</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Act 167</a:t>
            </a:r>
            <a:endParaRPr b="0" i="0" sz="1300" u="none" cap="none" strike="noStrike">
              <a:solidFill>
                <a:schemeClr val="dk1"/>
              </a:solidFill>
              <a:latin typeface="Calibri"/>
              <a:ea typeface="Calibri"/>
              <a:cs typeface="Calibri"/>
              <a:sym typeface="Calibri"/>
            </a:endParaRPr>
          </a:p>
        </p:txBody>
      </p:sp>
      <p:sp>
        <p:nvSpPr>
          <p:cNvPr id="122" name="Google Shape;122;p9"/>
          <p:cNvSpPr/>
          <p:nvPr/>
        </p:nvSpPr>
        <p:spPr>
          <a:xfrm>
            <a:off x="228600" y="1353312"/>
            <a:ext cx="2011680" cy="320040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320040" y="1444752"/>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200"/>
              <a:buFont typeface="Calibri"/>
              <a:buNone/>
            </a:pPr>
            <a:r>
              <a:rPr b="1" i="0" lang="en-US" sz="1200" u="none" cap="none" strike="noStrike">
                <a:solidFill>
                  <a:srgbClr val="0D5F6B"/>
                </a:solidFill>
                <a:latin typeface="Calibri"/>
                <a:ea typeface="Calibri"/>
                <a:cs typeface="Calibri"/>
                <a:sym typeface="Calibri"/>
              </a:rPr>
              <a:t>The Diagnosis Mandate</a:t>
            </a:r>
            <a:endParaRPr b="0" i="0" sz="1200" u="none" cap="none" strike="noStrike">
              <a:solidFill>
                <a:schemeClr val="dk1"/>
              </a:solidFill>
              <a:latin typeface="Calibri"/>
              <a:ea typeface="Calibri"/>
              <a:cs typeface="Calibri"/>
              <a:sym typeface="Calibri"/>
            </a:endParaRPr>
          </a:p>
        </p:txBody>
      </p:sp>
      <p:sp>
        <p:nvSpPr>
          <p:cNvPr id="124" name="Google Shape;124;p9"/>
          <p:cNvSpPr/>
          <p:nvPr/>
        </p:nvSpPr>
        <p:spPr>
          <a:xfrm>
            <a:off x="320040" y="1874520"/>
            <a:ext cx="1828800" cy="2560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Hospital systems analysis commissioned. Oliver Wyman engaged. Five goals established: reduce inefficiencies, lower costs, improve access, improve outcomes, reduce inequities.</a:t>
            </a:r>
            <a:endParaRPr b="0" i="0" sz="1000" u="none" cap="none" strike="noStrike">
              <a:solidFill>
                <a:schemeClr val="dk1"/>
              </a:solidFill>
              <a:latin typeface="Calibri"/>
              <a:ea typeface="Calibri"/>
              <a:cs typeface="Calibri"/>
              <a:sym typeface="Calibri"/>
            </a:endParaRPr>
          </a:p>
        </p:txBody>
      </p:sp>
      <p:sp>
        <p:nvSpPr>
          <p:cNvPr id="125" name="Google Shape;125;p9"/>
          <p:cNvSpPr/>
          <p:nvPr/>
        </p:nvSpPr>
        <p:spPr>
          <a:xfrm>
            <a:off x="2240280" y="950976"/>
            <a:ext cx="182880" cy="13716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2423160" y="713232"/>
            <a:ext cx="2011680" cy="59436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2423160" y="713232"/>
            <a:ext cx="20116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2023</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Act 51</a:t>
            </a:r>
            <a:endParaRPr b="0" i="0" sz="1300" u="none" cap="none" strike="noStrike">
              <a:solidFill>
                <a:schemeClr val="dk1"/>
              </a:solidFill>
              <a:latin typeface="Calibri"/>
              <a:ea typeface="Calibri"/>
              <a:cs typeface="Calibri"/>
              <a:sym typeface="Calibri"/>
            </a:endParaRPr>
          </a:p>
        </p:txBody>
      </p:sp>
      <p:sp>
        <p:nvSpPr>
          <p:cNvPr id="128" name="Google Shape;128;p9"/>
          <p:cNvSpPr/>
          <p:nvPr/>
        </p:nvSpPr>
        <p:spPr>
          <a:xfrm>
            <a:off x="2423160" y="1353312"/>
            <a:ext cx="2011680" cy="320040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2514600" y="1444752"/>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Calibri"/>
              <a:buNone/>
            </a:pPr>
            <a:r>
              <a:rPr b="1" i="0" lang="en-US" sz="1200" u="none" cap="none" strike="noStrike">
                <a:solidFill>
                  <a:srgbClr val="2E75B6"/>
                </a:solidFill>
                <a:latin typeface="Calibri"/>
                <a:ea typeface="Calibri"/>
                <a:cs typeface="Calibri"/>
                <a:sym typeface="Calibri"/>
              </a:rPr>
              <a:t>The Foundation</a:t>
            </a:r>
            <a:endParaRPr b="0" i="0" sz="1200" u="none" cap="none" strike="noStrike">
              <a:solidFill>
                <a:schemeClr val="dk1"/>
              </a:solidFill>
              <a:latin typeface="Calibri"/>
              <a:ea typeface="Calibri"/>
              <a:cs typeface="Calibri"/>
              <a:sym typeface="Calibri"/>
            </a:endParaRPr>
          </a:p>
        </p:txBody>
      </p:sp>
      <p:sp>
        <p:nvSpPr>
          <p:cNvPr id="130" name="Google Shape;130;p9"/>
          <p:cNvSpPr/>
          <p:nvPr/>
        </p:nvSpPr>
        <p:spPr>
          <a:xfrm>
            <a:off x="2514600" y="1874520"/>
            <a:ext cx="1828800" cy="2560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Hospital sustainability assessments. CON process review. Framework for subsequent payment reform legislation.</a:t>
            </a:r>
            <a:endParaRPr b="0" i="0" sz="1000" u="none" cap="none" strike="noStrike">
              <a:solidFill>
                <a:schemeClr val="dk1"/>
              </a:solidFill>
              <a:latin typeface="Calibri"/>
              <a:ea typeface="Calibri"/>
              <a:cs typeface="Calibri"/>
              <a:sym typeface="Calibri"/>
            </a:endParaRPr>
          </a:p>
        </p:txBody>
      </p:sp>
      <p:sp>
        <p:nvSpPr>
          <p:cNvPr id="131" name="Google Shape;131;p9"/>
          <p:cNvSpPr/>
          <p:nvPr/>
        </p:nvSpPr>
        <p:spPr>
          <a:xfrm>
            <a:off x="4434840" y="950976"/>
            <a:ext cx="182880" cy="13716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4617720" y="713232"/>
            <a:ext cx="2011680" cy="594360"/>
          </a:xfrm>
          <a:prstGeom prst="rect">
            <a:avLst/>
          </a:prstGeom>
          <a:solidFill>
            <a:srgbClr val="6B3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4617720" y="713232"/>
            <a:ext cx="20116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2025</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(Spring)</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Act 55</a:t>
            </a:r>
            <a:endParaRPr b="0" i="0" sz="1300" u="none" cap="none" strike="noStrike">
              <a:solidFill>
                <a:schemeClr val="dk1"/>
              </a:solidFill>
              <a:latin typeface="Calibri"/>
              <a:ea typeface="Calibri"/>
              <a:cs typeface="Calibri"/>
              <a:sym typeface="Calibri"/>
            </a:endParaRPr>
          </a:p>
        </p:txBody>
      </p:sp>
      <p:sp>
        <p:nvSpPr>
          <p:cNvPr id="134" name="Google Shape;134;p9"/>
          <p:cNvSpPr/>
          <p:nvPr/>
        </p:nvSpPr>
        <p:spPr>
          <a:xfrm>
            <a:off x="4617720" y="1353312"/>
            <a:ext cx="2011680" cy="3200400"/>
          </a:xfrm>
          <a:prstGeom prst="rect">
            <a:avLst/>
          </a:prstGeom>
          <a:solidFill>
            <a:srgbClr val="FFFFFF"/>
          </a:solidFill>
          <a:ln cap="flat" cmpd="sng" w="12700">
            <a:solidFill>
              <a:srgbClr val="6B3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4709160" y="1444752"/>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3A00"/>
              </a:buClr>
              <a:buSzPts val="1200"/>
              <a:buFont typeface="Calibri"/>
              <a:buNone/>
            </a:pPr>
            <a:r>
              <a:rPr b="1" i="0" lang="en-US" sz="1200" u="none" cap="none" strike="noStrike">
                <a:solidFill>
                  <a:srgbClr val="6B3A00"/>
                </a:solidFill>
                <a:latin typeface="Calibri"/>
                <a:ea typeface="Calibri"/>
                <a:cs typeface="Calibri"/>
                <a:sym typeface="Calibri"/>
              </a:rPr>
              <a:t>Drug Pricing Cap</a:t>
            </a:r>
            <a:endParaRPr b="0" i="0" sz="1200" u="none" cap="none" strike="noStrike">
              <a:solidFill>
                <a:schemeClr val="dk1"/>
              </a:solidFill>
              <a:latin typeface="Calibri"/>
              <a:ea typeface="Calibri"/>
              <a:cs typeface="Calibri"/>
              <a:sym typeface="Calibri"/>
            </a:endParaRPr>
          </a:p>
        </p:txBody>
      </p:sp>
      <p:sp>
        <p:nvSpPr>
          <p:cNvPr id="136" name="Google Shape;136;p9"/>
          <p:cNvSpPr/>
          <p:nvPr/>
        </p:nvSpPr>
        <p:spPr>
          <a:xfrm>
            <a:off x="4709160" y="1874520"/>
            <a:ext cx="1828800" cy="2560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$135M in annual drug savings. Hospital 340B reporting requirements. Act 55 drug cap: $104.3M in FY2026 savings.</a:t>
            </a:r>
            <a:endParaRPr b="0" i="0" sz="1000" u="none" cap="none" strike="noStrike">
              <a:solidFill>
                <a:schemeClr val="dk1"/>
              </a:solidFill>
              <a:latin typeface="Calibri"/>
              <a:ea typeface="Calibri"/>
              <a:cs typeface="Calibri"/>
              <a:sym typeface="Calibri"/>
            </a:endParaRPr>
          </a:p>
        </p:txBody>
      </p:sp>
      <p:sp>
        <p:nvSpPr>
          <p:cNvPr id="137" name="Google Shape;137;p9"/>
          <p:cNvSpPr/>
          <p:nvPr/>
        </p:nvSpPr>
        <p:spPr>
          <a:xfrm>
            <a:off x="6629400" y="950976"/>
            <a:ext cx="182880" cy="13716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6812280" y="713232"/>
            <a:ext cx="2011680" cy="59436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6812280" y="713232"/>
            <a:ext cx="20116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2025</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(Summer)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Act 68</a:t>
            </a:r>
            <a:endParaRPr b="0" i="0" sz="1300" u="none" cap="none" strike="noStrike">
              <a:solidFill>
                <a:schemeClr val="dk1"/>
              </a:solidFill>
              <a:latin typeface="Calibri"/>
              <a:ea typeface="Calibri"/>
              <a:cs typeface="Calibri"/>
              <a:sym typeface="Calibri"/>
            </a:endParaRPr>
          </a:p>
        </p:txBody>
      </p:sp>
      <p:sp>
        <p:nvSpPr>
          <p:cNvPr id="140" name="Google Shape;140;p9"/>
          <p:cNvSpPr/>
          <p:nvPr/>
        </p:nvSpPr>
        <p:spPr>
          <a:xfrm>
            <a:off x="6812280" y="1353312"/>
            <a:ext cx="2011680" cy="320040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6903720" y="1444752"/>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The Mandate</a:t>
            </a:r>
            <a:endParaRPr b="0" i="0" sz="1200" u="none" cap="none" strike="noStrike">
              <a:solidFill>
                <a:schemeClr val="dk1"/>
              </a:solidFill>
              <a:latin typeface="Calibri"/>
              <a:ea typeface="Calibri"/>
              <a:cs typeface="Calibri"/>
              <a:sym typeface="Calibri"/>
            </a:endParaRPr>
          </a:p>
        </p:txBody>
      </p:sp>
      <p:sp>
        <p:nvSpPr>
          <p:cNvPr id="142" name="Google Shape;142;p9"/>
          <p:cNvSpPr/>
          <p:nvPr/>
        </p:nvSpPr>
        <p:spPr>
          <a:xfrm>
            <a:off x="6903720" y="1874520"/>
            <a:ext cx="1828800" cy="2560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Mandatory RBP (FY2027). Global budgets (FY2028-2030). Statewide Strategic Plan (December 2028). Health Care Delivery Advisory Committee.</a:t>
            </a:r>
            <a:endParaRPr b="0" i="0" sz="1000" u="none" cap="none" strike="noStrike">
              <a:solidFill>
                <a:schemeClr val="dk1"/>
              </a:solidFill>
              <a:latin typeface="Calibri"/>
              <a:ea typeface="Calibri"/>
              <a:cs typeface="Calibri"/>
              <a:sym typeface="Calibri"/>
            </a:endParaRPr>
          </a:p>
        </p:txBody>
      </p:sp>
      <p:sp>
        <p:nvSpPr>
          <p:cNvPr id="143" name="Google Shape;143;p9"/>
          <p:cNvSpPr/>
          <p:nvPr/>
        </p:nvSpPr>
        <p:spPr>
          <a:xfrm>
            <a:off x="365760" y="4663440"/>
            <a:ext cx="84124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50"/>
              <a:buFont typeface="Calibri"/>
              <a:buNone/>
            </a:pPr>
            <a:r>
              <a:rPr b="0" i="1" lang="en-US" sz="1050" u="none" cap="none" strike="noStrike">
                <a:solidFill>
                  <a:srgbClr val="64748B"/>
                </a:solidFill>
                <a:latin typeface="Calibri"/>
                <a:ea typeface="Calibri"/>
                <a:cs typeface="Calibri"/>
                <a:sym typeface="Calibri"/>
              </a:rPr>
              <a:t>Each Act builds on the institutional capacity and evidence created by its predecessor — the reform cascade structure</a:t>
            </a:r>
            <a:endParaRPr b="0" i="0" sz="1050" u="none" cap="none" strike="noStrike">
              <a:solidFill>
                <a:schemeClr val="dk1"/>
              </a:solidFill>
              <a:latin typeface="Calibri"/>
              <a:ea typeface="Calibri"/>
              <a:cs typeface="Calibri"/>
              <a:sym typeface="Calibri"/>
            </a:endParaRPr>
          </a:p>
        </p:txBody>
      </p:sp>
      <p:sp>
        <p:nvSpPr>
          <p:cNvPr id="144" name="Google Shape;144;p9"/>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 / Chapter 4 — Source: Vermont Legislature; Act 167 (2022); Act 68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149" name="Shape 149"/>
        <p:cNvGrpSpPr/>
        <p:nvPr/>
      </p:nvGrpSpPr>
      <p:grpSpPr>
        <a:xfrm>
          <a:off x="0" y="0"/>
          <a:ext cx="0" cy="0"/>
          <a:chOff x="0" y="0"/>
          <a:chExt cx="0" cy="0"/>
        </a:xfrm>
      </p:grpSpPr>
      <p:sp>
        <p:nvSpPr>
          <p:cNvPr id="150" name="Google Shape;150;p10"/>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2</a:t>
            </a:r>
            <a:endParaRPr b="0" i="0" sz="1300" u="none" cap="none" strike="noStrike">
              <a:solidFill>
                <a:schemeClr val="dk1"/>
              </a:solidFill>
              <a:latin typeface="Calibri"/>
              <a:ea typeface="Calibri"/>
              <a:cs typeface="Calibri"/>
              <a:sym typeface="Calibri"/>
            </a:endParaRPr>
          </a:p>
        </p:txBody>
      </p:sp>
      <p:sp>
        <p:nvSpPr>
          <p:cNvPr id="152" name="Google Shape;152;p10"/>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Vermont System Portrait</a:t>
            </a:r>
            <a:endParaRPr b="0" i="0" sz="3400" u="none" cap="none" strike="noStrike">
              <a:solidFill>
                <a:schemeClr val="dk1"/>
              </a:solidFill>
              <a:latin typeface="Calibri"/>
              <a:ea typeface="Calibri"/>
              <a:cs typeface="Calibri"/>
              <a:sym typeface="Calibri"/>
            </a:endParaRPr>
          </a:p>
        </p:txBody>
      </p:sp>
      <p:sp>
        <p:nvSpPr>
          <p:cNvPr id="153" name="Google Shape;153;p10"/>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11"/>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VERMONT: THE DEMOGRAPHIC CRISIS IN DATA</a:t>
            </a:r>
            <a:endParaRPr b="0" i="0" sz="2000" u="none" cap="none" strike="noStrike">
              <a:solidFill>
                <a:schemeClr val="dk1"/>
              </a:solidFill>
              <a:latin typeface="Calibri"/>
              <a:ea typeface="Calibri"/>
              <a:cs typeface="Calibri"/>
              <a:sym typeface="Calibri"/>
            </a:endParaRPr>
          </a:p>
        </p:txBody>
      </p:sp>
      <p:sp>
        <p:nvSpPr>
          <p:cNvPr id="160" name="Google Shape;160;p11"/>
          <p:cNvSpPr/>
          <p:nvPr/>
        </p:nvSpPr>
        <p:spPr>
          <a:xfrm>
            <a:off x="228600" y="749808"/>
            <a:ext cx="2743200" cy="1691640"/>
          </a:xfrm>
          <a:prstGeom prst="rect">
            <a:avLst/>
          </a:prstGeom>
          <a:solidFill>
            <a:srgbClr val="D5E8F0"/>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228600" y="749808"/>
            <a:ext cx="2743200" cy="32004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228600" y="1069848"/>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5C8B"/>
              </a:buClr>
              <a:buSzPts val="3600"/>
              <a:buFont typeface="Calibri"/>
              <a:buNone/>
            </a:pPr>
            <a:r>
              <a:rPr b="1" i="0" lang="en-US" sz="3600" u="none" cap="none" strike="noStrike">
                <a:solidFill>
                  <a:srgbClr val="1F5C8B"/>
                </a:solidFill>
                <a:latin typeface="Calibri"/>
                <a:ea typeface="Calibri"/>
                <a:cs typeface="Calibri"/>
                <a:sym typeface="Calibri"/>
              </a:rPr>
              <a:t>647K</a:t>
            </a:r>
            <a:endParaRPr b="0" i="0" sz="3600" u="none" cap="none" strike="noStrike">
              <a:solidFill>
                <a:schemeClr val="dk1"/>
              </a:solidFill>
              <a:latin typeface="Calibri"/>
              <a:ea typeface="Calibri"/>
              <a:cs typeface="Calibri"/>
              <a:sym typeface="Calibri"/>
            </a:endParaRPr>
          </a:p>
        </p:txBody>
      </p:sp>
      <p:sp>
        <p:nvSpPr>
          <p:cNvPr id="163" name="Google Shape;163;p11"/>
          <p:cNvSpPr/>
          <p:nvPr/>
        </p:nvSpPr>
        <p:spPr>
          <a:xfrm>
            <a:off x="320040" y="1801368"/>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1" i="0" lang="en-US" sz="1050" u="none" cap="none" strike="noStrike">
                <a:solidFill>
                  <a:srgbClr val="1A1A1A"/>
                </a:solidFill>
                <a:latin typeface="Calibri"/>
                <a:ea typeface="Calibri"/>
                <a:cs typeface="Calibri"/>
                <a:sym typeface="Calibri"/>
              </a:rPr>
              <a:t>Total population</a:t>
            </a:r>
            <a:endParaRPr b="0" i="0" sz="1050" u="none" cap="none" strike="noStrike">
              <a:solidFill>
                <a:schemeClr val="dk1"/>
              </a:solidFill>
              <a:latin typeface="Calibri"/>
              <a:ea typeface="Calibri"/>
              <a:cs typeface="Calibri"/>
              <a:sym typeface="Calibri"/>
            </a:endParaRPr>
          </a:p>
        </p:txBody>
      </p:sp>
      <p:sp>
        <p:nvSpPr>
          <p:cNvPr id="164" name="Google Shape;164;p11"/>
          <p:cNvSpPr/>
          <p:nvPr/>
        </p:nvSpPr>
        <p:spPr>
          <a:xfrm>
            <a:off x="320040" y="2139696"/>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2nd smallest US state by population</a:t>
            </a:r>
            <a:endParaRPr b="0" i="0" sz="950" u="none" cap="none" strike="noStrike">
              <a:solidFill>
                <a:schemeClr val="dk1"/>
              </a:solidFill>
              <a:latin typeface="Calibri"/>
              <a:ea typeface="Calibri"/>
              <a:cs typeface="Calibri"/>
              <a:sym typeface="Calibri"/>
            </a:endParaRPr>
          </a:p>
        </p:txBody>
      </p:sp>
      <p:sp>
        <p:nvSpPr>
          <p:cNvPr id="165" name="Google Shape;165;p11"/>
          <p:cNvSpPr/>
          <p:nvPr/>
        </p:nvSpPr>
        <p:spPr>
          <a:xfrm>
            <a:off x="3200400" y="749808"/>
            <a:ext cx="2743200" cy="1691640"/>
          </a:xfrm>
          <a:prstGeom prst="rect">
            <a:avLst/>
          </a:prstGeom>
          <a:solidFill>
            <a:srgbClr val="FAE0E0"/>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3200400" y="749808"/>
            <a:ext cx="2743200" cy="320040"/>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3200400" y="1069848"/>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3600"/>
              <a:buFont typeface="Calibri"/>
              <a:buNone/>
            </a:pPr>
            <a:r>
              <a:rPr b="1" i="0" lang="en-US" sz="3600" u="none" cap="none" strike="noStrike">
                <a:solidFill>
                  <a:srgbClr val="8B1A1A"/>
                </a:solidFill>
                <a:latin typeface="Calibri"/>
                <a:ea typeface="Calibri"/>
                <a:cs typeface="Calibri"/>
                <a:sym typeface="Calibri"/>
              </a:rPr>
              <a:t>57%</a:t>
            </a:r>
            <a:endParaRPr b="0" i="0" sz="3600" u="none" cap="none" strike="noStrike">
              <a:solidFill>
                <a:schemeClr val="dk1"/>
              </a:solidFill>
              <a:latin typeface="Calibri"/>
              <a:ea typeface="Calibri"/>
              <a:cs typeface="Calibri"/>
              <a:sym typeface="Calibri"/>
            </a:endParaRPr>
          </a:p>
        </p:txBody>
      </p:sp>
      <p:sp>
        <p:nvSpPr>
          <p:cNvPr id="168" name="Google Shape;168;p11"/>
          <p:cNvSpPr/>
          <p:nvPr/>
        </p:nvSpPr>
        <p:spPr>
          <a:xfrm>
            <a:off x="3291840" y="1801368"/>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1" i="0" lang="en-US" sz="1050" u="none" cap="none" strike="noStrike">
                <a:solidFill>
                  <a:srgbClr val="1A1A1A"/>
                </a:solidFill>
                <a:latin typeface="Calibri"/>
                <a:ea typeface="Calibri"/>
                <a:cs typeface="Calibri"/>
                <a:sym typeface="Calibri"/>
              </a:rPr>
              <a:t>Growth in 65+ population by 2040</a:t>
            </a:r>
            <a:endParaRPr b="0" i="0" sz="1050" u="none" cap="none" strike="noStrike">
              <a:solidFill>
                <a:schemeClr val="dk1"/>
              </a:solidFill>
              <a:latin typeface="Calibri"/>
              <a:ea typeface="Calibri"/>
              <a:cs typeface="Calibri"/>
              <a:sym typeface="Calibri"/>
            </a:endParaRPr>
          </a:p>
        </p:txBody>
      </p:sp>
      <p:sp>
        <p:nvSpPr>
          <p:cNvPr id="169" name="Google Shape;169;p11"/>
          <p:cNvSpPr/>
          <p:nvPr/>
        </p:nvSpPr>
        <p:spPr>
          <a:xfrm>
            <a:off x="3291840" y="2139696"/>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From 21.7% today to 30%+ of total</a:t>
            </a:r>
            <a:endParaRPr b="0" i="0" sz="950" u="none" cap="none" strike="noStrike">
              <a:solidFill>
                <a:schemeClr val="dk1"/>
              </a:solidFill>
              <a:latin typeface="Calibri"/>
              <a:ea typeface="Calibri"/>
              <a:cs typeface="Calibri"/>
              <a:sym typeface="Calibri"/>
            </a:endParaRPr>
          </a:p>
        </p:txBody>
      </p:sp>
      <p:sp>
        <p:nvSpPr>
          <p:cNvPr id="170" name="Google Shape;170;p11"/>
          <p:cNvSpPr/>
          <p:nvPr/>
        </p:nvSpPr>
        <p:spPr>
          <a:xfrm>
            <a:off x="6172200" y="749808"/>
            <a:ext cx="2743200" cy="1691640"/>
          </a:xfrm>
          <a:prstGeom prst="rect">
            <a:avLst/>
          </a:prstGeom>
          <a:solidFill>
            <a:srgbClr val="FFF0CC"/>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6172200" y="749808"/>
            <a:ext cx="2743200" cy="320040"/>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a:off x="6172200" y="1069848"/>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4A00"/>
              </a:buClr>
              <a:buSzPts val="3600"/>
              <a:buFont typeface="Calibri"/>
              <a:buNone/>
            </a:pPr>
            <a:r>
              <a:rPr b="1" i="0" lang="en-US" sz="3600" u="none" cap="none" strike="noStrike">
                <a:solidFill>
                  <a:srgbClr val="7B4A00"/>
                </a:solidFill>
                <a:latin typeface="Calibri"/>
                <a:ea typeface="Calibri"/>
                <a:cs typeface="Calibri"/>
                <a:sym typeface="Calibri"/>
              </a:rPr>
              <a:t>−13%</a:t>
            </a:r>
            <a:endParaRPr b="0" i="0" sz="3600" u="none" cap="none" strike="noStrike">
              <a:solidFill>
                <a:schemeClr val="dk1"/>
              </a:solidFill>
              <a:latin typeface="Calibri"/>
              <a:ea typeface="Calibri"/>
              <a:cs typeface="Calibri"/>
              <a:sym typeface="Calibri"/>
            </a:endParaRPr>
          </a:p>
        </p:txBody>
      </p:sp>
      <p:sp>
        <p:nvSpPr>
          <p:cNvPr id="173" name="Google Shape;173;p11"/>
          <p:cNvSpPr/>
          <p:nvPr/>
        </p:nvSpPr>
        <p:spPr>
          <a:xfrm>
            <a:off x="6263640" y="1801368"/>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1" i="0" lang="en-US" sz="1050" u="none" cap="none" strike="noStrike">
                <a:solidFill>
                  <a:srgbClr val="1A1A1A"/>
                </a:solidFill>
                <a:latin typeface="Calibri"/>
                <a:ea typeface="Calibri"/>
                <a:cs typeface="Calibri"/>
                <a:sym typeface="Calibri"/>
              </a:rPr>
              <a:t>Working-age population by 2040</a:t>
            </a:r>
            <a:endParaRPr b="0" i="0" sz="1050" u="none" cap="none" strike="noStrike">
              <a:solidFill>
                <a:schemeClr val="dk1"/>
              </a:solidFill>
              <a:latin typeface="Calibri"/>
              <a:ea typeface="Calibri"/>
              <a:cs typeface="Calibri"/>
              <a:sym typeface="Calibri"/>
            </a:endParaRPr>
          </a:p>
        </p:txBody>
      </p:sp>
      <p:sp>
        <p:nvSpPr>
          <p:cNvPr id="174" name="Google Shape;174;p11"/>
          <p:cNvSpPr/>
          <p:nvPr/>
        </p:nvSpPr>
        <p:spPr>
          <a:xfrm>
            <a:off x="6263640" y="2139696"/>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From 367K to ~318K — shrinking commercial base</a:t>
            </a:r>
            <a:endParaRPr b="0" i="0" sz="950" u="none" cap="none" strike="noStrike">
              <a:solidFill>
                <a:schemeClr val="dk1"/>
              </a:solidFill>
              <a:latin typeface="Calibri"/>
              <a:ea typeface="Calibri"/>
              <a:cs typeface="Calibri"/>
              <a:sym typeface="Calibri"/>
            </a:endParaRPr>
          </a:p>
        </p:txBody>
      </p:sp>
      <p:sp>
        <p:nvSpPr>
          <p:cNvPr id="175" name="Google Shape;175;p11"/>
          <p:cNvSpPr/>
          <p:nvPr/>
        </p:nvSpPr>
        <p:spPr>
          <a:xfrm>
            <a:off x="228600" y="2651760"/>
            <a:ext cx="2743200" cy="1691640"/>
          </a:xfrm>
          <a:prstGeom prst="rect">
            <a:avLst/>
          </a:prstGeom>
          <a:solidFill>
            <a:srgbClr val="D9EFE3"/>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228600" y="2651760"/>
            <a:ext cx="2743200" cy="32004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a:off x="228600" y="29718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6B3C"/>
              </a:buClr>
              <a:buSzPts val="3600"/>
              <a:buFont typeface="Calibri"/>
              <a:buNone/>
            </a:pPr>
            <a:r>
              <a:rPr b="1" i="0" lang="en-US" sz="3600" u="none" cap="none" strike="noStrike">
                <a:solidFill>
                  <a:srgbClr val="1E6B3C"/>
                </a:solidFill>
                <a:latin typeface="Calibri"/>
                <a:ea typeface="Calibri"/>
                <a:cs typeface="Calibri"/>
                <a:sym typeface="Calibri"/>
              </a:rPr>
              <a:t>97%</a:t>
            </a:r>
            <a:endParaRPr b="0" i="0" sz="3600" u="none" cap="none" strike="noStrike">
              <a:solidFill>
                <a:schemeClr val="dk1"/>
              </a:solidFill>
              <a:latin typeface="Calibri"/>
              <a:ea typeface="Calibri"/>
              <a:cs typeface="Calibri"/>
              <a:sym typeface="Calibri"/>
            </a:endParaRPr>
          </a:p>
        </p:txBody>
      </p:sp>
      <p:sp>
        <p:nvSpPr>
          <p:cNvPr id="178" name="Google Shape;178;p11"/>
          <p:cNvSpPr/>
          <p:nvPr/>
        </p:nvSpPr>
        <p:spPr>
          <a:xfrm>
            <a:off x="320040" y="3703320"/>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1" i="0" lang="en-US" sz="1050" u="none" cap="none" strike="noStrike">
                <a:solidFill>
                  <a:srgbClr val="1A1A1A"/>
                </a:solidFill>
                <a:latin typeface="Calibri"/>
                <a:ea typeface="Calibri"/>
                <a:cs typeface="Calibri"/>
                <a:sym typeface="Calibri"/>
              </a:rPr>
              <a:t>Insured rate — one of the highest in US</a:t>
            </a:r>
            <a:endParaRPr b="0" i="0" sz="1050" u="none" cap="none" strike="noStrike">
              <a:solidFill>
                <a:schemeClr val="dk1"/>
              </a:solidFill>
              <a:latin typeface="Calibri"/>
              <a:ea typeface="Calibri"/>
              <a:cs typeface="Calibri"/>
              <a:sym typeface="Calibri"/>
            </a:endParaRPr>
          </a:p>
        </p:txBody>
      </p:sp>
      <p:sp>
        <p:nvSpPr>
          <p:cNvPr id="179" name="Google Shape;179;p11"/>
          <p:cNvSpPr/>
          <p:nvPr/>
        </p:nvSpPr>
        <p:spPr>
          <a:xfrm>
            <a:off x="320040" y="4041648"/>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ACA + Medicaid expansion; yet still unaffordable</a:t>
            </a:r>
            <a:endParaRPr b="0" i="0" sz="950" u="none" cap="none" strike="noStrike">
              <a:solidFill>
                <a:schemeClr val="dk1"/>
              </a:solidFill>
              <a:latin typeface="Calibri"/>
              <a:ea typeface="Calibri"/>
              <a:cs typeface="Calibri"/>
              <a:sym typeface="Calibri"/>
            </a:endParaRPr>
          </a:p>
        </p:txBody>
      </p:sp>
      <p:sp>
        <p:nvSpPr>
          <p:cNvPr id="180" name="Google Shape;180;p11"/>
          <p:cNvSpPr/>
          <p:nvPr/>
        </p:nvSpPr>
        <p:spPr>
          <a:xfrm>
            <a:off x="3200400" y="2651760"/>
            <a:ext cx="2743200" cy="1691640"/>
          </a:xfrm>
          <a:prstGeom prst="rect">
            <a:avLst/>
          </a:prstGeom>
          <a:solidFill>
            <a:srgbClr val="FAE0E0"/>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3200400" y="2651760"/>
            <a:ext cx="2743200" cy="320040"/>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3200400" y="29718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3600"/>
              <a:buFont typeface="Calibri"/>
              <a:buNone/>
            </a:pPr>
            <a:r>
              <a:rPr b="1" i="0" lang="en-US" sz="3600" u="none" cap="none" strike="noStrike">
                <a:solidFill>
                  <a:srgbClr val="8B1A1A"/>
                </a:solidFill>
                <a:latin typeface="Calibri"/>
                <a:ea typeface="Calibri"/>
                <a:cs typeface="Calibri"/>
                <a:sym typeface="Calibri"/>
              </a:rPr>
              <a:t>108%</a:t>
            </a:r>
            <a:endParaRPr b="0" i="0" sz="3600" u="none" cap="none" strike="noStrike">
              <a:solidFill>
                <a:schemeClr val="dk1"/>
              </a:solidFill>
              <a:latin typeface="Calibri"/>
              <a:ea typeface="Calibri"/>
              <a:cs typeface="Calibri"/>
              <a:sym typeface="Calibri"/>
            </a:endParaRPr>
          </a:p>
        </p:txBody>
      </p:sp>
      <p:sp>
        <p:nvSpPr>
          <p:cNvPr id="183" name="Google Shape;183;p11"/>
          <p:cNvSpPr/>
          <p:nvPr/>
        </p:nvSpPr>
        <p:spPr>
          <a:xfrm>
            <a:off x="3291840" y="3703320"/>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1" i="0" lang="en-US" sz="1050" u="none" cap="none" strike="noStrike">
                <a:solidFill>
                  <a:srgbClr val="1A1A1A"/>
                </a:solidFill>
                <a:latin typeface="Calibri"/>
                <a:ea typeface="Calibri"/>
                <a:cs typeface="Calibri"/>
                <a:sym typeface="Calibri"/>
              </a:rPr>
              <a:t>Premium increase 2018–2024</a:t>
            </a:r>
            <a:endParaRPr b="0" i="0" sz="1050" u="none" cap="none" strike="noStrike">
              <a:solidFill>
                <a:schemeClr val="dk1"/>
              </a:solidFill>
              <a:latin typeface="Calibri"/>
              <a:ea typeface="Calibri"/>
              <a:cs typeface="Calibri"/>
              <a:sym typeface="Calibri"/>
            </a:endParaRPr>
          </a:p>
        </p:txBody>
      </p:sp>
      <p:sp>
        <p:nvSpPr>
          <p:cNvPr id="184" name="Google Shape;184;p11"/>
          <p:cNvSpPr/>
          <p:nvPr/>
        </p:nvSpPr>
        <p:spPr>
          <a:xfrm>
            <a:off x="3291840" y="4041648"/>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$456/month → $948/month; income grew only 22%</a:t>
            </a:r>
            <a:endParaRPr b="0" i="0" sz="950" u="none" cap="none" strike="noStrike">
              <a:solidFill>
                <a:schemeClr val="dk1"/>
              </a:solidFill>
              <a:latin typeface="Calibri"/>
              <a:ea typeface="Calibri"/>
              <a:cs typeface="Calibri"/>
              <a:sym typeface="Calibri"/>
            </a:endParaRPr>
          </a:p>
        </p:txBody>
      </p:sp>
      <p:sp>
        <p:nvSpPr>
          <p:cNvPr id="185" name="Google Shape;185;p11"/>
          <p:cNvSpPr/>
          <p:nvPr/>
        </p:nvSpPr>
        <p:spPr>
          <a:xfrm>
            <a:off x="6172200" y="2651760"/>
            <a:ext cx="2743200" cy="1691640"/>
          </a:xfrm>
          <a:prstGeom prst="rect">
            <a:avLst/>
          </a:prstGeom>
          <a:solidFill>
            <a:srgbClr val="FFF0CC"/>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6172200" y="2651760"/>
            <a:ext cx="2743200" cy="320040"/>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6172200" y="29718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4A00"/>
              </a:buClr>
              <a:buSzPts val="3600"/>
              <a:buFont typeface="Calibri"/>
              <a:buNone/>
            </a:pPr>
            <a:r>
              <a:rPr b="1" i="0" lang="en-US" sz="3600" u="none" cap="none" strike="noStrike">
                <a:solidFill>
                  <a:srgbClr val="7B4A00"/>
                </a:solidFill>
                <a:latin typeface="Calibri"/>
                <a:ea typeface="Calibri"/>
                <a:cs typeface="Calibri"/>
                <a:sym typeface="Calibri"/>
              </a:rPr>
              <a:t>9/14</a:t>
            </a:r>
            <a:endParaRPr b="0" i="0" sz="3600" u="none" cap="none" strike="noStrike">
              <a:solidFill>
                <a:schemeClr val="dk1"/>
              </a:solidFill>
              <a:latin typeface="Calibri"/>
              <a:ea typeface="Calibri"/>
              <a:cs typeface="Calibri"/>
              <a:sym typeface="Calibri"/>
            </a:endParaRPr>
          </a:p>
        </p:txBody>
      </p:sp>
      <p:sp>
        <p:nvSpPr>
          <p:cNvPr id="188" name="Google Shape;188;p11"/>
          <p:cNvSpPr/>
          <p:nvPr/>
        </p:nvSpPr>
        <p:spPr>
          <a:xfrm>
            <a:off x="6263640" y="3703320"/>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1" i="0" lang="en-US" sz="1050" u="none" cap="none" strike="noStrike">
                <a:solidFill>
                  <a:srgbClr val="1A1A1A"/>
                </a:solidFill>
                <a:latin typeface="Calibri"/>
                <a:ea typeface="Calibri"/>
                <a:cs typeface="Calibri"/>
                <a:sym typeface="Calibri"/>
              </a:rPr>
              <a:t>Hospitals reporting losses (FY2023)</a:t>
            </a:r>
            <a:endParaRPr b="0" i="0" sz="1050" u="none" cap="none" strike="noStrike">
              <a:solidFill>
                <a:schemeClr val="dk1"/>
              </a:solidFill>
              <a:latin typeface="Calibri"/>
              <a:ea typeface="Calibri"/>
              <a:cs typeface="Calibri"/>
              <a:sym typeface="Calibri"/>
            </a:endParaRPr>
          </a:p>
        </p:txBody>
      </p:sp>
      <p:sp>
        <p:nvSpPr>
          <p:cNvPr id="189" name="Google Shape;189;p11"/>
          <p:cNvSpPr/>
          <p:nvPr/>
        </p:nvSpPr>
        <p:spPr>
          <a:xfrm>
            <a:off x="6263640" y="4041648"/>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Worst performing: -8.9% operating margin</a:t>
            </a:r>
            <a:endParaRPr b="0" i="0" sz="950" u="none" cap="none" strike="noStrike">
              <a:solidFill>
                <a:schemeClr val="dk1"/>
              </a:solidFill>
              <a:latin typeface="Calibri"/>
              <a:ea typeface="Calibri"/>
              <a:cs typeface="Calibri"/>
              <a:sym typeface="Calibri"/>
            </a:endParaRPr>
          </a:p>
        </p:txBody>
      </p:sp>
      <p:sp>
        <p:nvSpPr>
          <p:cNvPr id="190" name="Google Shape;190;p11"/>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2 — Source: Oliver Wyman Act 167 Report (2024); AHS January 2025 Legislative Presentation; Vermont RHT Application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12"/>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 HOSPITAL FINANCIAL POSITIONS: FY2023 vs. BENCHMARKS</a:t>
            </a:r>
            <a:endParaRPr b="0" i="0" sz="1800" u="none" cap="none" strike="noStrike">
              <a:solidFill>
                <a:schemeClr val="dk1"/>
              </a:solidFill>
              <a:latin typeface="Calibri"/>
              <a:ea typeface="Calibri"/>
              <a:cs typeface="Calibri"/>
              <a:sym typeface="Calibri"/>
            </a:endParaRPr>
          </a:p>
        </p:txBody>
      </p:sp>
      <p:pic>
        <p:nvPicPr>
          <p:cNvPr id="197" name="Google Shape;197;p12"/>
          <p:cNvPicPr preferRelativeResize="0"/>
          <p:nvPr/>
        </p:nvPicPr>
        <p:blipFill rotWithShape="1">
          <a:blip r:embed="rId3">
            <a:alphaModFix/>
          </a:blip>
          <a:srcRect b="0" l="0" r="0" t="0"/>
          <a:stretch/>
        </p:blipFill>
        <p:spPr>
          <a:xfrm>
            <a:off x="320040" y="658368"/>
            <a:ext cx="8503920" cy="3657600"/>
          </a:xfrm>
          <a:prstGeom prst="rect">
            <a:avLst/>
          </a:prstGeom>
          <a:noFill/>
          <a:ln>
            <a:noFill/>
          </a:ln>
        </p:spPr>
      </p:pic>
      <p:sp>
        <p:nvSpPr>
          <p:cNvPr id="198" name="Google Shape;198;p12"/>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2 — Source: AHS Health Care System Transformation Report (November 2025); NASHP via CMS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203" name="Shape 203"/>
        <p:cNvGrpSpPr/>
        <p:nvPr/>
      </p:nvGrpSpPr>
      <p:grpSpPr>
        <a:xfrm>
          <a:off x="0" y="0"/>
          <a:ext cx="0" cy="0"/>
          <a:chOff x="0" y="0"/>
          <a:chExt cx="0" cy="0"/>
        </a:xfrm>
      </p:grpSpPr>
      <p:sp>
        <p:nvSpPr>
          <p:cNvPr id="204" name="Google Shape;204;p13"/>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VERMONT'S 14-HOSPITAL NETWORK: THREE-TIER STRUCTURE</a:t>
            </a:r>
            <a:endParaRPr b="0" i="0" sz="1800" u="none" cap="none" strike="noStrike">
              <a:solidFill>
                <a:schemeClr val="dk1"/>
              </a:solidFill>
              <a:latin typeface="Calibri"/>
              <a:ea typeface="Calibri"/>
              <a:cs typeface="Calibri"/>
              <a:sym typeface="Calibri"/>
            </a:endParaRPr>
          </a:p>
        </p:txBody>
      </p:sp>
      <p:sp>
        <p:nvSpPr>
          <p:cNvPr id="205" name="Google Shape;205;p13"/>
          <p:cNvSpPr/>
          <p:nvPr/>
        </p:nvSpPr>
        <p:spPr>
          <a:xfrm>
            <a:off x="274320" y="749808"/>
            <a:ext cx="8595360" cy="1280160"/>
          </a:xfrm>
          <a:prstGeom prst="rect">
            <a:avLst/>
          </a:prstGeom>
          <a:solidFill>
            <a:srgbClr val="D5E8F0"/>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p:nvPr/>
        </p:nvSpPr>
        <p:spPr>
          <a:xfrm>
            <a:off x="274320" y="749808"/>
            <a:ext cx="1463040" cy="128016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3"/>
          <p:cNvSpPr/>
          <p:nvPr/>
        </p:nvSpPr>
        <p:spPr>
          <a:xfrm>
            <a:off x="274320" y="932688"/>
            <a:ext cx="14630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TIER 1</a:t>
            </a:r>
            <a:endParaRPr b="0" i="0" sz="1500" u="none" cap="none" strike="noStrike">
              <a:solidFill>
                <a:schemeClr val="dk1"/>
              </a:solidFill>
              <a:latin typeface="Calibri"/>
              <a:ea typeface="Calibri"/>
              <a:cs typeface="Calibri"/>
              <a:sym typeface="Calibri"/>
            </a:endParaRPr>
          </a:p>
        </p:txBody>
      </p:sp>
      <p:sp>
        <p:nvSpPr>
          <p:cNvPr id="208" name="Google Shape;208;p13"/>
          <p:cNvSpPr/>
          <p:nvPr/>
        </p:nvSpPr>
        <p:spPr>
          <a:xfrm>
            <a:off x="1920240" y="813816"/>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Regional Specialty Centers (RSC)</a:t>
            </a:r>
            <a:endParaRPr b="0" i="0" sz="1200" u="none" cap="none" strike="noStrike">
              <a:solidFill>
                <a:schemeClr val="dk1"/>
              </a:solidFill>
              <a:latin typeface="Calibri"/>
              <a:ea typeface="Calibri"/>
              <a:cs typeface="Calibri"/>
              <a:sym typeface="Calibri"/>
            </a:endParaRPr>
          </a:p>
        </p:txBody>
      </p:sp>
      <p:sp>
        <p:nvSpPr>
          <p:cNvPr id="209" name="Google Shape;209;p13"/>
          <p:cNvSpPr/>
          <p:nvPr/>
        </p:nvSpPr>
        <p:spPr>
          <a:xfrm>
            <a:off x="1920240" y="1152144"/>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UVMMC (16 COEs)  |  SW Vermont Medical  |  Brattleboro Memorial  |  Rutland Regional  |  Central VT Medical</a:t>
            </a:r>
            <a:endParaRPr b="0" i="0" sz="1000" u="none" cap="none" strike="noStrike">
              <a:solidFill>
                <a:schemeClr val="dk1"/>
              </a:solidFill>
              <a:latin typeface="Calibri"/>
              <a:ea typeface="Calibri"/>
              <a:cs typeface="Calibri"/>
              <a:sym typeface="Calibri"/>
            </a:endParaRPr>
          </a:p>
        </p:txBody>
      </p:sp>
      <p:sp>
        <p:nvSpPr>
          <p:cNvPr id="210" name="Google Shape;210;p13"/>
          <p:cNvSpPr/>
          <p:nvPr/>
        </p:nvSpPr>
        <p:spPr>
          <a:xfrm>
            <a:off x="1920240" y="1463040"/>
            <a:ext cx="6766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Highest COE count. Accept referrals from the network for designated specialties. Financial sustainability strongest. Primary RSC role: UVMMC.</a:t>
            </a:r>
            <a:endParaRPr b="0" i="0" sz="1000" u="none" cap="none" strike="noStrike">
              <a:solidFill>
                <a:schemeClr val="dk1"/>
              </a:solidFill>
              <a:latin typeface="Calibri"/>
              <a:ea typeface="Calibri"/>
              <a:cs typeface="Calibri"/>
              <a:sym typeface="Calibri"/>
            </a:endParaRPr>
          </a:p>
        </p:txBody>
      </p:sp>
      <p:sp>
        <p:nvSpPr>
          <p:cNvPr id="211" name="Google Shape;211;p13"/>
          <p:cNvSpPr/>
          <p:nvPr/>
        </p:nvSpPr>
        <p:spPr>
          <a:xfrm>
            <a:off x="274320" y="2167128"/>
            <a:ext cx="8595360" cy="1280160"/>
          </a:xfrm>
          <a:prstGeom prst="rect">
            <a:avLst/>
          </a:prstGeom>
          <a:solidFill>
            <a:srgbClr val="EBF4FA"/>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
          <p:cNvSpPr/>
          <p:nvPr/>
        </p:nvSpPr>
        <p:spPr>
          <a:xfrm>
            <a:off x="274320" y="2167128"/>
            <a:ext cx="1463040" cy="128016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3"/>
          <p:cNvSpPr/>
          <p:nvPr/>
        </p:nvSpPr>
        <p:spPr>
          <a:xfrm>
            <a:off x="274320" y="2350008"/>
            <a:ext cx="14630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TIER 2</a:t>
            </a:r>
            <a:endParaRPr b="0" i="0" sz="1500" u="none" cap="none" strike="noStrike">
              <a:solidFill>
                <a:schemeClr val="dk1"/>
              </a:solidFill>
              <a:latin typeface="Calibri"/>
              <a:ea typeface="Calibri"/>
              <a:cs typeface="Calibri"/>
              <a:sym typeface="Calibri"/>
            </a:endParaRPr>
          </a:p>
        </p:txBody>
      </p:sp>
      <p:sp>
        <p:nvSpPr>
          <p:cNvPr id="214" name="Google Shape;214;p13"/>
          <p:cNvSpPr/>
          <p:nvPr/>
        </p:nvSpPr>
        <p:spPr>
          <a:xfrm>
            <a:off x="1920240" y="2231136"/>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Calibri"/>
              <a:buNone/>
            </a:pPr>
            <a:r>
              <a:rPr b="1" i="0" lang="en-US" sz="1200" u="none" cap="none" strike="noStrike">
                <a:solidFill>
                  <a:srgbClr val="2E75B6"/>
                </a:solidFill>
                <a:latin typeface="Calibri"/>
                <a:ea typeface="Calibri"/>
                <a:cs typeface="Calibri"/>
                <a:sym typeface="Calibri"/>
              </a:rPr>
              <a:t>Community Hospitals — Focused Scope</a:t>
            </a:r>
            <a:endParaRPr b="0" i="0" sz="1200" u="none" cap="none" strike="noStrike">
              <a:solidFill>
                <a:schemeClr val="dk1"/>
              </a:solidFill>
              <a:latin typeface="Calibri"/>
              <a:ea typeface="Calibri"/>
              <a:cs typeface="Calibri"/>
              <a:sym typeface="Calibri"/>
            </a:endParaRPr>
          </a:p>
        </p:txBody>
      </p:sp>
      <p:sp>
        <p:nvSpPr>
          <p:cNvPr id="215" name="Google Shape;215;p13"/>
          <p:cNvSpPr/>
          <p:nvPr/>
        </p:nvSpPr>
        <p:spPr>
          <a:xfrm>
            <a:off x="1920240" y="2569464"/>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NW Medical Center  |  NE VT Regional  |  Springfield  |  Copley  |  Mt. Ascutney  |  Porter Medical</a:t>
            </a:r>
            <a:endParaRPr b="0" i="0" sz="1000" u="none" cap="none" strike="noStrike">
              <a:solidFill>
                <a:schemeClr val="dk1"/>
              </a:solidFill>
              <a:latin typeface="Calibri"/>
              <a:ea typeface="Calibri"/>
              <a:cs typeface="Calibri"/>
              <a:sym typeface="Calibri"/>
            </a:endParaRPr>
          </a:p>
        </p:txBody>
      </p:sp>
      <p:sp>
        <p:nvSpPr>
          <p:cNvPr id="216" name="Google Shape;216;p13"/>
          <p:cNvSpPr/>
          <p:nvPr/>
        </p:nvSpPr>
        <p:spPr>
          <a:xfrm>
            <a:off x="1920240" y="2880360"/>
            <a:ext cx="6766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2–4 COE designations. Maintain specific service lines. Transfer complex cases to RSCs. Actively engaged in Act 68 transformation planning.</a:t>
            </a:r>
            <a:endParaRPr b="0" i="0" sz="1000" u="none" cap="none" strike="noStrike">
              <a:solidFill>
                <a:schemeClr val="dk1"/>
              </a:solidFill>
              <a:latin typeface="Calibri"/>
              <a:ea typeface="Calibri"/>
              <a:cs typeface="Calibri"/>
              <a:sym typeface="Calibri"/>
            </a:endParaRPr>
          </a:p>
        </p:txBody>
      </p:sp>
      <p:sp>
        <p:nvSpPr>
          <p:cNvPr id="217" name="Google Shape;217;p13"/>
          <p:cNvSpPr/>
          <p:nvPr/>
        </p:nvSpPr>
        <p:spPr>
          <a:xfrm>
            <a:off x="274320" y="3584448"/>
            <a:ext cx="8595360" cy="1280160"/>
          </a:xfrm>
          <a:prstGeom prst="rect">
            <a:avLst/>
          </a:prstGeom>
          <a:solidFill>
            <a:srgbClr val="FFF0CC"/>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a:off x="274320" y="3584448"/>
            <a:ext cx="1463040" cy="1280160"/>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p:nvPr/>
        </p:nvSpPr>
        <p:spPr>
          <a:xfrm>
            <a:off x="274320" y="3767328"/>
            <a:ext cx="14630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TIER 3</a:t>
            </a:r>
            <a:endParaRPr b="0" i="0" sz="1500" u="none" cap="none" strike="noStrike">
              <a:solidFill>
                <a:schemeClr val="dk1"/>
              </a:solidFill>
              <a:latin typeface="Calibri"/>
              <a:ea typeface="Calibri"/>
              <a:cs typeface="Calibri"/>
              <a:sym typeface="Calibri"/>
            </a:endParaRPr>
          </a:p>
        </p:txBody>
      </p:sp>
      <p:sp>
        <p:nvSpPr>
          <p:cNvPr id="220" name="Google Shape;220;p13"/>
          <p:cNvSpPr/>
          <p:nvPr/>
        </p:nvSpPr>
        <p:spPr>
          <a:xfrm>
            <a:off x="1920240" y="3648456"/>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1200"/>
              <a:buFont typeface="Calibri"/>
              <a:buNone/>
            </a:pPr>
            <a:r>
              <a:rPr b="1" i="0" lang="en-US" sz="1200" u="none" cap="none" strike="noStrike">
                <a:solidFill>
                  <a:srgbClr val="7B4A00"/>
                </a:solidFill>
                <a:latin typeface="Calibri"/>
                <a:ea typeface="Calibri"/>
                <a:cs typeface="Calibri"/>
                <a:sym typeface="Calibri"/>
              </a:rPr>
              <a:t>Transition Assessment Required</a:t>
            </a:r>
            <a:endParaRPr b="0" i="0" sz="1200" u="none" cap="none" strike="noStrike">
              <a:solidFill>
                <a:schemeClr val="dk1"/>
              </a:solidFill>
              <a:latin typeface="Calibri"/>
              <a:ea typeface="Calibri"/>
              <a:cs typeface="Calibri"/>
              <a:sym typeface="Calibri"/>
            </a:endParaRPr>
          </a:p>
        </p:txBody>
      </p:sp>
      <p:sp>
        <p:nvSpPr>
          <p:cNvPr id="221" name="Google Shape;221;p13"/>
          <p:cNvSpPr/>
          <p:nvPr/>
        </p:nvSpPr>
        <p:spPr>
          <a:xfrm>
            <a:off x="1920240" y="3986784"/>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Grace Cottage (19 beds)  |  Gifford Medical  |  North Country Hospital</a:t>
            </a:r>
            <a:endParaRPr b="0" i="0" sz="1000" u="none" cap="none" strike="noStrike">
              <a:solidFill>
                <a:schemeClr val="dk1"/>
              </a:solidFill>
              <a:latin typeface="Calibri"/>
              <a:ea typeface="Calibri"/>
              <a:cs typeface="Calibri"/>
              <a:sym typeface="Calibri"/>
            </a:endParaRPr>
          </a:p>
        </p:txBody>
      </p:sp>
      <p:sp>
        <p:nvSpPr>
          <p:cNvPr id="222" name="Google Shape;222;p13"/>
          <p:cNvSpPr/>
          <p:nvPr/>
        </p:nvSpPr>
        <p:spPr>
          <a:xfrm>
            <a:off x="1920240" y="4297680"/>
            <a:ext cx="6766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Most financially vulnerable. REH conversion, CACC, or home-based care model under assessment. Act 68 transformation plans address transition path.</a:t>
            </a:r>
            <a:endParaRPr b="0" i="0" sz="1000" u="none" cap="none" strike="noStrike">
              <a:solidFill>
                <a:schemeClr val="dk1"/>
              </a:solidFill>
              <a:latin typeface="Calibri"/>
              <a:ea typeface="Calibri"/>
              <a:cs typeface="Calibri"/>
              <a:sym typeface="Calibri"/>
            </a:endParaRPr>
          </a:p>
        </p:txBody>
      </p:sp>
      <p:sp>
        <p:nvSpPr>
          <p:cNvPr id="223" name="Google Shape;223;p13"/>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2 / Chapter 8 — Source: Oliver Wyman Act 167 Report; AHS Transformation Reports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14"/>
          <p:cNvSpPr/>
          <p:nvPr/>
        </p:nvSpPr>
        <p:spPr>
          <a:xfrm>
            <a:off x="274320" y="164592"/>
            <a:ext cx="85953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VERMONT PREMIUM vs. INCOME GROWTH  2018–2024: THE AFFORDABILITY GAP</a:t>
            </a:r>
            <a:endParaRPr b="0" i="0" sz="1700" u="none" cap="none" strike="noStrike">
              <a:solidFill>
                <a:schemeClr val="dk1"/>
              </a:solidFill>
              <a:latin typeface="Calibri"/>
              <a:ea typeface="Calibri"/>
              <a:cs typeface="Calibri"/>
              <a:sym typeface="Calibri"/>
            </a:endParaRPr>
          </a:p>
        </p:txBody>
      </p:sp>
      <p:pic>
        <p:nvPicPr>
          <p:cNvPr id="230" name="Google Shape;230;p14"/>
          <p:cNvPicPr preferRelativeResize="0"/>
          <p:nvPr/>
        </p:nvPicPr>
        <p:blipFill rotWithShape="1">
          <a:blip r:embed="rId3">
            <a:alphaModFix/>
          </a:blip>
          <a:srcRect b="0" l="0" r="0" t="0"/>
          <a:stretch/>
        </p:blipFill>
        <p:spPr>
          <a:xfrm>
            <a:off x="320040" y="658368"/>
            <a:ext cx="8503920" cy="3611880"/>
          </a:xfrm>
          <a:prstGeom prst="rect">
            <a:avLst/>
          </a:prstGeom>
          <a:noFill/>
          <a:ln>
            <a:noFill/>
          </a:ln>
        </p:spPr>
      </p:pic>
      <p:sp>
        <p:nvSpPr>
          <p:cNvPr id="231" name="Google Shape;231;p14"/>
          <p:cNvSpPr/>
          <p:nvPr/>
        </p:nvSpPr>
        <p:spPr>
          <a:xfrm>
            <a:off x="365760" y="4407408"/>
            <a:ext cx="84124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1100"/>
              <a:buFont typeface="Calibri"/>
              <a:buNone/>
            </a:pPr>
            <a:r>
              <a:rPr b="0" i="1" lang="en-US" sz="1100" u="none" cap="none" strike="noStrike">
                <a:solidFill>
                  <a:srgbClr val="8B1A1A"/>
                </a:solidFill>
                <a:latin typeface="Calibri"/>
                <a:ea typeface="Calibri"/>
                <a:cs typeface="Calibri"/>
                <a:sym typeface="Calibri"/>
              </a:rPr>
              <a:t>108% premium increase vs. 22% income growth — the affordability crisis driving Vermont's transformation mandate</a:t>
            </a:r>
            <a:endParaRPr b="0" i="0" sz="1100" u="none" cap="none" strike="noStrike">
              <a:solidFill>
                <a:schemeClr val="dk1"/>
              </a:solidFill>
              <a:latin typeface="Calibri"/>
              <a:ea typeface="Calibri"/>
              <a:cs typeface="Calibri"/>
              <a:sym typeface="Calibri"/>
            </a:endParaRPr>
          </a:p>
        </p:txBody>
      </p:sp>
      <p:sp>
        <p:nvSpPr>
          <p:cNvPr id="232" name="Google Shape;232;p14"/>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2 — Source: AHS January 2025 Legislative Presentation; GMCB rate filings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5C8B"/>
        </a:solidFill>
      </p:bgPr>
    </p:bg>
    <p:spTree>
      <p:nvGrpSpPr>
        <p:cNvPr id="237" name="Shape 237"/>
        <p:cNvGrpSpPr/>
        <p:nvPr/>
      </p:nvGrpSpPr>
      <p:grpSpPr>
        <a:xfrm>
          <a:off x="0" y="0"/>
          <a:ext cx="0" cy="0"/>
          <a:chOff x="0" y="0"/>
          <a:chExt cx="0" cy="0"/>
        </a:xfrm>
      </p:grpSpPr>
      <p:sp>
        <p:nvSpPr>
          <p:cNvPr id="238" name="Google Shape;238;p15"/>
          <p:cNvSpPr/>
          <p:nvPr/>
        </p:nvSpPr>
        <p:spPr>
          <a:xfrm>
            <a:off x="0" y="0"/>
            <a:ext cx="914400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640080" y="1463040"/>
            <a:ext cx="78638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PART II</a:t>
            </a:r>
            <a:endParaRPr b="0" i="0" sz="1400" u="none" cap="none" strike="noStrike">
              <a:solidFill>
                <a:schemeClr val="dk1"/>
              </a:solidFill>
              <a:latin typeface="Calibri"/>
              <a:ea typeface="Calibri"/>
              <a:cs typeface="Calibri"/>
              <a:sym typeface="Calibri"/>
            </a:endParaRPr>
          </a:p>
        </p:txBody>
      </p:sp>
      <p:sp>
        <p:nvSpPr>
          <p:cNvPr id="240" name="Google Shape;240;p15"/>
          <p:cNvSpPr/>
          <p:nvPr/>
        </p:nvSpPr>
        <p:spPr>
          <a:xfrm>
            <a:off x="640080" y="2103120"/>
            <a:ext cx="78638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THE SIX PILLARS IN DEPTH</a:t>
            </a:r>
            <a:endParaRPr b="0" i="0" sz="4000" u="none" cap="none" strike="noStrike">
              <a:solidFill>
                <a:schemeClr val="dk1"/>
              </a:solidFill>
              <a:latin typeface="Calibri"/>
              <a:ea typeface="Calibri"/>
              <a:cs typeface="Calibri"/>
              <a:sym typeface="Calibri"/>
            </a:endParaRPr>
          </a:p>
        </p:txBody>
      </p:sp>
      <p:sp>
        <p:nvSpPr>
          <p:cNvPr id="241" name="Google Shape;241;p15"/>
          <p:cNvSpPr/>
          <p:nvPr/>
        </p:nvSpPr>
        <p:spPr>
          <a:xfrm>
            <a:off x="1371600" y="3108960"/>
            <a:ext cx="64008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Policy · Economics · Operations · Clinical · Equity · Technology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246" name="Shape 246"/>
        <p:cNvGrpSpPr/>
        <p:nvPr/>
      </p:nvGrpSpPr>
      <p:grpSpPr>
        <a:xfrm>
          <a:off x="0" y="0"/>
          <a:ext cx="0" cy="0"/>
          <a:chOff x="0" y="0"/>
          <a:chExt cx="0" cy="0"/>
        </a:xfrm>
      </p:grpSpPr>
      <p:sp>
        <p:nvSpPr>
          <p:cNvPr id="247" name="Google Shape;247;p16"/>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4</a:t>
            </a:r>
            <a:endParaRPr b="0" i="0" sz="1300" u="none" cap="none" strike="noStrike">
              <a:solidFill>
                <a:schemeClr val="dk1"/>
              </a:solidFill>
              <a:latin typeface="Calibri"/>
              <a:ea typeface="Calibri"/>
              <a:cs typeface="Calibri"/>
              <a:sym typeface="Calibri"/>
            </a:endParaRPr>
          </a:p>
        </p:txBody>
      </p:sp>
      <p:sp>
        <p:nvSpPr>
          <p:cNvPr id="249" name="Google Shape;249;p16"/>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Policy Pillar — Legislative Architecture</a:t>
            </a:r>
            <a:endParaRPr b="0" i="0" sz="3400" u="none" cap="none" strike="noStrike">
              <a:solidFill>
                <a:schemeClr val="dk1"/>
              </a:solidFill>
              <a:latin typeface="Calibri"/>
              <a:ea typeface="Calibri"/>
              <a:cs typeface="Calibri"/>
              <a:sym typeface="Calibri"/>
            </a:endParaRPr>
          </a:p>
        </p:txBody>
      </p:sp>
      <p:sp>
        <p:nvSpPr>
          <p:cNvPr id="250" name="Google Shape;250;p16"/>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255" name="Shape 255"/>
        <p:cNvGrpSpPr/>
        <p:nvPr/>
      </p:nvGrpSpPr>
      <p:grpSpPr>
        <a:xfrm>
          <a:off x="0" y="0"/>
          <a:ext cx="0" cy="0"/>
          <a:chOff x="0" y="0"/>
          <a:chExt cx="0" cy="0"/>
        </a:xfrm>
      </p:grpSpPr>
      <p:sp>
        <p:nvSpPr>
          <p:cNvPr id="256" name="Google Shape;256;p17"/>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OLIVER WYMAN'S THREE IMPERATIVES FOR VERMONT</a:t>
            </a:r>
            <a:endParaRPr b="0" i="0" sz="2000" u="none" cap="none" strike="noStrike">
              <a:solidFill>
                <a:schemeClr val="dk1"/>
              </a:solidFill>
              <a:latin typeface="Calibri"/>
              <a:ea typeface="Calibri"/>
              <a:cs typeface="Calibri"/>
              <a:sym typeface="Calibri"/>
            </a:endParaRPr>
          </a:p>
        </p:txBody>
      </p:sp>
      <p:sp>
        <p:nvSpPr>
          <p:cNvPr id="257" name="Google Shape;257;p17"/>
          <p:cNvSpPr/>
          <p:nvPr/>
        </p:nvSpPr>
        <p:spPr>
          <a:xfrm>
            <a:off x="365760" y="59436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230 community meetings · 14 hospital service areas · $1M analysis commissioned under Act 167</a:t>
            </a:r>
            <a:endParaRPr b="0" i="0" sz="1100" u="none" cap="none" strike="noStrike">
              <a:solidFill>
                <a:schemeClr val="dk1"/>
              </a:solidFill>
              <a:latin typeface="Calibri"/>
              <a:ea typeface="Calibri"/>
              <a:cs typeface="Calibri"/>
              <a:sym typeface="Calibri"/>
            </a:endParaRPr>
          </a:p>
        </p:txBody>
      </p:sp>
      <p:sp>
        <p:nvSpPr>
          <p:cNvPr id="258" name="Google Shape;258;p17"/>
          <p:cNvSpPr/>
          <p:nvPr/>
        </p:nvSpPr>
        <p:spPr>
          <a:xfrm>
            <a:off x="228600" y="1005840"/>
            <a:ext cx="2743200" cy="393192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
          <p:cNvSpPr/>
          <p:nvPr/>
        </p:nvSpPr>
        <p:spPr>
          <a:xfrm>
            <a:off x="228600" y="1005840"/>
            <a:ext cx="2743200" cy="594360"/>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7"/>
          <p:cNvSpPr/>
          <p:nvPr/>
        </p:nvSpPr>
        <p:spPr>
          <a:xfrm>
            <a:off x="228600" y="1005840"/>
            <a:ext cx="2743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IMPERATIVE 1</a:t>
            </a:r>
            <a:endParaRPr b="0" i="0" sz="1100" u="none" cap="none" strike="noStrike">
              <a:solidFill>
                <a:schemeClr val="dk1"/>
              </a:solidFill>
              <a:latin typeface="Calibri"/>
              <a:ea typeface="Calibri"/>
              <a:cs typeface="Calibri"/>
              <a:sym typeface="Calibri"/>
            </a:endParaRPr>
          </a:p>
        </p:txBody>
      </p:sp>
      <p:sp>
        <p:nvSpPr>
          <p:cNvPr id="261" name="Google Shape;261;p17"/>
          <p:cNvSpPr/>
          <p:nvPr/>
        </p:nvSpPr>
        <p:spPr>
          <a:xfrm>
            <a:off x="338328" y="1691640"/>
            <a:ext cx="252374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200"/>
              <a:buFont typeface="Calibri"/>
              <a:buNone/>
            </a:pPr>
            <a:r>
              <a:rPr b="1" i="0" lang="en-US" sz="1200" u="none" cap="none" strike="noStrike">
                <a:solidFill>
                  <a:srgbClr val="0D5F6B"/>
                </a:solidFill>
                <a:latin typeface="Calibri"/>
                <a:ea typeface="Calibri"/>
                <a:cs typeface="Calibri"/>
                <a:sym typeface="Calibri"/>
              </a:rPr>
              <a:t>BUILD HOUSING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5F6B"/>
              </a:buClr>
              <a:buSzPts val="1200"/>
              <a:buFont typeface="Calibri"/>
              <a:buNone/>
            </a:pPr>
            <a:r>
              <a:rPr b="1" i="0" lang="en-US" sz="1200" u="none" cap="none" strike="noStrike">
                <a:solidFill>
                  <a:srgbClr val="0D5F6B"/>
                </a:solidFill>
                <a:latin typeface="Calibri"/>
                <a:ea typeface="Calibri"/>
                <a:cs typeface="Calibri"/>
                <a:sym typeface="Calibri"/>
              </a:rPr>
              <a:t>AND FIX TRANSPORTATION</a:t>
            </a:r>
            <a:endParaRPr b="0" i="0" sz="1200" u="none" cap="none" strike="noStrike">
              <a:solidFill>
                <a:schemeClr val="dk1"/>
              </a:solidFill>
              <a:latin typeface="Calibri"/>
              <a:ea typeface="Calibri"/>
              <a:cs typeface="Calibri"/>
              <a:sym typeface="Calibri"/>
            </a:endParaRPr>
          </a:p>
        </p:txBody>
      </p:sp>
      <p:sp>
        <p:nvSpPr>
          <p:cNvPr id="262" name="Google Shape;262;p17"/>
          <p:cNvSpPr/>
          <p:nvPr/>
        </p:nvSpPr>
        <p:spPr>
          <a:xfrm>
            <a:off x="338328" y="2377440"/>
            <a:ext cx="252374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WHY:</a:t>
            </a:r>
            <a:endParaRPr b="0" i="0" sz="1000" u="none" cap="none" strike="noStrike">
              <a:solidFill>
                <a:schemeClr val="dk1"/>
              </a:solidFill>
              <a:latin typeface="Calibri"/>
              <a:ea typeface="Calibri"/>
              <a:cs typeface="Calibri"/>
              <a:sym typeface="Calibri"/>
            </a:endParaRPr>
          </a:p>
        </p:txBody>
      </p:sp>
      <p:sp>
        <p:nvSpPr>
          <p:cNvPr id="263" name="Google Shape;263;p17"/>
          <p:cNvSpPr/>
          <p:nvPr/>
        </p:nvSpPr>
        <p:spPr>
          <a:xfrm>
            <a:off x="338328" y="2606040"/>
            <a:ext cx="2523744"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Housing vacancy rate 3% (healthy = 5%). Half of renters cost-burdened. Provider recruitment impossible without housing. Transportation barriers = missed appointments = crisis presentations.</a:t>
            </a:r>
            <a:endParaRPr b="0" i="0" sz="950" u="none" cap="none" strike="noStrike">
              <a:solidFill>
                <a:schemeClr val="dk1"/>
              </a:solidFill>
              <a:latin typeface="Calibri"/>
              <a:ea typeface="Calibri"/>
              <a:cs typeface="Calibri"/>
              <a:sym typeface="Calibri"/>
            </a:endParaRPr>
          </a:p>
        </p:txBody>
      </p:sp>
      <p:sp>
        <p:nvSpPr>
          <p:cNvPr id="264" name="Google Shape;264;p17"/>
          <p:cNvSpPr/>
          <p:nvPr/>
        </p:nvSpPr>
        <p:spPr>
          <a:xfrm>
            <a:off x="338328" y="3886200"/>
            <a:ext cx="252374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000"/>
              <a:buFont typeface="Calibri"/>
              <a:buNone/>
            </a:pPr>
            <a:r>
              <a:rPr b="1" i="0" lang="en-US" sz="1000" u="none" cap="none" strike="noStrike">
                <a:solidFill>
                  <a:srgbClr val="0D5F6B"/>
                </a:solidFill>
                <a:latin typeface="Calibri"/>
                <a:ea typeface="Calibri"/>
                <a:cs typeface="Calibri"/>
                <a:sym typeface="Calibri"/>
              </a:rPr>
              <a:t>WHAT:</a:t>
            </a:r>
            <a:endParaRPr b="0" i="0" sz="1000" u="none" cap="none" strike="noStrike">
              <a:solidFill>
                <a:schemeClr val="dk1"/>
              </a:solidFill>
              <a:latin typeface="Calibri"/>
              <a:ea typeface="Calibri"/>
              <a:cs typeface="Calibri"/>
              <a:sym typeface="Calibri"/>
            </a:endParaRPr>
          </a:p>
        </p:txBody>
      </p:sp>
      <p:sp>
        <p:nvSpPr>
          <p:cNvPr id="265" name="Google Shape;265;p17"/>
          <p:cNvSpPr/>
          <p:nvPr/>
        </p:nvSpPr>
        <p:spPr>
          <a:xfrm>
            <a:off x="338328" y="4114800"/>
            <a:ext cx="25237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Advocacy for housing investment as healthcare policy. Transportation as a health equity intervention. Oliver Wyman's FIRST imperative — before payment reform.</a:t>
            </a:r>
            <a:endParaRPr b="0" i="0" sz="950" u="none" cap="none" strike="noStrike">
              <a:solidFill>
                <a:schemeClr val="dk1"/>
              </a:solidFill>
              <a:latin typeface="Calibri"/>
              <a:ea typeface="Calibri"/>
              <a:cs typeface="Calibri"/>
              <a:sym typeface="Calibri"/>
            </a:endParaRPr>
          </a:p>
        </p:txBody>
      </p:sp>
      <p:sp>
        <p:nvSpPr>
          <p:cNvPr id="266" name="Google Shape;266;p17"/>
          <p:cNvSpPr/>
          <p:nvPr/>
        </p:nvSpPr>
        <p:spPr>
          <a:xfrm>
            <a:off x="3154680" y="1005840"/>
            <a:ext cx="2743200" cy="393192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7"/>
          <p:cNvSpPr/>
          <p:nvPr/>
        </p:nvSpPr>
        <p:spPr>
          <a:xfrm>
            <a:off x="3154680" y="1005840"/>
            <a:ext cx="2743200" cy="59436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7"/>
          <p:cNvSpPr/>
          <p:nvPr/>
        </p:nvSpPr>
        <p:spPr>
          <a:xfrm>
            <a:off x="3154680" y="1005840"/>
            <a:ext cx="2743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IMPERATIVE 2</a:t>
            </a:r>
            <a:endParaRPr b="0" i="0" sz="1100" u="none" cap="none" strike="noStrike">
              <a:solidFill>
                <a:schemeClr val="dk1"/>
              </a:solidFill>
              <a:latin typeface="Calibri"/>
              <a:ea typeface="Calibri"/>
              <a:cs typeface="Calibri"/>
              <a:sym typeface="Calibri"/>
            </a:endParaRPr>
          </a:p>
        </p:txBody>
      </p:sp>
      <p:sp>
        <p:nvSpPr>
          <p:cNvPr id="269" name="Google Shape;269;p17"/>
          <p:cNvSpPr/>
          <p:nvPr/>
        </p:nvSpPr>
        <p:spPr>
          <a:xfrm>
            <a:off x="3264408" y="1691640"/>
            <a:ext cx="252374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PAY WITH RBP AND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MOVE TO GLOBAL BUDGETS</a:t>
            </a:r>
            <a:endParaRPr b="0" i="0" sz="1200" u="none" cap="none" strike="noStrike">
              <a:solidFill>
                <a:schemeClr val="dk1"/>
              </a:solidFill>
              <a:latin typeface="Calibri"/>
              <a:ea typeface="Calibri"/>
              <a:cs typeface="Calibri"/>
              <a:sym typeface="Calibri"/>
            </a:endParaRPr>
          </a:p>
        </p:txBody>
      </p:sp>
      <p:sp>
        <p:nvSpPr>
          <p:cNvPr id="270" name="Google Shape;270;p17"/>
          <p:cNvSpPr/>
          <p:nvPr/>
        </p:nvSpPr>
        <p:spPr>
          <a:xfrm>
            <a:off x="3264408" y="2377440"/>
            <a:ext cx="252374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WHY:</a:t>
            </a:r>
            <a:endParaRPr b="0" i="0" sz="1000" u="none" cap="none" strike="noStrike">
              <a:solidFill>
                <a:schemeClr val="dk1"/>
              </a:solidFill>
              <a:latin typeface="Calibri"/>
              <a:ea typeface="Calibri"/>
              <a:cs typeface="Calibri"/>
              <a:sym typeface="Calibri"/>
            </a:endParaRPr>
          </a:p>
        </p:txBody>
      </p:sp>
      <p:sp>
        <p:nvSpPr>
          <p:cNvPr id="271" name="Google Shape;271;p17"/>
          <p:cNvSpPr/>
          <p:nvPr/>
        </p:nvSpPr>
        <p:spPr>
          <a:xfrm>
            <a:off x="3264408" y="2606040"/>
            <a:ext cx="2523744"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Commercial prices average 250-300% of Medicare. UVMMC outpatient: 417% of Medicare. Premium increased 108% in 6 years. Break-even: ~136% of Medicare.</a:t>
            </a:r>
            <a:endParaRPr b="0" i="0" sz="950" u="none" cap="none" strike="noStrike">
              <a:solidFill>
                <a:schemeClr val="dk1"/>
              </a:solidFill>
              <a:latin typeface="Calibri"/>
              <a:ea typeface="Calibri"/>
              <a:cs typeface="Calibri"/>
              <a:sym typeface="Calibri"/>
            </a:endParaRPr>
          </a:p>
        </p:txBody>
      </p:sp>
      <p:sp>
        <p:nvSpPr>
          <p:cNvPr id="272" name="Google Shape;272;p17"/>
          <p:cNvSpPr/>
          <p:nvPr/>
        </p:nvSpPr>
        <p:spPr>
          <a:xfrm>
            <a:off x="3264408" y="3886200"/>
            <a:ext cx="252374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000"/>
              <a:buFont typeface="Calibri"/>
              <a:buNone/>
            </a:pPr>
            <a:r>
              <a:rPr b="1" i="0" lang="en-US" sz="1000" u="none" cap="none" strike="noStrike">
                <a:solidFill>
                  <a:srgbClr val="1F5C8B"/>
                </a:solidFill>
                <a:latin typeface="Calibri"/>
                <a:ea typeface="Calibri"/>
                <a:cs typeface="Calibri"/>
                <a:sym typeface="Calibri"/>
              </a:rPr>
              <a:t>WHAT:</a:t>
            </a:r>
            <a:endParaRPr b="0" i="0" sz="1000" u="none" cap="none" strike="noStrike">
              <a:solidFill>
                <a:schemeClr val="dk1"/>
              </a:solidFill>
              <a:latin typeface="Calibri"/>
              <a:ea typeface="Calibri"/>
              <a:cs typeface="Calibri"/>
              <a:sym typeface="Calibri"/>
            </a:endParaRPr>
          </a:p>
        </p:txBody>
      </p:sp>
      <p:sp>
        <p:nvSpPr>
          <p:cNvPr id="273" name="Google Shape;273;p17"/>
          <p:cNvSpPr/>
          <p:nvPr/>
        </p:nvSpPr>
        <p:spPr>
          <a:xfrm>
            <a:off x="3264408" y="4114800"/>
            <a:ext cx="25237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Act 68 mandates RBP (FY2027) and hospital global budgets (FY2028-2030). AHEAD Model provides Medicare FFS global budget from January 2027.</a:t>
            </a:r>
            <a:endParaRPr b="0" i="0" sz="950" u="none" cap="none" strike="noStrike">
              <a:solidFill>
                <a:schemeClr val="dk1"/>
              </a:solidFill>
              <a:latin typeface="Calibri"/>
              <a:ea typeface="Calibri"/>
              <a:cs typeface="Calibri"/>
              <a:sym typeface="Calibri"/>
            </a:endParaRPr>
          </a:p>
        </p:txBody>
      </p:sp>
      <p:sp>
        <p:nvSpPr>
          <p:cNvPr id="274" name="Google Shape;274;p17"/>
          <p:cNvSpPr/>
          <p:nvPr/>
        </p:nvSpPr>
        <p:spPr>
          <a:xfrm>
            <a:off x="6080760" y="1005840"/>
            <a:ext cx="2743200" cy="3931920"/>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7"/>
          <p:cNvSpPr/>
          <p:nvPr/>
        </p:nvSpPr>
        <p:spPr>
          <a:xfrm>
            <a:off x="6080760" y="1005840"/>
            <a:ext cx="2743200" cy="59436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7"/>
          <p:cNvSpPr/>
          <p:nvPr/>
        </p:nvSpPr>
        <p:spPr>
          <a:xfrm>
            <a:off x="6080760" y="1005840"/>
            <a:ext cx="2743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IMPERATIVE 3</a:t>
            </a:r>
            <a:endParaRPr b="0" i="0" sz="1100" u="none" cap="none" strike="noStrike">
              <a:solidFill>
                <a:schemeClr val="dk1"/>
              </a:solidFill>
              <a:latin typeface="Calibri"/>
              <a:ea typeface="Calibri"/>
              <a:cs typeface="Calibri"/>
              <a:sym typeface="Calibri"/>
            </a:endParaRPr>
          </a:p>
        </p:txBody>
      </p:sp>
      <p:sp>
        <p:nvSpPr>
          <p:cNvPr id="277" name="Google Shape;277;p17"/>
          <p:cNvSpPr/>
          <p:nvPr/>
        </p:nvSpPr>
        <p:spPr>
          <a:xfrm>
            <a:off x="6190488" y="1691640"/>
            <a:ext cx="252374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MOVE CARE OUT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OF HOSPITALS</a:t>
            </a:r>
            <a:endParaRPr b="0" i="0" sz="1200" u="none" cap="none" strike="noStrike">
              <a:solidFill>
                <a:schemeClr val="dk1"/>
              </a:solidFill>
              <a:latin typeface="Calibri"/>
              <a:ea typeface="Calibri"/>
              <a:cs typeface="Calibri"/>
              <a:sym typeface="Calibri"/>
            </a:endParaRPr>
          </a:p>
        </p:txBody>
      </p:sp>
      <p:sp>
        <p:nvSpPr>
          <p:cNvPr id="278" name="Google Shape;278;p17"/>
          <p:cNvSpPr/>
          <p:nvPr/>
        </p:nvSpPr>
        <p:spPr>
          <a:xfrm>
            <a:off x="6190488" y="2377440"/>
            <a:ext cx="252374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WHY:</a:t>
            </a:r>
            <a:endParaRPr b="0" i="0" sz="1000" u="none" cap="none" strike="noStrike">
              <a:solidFill>
                <a:schemeClr val="dk1"/>
              </a:solidFill>
              <a:latin typeface="Calibri"/>
              <a:ea typeface="Calibri"/>
              <a:cs typeface="Calibri"/>
              <a:sym typeface="Calibri"/>
            </a:endParaRPr>
          </a:p>
        </p:txBody>
      </p:sp>
      <p:sp>
        <p:nvSpPr>
          <p:cNvPr id="279" name="Google Shape;279;p17"/>
          <p:cNvSpPr/>
          <p:nvPr/>
        </p:nvSpPr>
        <p:spPr>
          <a:xfrm>
            <a:off x="6190488" y="2606040"/>
            <a:ext cx="2523744"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32.3% of ED visits potentially avoidable. Hospital-centric model is financially unsustainable as demographics shift cost toward Medicare/Medicaid. Administrative overhead 91% above benchmark.</a:t>
            </a:r>
            <a:endParaRPr b="0" i="0" sz="950" u="none" cap="none" strike="noStrike">
              <a:solidFill>
                <a:schemeClr val="dk1"/>
              </a:solidFill>
              <a:latin typeface="Calibri"/>
              <a:ea typeface="Calibri"/>
              <a:cs typeface="Calibri"/>
              <a:sym typeface="Calibri"/>
            </a:endParaRPr>
          </a:p>
        </p:txBody>
      </p:sp>
      <p:sp>
        <p:nvSpPr>
          <p:cNvPr id="280" name="Google Shape;280;p17"/>
          <p:cNvSpPr/>
          <p:nvPr/>
        </p:nvSpPr>
        <p:spPr>
          <a:xfrm>
            <a:off x="6190488" y="3886200"/>
            <a:ext cx="252374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000"/>
              <a:buFont typeface="Calibri"/>
              <a:buNone/>
            </a:pPr>
            <a:r>
              <a:rPr b="1" i="0" lang="en-US" sz="1000" u="none" cap="none" strike="noStrike">
                <a:solidFill>
                  <a:srgbClr val="1E6B3C"/>
                </a:solidFill>
                <a:latin typeface="Calibri"/>
                <a:ea typeface="Calibri"/>
                <a:cs typeface="Calibri"/>
                <a:sym typeface="Calibri"/>
              </a:rPr>
              <a:t>WHAT:</a:t>
            </a:r>
            <a:endParaRPr b="0" i="0" sz="1000" u="none" cap="none" strike="noStrike">
              <a:solidFill>
                <a:schemeClr val="dk1"/>
              </a:solidFill>
              <a:latin typeface="Calibri"/>
              <a:ea typeface="Calibri"/>
              <a:cs typeface="Calibri"/>
              <a:sym typeface="Calibri"/>
            </a:endParaRPr>
          </a:p>
        </p:txBody>
      </p:sp>
      <p:sp>
        <p:nvSpPr>
          <p:cNvPr id="281" name="Google Shape;281;p17"/>
          <p:cNvSpPr/>
          <p:nvPr/>
        </p:nvSpPr>
        <p:spPr>
          <a:xfrm>
            <a:off x="6190488" y="4114800"/>
            <a:ext cx="25237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Blueprint PCMH expansion. CCBHC network. CoCM behavioral health integration. RPM and telehealth for chronic disease management.</a:t>
            </a:r>
            <a:endParaRPr b="0" i="0" sz="950" u="none" cap="none" strike="noStrike">
              <a:solidFill>
                <a:schemeClr val="dk1"/>
              </a:solidFill>
              <a:latin typeface="Calibri"/>
              <a:ea typeface="Calibri"/>
              <a:cs typeface="Calibri"/>
              <a:sym typeface="Calibri"/>
            </a:endParaRPr>
          </a:p>
        </p:txBody>
      </p:sp>
      <p:sp>
        <p:nvSpPr>
          <p:cNvPr id="282" name="Google Shape;282;p17"/>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4 — Source: Oliver Wyman Act 167 Community Engagement: Recommendations (August 2024)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8"/>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ACT 68 OF 2025 — KEY PROVISIONS AND DEADLINES</a:t>
            </a:r>
            <a:endParaRPr b="0" i="0" sz="2000" u="none" cap="none" strike="noStrike">
              <a:solidFill>
                <a:schemeClr val="dk1"/>
              </a:solidFill>
              <a:latin typeface="Calibri"/>
              <a:ea typeface="Calibri"/>
              <a:cs typeface="Calibri"/>
              <a:sym typeface="Calibri"/>
            </a:endParaRPr>
          </a:p>
        </p:txBody>
      </p:sp>
      <p:graphicFrame>
        <p:nvGraphicFramePr>
          <p:cNvPr id="289" name="Google Shape;289;p18"/>
          <p:cNvGraphicFramePr/>
          <p:nvPr/>
        </p:nvGraphicFramePr>
        <p:xfrm>
          <a:off x="274320" y="685800"/>
          <a:ext cx="3000000" cy="3000000"/>
        </p:xfrm>
        <a:graphic>
          <a:graphicData uri="http://schemas.openxmlformats.org/drawingml/2006/table">
            <a:tbl>
              <a:tblPr>
                <a:noFill/>
                <a:tableStyleId>{A1D9B9E4-F9D2-4EFC-BB1D-056C6BACCCB8}</a:tableStyleId>
              </a:tblPr>
              <a:tblGrid>
                <a:gridCol w="2011675"/>
                <a:gridCol w="3017525"/>
                <a:gridCol w="1737350"/>
                <a:gridCol w="1828800"/>
              </a:tblGrid>
              <a:tr h="5303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Provision</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Requirement</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Deadline</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Authority</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FY2026 rate reduction</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–1% commercial rate benchmark; $230.65M total regulatory reductions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FY2026 (ongoing)</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GMCB</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Transformation grants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$2M to hospitals for transformation plan development and implementation</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September 2025 launch</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Reference-Based Pricing</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Mandatory maximum commercial rates for all Vermont hospitals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FY2027 (Oct 2026)</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GMCB</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Medicare global budgets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AHEAD Model Cohort 2; Medicare FFS global budgets for all hospitals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January 1, 2027</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AHS/CMS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Non-CAH global budgets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Prospective annual budgets for PPS hospitals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FY2028 (Oct 2027)</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GMCB</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All-hospital global budgets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CAHs included in mandatory global budget program</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FY2030 (Oct 2029)</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GMCB</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303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Statewide Strategic Plan</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Delivered to Legislature; updated every 3 years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December 1, 2028</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AHS + Advisory Committee</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290" name="Google Shape;290;p18"/>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4 — Source: Act 68 of 2025 (Vermont); GMCB Act 68 Update (February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19"/>
          <p:cNvSpPr/>
          <p:nvPr/>
        </p:nvSpPr>
        <p:spPr>
          <a:xfrm>
            <a:off x="274320" y="164592"/>
            <a:ext cx="85953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VERMONT HOSPITAL COMMERCIAL PRICES vs. MEDICARE  (% of Medicare)</a:t>
            </a:r>
            <a:endParaRPr b="0" i="0" sz="1700" u="none" cap="none" strike="noStrike">
              <a:solidFill>
                <a:schemeClr val="dk1"/>
              </a:solidFill>
              <a:latin typeface="Calibri"/>
              <a:ea typeface="Calibri"/>
              <a:cs typeface="Calibri"/>
              <a:sym typeface="Calibri"/>
            </a:endParaRPr>
          </a:p>
        </p:txBody>
      </p:sp>
      <p:pic>
        <p:nvPicPr>
          <p:cNvPr id="297" name="Google Shape;297;p19"/>
          <p:cNvPicPr preferRelativeResize="0"/>
          <p:nvPr/>
        </p:nvPicPr>
        <p:blipFill rotWithShape="1">
          <a:blip r:embed="rId3">
            <a:alphaModFix/>
          </a:blip>
          <a:srcRect b="0" l="0" r="0" t="0"/>
          <a:stretch/>
        </p:blipFill>
        <p:spPr>
          <a:xfrm>
            <a:off x="320040" y="685800"/>
            <a:ext cx="8503920" cy="3840480"/>
          </a:xfrm>
          <a:prstGeom prst="rect">
            <a:avLst/>
          </a:prstGeom>
          <a:noFill/>
          <a:ln>
            <a:noFill/>
          </a:ln>
        </p:spPr>
      </p:pic>
      <p:sp>
        <p:nvSpPr>
          <p:cNvPr id="298" name="Google Shape;298;p19"/>
          <p:cNvSpPr/>
          <p:nvPr/>
        </p:nvSpPr>
        <p:spPr>
          <a:xfrm>
            <a:off x="365760" y="4617720"/>
            <a:ext cx="841248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5C8B"/>
              </a:buClr>
              <a:buSzPts val="1050"/>
              <a:buFont typeface="Calibri"/>
              <a:buNone/>
            </a:pPr>
            <a:r>
              <a:rPr b="0" i="1" lang="en-US" sz="1050" u="none" cap="none" strike="noStrike">
                <a:solidFill>
                  <a:srgbClr val="1F5C8B"/>
                </a:solidFill>
                <a:latin typeface="Calibri"/>
                <a:ea typeface="Calibri"/>
                <a:cs typeface="Calibri"/>
                <a:sym typeface="Calibri"/>
              </a:rPr>
              <a:t>Act 68 RBP will set mandatory commercial maximum rates — ending the pricing that drives Vermont's 108% premium increase</a:t>
            </a:r>
            <a:endParaRPr b="0" i="0" sz="1050" u="none" cap="none" strike="noStrike">
              <a:solidFill>
                <a:schemeClr val="dk1"/>
              </a:solidFill>
              <a:latin typeface="Calibri"/>
              <a:ea typeface="Calibri"/>
              <a:cs typeface="Calibri"/>
              <a:sym typeface="Calibri"/>
            </a:endParaRPr>
          </a:p>
        </p:txBody>
      </p:sp>
      <p:sp>
        <p:nvSpPr>
          <p:cNvPr id="299" name="Google Shape;299;p19"/>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4 / Chapter 6 — Source: GMCB Act 68 RBP Update (February 2026); RAND Hospital Transparency; GMCB FY2026 data</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304" name="Shape 304"/>
        <p:cNvGrpSpPr/>
        <p:nvPr/>
      </p:nvGrpSpPr>
      <p:grpSpPr>
        <a:xfrm>
          <a:off x="0" y="0"/>
          <a:ext cx="0" cy="0"/>
          <a:chOff x="0" y="0"/>
          <a:chExt cx="0" cy="0"/>
        </a:xfrm>
      </p:grpSpPr>
      <p:sp>
        <p:nvSpPr>
          <p:cNvPr id="305" name="Google Shape;305;p20"/>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THE AHEAD MODEL — VERMONT'S FEDERAL PARTNERSHIP (COHORT 2)</a:t>
            </a:r>
            <a:endParaRPr b="0" i="0" sz="1800" u="none" cap="none" strike="noStrike">
              <a:solidFill>
                <a:schemeClr val="dk1"/>
              </a:solidFill>
              <a:latin typeface="Calibri"/>
              <a:ea typeface="Calibri"/>
              <a:cs typeface="Calibri"/>
              <a:sym typeface="Calibri"/>
            </a:endParaRPr>
          </a:p>
        </p:txBody>
      </p:sp>
      <p:sp>
        <p:nvSpPr>
          <p:cNvPr id="306" name="Google Shape;306;p20"/>
          <p:cNvSpPr/>
          <p:nvPr/>
        </p:nvSpPr>
        <p:spPr>
          <a:xfrm>
            <a:off x="274320" y="713232"/>
            <a:ext cx="4069080" cy="1508760"/>
          </a:xfrm>
          <a:prstGeom prst="rect">
            <a:avLst/>
          </a:prstGeom>
          <a:solidFill>
            <a:srgbClr val="D5E8F0"/>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0"/>
          <p:cNvSpPr/>
          <p:nvPr/>
        </p:nvSpPr>
        <p:spPr>
          <a:xfrm>
            <a:off x="274320" y="713232"/>
            <a:ext cx="4069080" cy="347472"/>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0"/>
          <p:cNvSpPr/>
          <p:nvPr/>
        </p:nvSpPr>
        <p:spPr>
          <a:xfrm>
            <a:off x="274320" y="713232"/>
            <a:ext cx="40690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Hospital Global Budgets</a:t>
            </a:r>
            <a:endParaRPr b="0" i="0" sz="1200" u="none" cap="none" strike="noStrike">
              <a:solidFill>
                <a:schemeClr val="dk1"/>
              </a:solidFill>
              <a:latin typeface="Calibri"/>
              <a:ea typeface="Calibri"/>
              <a:cs typeface="Calibri"/>
              <a:sym typeface="Calibri"/>
            </a:endParaRPr>
          </a:p>
        </p:txBody>
      </p:sp>
      <p:sp>
        <p:nvSpPr>
          <p:cNvPr id="309" name="Google Shape;309;p20"/>
          <p:cNvSpPr/>
          <p:nvPr/>
        </p:nvSpPr>
        <p:spPr>
          <a:xfrm>
            <a:off x="384048" y="1124712"/>
            <a:ext cx="38404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All Vermont hospitals receive prospective Medicare FFS global budgets from Jan 2027. Hospitals receive fixed revenue regardless of volume — incentive shifts to population health management.</a:t>
            </a:r>
            <a:endParaRPr b="0" i="0" sz="1050" u="none" cap="none" strike="noStrike">
              <a:solidFill>
                <a:schemeClr val="dk1"/>
              </a:solidFill>
              <a:latin typeface="Calibri"/>
              <a:ea typeface="Calibri"/>
              <a:cs typeface="Calibri"/>
              <a:sym typeface="Calibri"/>
            </a:endParaRPr>
          </a:p>
        </p:txBody>
      </p:sp>
      <p:sp>
        <p:nvSpPr>
          <p:cNvPr id="310" name="Google Shape;310;p20"/>
          <p:cNvSpPr/>
          <p:nvPr/>
        </p:nvSpPr>
        <p:spPr>
          <a:xfrm>
            <a:off x="4617720" y="713232"/>
            <a:ext cx="4069080" cy="1508760"/>
          </a:xfrm>
          <a:prstGeom prst="rect">
            <a:avLst/>
          </a:prstGeom>
          <a:solidFill>
            <a:srgbClr val="EBF4FA"/>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0"/>
          <p:cNvSpPr/>
          <p:nvPr/>
        </p:nvSpPr>
        <p:spPr>
          <a:xfrm>
            <a:off x="4617720" y="713232"/>
            <a:ext cx="4069080" cy="34747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0"/>
          <p:cNvSpPr/>
          <p:nvPr/>
        </p:nvSpPr>
        <p:spPr>
          <a:xfrm>
            <a:off x="4617720" y="713232"/>
            <a:ext cx="40690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Primary Care AHEAD</a:t>
            </a:r>
            <a:endParaRPr b="0" i="0" sz="1200" u="none" cap="none" strike="noStrike">
              <a:solidFill>
                <a:schemeClr val="dk1"/>
              </a:solidFill>
              <a:latin typeface="Calibri"/>
              <a:ea typeface="Calibri"/>
              <a:cs typeface="Calibri"/>
              <a:sym typeface="Calibri"/>
            </a:endParaRPr>
          </a:p>
        </p:txBody>
      </p:sp>
      <p:sp>
        <p:nvSpPr>
          <p:cNvPr id="313" name="Google Shape;313;p20"/>
          <p:cNvSpPr/>
          <p:nvPr/>
        </p:nvSpPr>
        <p:spPr>
          <a:xfrm>
            <a:off x="4727448" y="1124712"/>
            <a:ext cx="38404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Voluntary enhanced Medicare payments for PCMHs. Four payment pathways including fully prospective models. Replaces expiring Blueprint Medicare PMPM demonstration.</a:t>
            </a:r>
            <a:endParaRPr b="0" i="0" sz="1050" u="none" cap="none" strike="noStrike">
              <a:solidFill>
                <a:schemeClr val="dk1"/>
              </a:solidFill>
              <a:latin typeface="Calibri"/>
              <a:ea typeface="Calibri"/>
              <a:cs typeface="Calibri"/>
              <a:sym typeface="Calibri"/>
            </a:endParaRPr>
          </a:p>
        </p:txBody>
      </p:sp>
      <p:sp>
        <p:nvSpPr>
          <p:cNvPr id="314" name="Google Shape;314;p20"/>
          <p:cNvSpPr/>
          <p:nvPr/>
        </p:nvSpPr>
        <p:spPr>
          <a:xfrm>
            <a:off x="274320" y="2423160"/>
            <a:ext cx="4069080" cy="1508760"/>
          </a:xfrm>
          <a:prstGeom prst="rect">
            <a:avLst/>
          </a:prstGeom>
          <a:solidFill>
            <a:srgbClr val="D9EFE3"/>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0"/>
          <p:cNvSpPr/>
          <p:nvPr/>
        </p:nvSpPr>
        <p:spPr>
          <a:xfrm>
            <a:off x="274320" y="2423160"/>
            <a:ext cx="4069080" cy="347472"/>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0"/>
          <p:cNvSpPr/>
          <p:nvPr/>
        </p:nvSpPr>
        <p:spPr>
          <a:xfrm>
            <a:off x="274320" y="2423160"/>
            <a:ext cx="40690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EAST Fund</a:t>
            </a:r>
            <a:endParaRPr b="0" i="0" sz="1200" u="none" cap="none" strike="noStrike">
              <a:solidFill>
                <a:schemeClr val="dk1"/>
              </a:solidFill>
              <a:latin typeface="Calibri"/>
              <a:ea typeface="Calibri"/>
              <a:cs typeface="Calibri"/>
              <a:sym typeface="Calibri"/>
            </a:endParaRPr>
          </a:p>
        </p:txBody>
      </p:sp>
      <p:sp>
        <p:nvSpPr>
          <p:cNvPr id="317" name="Google Shape;317;p20"/>
          <p:cNvSpPr/>
          <p:nvPr/>
        </p:nvSpPr>
        <p:spPr>
          <a:xfrm>
            <a:off x="384048" y="2834640"/>
            <a:ext cx="38404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Up to $150M/year in additional Medicare funds for Vermont to invest in primary care, behavioral health, home health, long-term care, and SDOH programs — the transformation capital engine.</a:t>
            </a:r>
            <a:endParaRPr b="0" i="0" sz="1050" u="none" cap="none" strike="noStrike">
              <a:solidFill>
                <a:schemeClr val="dk1"/>
              </a:solidFill>
              <a:latin typeface="Calibri"/>
              <a:ea typeface="Calibri"/>
              <a:cs typeface="Calibri"/>
              <a:sym typeface="Calibri"/>
            </a:endParaRPr>
          </a:p>
        </p:txBody>
      </p:sp>
      <p:sp>
        <p:nvSpPr>
          <p:cNvPr id="318" name="Google Shape;318;p20"/>
          <p:cNvSpPr/>
          <p:nvPr/>
        </p:nvSpPr>
        <p:spPr>
          <a:xfrm>
            <a:off x="4617720" y="2423160"/>
            <a:ext cx="4069080" cy="1508760"/>
          </a:xfrm>
          <a:prstGeom prst="rect">
            <a:avLst/>
          </a:prstGeom>
          <a:solidFill>
            <a:srgbClr val="FFF0CC"/>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p:nvPr/>
        </p:nvSpPr>
        <p:spPr>
          <a:xfrm>
            <a:off x="4617720" y="2423160"/>
            <a:ext cx="4069080" cy="347472"/>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0"/>
          <p:cNvSpPr/>
          <p:nvPr/>
        </p:nvSpPr>
        <p:spPr>
          <a:xfrm>
            <a:off x="4617720" y="2423160"/>
            <a:ext cx="40690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Total Cost of Care Accountability</a:t>
            </a:r>
            <a:endParaRPr b="0" i="0" sz="1200" u="none" cap="none" strike="noStrike">
              <a:solidFill>
                <a:schemeClr val="dk1"/>
              </a:solidFill>
              <a:latin typeface="Calibri"/>
              <a:ea typeface="Calibri"/>
              <a:cs typeface="Calibri"/>
              <a:sym typeface="Calibri"/>
            </a:endParaRPr>
          </a:p>
        </p:txBody>
      </p:sp>
      <p:sp>
        <p:nvSpPr>
          <p:cNvPr id="321" name="Google Shape;321;p20"/>
          <p:cNvSpPr/>
          <p:nvPr/>
        </p:nvSpPr>
        <p:spPr>
          <a:xfrm>
            <a:off x="4727448" y="2834640"/>
            <a:ext cx="38404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Vermont responsible for all-payer TCOC targets. State-level accountability with meaningful consequences after Year 3. 9-year model: January 2027 through December 2035.</a:t>
            </a:r>
            <a:endParaRPr b="0" i="0" sz="1050" u="none" cap="none" strike="noStrike">
              <a:solidFill>
                <a:schemeClr val="dk1"/>
              </a:solidFill>
              <a:latin typeface="Calibri"/>
              <a:ea typeface="Calibri"/>
              <a:cs typeface="Calibri"/>
              <a:sym typeface="Calibri"/>
            </a:endParaRPr>
          </a:p>
        </p:txBody>
      </p:sp>
      <p:sp>
        <p:nvSpPr>
          <p:cNvPr id="322" name="Google Shape;322;p20"/>
          <p:cNvSpPr/>
          <p:nvPr/>
        </p:nvSpPr>
        <p:spPr>
          <a:xfrm>
            <a:off x="274320" y="4069080"/>
            <a:ext cx="8595360" cy="86868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0"/>
          <p:cNvSpPr/>
          <p:nvPr/>
        </p:nvSpPr>
        <p:spPr>
          <a:xfrm>
            <a:off x="365760" y="4114800"/>
            <a:ext cx="841248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KEY AGREEMENT TERMS:  Signed January 17, 2025  ·  Vermont: Cohort 2  ·  Starts January 1, 2027  ·  9-year model  ·  Vermont may withdraw with 30-day notice (pre-launch) or 6-month notice (post-launch)</a:t>
            </a:r>
            <a:endParaRPr b="0" i="0" sz="1050" u="none" cap="none" strike="noStrike">
              <a:solidFill>
                <a:schemeClr val="dk1"/>
              </a:solidFill>
              <a:latin typeface="Calibri"/>
              <a:ea typeface="Calibri"/>
              <a:cs typeface="Calibri"/>
              <a:sym typeface="Calibri"/>
            </a:endParaRPr>
          </a:p>
        </p:txBody>
      </p:sp>
      <p:sp>
        <p:nvSpPr>
          <p:cNvPr id="324" name="Google Shape;324;p20"/>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4 — Source: AHEAD State Agreement (January 17, 2025); CMS AHEAD Model documentation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329" name="Shape 329"/>
        <p:cNvGrpSpPr/>
        <p:nvPr/>
      </p:nvGrpSpPr>
      <p:grpSpPr>
        <a:xfrm>
          <a:off x="0" y="0"/>
          <a:ext cx="0" cy="0"/>
          <a:chOff x="0" y="0"/>
          <a:chExt cx="0" cy="0"/>
        </a:xfrm>
      </p:grpSpPr>
      <p:sp>
        <p:nvSpPr>
          <p:cNvPr id="330" name="Google Shape;330;p21"/>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1"/>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5</a:t>
            </a:r>
            <a:endParaRPr b="0" i="0" sz="1300" u="none" cap="none" strike="noStrike">
              <a:solidFill>
                <a:schemeClr val="dk1"/>
              </a:solidFill>
              <a:latin typeface="Calibri"/>
              <a:ea typeface="Calibri"/>
              <a:cs typeface="Calibri"/>
              <a:sym typeface="Calibri"/>
            </a:endParaRPr>
          </a:p>
        </p:txBody>
      </p:sp>
      <p:sp>
        <p:nvSpPr>
          <p:cNvPr id="332" name="Google Shape;332;p21"/>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Policy Pillar in Practice — CMMI, Waivers, H.R.1</a:t>
            </a:r>
            <a:endParaRPr b="0" i="0" sz="3400" u="none" cap="none" strike="noStrike">
              <a:solidFill>
                <a:schemeClr val="dk1"/>
              </a:solidFill>
              <a:latin typeface="Calibri"/>
              <a:ea typeface="Calibri"/>
              <a:cs typeface="Calibri"/>
              <a:sym typeface="Calibri"/>
            </a:endParaRPr>
          </a:p>
        </p:txBody>
      </p:sp>
      <p:sp>
        <p:nvSpPr>
          <p:cNvPr id="333" name="Google Shape;333;p21"/>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2"/>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H.R. 1 — THE ONE BIG BEAUTIFUL BILL ACT: HEALTHCARE IMPACT</a:t>
            </a:r>
            <a:endParaRPr b="0" i="0" sz="1800" u="none" cap="none" strike="noStrike">
              <a:solidFill>
                <a:schemeClr val="dk1"/>
              </a:solidFill>
              <a:latin typeface="Calibri"/>
              <a:ea typeface="Calibri"/>
              <a:cs typeface="Calibri"/>
              <a:sym typeface="Calibri"/>
            </a:endParaRPr>
          </a:p>
        </p:txBody>
      </p:sp>
      <p:sp>
        <p:nvSpPr>
          <p:cNvPr id="340" name="Google Shape;340;p22"/>
          <p:cNvSpPr/>
          <p:nvPr/>
        </p:nvSpPr>
        <p:spPr>
          <a:xfrm>
            <a:off x="228600" y="685800"/>
            <a:ext cx="2011680" cy="1828800"/>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2"/>
          <p:cNvSpPr/>
          <p:nvPr/>
        </p:nvSpPr>
        <p:spPr>
          <a:xfrm>
            <a:off x="228600" y="685800"/>
            <a:ext cx="2011680" cy="292608"/>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2"/>
          <p:cNvSpPr/>
          <p:nvPr/>
        </p:nvSpPr>
        <p:spPr>
          <a:xfrm>
            <a:off x="228600" y="1051560"/>
            <a:ext cx="201168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4000"/>
              <a:buFont typeface="Calibri"/>
              <a:buNone/>
            </a:pPr>
            <a:r>
              <a:rPr b="1" i="0" lang="en-US" sz="4000" u="none" cap="none" strike="noStrike">
                <a:solidFill>
                  <a:srgbClr val="8B1A1A"/>
                </a:solidFill>
                <a:latin typeface="Calibri"/>
                <a:ea typeface="Calibri"/>
                <a:cs typeface="Calibri"/>
                <a:sym typeface="Calibri"/>
              </a:rPr>
              <a:t>$911B</a:t>
            </a:r>
            <a:endParaRPr b="0" i="0" sz="4000" u="none" cap="none" strike="noStrike">
              <a:solidFill>
                <a:schemeClr val="dk1"/>
              </a:solidFill>
              <a:latin typeface="Calibri"/>
              <a:ea typeface="Calibri"/>
              <a:cs typeface="Calibri"/>
              <a:sym typeface="Calibri"/>
            </a:endParaRPr>
          </a:p>
        </p:txBody>
      </p:sp>
      <p:sp>
        <p:nvSpPr>
          <p:cNvPr id="343" name="Google Shape;343;p22"/>
          <p:cNvSpPr/>
          <p:nvPr/>
        </p:nvSpPr>
        <p:spPr>
          <a:xfrm>
            <a:off x="320040" y="187452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Federal Medicaid spending cuts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over 10 years (CBO estimate)</a:t>
            </a:r>
            <a:endParaRPr b="0" i="0" sz="1000" u="none" cap="none" strike="noStrike">
              <a:solidFill>
                <a:schemeClr val="dk1"/>
              </a:solidFill>
              <a:latin typeface="Calibri"/>
              <a:ea typeface="Calibri"/>
              <a:cs typeface="Calibri"/>
              <a:sym typeface="Calibri"/>
            </a:endParaRPr>
          </a:p>
        </p:txBody>
      </p:sp>
      <p:sp>
        <p:nvSpPr>
          <p:cNvPr id="344" name="Google Shape;344;p22"/>
          <p:cNvSpPr/>
          <p:nvPr/>
        </p:nvSpPr>
        <p:spPr>
          <a:xfrm>
            <a:off x="2423160" y="685800"/>
            <a:ext cx="2011680" cy="1828800"/>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
          <p:cNvSpPr/>
          <p:nvPr/>
        </p:nvSpPr>
        <p:spPr>
          <a:xfrm>
            <a:off x="2423160" y="685800"/>
            <a:ext cx="2011680" cy="292608"/>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2"/>
          <p:cNvSpPr/>
          <p:nvPr/>
        </p:nvSpPr>
        <p:spPr>
          <a:xfrm>
            <a:off x="2423160" y="1051560"/>
            <a:ext cx="201168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4000"/>
              <a:buFont typeface="Calibri"/>
              <a:buNone/>
            </a:pPr>
            <a:r>
              <a:rPr b="1" i="0" lang="en-US" sz="4000" u="none" cap="none" strike="noStrike">
                <a:solidFill>
                  <a:srgbClr val="8B1A1A"/>
                </a:solidFill>
                <a:latin typeface="Calibri"/>
                <a:ea typeface="Calibri"/>
                <a:cs typeface="Calibri"/>
                <a:sym typeface="Calibri"/>
              </a:rPr>
              <a:t>10M</a:t>
            </a:r>
            <a:endParaRPr b="0" i="0" sz="4000" u="none" cap="none" strike="noStrike">
              <a:solidFill>
                <a:schemeClr val="dk1"/>
              </a:solidFill>
              <a:latin typeface="Calibri"/>
              <a:ea typeface="Calibri"/>
              <a:cs typeface="Calibri"/>
              <a:sym typeface="Calibri"/>
            </a:endParaRPr>
          </a:p>
        </p:txBody>
      </p:sp>
      <p:sp>
        <p:nvSpPr>
          <p:cNvPr id="347" name="Google Shape;347;p22"/>
          <p:cNvSpPr/>
          <p:nvPr/>
        </p:nvSpPr>
        <p:spPr>
          <a:xfrm>
            <a:off x="2514600" y="187452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Additional uninsured Americans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by 2034 (CBO)</a:t>
            </a:r>
            <a:endParaRPr b="0" i="0" sz="1000" u="none" cap="none" strike="noStrike">
              <a:solidFill>
                <a:schemeClr val="dk1"/>
              </a:solidFill>
              <a:latin typeface="Calibri"/>
              <a:ea typeface="Calibri"/>
              <a:cs typeface="Calibri"/>
              <a:sym typeface="Calibri"/>
            </a:endParaRPr>
          </a:p>
        </p:txBody>
      </p:sp>
      <p:sp>
        <p:nvSpPr>
          <p:cNvPr id="348" name="Google Shape;348;p22"/>
          <p:cNvSpPr/>
          <p:nvPr/>
        </p:nvSpPr>
        <p:spPr>
          <a:xfrm>
            <a:off x="4617720" y="685800"/>
            <a:ext cx="2011680" cy="1828800"/>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4617720" y="685800"/>
            <a:ext cx="2011680" cy="292608"/>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4617720" y="1051560"/>
            <a:ext cx="201168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4A00"/>
              </a:buClr>
              <a:buSzPts val="4000"/>
              <a:buFont typeface="Calibri"/>
              <a:buNone/>
            </a:pPr>
            <a:r>
              <a:rPr b="1" i="0" lang="en-US" sz="4000" u="none" cap="none" strike="noStrike">
                <a:solidFill>
                  <a:srgbClr val="7B4A00"/>
                </a:solidFill>
                <a:latin typeface="Calibri"/>
                <a:ea typeface="Calibri"/>
                <a:cs typeface="Calibri"/>
                <a:sym typeface="Calibri"/>
              </a:rPr>
              <a:t>$137B</a:t>
            </a:r>
            <a:endParaRPr b="0" i="0" sz="4000" u="none" cap="none" strike="noStrike">
              <a:solidFill>
                <a:schemeClr val="dk1"/>
              </a:solidFill>
              <a:latin typeface="Calibri"/>
              <a:ea typeface="Calibri"/>
              <a:cs typeface="Calibri"/>
              <a:sym typeface="Calibri"/>
            </a:endParaRPr>
          </a:p>
        </p:txBody>
      </p:sp>
      <p:sp>
        <p:nvSpPr>
          <p:cNvPr id="351" name="Google Shape;351;p22"/>
          <p:cNvSpPr/>
          <p:nvPr/>
        </p:nvSpPr>
        <p:spPr>
          <a:xfrm>
            <a:off x="4709160" y="187452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Rural Medicaid spending reduction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over 10 years (KFF)</a:t>
            </a:r>
            <a:endParaRPr b="0" i="0" sz="1000" u="none" cap="none" strike="noStrike">
              <a:solidFill>
                <a:schemeClr val="dk1"/>
              </a:solidFill>
              <a:latin typeface="Calibri"/>
              <a:ea typeface="Calibri"/>
              <a:cs typeface="Calibri"/>
              <a:sym typeface="Calibri"/>
            </a:endParaRPr>
          </a:p>
        </p:txBody>
      </p:sp>
      <p:sp>
        <p:nvSpPr>
          <p:cNvPr id="352" name="Google Shape;352;p22"/>
          <p:cNvSpPr/>
          <p:nvPr/>
        </p:nvSpPr>
        <p:spPr>
          <a:xfrm>
            <a:off x="6812280" y="685800"/>
            <a:ext cx="2011680" cy="1828800"/>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a:off x="6812280" y="685800"/>
            <a:ext cx="2011680" cy="292608"/>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6812280" y="1051560"/>
            <a:ext cx="201168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6B3C"/>
              </a:buClr>
              <a:buSzPts val="4000"/>
              <a:buFont typeface="Calibri"/>
              <a:buNone/>
            </a:pPr>
            <a:r>
              <a:rPr b="1" i="0" lang="en-US" sz="4000" u="none" cap="none" strike="noStrike">
                <a:solidFill>
                  <a:srgbClr val="1E6B3C"/>
                </a:solidFill>
                <a:latin typeface="Calibri"/>
                <a:ea typeface="Calibri"/>
                <a:cs typeface="Calibri"/>
                <a:sym typeface="Calibri"/>
              </a:rPr>
              <a:t>$50B</a:t>
            </a:r>
            <a:endParaRPr b="0" i="0" sz="4000" u="none" cap="none" strike="noStrike">
              <a:solidFill>
                <a:schemeClr val="dk1"/>
              </a:solidFill>
              <a:latin typeface="Calibri"/>
              <a:ea typeface="Calibri"/>
              <a:cs typeface="Calibri"/>
              <a:sym typeface="Calibri"/>
            </a:endParaRPr>
          </a:p>
        </p:txBody>
      </p:sp>
      <p:sp>
        <p:nvSpPr>
          <p:cNvPr id="355" name="Google Shape;355;p22"/>
          <p:cNvSpPr/>
          <p:nvPr/>
        </p:nvSpPr>
        <p:spPr>
          <a:xfrm>
            <a:off x="6903720" y="187452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Rural Health Transformation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Program (5 years, 2026-2030)</a:t>
            </a:r>
            <a:endParaRPr b="0" i="0" sz="1000" u="none" cap="none" strike="noStrike">
              <a:solidFill>
                <a:schemeClr val="dk1"/>
              </a:solidFill>
              <a:latin typeface="Calibri"/>
              <a:ea typeface="Calibri"/>
              <a:cs typeface="Calibri"/>
              <a:sym typeface="Calibri"/>
            </a:endParaRPr>
          </a:p>
        </p:txBody>
      </p:sp>
      <p:sp>
        <p:nvSpPr>
          <p:cNvPr id="356" name="Google Shape;356;p22"/>
          <p:cNvSpPr/>
          <p:nvPr/>
        </p:nvSpPr>
        <p:spPr>
          <a:xfrm>
            <a:off x="274320" y="2743200"/>
            <a:ext cx="8595360" cy="1554480"/>
          </a:xfrm>
          <a:prstGeom prst="rect">
            <a:avLst/>
          </a:prstGeom>
          <a:solidFill>
            <a:srgbClr val="FFF9F9"/>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2"/>
          <p:cNvSpPr/>
          <p:nvPr/>
        </p:nvSpPr>
        <p:spPr>
          <a:xfrm>
            <a:off x="457200" y="2834640"/>
            <a:ext cx="80467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1300"/>
              <a:buFont typeface="Calibri"/>
              <a:buNone/>
            </a:pPr>
            <a:r>
              <a:rPr b="1" i="0" lang="en-US" sz="1300" u="none" cap="none" strike="noStrike">
                <a:solidFill>
                  <a:srgbClr val="8B1A1A"/>
                </a:solidFill>
                <a:latin typeface="Calibri"/>
                <a:ea typeface="Calibri"/>
                <a:cs typeface="Calibri"/>
                <a:sym typeface="Calibri"/>
              </a:rPr>
              <a:t>THE FISCAL CLIFF PROBLEM</a:t>
            </a:r>
            <a:endParaRPr b="0" i="0" sz="1300" u="none" cap="none" strike="noStrike">
              <a:solidFill>
                <a:schemeClr val="dk1"/>
              </a:solidFill>
              <a:latin typeface="Calibri"/>
              <a:ea typeface="Calibri"/>
              <a:cs typeface="Calibri"/>
              <a:sym typeface="Calibri"/>
            </a:endParaRPr>
          </a:p>
        </p:txBody>
      </p:sp>
      <p:sp>
        <p:nvSpPr>
          <p:cNvPr id="358" name="Google Shape;358;p22"/>
          <p:cNvSpPr/>
          <p:nvPr/>
        </p:nvSpPr>
        <p:spPr>
          <a:xfrm>
            <a:off x="457200" y="3218688"/>
            <a:ext cx="8046720" cy="9875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The RHT Program is FRONT-LOADED (2026-2030) while Medicaid cuts are BACK-LOADED — 64% of 10-year Medicaid reductions occur AFTER 2030 when the RHT fund expires. Vermont must use RHT capital to build structural efficiency by 2030, or face the Medicaid revenue cliff without the cost structure to absorb it.</a:t>
            </a:r>
            <a:endParaRPr b="0" i="0" sz="1100" u="none" cap="none" strike="noStrike">
              <a:solidFill>
                <a:schemeClr val="dk1"/>
              </a:solidFill>
              <a:latin typeface="Calibri"/>
              <a:ea typeface="Calibri"/>
              <a:cs typeface="Calibri"/>
              <a:sym typeface="Calibri"/>
            </a:endParaRPr>
          </a:p>
        </p:txBody>
      </p:sp>
      <p:sp>
        <p:nvSpPr>
          <p:cNvPr id="359" name="Google Shape;359;p22"/>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5 / Chapter 17 — Source: CBO; KFF H.R.1 Rural Health Analysis; Chartis 2026 State of Rural Health</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364" name="Shape 364"/>
        <p:cNvGrpSpPr/>
        <p:nvPr/>
      </p:nvGrpSpPr>
      <p:grpSpPr>
        <a:xfrm>
          <a:off x="0" y="0"/>
          <a:ext cx="0" cy="0"/>
          <a:chOff x="0" y="0"/>
          <a:chExt cx="0" cy="0"/>
        </a:xfrm>
      </p:grpSpPr>
      <p:sp>
        <p:nvSpPr>
          <p:cNvPr id="365" name="Google Shape;365;p23"/>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CMMI MODEL SUCCESS FACTORS: WHY MOST FAIL AND SOME WORK</a:t>
            </a:r>
            <a:endParaRPr b="0" i="0" sz="1800" u="none" cap="none" strike="noStrike">
              <a:solidFill>
                <a:schemeClr val="dk1"/>
              </a:solidFill>
              <a:latin typeface="Calibri"/>
              <a:ea typeface="Calibri"/>
              <a:cs typeface="Calibri"/>
              <a:sym typeface="Calibri"/>
            </a:endParaRPr>
          </a:p>
        </p:txBody>
      </p:sp>
      <p:graphicFrame>
        <p:nvGraphicFramePr>
          <p:cNvPr id="366" name="Google Shape;366;p23"/>
          <p:cNvGraphicFramePr/>
          <p:nvPr/>
        </p:nvGraphicFramePr>
        <p:xfrm>
          <a:off x="274320" y="685800"/>
          <a:ext cx="3000000" cy="3000000"/>
        </p:xfrm>
        <a:graphic>
          <a:graphicData uri="http://schemas.openxmlformats.org/drawingml/2006/table">
            <a:tbl>
              <a:tblPr>
                <a:noFill/>
                <a:tableStyleId>{A1D9B9E4-F9D2-4EFC-BB1D-056C6BACCCB8}</a:tableStyleId>
              </a:tblPr>
              <a:tblGrid>
                <a:gridCol w="1828800"/>
                <a:gridCol w="3383275"/>
                <a:gridCol w="3383275"/>
              </a:tblGrid>
              <a:tr h="7772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Factor</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Successful Models</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Failed Models</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7772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Mandatory participation</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AHEAD, Maryland HSCRC, Vermont Act 68 — all providers must participate</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Most CMMI ACOs, BPCI-A, bundled payments — highest-cost actors opt out</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7772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Two-sided risk (real)</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ACO REACH full risk, AHEAD global budgets — meaningful downside</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MSSP Track 1 (upside only), many bundles with minimal downside exposure</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7772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State regulatory alignment</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AHEAD (designed with state agencies), Maryland HSCRC (built on existing authority)</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Federal models imposed without coordinating with state Medicaid, insurance regulators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777250">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Implementation support</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AHEAD cooperative agreement funds, Vermont RHRC engagement, pre-launch period</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Models launched with insufficient runway — providers cannot redesign care before accountability begins</a:t>
                      </a:r>
                      <a:endParaRPr sz="10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367" name="Google Shape;367;p23"/>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5 — Source: HTR analysis of CMMI evaluation literature; CMS model documentation; 2023 independent CMMI evaluation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24"/>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SECTION 1115 WAIVERS — THE STATE'S PRIMARY FEDERAL POLICY TOOL</a:t>
            </a:r>
            <a:endParaRPr b="0" i="0" sz="1800" u="none" cap="none" strike="noStrike">
              <a:solidFill>
                <a:schemeClr val="dk1"/>
              </a:solidFill>
              <a:latin typeface="Calibri"/>
              <a:ea typeface="Calibri"/>
              <a:cs typeface="Calibri"/>
              <a:sym typeface="Calibri"/>
            </a:endParaRPr>
          </a:p>
        </p:txBody>
      </p:sp>
      <p:sp>
        <p:nvSpPr>
          <p:cNvPr id="374" name="Google Shape;374;p24"/>
          <p:cNvSpPr/>
          <p:nvPr/>
        </p:nvSpPr>
        <p:spPr>
          <a:xfrm>
            <a:off x="274320" y="749808"/>
            <a:ext cx="8595360" cy="896112"/>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4"/>
          <p:cNvSpPr/>
          <p:nvPr/>
        </p:nvSpPr>
        <p:spPr>
          <a:xfrm>
            <a:off x="274320" y="749808"/>
            <a:ext cx="1920240" cy="89611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4"/>
          <p:cNvSpPr/>
          <p:nvPr/>
        </p:nvSpPr>
        <p:spPr>
          <a:xfrm>
            <a:off x="274320" y="841248"/>
            <a:ext cx="192024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Coverage Expansions</a:t>
            </a:r>
            <a:endParaRPr b="0" i="0" sz="1100" u="none" cap="none" strike="noStrike">
              <a:solidFill>
                <a:schemeClr val="dk1"/>
              </a:solidFill>
              <a:latin typeface="Calibri"/>
              <a:ea typeface="Calibri"/>
              <a:cs typeface="Calibri"/>
              <a:sym typeface="Calibri"/>
            </a:endParaRPr>
          </a:p>
        </p:txBody>
      </p:sp>
      <p:sp>
        <p:nvSpPr>
          <p:cNvPr id="377" name="Google Shape;377;p24"/>
          <p:cNvSpPr/>
          <p:nvPr/>
        </p:nvSpPr>
        <p:spPr>
          <a:xfrm>
            <a:off x="2331720" y="795528"/>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National: Extending Medicaid to populations not otherwise eligible; non-traditional benefit structures</a:t>
            </a:r>
            <a:endParaRPr b="0" i="0" sz="1000" u="none" cap="none" strike="noStrike">
              <a:solidFill>
                <a:schemeClr val="dk1"/>
              </a:solidFill>
              <a:latin typeface="Calibri"/>
              <a:ea typeface="Calibri"/>
              <a:cs typeface="Calibri"/>
              <a:sym typeface="Calibri"/>
            </a:endParaRPr>
          </a:p>
        </p:txBody>
      </p:sp>
      <p:sp>
        <p:nvSpPr>
          <p:cNvPr id="378" name="Google Shape;378;p24"/>
          <p:cNvSpPr/>
          <p:nvPr/>
        </p:nvSpPr>
        <p:spPr>
          <a:xfrm>
            <a:off x="2331720" y="1225296"/>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1" lang="en-US" sz="1000" u="none" cap="none" strike="noStrike">
                <a:solidFill>
                  <a:srgbClr val="666666"/>
                </a:solidFill>
                <a:latin typeface="Calibri"/>
                <a:ea typeface="Calibri"/>
                <a:cs typeface="Calibri"/>
                <a:sym typeface="Calibri"/>
              </a:rPr>
              <a:t>Vermont: Vermont Global Commitment to Health: expanded coverage beyond standard state plan requirements</a:t>
            </a:r>
            <a:endParaRPr b="0" i="0" sz="1000" u="none" cap="none" strike="noStrike">
              <a:solidFill>
                <a:schemeClr val="dk1"/>
              </a:solidFill>
              <a:latin typeface="Calibri"/>
              <a:ea typeface="Calibri"/>
              <a:cs typeface="Calibri"/>
              <a:sym typeface="Calibri"/>
            </a:endParaRPr>
          </a:p>
        </p:txBody>
      </p:sp>
      <p:sp>
        <p:nvSpPr>
          <p:cNvPr id="379" name="Google Shape;379;p24"/>
          <p:cNvSpPr/>
          <p:nvPr/>
        </p:nvSpPr>
        <p:spPr>
          <a:xfrm>
            <a:off x="274320" y="1755648"/>
            <a:ext cx="8595360" cy="896112"/>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p:nvPr/>
        </p:nvSpPr>
        <p:spPr>
          <a:xfrm>
            <a:off x="274320" y="1755648"/>
            <a:ext cx="1920240" cy="896112"/>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4"/>
          <p:cNvSpPr/>
          <p:nvPr/>
        </p:nvSpPr>
        <p:spPr>
          <a:xfrm>
            <a:off x="274320" y="1847088"/>
            <a:ext cx="192024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Payment Reform</a:t>
            </a:r>
            <a:endParaRPr b="0" i="0" sz="1100" u="none" cap="none" strike="noStrike">
              <a:solidFill>
                <a:schemeClr val="dk1"/>
              </a:solidFill>
              <a:latin typeface="Calibri"/>
              <a:ea typeface="Calibri"/>
              <a:cs typeface="Calibri"/>
              <a:sym typeface="Calibri"/>
            </a:endParaRPr>
          </a:p>
        </p:txBody>
      </p:sp>
      <p:sp>
        <p:nvSpPr>
          <p:cNvPr id="382" name="Google Shape;382;p24"/>
          <p:cNvSpPr/>
          <p:nvPr/>
        </p:nvSpPr>
        <p:spPr>
          <a:xfrm>
            <a:off x="2331720" y="1801368"/>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National: Global budgets, ACO arrangements, APMs for Medicaid not permitted under standard rules</a:t>
            </a:r>
            <a:endParaRPr b="0" i="0" sz="1000" u="none" cap="none" strike="noStrike">
              <a:solidFill>
                <a:schemeClr val="dk1"/>
              </a:solidFill>
              <a:latin typeface="Calibri"/>
              <a:ea typeface="Calibri"/>
              <a:cs typeface="Calibri"/>
              <a:sym typeface="Calibri"/>
            </a:endParaRPr>
          </a:p>
        </p:txBody>
      </p:sp>
      <p:sp>
        <p:nvSpPr>
          <p:cNvPr id="383" name="Google Shape;383;p24"/>
          <p:cNvSpPr/>
          <p:nvPr/>
        </p:nvSpPr>
        <p:spPr>
          <a:xfrm>
            <a:off x="2331720" y="2231136"/>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1" lang="en-US" sz="1000" u="none" cap="none" strike="noStrike">
                <a:solidFill>
                  <a:srgbClr val="666666"/>
                </a:solidFill>
                <a:latin typeface="Calibri"/>
                <a:ea typeface="Calibri"/>
                <a:cs typeface="Calibri"/>
                <a:sym typeface="Calibri"/>
              </a:rPr>
              <a:t>Vermont: Vermont's Medicaid hospital global budgets under AHEAD alignment operate via Global Commitment demonstration</a:t>
            </a:r>
            <a:endParaRPr b="0" i="0" sz="1000" u="none" cap="none" strike="noStrike">
              <a:solidFill>
                <a:schemeClr val="dk1"/>
              </a:solidFill>
              <a:latin typeface="Calibri"/>
              <a:ea typeface="Calibri"/>
              <a:cs typeface="Calibri"/>
              <a:sym typeface="Calibri"/>
            </a:endParaRPr>
          </a:p>
        </p:txBody>
      </p:sp>
      <p:sp>
        <p:nvSpPr>
          <p:cNvPr id="384" name="Google Shape;384;p24"/>
          <p:cNvSpPr/>
          <p:nvPr/>
        </p:nvSpPr>
        <p:spPr>
          <a:xfrm>
            <a:off x="274320" y="2761488"/>
            <a:ext cx="8595360" cy="896112"/>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4"/>
          <p:cNvSpPr/>
          <p:nvPr/>
        </p:nvSpPr>
        <p:spPr>
          <a:xfrm>
            <a:off x="274320" y="2761488"/>
            <a:ext cx="1920240" cy="896112"/>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4"/>
          <p:cNvSpPr/>
          <p:nvPr/>
        </p:nvSpPr>
        <p:spPr>
          <a:xfrm>
            <a:off x="274320" y="2852928"/>
            <a:ext cx="192024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SDOH Investments</a:t>
            </a:r>
            <a:endParaRPr b="0" i="0" sz="1100" u="none" cap="none" strike="noStrike">
              <a:solidFill>
                <a:schemeClr val="dk1"/>
              </a:solidFill>
              <a:latin typeface="Calibri"/>
              <a:ea typeface="Calibri"/>
              <a:cs typeface="Calibri"/>
              <a:sym typeface="Calibri"/>
            </a:endParaRPr>
          </a:p>
        </p:txBody>
      </p:sp>
      <p:sp>
        <p:nvSpPr>
          <p:cNvPr id="387" name="Google Shape;387;p24"/>
          <p:cNvSpPr/>
          <p:nvPr/>
        </p:nvSpPr>
        <p:spPr>
          <a:xfrm>
            <a:off x="2331720" y="2807208"/>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National: Housing supports, food assistance, transportation for high-risk Medicaid enrollees</a:t>
            </a:r>
            <a:endParaRPr b="0" i="0" sz="1000" u="none" cap="none" strike="noStrike">
              <a:solidFill>
                <a:schemeClr val="dk1"/>
              </a:solidFill>
              <a:latin typeface="Calibri"/>
              <a:ea typeface="Calibri"/>
              <a:cs typeface="Calibri"/>
              <a:sym typeface="Calibri"/>
            </a:endParaRPr>
          </a:p>
        </p:txBody>
      </p:sp>
      <p:sp>
        <p:nvSpPr>
          <p:cNvPr id="388" name="Google Shape;388;p24"/>
          <p:cNvSpPr/>
          <p:nvPr/>
        </p:nvSpPr>
        <p:spPr>
          <a:xfrm>
            <a:off x="2331720" y="3236976"/>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1" lang="en-US" sz="1000" u="none" cap="none" strike="noStrike">
                <a:solidFill>
                  <a:srgbClr val="666666"/>
                </a:solidFill>
                <a:latin typeface="Calibri"/>
                <a:ea typeface="Calibri"/>
                <a:cs typeface="Calibri"/>
                <a:sym typeface="Calibri"/>
              </a:rPr>
              <a:t>Vermont: Vermont HRSN amendment authorizes Medicaid-funded social services connected to Blueprint HRSN screening</a:t>
            </a:r>
            <a:endParaRPr b="0" i="0" sz="1000" u="none" cap="none" strike="noStrike">
              <a:solidFill>
                <a:schemeClr val="dk1"/>
              </a:solidFill>
              <a:latin typeface="Calibri"/>
              <a:ea typeface="Calibri"/>
              <a:cs typeface="Calibri"/>
              <a:sym typeface="Calibri"/>
            </a:endParaRPr>
          </a:p>
        </p:txBody>
      </p:sp>
      <p:sp>
        <p:nvSpPr>
          <p:cNvPr id="389" name="Google Shape;389;p24"/>
          <p:cNvSpPr/>
          <p:nvPr/>
        </p:nvSpPr>
        <p:spPr>
          <a:xfrm>
            <a:off x="274320" y="3767328"/>
            <a:ext cx="8595360" cy="896112"/>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4"/>
          <p:cNvSpPr/>
          <p:nvPr/>
        </p:nvSpPr>
        <p:spPr>
          <a:xfrm>
            <a:off x="274320" y="3767328"/>
            <a:ext cx="1920240" cy="896112"/>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4"/>
          <p:cNvSpPr/>
          <p:nvPr/>
        </p:nvSpPr>
        <p:spPr>
          <a:xfrm>
            <a:off x="274320" y="3858768"/>
            <a:ext cx="192024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Budget Neutrality Constraint</a:t>
            </a:r>
            <a:endParaRPr b="0" i="0" sz="1100" u="none" cap="none" strike="noStrike">
              <a:solidFill>
                <a:schemeClr val="dk1"/>
              </a:solidFill>
              <a:latin typeface="Calibri"/>
              <a:ea typeface="Calibri"/>
              <a:cs typeface="Calibri"/>
              <a:sym typeface="Calibri"/>
            </a:endParaRPr>
          </a:p>
        </p:txBody>
      </p:sp>
      <p:sp>
        <p:nvSpPr>
          <p:cNvPr id="392" name="Google Shape;392;p24"/>
          <p:cNvSpPr/>
          <p:nvPr/>
        </p:nvSpPr>
        <p:spPr>
          <a:xfrm>
            <a:off x="2331720" y="3813048"/>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National: Federal spending cannot exceed what it would have been without the waiver — negotiated baseline</a:t>
            </a:r>
            <a:endParaRPr b="0" i="0" sz="1000" u="none" cap="none" strike="noStrike">
              <a:solidFill>
                <a:schemeClr val="dk1"/>
              </a:solidFill>
              <a:latin typeface="Calibri"/>
              <a:ea typeface="Calibri"/>
              <a:cs typeface="Calibri"/>
              <a:sym typeface="Calibri"/>
            </a:endParaRPr>
          </a:p>
        </p:txBody>
      </p:sp>
      <p:sp>
        <p:nvSpPr>
          <p:cNvPr id="393" name="Google Shape;393;p24"/>
          <p:cNvSpPr/>
          <p:nvPr/>
        </p:nvSpPr>
        <p:spPr>
          <a:xfrm>
            <a:off x="2331720" y="4242816"/>
            <a:ext cx="6309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1" lang="en-US" sz="1000" u="none" cap="none" strike="noStrike">
                <a:solidFill>
                  <a:srgbClr val="666666"/>
                </a:solidFill>
                <a:latin typeface="Calibri"/>
                <a:ea typeface="Calibri"/>
                <a:cs typeface="Calibri"/>
                <a:sym typeface="Calibri"/>
              </a:rPr>
              <a:t>Vermont: AHEAD methodology for Vermont's Medicaid global budget baseline is a critical negotiated parameter with major financial consequences</a:t>
            </a:r>
            <a:endParaRPr b="0" i="0" sz="1000" u="none" cap="none" strike="noStrike">
              <a:solidFill>
                <a:schemeClr val="dk1"/>
              </a:solidFill>
              <a:latin typeface="Calibri"/>
              <a:ea typeface="Calibri"/>
              <a:cs typeface="Calibri"/>
              <a:sym typeface="Calibri"/>
            </a:endParaRPr>
          </a:p>
        </p:txBody>
      </p:sp>
      <p:sp>
        <p:nvSpPr>
          <p:cNvPr id="394" name="Google Shape;394;p24"/>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5 — Source: CMS 1115 waiver framework; Vermont Global Commitment to Health demonstration; Act 68 of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5C8B"/>
        </a:solidFill>
      </p:bgPr>
    </p:bg>
    <p:spTree>
      <p:nvGrpSpPr>
        <p:cNvPr id="399" name="Shape 399"/>
        <p:cNvGrpSpPr/>
        <p:nvPr/>
      </p:nvGrpSpPr>
      <p:grpSpPr>
        <a:xfrm>
          <a:off x="0" y="0"/>
          <a:ext cx="0" cy="0"/>
          <a:chOff x="0" y="0"/>
          <a:chExt cx="0" cy="0"/>
        </a:xfrm>
      </p:grpSpPr>
      <p:sp>
        <p:nvSpPr>
          <p:cNvPr id="400" name="Google Shape;400;p25"/>
          <p:cNvSpPr/>
          <p:nvPr/>
        </p:nvSpPr>
        <p:spPr>
          <a:xfrm>
            <a:off x="548640" y="822960"/>
            <a:ext cx="109728" cy="3474720"/>
          </a:xfrm>
          <a:prstGeom prst="rect">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5"/>
          <p:cNvSpPr/>
          <p:nvPr/>
        </p:nvSpPr>
        <p:spPr>
          <a:xfrm>
            <a:off x="914400" y="1097280"/>
            <a:ext cx="7315200" cy="2560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Georgia"/>
              <a:buNone/>
            </a:pPr>
            <a:r>
              <a:rPr b="0" i="1" lang="en-US" sz="2400" u="none" cap="none" strike="noStrike">
                <a:solidFill>
                  <a:srgbClr val="FFFFFF"/>
                </a:solidFill>
                <a:latin typeface="Georgia"/>
                <a:ea typeface="Georgia"/>
                <a:cs typeface="Georgia"/>
                <a:sym typeface="Georgia"/>
              </a:rPr>
              <a:t>“The RHT funding is a tool that lets us put affordability plans into action. This is not our health care reform plan. This is an opportunity that we’ll use to support all of the health care reform work that we’re already doing in the state.”</a:t>
            </a:r>
            <a:endParaRPr b="0" i="0" sz="2400" u="none" cap="none" strike="noStrike">
              <a:solidFill>
                <a:schemeClr val="dk1"/>
              </a:solidFill>
              <a:latin typeface="Calibri"/>
              <a:ea typeface="Calibri"/>
              <a:cs typeface="Calibri"/>
              <a:sym typeface="Calibri"/>
            </a:endParaRPr>
          </a:p>
        </p:txBody>
      </p:sp>
      <p:sp>
        <p:nvSpPr>
          <p:cNvPr id="402" name="Google Shape;402;p25"/>
          <p:cNvSpPr/>
          <p:nvPr/>
        </p:nvSpPr>
        <p:spPr>
          <a:xfrm>
            <a:off x="914400" y="384048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 Jenney Samuelson, Vermont AHS Secretary  |  January 2026</a:t>
            </a:r>
            <a:endParaRPr b="0" i="0" sz="1400" u="none" cap="none" strike="noStrike">
              <a:solidFill>
                <a:schemeClr val="dk1"/>
              </a:solidFill>
              <a:latin typeface="Calibri"/>
              <a:ea typeface="Calibri"/>
              <a:cs typeface="Calibri"/>
              <a:sym typeface="Calibri"/>
            </a:endParaRPr>
          </a:p>
        </p:txBody>
      </p:sp>
      <p:sp>
        <p:nvSpPr>
          <p:cNvPr id="403" name="Google Shape;403;p25"/>
          <p:cNvSpPr/>
          <p:nvPr/>
        </p:nvSpPr>
        <p:spPr>
          <a:xfrm>
            <a:off x="365760" y="4663440"/>
            <a:ext cx="84124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000"/>
              <a:buFont typeface="Calibri"/>
              <a:buNone/>
            </a:pPr>
            <a:r>
              <a:rPr b="0" i="1" lang="en-US" sz="1000" u="none" cap="none" strike="noStrike">
                <a:solidFill>
                  <a:srgbClr val="CADCFC"/>
                </a:solidFill>
                <a:latin typeface="Calibri"/>
                <a:ea typeface="Calibri"/>
                <a:cs typeface="Calibri"/>
                <a:sym typeface="Calibri"/>
              </a:rPr>
              <a:t>CHAPTERS 4, 5, 11, 17  —  The Transformation Imperative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408" name="Shape 408"/>
        <p:cNvGrpSpPr/>
        <p:nvPr/>
      </p:nvGrpSpPr>
      <p:grpSpPr>
        <a:xfrm>
          <a:off x="0" y="0"/>
          <a:ext cx="0" cy="0"/>
          <a:chOff x="0" y="0"/>
          <a:chExt cx="0" cy="0"/>
        </a:xfrm>
      </p:grpSpPr>
      <p:sp>
        <p:nvSpPr>
          <p:cNvPr id="409" name="Google Shape;409;p26"/>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6"/>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6</a:t>
            </a:r>
            <a:endParaRPr b="0" i="0" sz="1300" u="none" cap="none" strike="noStrike">
              <a:solidFill>
                <a:schemeClr val="dk1"/>
              </a:solidFill>
              <a:latin typeface="Calibri"/>
              <a:ea typeface="Calibri"/>
              <a:cs typeface="Calibri"/>
              <a:sym typeface="Calibri"/>
            </a:endParaRPr>
          </a:p>
        </p:txBody>
      </p:sp>
      <p:sp>
        <p:nvSpPr>
          <p:cNvPr id="411" name="Google Shape;411;p26"/>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Economics Pillar — Global Budgets &amp; RBP</a:t>
            </a:r>
            <a:endParaRPr b="0" i="0" sz="3400" u="none" cap="none" strike="noStrike">
              <a:solidFill>
                <a:schemeClr val="dk1"/>
              </a:solidFill>
              <a:latin typeface="Calibri"/>
              <a:ea typeface="Calibri"/>
              <a:cs typeface="Calibri"/>
              <a:sym typeface="Calibri"/>
            </a:endParaRPr>
          </a:p>
        </p:txBody>
      </p:sp>
      <p:sp>
        <p:nvSpPr>
          <p:cNvPr id="412" name="Google Shape;412;p26"/>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417" name="Shape 417"/>
        <p:cNvGrpSpPr/>
        <p:nvPr/>
      </p:nvGrpSpPr>
      <p:grpSpPr>
        <a:xfrm>
          <a:off x="0" y="0"/>
          <a:ext cx="0" cy="0"/>
          <a:chOff x="0" y="0"/>
          <a:chExt cx="0" cy="0"/>
        </a:xfrm>
      </p:grpSpPr>
      <p:sp>
        <p:nvSpPr>
          <p:cNvPr id="418" name="Google Shape;418;p27"/>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FEE-FOR-SERVICE vs. GLOBAL BUDGET: THE INCENTIVE REVOLUTION</a:t>
            </a:r>
            <a:endParaRPr b="0" i="0" sz="1800" u="none" cap="none" strike="noStrike">
              <a:solidFill>
                <a:schemeClr val="dk1"/>
              </a:solidFill>
              <a:latin typeface="Calibri"/>
              <a:ea typeface="Calibri"/>
              <a:cs typeface="Calibri"/>
              <a:sym typeface="Calibri"/>
            </a:endParaRPr>
          </a:p>
        </p:txBody>
      </p:sp>
      <p:sp>
        <p:nvSpPr>
          <p:cNvPr id="419" name="Google Shape;419;p27"/>
          <p:cNvSpPr/>
          <p:nvPr/>
        </p:nvSpPr>
        <p:spPr>
          <a:xfrm>
            <a:off x="274320" y="658368"/>
            <a:ext cx="4023360" cy="502920"/>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274320" y="658368"/>
            <a:ext cx="4023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FEE-FOR-SERVICE</a:t>
            </a:r>
            <a:endParaRPr b="0" i="0" sz="1400" u="none" cap="none" strike="noStrike">
              <a:solidFill>
                <a:schemeClr val="dk1"/>
              </a:solidFill>
              <a:latin typeface="Calibri"/>
              <a:ea typeface="Calibri"/>
              <a:cs typeface="Calibri"/>
              <a:sym typeface="Calibri"/>
            </a:endParaRPr>
          </a:p>
        </p:txBody>
      </p:sp>
      <p:sp>
        <p:nvSpPr>
          <p:cNvPr id="421" name="Google Shape;421;p27"/>
          <p:cNvSpPr/>
          <p:nvPr/>
        </p:nvSpPr>
        <p:spPr>
          <a:xfrm>
            <a:off x="4846320" y="658368"/>
            <a:ext cx="4023360" cy="50292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7"/>
          <p:cNvSpPr/>
          <p:nvPr/>
        </p:nvSpPr>
        <p:spPr>
          <a:xfrm>
            <a:off x="4846320" y="658368"/>
            <a:ext cx="4023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GLOBAL BUDGET</a:t>
            </a:r>
            <a:endParaRPr b="0" i="0" sz="1400" u="none" cap="none" strike="noStrike">
              <a:solidFill>
                <a:schemeClr val="dk1"/>
              </a:solidFill>
              <a:latin typeface="Calibri"/>
              <a:ea typeface="Calibri"/>
              <a:cs typeface="Calibri"/>
              <a:sym typeface="Calibri"/>
            </a:endParaRPr>
          </a:p>
        </p:txBody>
      </p:sp>
      <p:sp>
        <p:nvSpPr>
          <p:cNvPr id="423" name="Google Shape;423;p27"/>
          <p:cNvSpPr/>
          <p:nvPr/>
        </p:nvSpPr>
        <p:spPr>
          <a:xfrm>
            <a:off x="274320" y="1261872"/>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7"/>
          <p:cNvSpPr/>
          <p:nvPr/>
        </p:nvSpPr>
        <p:spPr>
          <a:xfrm>
            <a:off x="365760" y="128930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Revenue per discharge — MAXIMIZE</a:t>
            </a:r>
            <a:endParaRPr b="0" i="0" sz="1000" u="none" cap="none" strike="noStrike">
              <a:solidFill>
                <a:schemeClr val="dk1"/>
              </a:solidFill>
              <a:latin typeface="Calibri"/>
              <a:ea typeface="Calibri"/>
              <a:cs typeface="Calibri"/>
              <a:sym typeface="Calibri"/>
            </a:endParaRPr>
          </a:p>
        </p:txBody>
      </p:sp>
      <p:sp>
        <p:nvSpPr>
          <p:cNvPr id="425" name="Google Shape;425;p27"/>
          <p:cNvSpPr/>
          <p:nvPr/>
        </p:nvSpPr>
        <p:spPr>
          <a:xfrm>
            <a:off x="274320" y="1746504"/>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7"/>
          <p:cNvSpPr/>
          <p:nvPr/>
        </p:nvSpPr>
        <p:spPr>
          <a:xfrm>
            <a:off x="365760" y="177393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Admission volume — MORE = MORE REVENUE</a:t>
            </a:r>
            <a:endParaRPr b="0" i="0" sz="1000" u="none" cap="none" strike="noStrike">
              <a:solidFill>
                <a:schemeClr val="dk1"/>
              </a:solidFill>
              <a:latin typeface="Calibri"/>
              <a:ea typeface="Calibri"/>
              <a:cs typeface="Calibri"/>
              <a:sym typeface="Calibri"/>
            </a:endParaRPr>
          </a:p>
        </p:txBody>
      </p:sp>
      <p:sp>
        <p:nvSpPr>
          <p:cNvPr id="427" name="Google Shape;427;p27"/>
          <p:cNvSpPr/>
          <p:nvPr/>
        </p:nvSpPr>
        <p:spPr>
          <a:xfrm>
            <a:off x="274320" y="2231136"/>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7"/>
          <p:cNvSpPr/>
          <p:nvPr/>
        </p:nvSpPr>
        <p:spPr>
          <a:xfrm>
            <a:off x="365760" y="225856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Length of stay — LONGER = MORE REVENUE</a:t>
            </a:r>
            <a:endParaRPr b="0" i="0" sz="1000" u="none" cap="none" strike="noStrike">
              <a:solidFill>
                <a:schemeClr val="dk1"/>
              </a:solidFill>
              <a:latin typeface="Calibri"/>
              <a:ea typeface="Calibri"/>
              <a:cs typeface="Calibri"/>
              <a:sym typeface="Calibri"/>
            </a:endParaRPr>
          </a:p>
        </p:txBody>
      </p:sp>
      <p:sp>
        <p:nvSpPr>
          <p:cNvPr id="429" name="Google Shape;429;p27"/>
          <p:cNvSpPr/>
          <p:nvPr/>
        </p:nvSpPr>
        <p:spPr>
          <a:xfrm>
            <a:off x="274320" y="2715768"/>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7"/>
          <p:cNvSpPr/>
          <p:nvPr/>
        </p:nvSpPr>
        <p:spPr>
          <a:xfrm>
            <a:off x="365760" y="27432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Service line volume — GROW PROFITABLE LINES</a:t>
            </a:r>
            <a:endParaRPr b="0" i="0" sz="1000" u="none" cap="none" strike="noStrike">
              <a:solidFill>
                <a:schemeClr val="dk1"/>
              </a:solidFill>
              <a:latin typeface="Calibri"/>
              <a:ea typeface="Calibri"/>
              <a:cs typeface="Calibri"/>
              <a:sym typeface="Calibri"/>
            </a:endParaRPr>
          </a:p>
        </p:txBody>
      </p:sp>
      <p:sp>
        <p:nvSpPr>
          <p:cNvPr id="431" name="Google Shape;431;p27"/>
          <p:cNvSpPr/>
          <p:nvPr/>
        </p:nvSpPr>
        <p:spPr>
          <a:xfrm>
            <a:off x="274320" y="3200400"/>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7"/>
          <p:cNvSpPr/>
          <p:nvPr/>
        </p:nvSpPr>
        <p:spPr>
          <a:xfrm>
            <a:off x="365760" y="3227832"/>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Payer mix — MORE COMMERCIAL = BETTER</a:t>
            </a:r>
            <a:endParaRPr b="0" i="0" sz="1000" u="none" cap="none" strike="noStrike">
              <a:solidFill>
                <a:schemeClr val="dk1"/>
              </a:solidFill>
              <a:latin typeface="Calibri"/>
              <a:ea typeface="Calibri"/>
              <a:cs typeface="Calibri"/>
              <a:sym typeface="Calibri"/>
            </a:endParaRPr>
          </a:p>
        </p:txBody>
      </p:sp>
      <p:sp>
        <p:nvSpPr>
          <p:cNvPr id="433" name="Google Shape;433;p27"/>
          <p:cNvSpPr/>
          <p:nvPr/>
        </p:nvSpPr>
        <p:spPr>
          <a:xfrm>
            <a:off x="274320" y="3685032"/>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7"/>
          <p:cNvSpPr/>
          <p:nvPr/>
        </p:nvSpPr>
        <p:spPr>
          <a:xfrm>
            <a:off x="365760" y="371246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Denials management — RECOVER DENIED CLAIMS</a:t>
            </a:r>
            <a:endParaRPr b="0" i="0" sz="1000" u="none" cap="none" strike="noStrike">
              <a:solidFill>
                <a:schemeClr val="dk1"/>
              </a:solidFill>
              <a:latin typeface="Calibri"/>
              <a:ea typeface="Calibri"/>
              <a:cs typeface="Calibri"/>
              <a:sym typeface="Calibri"/>
            </a:endParaRPr>
          </a:p>
        </p:txBody>
      </p:sp>
      <p:sp>
        <p:nvSpPr>
          <p:cNvPr id="435" name="Google Shape;435;p27"/>
          <p:cNvSpPr/>
          <p:nvPr/>
        </p:nvSpPr>
        <p:spPr>
          <a:xfrm>
            <a:off x="274320" y="4169664"/>
            <a:ext cx="4023360" cy="420624"/>
          </a:xfrm>
          <a:prstGeom prst="rect">
            <a:avLst/>
          </a:prstGeom>
          <a:solidFill>
            <a:srgbClr val="FAE0E0"/>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7"/>
          <p:cNvSpPr/>
          <p:nvPr/>
        </p:nvSpPr>
        <p:spPr>
          <a:xfrm>
            <a:off x="365760" y="419709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Case mix index — CAPTURE HIGHER ACUITY</a:t>
            </a:r>
            <a:endParaRPr b="0" i="0" sz="1000" u="none" cap="none" strike="noStrike">
              <a:solidFill>
                <a:schemeClr val="dk1"/>
              </a:solidFill>
              <a:latin typeface="Calibri"/>
              <a:ea typeface="Calibri"/>
              <a:cs typeface="Calibri"/>
              <a:sym typeface="Calibri"/>
            </a:endParaRPr>
          </a:p>
        </p:txBody>
      </p:sp>
      <p:sp>
        <p:nvSpPr>
          <p:cNvPr id="437" name="Google Shape;437;p27"/>
          <p:cNvSpPr/>
          <p:nvPr/>
        </p:nvSpPr>
        <p:spPr>
          <a:xfrm>
            <a:off x="4846320" y="1261872"/>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7"/>
          <p:cNvSpPr/>
          <p:nvPr/>
        </p:nvSpPr>
        <p:spPr>
          <a:xfrm>
            <a:off x="4937760" y="128930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Cost per discharge — MINIMIZE UNNECESSARY COST</a:t>
            </a:r>
            <a:endParaRPr b="0" i="0" sz="1000" u="none" cap="none" strike="noStrike">
              <a:solidFill>
                <a:schemeClr val="dk1"/>
              </a:solidFill>
              <a:latin typeface="Calibri"/>
              <a:ea typeface="Calibri"/>
              <a:cs typeface="Calibri"/>
              <a:sym typeface="Calibri"/>
            </a:endParaRPr>
          </a:p>
        </p:txBody>
      </p:sp>
      <p:sp>
        <p:nvSpPr>
          <p:cNvPr id="439" name="Google Shape;439;p27"/>
          <p:cNvSpPr/>
          <p:nvPr/>
        </p:nvSpPr>
        <p:spPr>
          <a:xfrm>
            <a:off x="4846320" y="1746504"/>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7"/>
          <p:cNvSpPr/>
          <p:nvPr/>
        </p:nvSpPr>
        <p:spPr>
          <a:xfrm>
            <a:off x="4937760" y="177393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Avoidable admission rate — LOWER IS BETTER</a:t>
            </a:r>
            <a:endParaRPr b="0" i="0" sz="1000" u="none" cap="none" strike="noStrike">
              <a:solidFill>
                <a:schemeClr val="dk1"/>
              </a:solidFill>
              <a:latin typeface="Calibri"/>
              <a:ea typeface="Calibri"/>
              <a:cs typeface="Calibri"/>
              <a:sym typeface="Calibri"/>
            </a:endParaRPr>
          </a:p>
        </p:txBody>
      </p:sp>
      <p:sp>
        <p:nvSpPr>
          <p:cNvPr id="441" name="Google Shape;441;p27"/>
          <p:cNvSpPr/>
          <p:nvPr/>
        </p:nvSpPr>
        <p:spPr>
          <a:xfrm>
            <a:off x="4846320" y="2231136"/>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7"/>
          <p:cNvSpPr/>
          <p:nvPr/>
        </p:nvSpPr>
        <p:spPr>
          <a:xfrm>
            <a:off x="4937760" y="225856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Efficient LOS — UNNECESSARY DAYS = COST</a:t>
            </a:r>
            <a:endParaRPr b="0" i="0" sz="1000" u="none" cap="none" strike="noStrike">
              <a:solidFill>
                <a:schemeClr val="dk1"/>
              </a:solidFill>
              <a:latin typeface="Calibri"/>
              <a:ea typeface="Calibri"/>
              <a:cs typeface="Calibri"/>
              <a:sym typeface="Calibri"/>
            </a:endParaRPr>
          </a:p>
        </p:txBody>
      </p:sp>
      <p:sp>
        <p:nvSpPr>
          <p:cNvPr id="443" name="Google Shape;443;p27"/>
          <p:cNvSpPr/>
          <p:nvPr/>
        </p:nvSpPr>
        <p:spPr>
          <a:xfrm>
            <a:off x="4846320" y="2715768"/>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7"/>
          <p:cNvSpPr/>
          <p:nvPr/>
        </p:nvSpPr>
        <p:spPr>
          <a:xfrm>
            <a:off x="4937760" y="27432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PMPM population health cost — STAY IN BUDGET</a:t>
            </a:r>
            <a:endParaRPr b="0" i="0" sz="1000" u="none" cap="none" strike="noStrike">
              <a:solidFill>
                <a:schemeClr val="dk1"/>
              </a:solidFill>
              <a:latin typeface="Calibri"/>
              <a:ea typeface="Calibri"/>
              <a:cs typeface="Calibri"/>
              <a:sym typeface="Calibri"/>
            </a:endParaRPr>
          </a:p>
        </p:txBody>
      </p:sp>
      <p:sp>
        <p:nvSpPr>
          <p:cNvPr id="445" name="Google Shape;445;p27"/>
          <p:cNvSpPr/>
          <p:nvPr/>
        </p:nvSpPr>
        <p:spPr>
          <a:xfrm>
            <a:off x="4846320" y="3200400"/>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7"/>
          <p:cNvSpPr/>
          <p:nvPr/>
        </p:nvSpPr>
        <p:spPr>
          <a:xfrm>
            <a:off x="4937760" y="3227832"/>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Quality performance — DETERMINES ADJUSTMENTS</a:t>
            </a:r>
            <a:endParaRPr b="0" i="0" sz="1000" u="none" cap="none" strike="noStrike">
              <a:solidFill>
                <a:schemeClr val="dk1"/>
              </a:solidFill>
              <a:latin typeface="Calibri"/>
              <a:ea typeface="Calibri"/>
              <a:cs typeface="Calibri"/>
              <a:sym typeface="Calibri"/>
            </a:endParaRPr>
          </a:p>
        </p:txBody>
      </p:sp>
      <p:sp>
        <p:nvSpPr>
          <p:cNvPr id="447" name="Google Shape;447;p27"/>
          <p:cNvSpPr/>
          <p:nvPr/>
        </p:nvSpPr>
        <p:spPr>
          <a:xfrm>
            <a:off x="4846320" y="3685032"/>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7"/>
          <p:cNvSpPr/>
          <p:nvPr/>
        </p:nvSpPr>
        <p:spPr>
          <a:xfrm>
            <a:off x="4937760" y="371246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Potentially avoidable utilization — PREVENT THEM</a:t>
            </a:r>
            <a:endParaRPr b="0" i="0" sz="1000" u="none" cap="none" strike="noStrike">
              <a:solidFill>
                <a:schemeClr val="dk1"/>
              </a:solidFill>
              <a:latin typeface="Calibri"/>
              <a:ea typeface="Calibri"/>
              <a:cs typeface="Calibri"/>
              <a:sym typeface="Calibri"/>
            </a:endParaRPr>
          </a:p>
        </p:txBody>
      </p:sp>
      <p:sp>
        <p:nvSpPr>
          <p:cNvPr id="449" name="Google Shape;449;p27"/>
          <p:cNvSpPr/>
          <p:nvPr/>
        </p:nvSpPr>
        <p:spPr>
          <a:xfrm>
            <a:off x="4846320" y="4169664"/>
            <a:ext cx="4023360" cy="420624"/>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7"/>
          <p:cNvSpPr/>
          <p:nvPr/>
        </p:nvSpPr>
        <p:spPr>
          <a:xfrm>
            <a:off x="4937760" y="419709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Community investment ROI — SDOH PROGRAMS SAVE MONEY</a:t>
            </a:r>
            <a:endParaRPr b="0" i="0" sz="1000" u="none" cap="none" strike="noStrike">
              <a:solidFill>
                <a:schemeClr val="dk1"/>
              </a:solidFill>
              <a:latin typeface="Calibri"/>
              <a:ea typeface="Calibri"/>
              <a:cs typeface="Calibri"/>
              <a:sym typeface="Calibri"/>
            </a:endParaRPr>
          </a:p>
        </p:txBody>
      </p:sp>
      <p:sp>
        <p:nvSpPr>
          <p:cNvPr id="451" name="Google Shape;451;p27"/>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6 / Chapter 7 — Source: HTR Economics Pillar framework; Maryland HSCRC experience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28"/>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MARYLAND'S GLOBAL BUDGET PROOF OF CONCEPT</a:t>
            </a:r>
            <a:endParaRPr b="0" i="0" sz="2000" u="none" cap="none" strike="noStrike">
              <a:solidFill>
                <a:schemeClr val="dk1"/>
              </a:solidFill>
              <a:latin typeface="Calibri"/>
              <a:ea typeface="Calibri"/>
              <a:cs typeface="Calibri"/>
              <a:sym typeface="Calibri"/>
            </a:endParaRPr>
          </a:p>
        </p:txBody>
      </p:sp>
      <p:sp>
        <p:nvSpPr>
          <p:cNvPr id="458" name="Google Shape;458;p28"/>
          <p:cNvSpPr/>
          <p:nvPr/>
        </p:nvSpPr>
        <p:spPr>
          <a:xfrm>
            <a:off x="365760" y="566928"/>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Maryland Health Services Cost Review Commission — results after 10+ years of all-payer global hospital budgets</a:t>
            </a:r>
            <a:endParaRPr b="0" i="0" sz="1100" u="none" cap="none" strike="noStrike">
              <a:solidFill>
                <a:schemeClr val="dk1"/>
              </a:solidFill>
              <a:latin typeface="Calibri"/>
              <a:ea typeface="Calibri"/>
              <a:cs typeface="Calibri"/>
              <a:sym typeface="Calibri"/>
            </a:endParaRPr>
          </a:p>
        </p:txBody>
      </p:sp>
      <p:sp>
        <p:nvSpPr>
          <p:cNvPr id="459" name="Google Shape;459;p28"/>
          <p:cNvSpPr/>
          <p:nvPr/>
        </p:nvSpPr>
        <p:spPr>
          <a:xfrm>
            <a:off x="274320" y="960120"/>
            <a:ext cx="1920240" cy="1920240"/>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8"/>
          <p:cNvSpPr/>
          <p:nvPr/>
        </p:nvSpPr>
        <p:spPr>
          <a:xfrm>
            <a:off x="274320" y="960120"/>
            <a:ext cx="1920240" cy="32004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8"/>
          <p:cNvSpPr/>
          <p:nvPr/>
        </p:nvSpPr>
        <p:spPr>
          <a:xfrm>
            <a:off x="274320" y="1353312"/>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6B3C"/>
              </a:buClr>
              <a:buSzPts val="4000"/>
              <a:buFont typeface="Calibri"/>
              <a:buNone/>
            </a:pPr>
            <a:r>
              <a:rPr b="1" i="0" lang="en-US" sz="4000" u="none" cap="none" strike="noStrike">
                <a:solidFill>
                  <a:srgbClr val="1E6B3C"/>
                </a:solidFill>
                <a:latin typeface="Calibri"/>
                <a:ea typeface="Calibri"/>
                <a:cs typeface="Calibri"/>
                <a:sym typeface="Calibri"/>
              </a:rPr>
              <a:t>$1.4B</a:t>
            </a:r>
            <a:endParaRPr b="0" i="0" sz="4000" u="none" cap="none" strike="noStrike">
              <a:solidFill>
                <a:schemeClr val="dk1"/>
              </a:solidFill>
              <a:latin typeface="Calibri"/>
              <a:ea typeface="Calibri"/>
              <a:cs typeface="Calibri"/>
              <a:sym typeface="Calibri"/>
            </a:endParaRPr>
          </a:p>
        </p:txBody>
      </p:sp>
      <p:sp>
        <p:nvSpPr>
          <p:cNvPr id="462" name="Google Shape;462;p28"/>
          <p:cNvSpPr/>
          <p:nvPr/>
        </p:nvSpPr>
        <p:spPr>
          <a:xfrm>
            <a:off x="365760" y="2057400"/>
            <a:ext cx="17373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Medicare savings generated</a:t>
            </a:r>
            <a:endParaRPr b="0" i="0" sz="1000" u="none" cap="none" strike="noStrike">
              <a:solidFill>
                <a:schemeClr val="dk1"/>
              </a:solidFill>
              <a:latin typeface="Calibri"/>
              <a:ea typeface="Calibri"/>
              <a:cs typeface="Calibri"/>
              <a:sym typeface="Calibri"/>
            </a:endParaRPr>
          </a:p>
        </p:txBody>
      </p:sp>
      <p:sp>
        <p:nvSpPr>
          <p:cNvPr id="463" name="Google Shape;463;p28"/>
          <p:cNvSpPr/>
          <p:nvPr/>
        </p:nvSpPr>
        <p:spPr>
          <a:xfrm>
            <a:off x="365760" y="2423160"/>
            <a:ext cx="17373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Cumulative savings vs. national trend</a:t>
            </a:r>
            <a:endParaRPr b="0" i="0" sz="950" u="none" cap="none" strike="noStrike">
              <a:solidFill>
                <a:schemeClr val="dk1"/>
              </a:solidFill>
              <a:latin typeface="Calibri"/>
              <a:ea typeface="Calibri"/>
              <a:cs typeface="Calibri"/>
              <a:sym typeface="Calibri"/>
            </a:endParaRPr>
          </a:p>
        </p:txBody>
      </p:sp>
      <p:sp>
        <p:nvSpPr>
          <p:cNvPr id="464" name="Google Shape;464;p28"/>
          <p:cNvSpPr/>
          <p:nvPr/>
        </p:nvSpPr>
        <p:spPr>
          <a:xfrm>
            <a:off x="2423160" y="960120"/>
            <a:ext cx="1920240" cy="192024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8"/>
          <p:cNvSpPr/>
          <p:nvPr/>
        </p:nvSpPr>
        <p:spPr>
          <a:xfrm>
            <a:off x="2423160" y="960120"/>
            <a:ext cx="1920240" cy="320040"/>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8"/>
          <p:cNvSpPr/>
          <p:nvPr/>
        </p:nvSpPr>
        <p:spPr>
          <a:xfrm>
            <a:off x="2423160" y="1353312"/>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5F6B"/>
              </a:buClr>
              <a:buSzPts val="4000"/>
              <a:buFont typeface="Calibri"/>
              <a:buNone/>
            </a:pPr>
            <a:r>
              <a:rPr b="1" i="0" lang="en-US" sz="4000" u="none" cap="none" strike="noStrike">
                <a:solidFill>
                  <a:srgbClr val="0D5F6B"/>
                </a:solidFill>
                <a:latin typeface="Calibri"/>
                <a:ea typeface="Calibri"/>
                <a:cs typeface="Calibri"/>
                <a:sym typeface="Calibri"/>
              </a:rPr>
              <a:t>−7%</a:t>
            </a:r>
            <a:endParaRPr b="0" i="0" sz="4000" u="none" cap="none" strike="noStrike">
              <a:solidFill>
                <a:schemeClr val="dk1"/>
              </a:solidFill>
              <a:latin typeface="Calibri"/>
              <a:ea typeface="Calibri"/>
              <a:cs typeface="Calibri"/>
              <a:sym typeface="Calibri"/>
            </a:endParaRPr>
          </a:p>
        </p:txBody>
      </p:sp>
      <p:sp>
        <p:nvSpPr>
          <p:cNvPr id="467" name="Google Shape;467;p28"/>
          <p:cNvSpPr/>
          <p:nvPr/>
        </p:nvSpPr>
        <p:spPr>
          <a:xfrm>
            <a:off x="2514600" y="2057400"/>
            <a:ext cx="17373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Hospital admission rate reduction</a:t>
            </a:r>
            <a:endParaRPr b="0" i="0" sz="1000" u="none" cap="none" strike="noStrike">
              <a:solidFill>
                <a:schemeClr val="dk1"/>
              </a:solidFill>
              <a:latin typeface="Calibri"/>
              <a:ea typeface="Calibri"/>
              <a:cs typeface="Calibri"/>
              <a:sym typeface="Calibri"/>
            </a:endParaRPr>
          </a:p>
        </p:txBody>
      </p:sp>
      <p:sp>
        <p:nvSpPr>
          <p:cNvPr id="468" name="Google Shape;468;p28"/>
          <p:cNvSpPr/>
          <p:nvPr/>
        </p:nvSpPr>
        <p:spPr>
          <a:xfrm>
            <a:off x="2514600" y="2423160"/>
            <a:ext cx="17373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Compared to national average trajectory</a:t>
            </a:r>
            <a:endParaRPr b="0" i="0" sz="950" u="none" cap="none" strike="noStrike">
              <a:solidFill>
                <a:schemeClr val="dk1"/>
              </a:solidFill>
              <a:latin typeface="Calibri"/>
              <a:ea typeface="Calibri"/>
              <a:cs typeface="Calibri"/>
              <a:sym typeface="Calibri"/>
            </a:endParaRPr>
          </a:p>
        </p:txBody>
      </p:sp>
      <p:sp>
        <p:nvSpPr>
          <p:cNvPr id="469" name="Google Shape;469;p28"/>
          <p:cNvSpPr/>
          <p:nvPr/>
        </p:nvSpPr>
        <p:spPr>
          <a:xfrm>
            <a:off x="4572000" y="960120"/>
            <a:ext cx="1920240" cy="192024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8"/>
          <p:cNvSpPr/>
          <p:nvPr/>
        </p:nvSpPr>
        <p:spPr>
          <a:xfrm>
            <a:off x="4572000" y="960120"/>
            <a:ext cx="1920240" cy="32004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8"/>
          <p:cNvSpPr/>
          <p:nvPr/>
        </p:nvSpPr>
        <p:spPr>
          <a:xfrm>
            <a:off x="4572000" y="1353312"/>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5B6"/>
              </a:buClr>
              <a:buSzPts val="4000"/>
              <a:buFont typeface="Calibri"/>
              <a:buNone/>
            </a:pPr>
            <a:r>
              <a:rPr b="1" i="0" lang="en-US" sz="4000" u="none" cap="none" strike="noStrike">
                <a:solidFill>
                  <a:srgbClr val="2E75B6"/>
                </a:solidFill>
                <a:latin typeface="Calibri"/>
                <a:ea typeface="Calibri"/>
                <a:cs typeface="Calibri"/>
                <a:sym typeface="Calibri"/>
              </a:rPr>
              <a:t>30yr</a:t>
            </a:r>
            <a:endParaRPr b="0" i="0" sz="4000" u="none" cap="none" strike="noStrike">
              <a:solidFill>
                <a:schemeClr val="dk1"/>
              </a:solidFill>
              <a:latin typeface="Calibri"/>
              <a:ea typeface="Calibri"/>
              <a:cs typeface="Calibri"/>
              <a:sym typeface="Calibri"/>
            </a:endParaRPr>
          </a:p>
        </p:txBody>
      </p:sp>
      <p:sp>
        <p:nvSpPr>
          <p:cNvPr id="472" name="Google Shape;472;p28"/>
          <p:cNvSpPr/>
          <p:nvPr/>
        </p:nvSpPr>
        <p:spPr>
          <a:xfrm>
            <a:off x="4663440" y="2057400"/>
            <a:ext cx="17373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Duration of global budget model</a:t>
            </a:r>
            <a:endParaRPr b="0" i="0" sz="1000" u="none" cap="none" strike="noStrike">
              <a:solidFill>
                <a:schemeClr val="dk1"/>
              </a:solidFill>
              <a:latin typeface="Calibri"/>
              <a:ea typeface="Calibri"/>
              <a:cs typeface="Calibri"/>
              <a:sym typeface="Calibri"/>
            </a:endParaRPr>
          </a:p>
        </p:txBody>
      </p:sp>
      <p:sp>
        <p:nvSpPr>
          <p:cNvPr id="473" name="Google Shape;473;p28"/>
          <p:cNvSpPr/>
          <p:nvPr/>
        </p:nvSpPr>
        <p:spPr>
          <a:xfrm>
            <a:off x="4663440" y="2423160"/>
            <a:ext cx="17373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Longest-running all-payer hospital budget system</a:t>
            </a:r>
            <a:endParaRPr b="0" i="0" sz="950" u="none" cap="none" strike="noStrike">
              <a:solidFill>
                <a:schemeClr val="dk1"/>
              </a:solidFill>
              <a:latin typeface="Calibri"/>
              <a:ea typeface="Calibri"/>
              <a:cs typeface="Calibri"/>
              <a:sym typeface="Calibri"/>
            </a:endParaRPr>
          </a:p>
        </p:txBody>
      </p:sp>
      <p:sp>
        <p:nvSpPr>
          <p:cNvPr id="474" name="Google Shape;474;p28"/>
          <p:cNvSpPr/>
          <p:nvPr/>
        </p:nvSpPr>
        <p:spPr>
          <a:xfrm>
            <a:off x="6720840" y="960120"/>
            <a:ext cx="1920240" cy="192024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8"/>
          <p:cNvSpPr/>
          <p:nvPr/>
        </p:nvSpPr>
        <p:spPr>
          <a:xfrm>
            <a:off x="6720840" y="960120"/>
            <a:ext cx="1920240" cy="32004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8"/>
          <p:cNvSpPr/>
          <p:nvPr/>
        </p:nvSpPr>
        <p:spPr>
          <a:xfrm>
            <a:off x="6720840" y="1353312"/>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5C8B"/>
              </a:buClr>
              <a:buSzPts val="4000"/>
              <a:buFont typeface="Calibri"/>
              <a:buNone/>
            </a:pPr>
            <a:r>
              <a:rPr b="1" i="0" lang="en-US" sz="4000" u="none" cap="none" strike="noStrike">
                <a:solidFill>
                  <a:srgbClr val="1F5C8B"/>
                </a:solidFill>
                <a:latin typeface="Calibri"/>
                <a:ea typeface="Calibri"/>
                <a:cs typeface="Calibri"/>
                <a:sym typeface="Calibri"/>
              </a:rPr>
              <a:t>#1</a:t>
            </a:r>
            <a:endParaRPr b="0" i="0" sz="4000" u="none" cap="none" strike="noStrike">
              <a:solidFill>
                <a:schemeClr val="dk1"/>
              </a:solidFill>
              <a:latin typeface="Calibri"/>
              <a:ea typeface="Calibri"/>
              <a:cs typeface="Calibri"/>
              <a:sym typeface="Calibri"/>
            </a:endParaRPr>
          </a:p>
        </p:txBody>
      </p:sp>
      <p:sp>
        <p:nvSpPr>
          <p:cNvPr id="477" name="Google Shape;477;p28"/>
          <p:cNvSpPr/>
          <p:nvPr/>
        </p:nvSpPr>
        <p:spPr>
          <a:xfrm>
            <a:off x="6812280" y="2057400"/>
            <a:ext cx="17373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Calibri"/>
              <a:buNone/>
            </a:pPr>
            <a:r>
              <a:rPr b="1" i="0" lang="en-US" sz="1000" u="none" cap="none" strike="noStrike">
                <a:solidFill>
                  <a:srgbClr val="1A1A1A"/>
                </a:solidFill>
                <a:latin typeface="Calibri"/>
                <a:ea typeface="Calibri"/>
                <a:cs typeface="Calibri"/>
                <a:sym typeface="Calibri"/>
              </a:rPr>
              <a:t>Medicare per-capita spending rank</a:t>
            </a:r>
            <a:endParaRPr b="0" i="0" sz="1000" u="none" cap="none" strike="noStrike">
              <a:solidFill>
                <a:schemeClr val="dk1"/>
              </a:solidFill>
              <a:latin typeface="Calibri"/>
              <a:ea typeface="Calibri"/>
              <a:cs typeface="Calibri"/>
              <a:sym typeface="Calibri"/>
            </a:endParaRPr>
          </a:p>
        </p:txBody>
      </p:sp>
      <p:sp>
        <p:nvSpPr>
          <p:cNvPr id="478" name="Google Shape;478;p28"/>
          <p:cNvSpPr/>
          <p:nvPr/>
        </p:nvSpPr>
        <p:spPr>
          <a:xfrm>
            <a:off x="6812280" y="2423160"/>
            <a:ext cx="17373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Maryland moved from high-cost to lowest-cost state</a:t>
            </a:r>
            <a:endParaRPr b="0" i="0" sz="950" u="none" cap="none" strike="noStrike">
              <a:solidFill>
                <a:schemeClr val="dk1"/>
              </a:solidFill>
              <a:latin typeface="Calibri"/>
              <a:ea typeface="Calibri"/>
              <a:cs typeface="Calibri"/>
              <a:sym typeface="Calibri"/>
            </a:endParaRPr>
          </a:p>
        </p:txBody>
      </p:sp>
      <p:sp>
        <p:nvSpPr>
          <p:cNvPr id="479" name="Google Shape;479;p28"/>
          <p:cNvSpPr/>
          <p:nvPr/>
        </p:nvSpPr>
        <p:spPr>
          <a:xfrm>
            <a:off x="274320" y="3063240"/>
            <a:ext cx="8595360" cy="1737360"/>
          </a:xfrm>
          <a:prstGeom prst="rect">
            <a:avLst/>
          </a:prstGeom>
          <a:solidFill>
            <a:srgbClr val="D5E8F0"/>
          </a:solidFill>
          <a:ln cap="flat" cmpd="sng" w="12700">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8"/>
          <p:cNvSpPr/>
          <p:nvPr/>
        </p:nvSpPr>
        <p:spPr>
          <a:xfrm>
            <a:off x="457200" y="3154680"/>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300"/>
              <a:buFont typeface="Calibri"/>
              <a:buNone/>
            </a:pPr>
            <a:r>
              <a:rPr b="1" i="0" lang="en-US" sz="1300" u="none" cap="none" strike="noStrike">
                <a:solidFill>
                  <a:srgbClr val="1F5C8B"/>
                </a:solidFill>
                <a:latin typeface="Calibri"/>
                <a:ea typeface="Calibri"/>
                <a:cs typeface="Calibri"/>
                <a:sym typeface="Calibri"/>
              </a:rPr>
              <a:t>WHAT MARYLAND PROVES FOR VERMONT</a:t>
            </a:r>
            <a:endParaRPr b="0" i="0" sz="1300" u="none" cap="none" strike="noStrike">
              <a:solidFill>
                <a:schemeClr val="dk1"/>
              </a:solidFill>
              <a:latin typeface="Calibri"/>
              <a:ea typeface="Calibri"/>
              <a:cs typeface="Calibri"/>
              <a:sym typeface="Calibri"/>
            </a:endParaRPr>
          </a:p>
        </p:txBody>
      </p:sp>
      <p:sp>
        <p:nvSpPr>
          <p:cNvPr id="481" name="Google Shape;481;p28"/>
          <p:cNvSpPr/>
          <p:nvPr/>
        </p:nvSpPr>
        <p:spPr>
          <a:xfrm>
            <a:off x="457200" y="3547872"/>
            <a:ext cx="822960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Global budgets can produce documented Medicare savings and utilization reduction. The model requires: (1) Mandatory participation — no opt-out. (2) All-payer design — Medicare, Medicaid, and commercial aligned. (3) State regulatory authority — Maryland's HSCRC has 30 years of institutional capacity. Vermont's GMCB is building this capacity now.</a:t>
            </a:r>
            <a:endParaRPr b="0" i="0" sz="1050" u="none" cap="none" strike="noStrike">
              <a:solidFill>
                <a:schemeClr val="dk1"/>
              </a:solidFill>
              <a:latin typeface="Calibri"/>
              <a:ea typeface="Calibri"/>
              <a:cs typeface="Calibri"/>
              <a:sym typeface="Calibri"/>
            </a:endParaRPr>
          </a:p>
        </p:txBody>
      </p:sp>
      <p:sp>
        <p:nvSpPr>
          <p:cNvPr id="482" name="Google Shape;482;p28"/>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6 — Source: Maryland HSCRC; CMMI AHEAD Model documentation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487" name="Shape 487"/>
        <p:cNvGrpSpPr/>
        <p:nvPr/>
      </p:nvGrpSpPr>
      <p:grpSpPr>
        <a:xfrm>
          <a:off x="0" y="0"/>
          <a:ext cx="0" cy="0"/>
          <a:chOff x="0" y="0"/>
          <a:chExt cx="0" cy="0"/>
        </a:xfrm>
      </p:grpSpPr>
      <p:sp>
        <p:nvSpPr>
          <p:cNvPr id="488" name="Google Shape;488;p29"/>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VERMONT'S TOTAL COST OF CARE ACCOUNTABILITY ARCHITECTURE</a:t>
            </a:r>
            <a:endParaRPr b="0" i="0" sz="1700" u="none" cap="none" strike="noStrike">
              <a:solidFill>
                <a:schemeClr val="dk1"/>
              </a:solidFill>
              <a:latin typeface="Calibri"/>
              <a:ea typeface="Calibri"/>
              <a:cs typeface="Calibri"/>
              <a:sym typeface="Calibri"/>
            </a:endParaRPr>
          </a:p>
        </p:txBody>
      </p:sp>
      <p:sp>
        <p:nvSpPr>
          <p:cNvPr id="489" name="Google Shape;489;p29"/>
          <p:cNvSpPr/>
          <p:nvPr/>
        </p:nvSpPr>
        <p:spPr>
          <a:xfrm>
            <a:off x="274320" y="713232"/>
            <a:ext cx="8595360" cy="905256"/>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9"/>
          <p:cNvSpPr/>
          <p:nvPr/>
        </p:nvSpPr>
        <p:spPr>
          <a:xfrm>
            <a:off x="274320" y="713232"/>
            <a:ext cx="1463040" cy="905256"/>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9"/>
          <p:cNvSpPr/>
          <p:nvPr/>
        </p:nvSpPr>
        <p:spPr>
          <a:xfrm>
            <a:off x="274320" y="804672"/>
            <a:ext cx="1463040" cy="722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FEDERAL LAYER</a:t>
            </a:r>
            <a:endParaRPr b="0" i="0" sz="1000" u="none" cap="none" strike="noStrike">
              <a:solidFill>
                <a:schemeClr val="dk1"/>
              </a:solidFill>
              <a:latin typeface="Calibri"/>
              <a:ea typeface="Calibri"/>
              <a:cs typeface="Calibri"/>
              <a:sym typeface="Calibri"/>
            </a:endParaRPr>
          </a:p>
        </p:txBody>
      </p:sp>
      <p:sp>
        <p:nvSpPr>
          <p:cNvPr id="492" name="Google Shape;492;p29"/>
          <p:cNvSpPr/>
          <p:nvPr/>
        </p:nvSpPr>
        <p:spPr>
          <a:xfrm>
            <a:off x="1920240" y="768096"/>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AHEAD Model TCOC Target</a:t>
            </a:r>
            <a:endParaRPr b="0" i="0" sz="1200" u="none" cap="none" strike="noStrike">
              <a:solidFill>
                <a:schemeClr val="dk1"/>
              </a:solidFill>
              <a:latin typeface="Calibri"/>
              <a:ea typeface="Calibri"/>
              <a:cs typeface="Calibri"/>
              <a:sym typeface="Calibri"/>
            </a:endParaRPr>
          </a:p>
        </p:txBody>
      </p:sp>
      <p:sp>
        <p:nvSpPr>
          <p:cNvPr id="493" name="Google Shape;493;p29"/>
          <p:cNvSpPr/>
          <p:nvPr/>
        </p:nvSpPr>
        <p:spPr>
          <a:xfrm>
            <a:off x="1920240" y="1115568"/>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CMS sets state-level total cost of care benchmark for Vermont Medicare FFS. Vermont accountable for staying below benchmark. Consequences after Year 3. Up to $150M/year EAST Fund.</a:t>
            </a:r>
            <a:endParaRPr b="0" i="0" sz="1000" u="none" cap="none" strike="noStrike">
              <a:solidFill>
                <a:schemeClr val="dk1"/>
              </a:solidFill>
              <a:latin typeface="Calibri"/>
              <a:ea typeface="Calibri"/>
              <a:cs typeface="Calibri"/>
              <a:sym typeface="Calibri"/>
            </a:endParaRPr>
          </a:p>
        </p:txBody>
      </p:sp>
      <p:sp>
        <p:nvSpPr>
          <p:cNvPr id="494" name="Google Shape;494;p29"/>
          <p:cNvSpPr/>
          <p:nvPr/>
        </p:nvSpPr>
        <p:spPr>
          <a:xfrm>
            <a:off x="274320" y="1828800"/>
            <a:ext cx="8595360" cy="905256"/>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9"/>
          <p:cNvSpPr/>
          <p:nvPr/>
        </p:nvSpPr>
        <p:spPr>
          <a:xfrm>
            <a:off x="274320" y="1828800"/>
            <a:ext cx="1463040" cy="905256"/>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9"/>
          <p:cNvSpPr/>
          <p:nvPr/>
        </p:nvSpPr>
        <p:spPr>
          <a:xfrm>
            <a:off x="274320" y="1920240"/>
            <a:ext cx="1463040" cy="722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STATE LAYER</a:t>
            </a:r>
            <a:endParaRPr b="0" i="0" sz="1000" u="none" cap="none" strike="noStrike">
              <a:solidFill>
                <a:schemeClr val="dk1"/>
              </a:solidFill>
              <a:latin typeface="Calibri"/>
              <a:ea typeface="Calibri"/>
              <a:cs typeface="Calibri"/>
              <a:sym typeface="Calibri"/>
            </a:endParaRPr>
          </a:p>
        </p:txBody>
      </p:sp>
      <p:sp>
        <p:nvSpPr>
          <p:cNvPr id="497" name="Google Shape;497;p29"/>
          <p:cNvSpPr/>
          <p:nvPr/>
        </p:nvSpPr>
        <p:spPr>
          <a:xfrm>
            <a:off x="1920240" y="1883664"/>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Calibri"/>
              <a:buNone/>
            </a:pPr>
            <a:r>
              <a:rPr b="1" i="0" lang="en-US" sz="1200" u="none" cap="none" strike="noStrike">
                <a:solidFill>
                  <a:srgbClr val="2E75B6"/>
                </a:solidFill>
                <a:latin typeface="Calibri"/>
                <a:ea typeface="Calibri"/>
                <a:cs typeface="Calibri"/>
                <a:sym typeface="Calibri"/>
              </a:rPr>
              <a:t>GMCB Global Hospital Budgets</a:t>
            </a:r>
            <a:endParaRPr b="0" i="0" sz="1200" u="none" cap="none" strike="noStrike">
              <a:solidFill>
                <a:schemeClr val="dk1"/>
              </a:solidFill>
              <a:latin typeface="Calibri"/>
              <a:ea typeface="Calibri"/>
              <a:cs typeface="Calibri"/>
              <a:sym typeface="Calibri"/>
            </a:endParaRPr>
          </a:p>
        </p:txBody>
      </p:sp>
      <p:sp>
        <p:nvSpPr>
          <p:cNvPr id="498" name="Google Shape;498;p29"/>
          <p:cNvSpPr/>
          <p:nvPr/>
        </p:nvSpPr>
        <p:spPr>
          <a:xfrm>
            <a:off x="1920240" y="2231136"/>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Each Vermont hospital receives a prospective annual budget for Medicare FFS. Fixed revenue regardless of volume. Incentive: efficient population health management. Mandatory from FY2028.</a:t>
            </a:r>
            <a:endParaRPr b="0" i="0" sz="1000" u="none" cap="none" strike="noStrike">
              <a:solidFill>
                <a:schemeClr val="dk1"/>
              </a:solidFill>
              <a:latin typeface="Calibri"/>
              <a:ea typeface="Calibri"/>
              <a:cs typeface="Calibri"/>
              <a:sym typeface="Calibri"/>
            </a:endParaRPr>
          </a:p>
        </p:txBody>
      </p:sp>
      <p:sp>
        <p:nvSpPr>
          <p:cNvPr id="499" name="Google Shape;499;p29"/>
          <p:cNvSpPr/>
          <p:nvPr/>
        </p:nvSpPr>
        <p:spPr>
          <a:xfrm>
            <a:off x="274320" y="2944368"/>
            <a:ext cx="8595360" cy="905256"/>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9"/>
          <p:cNvSpPr/>
          <p:nvPr/>
        </p:nvSpPr>
        <p:spPr>
          <a:xfrm>
            <a:off x="274320" y="2944368"/>
            <a:ext cx="1463040" cy="905256"/>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9"/>
          <p:cNvSpPr/>
          <p:nvPr/>
        </p:nvSpPr>
        <p:spPr>
          <a:xfrm>
            <a:off x="274320" y="3035808"/>
            <a:ext cx="1463040" cy="722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PRIMARY CARE LAYER</a:t>
            </a:r>
            <a:endParaRPr b="0" i="0" sz="1000" u="none" cap="none" strike="noStrike">
              <a:solidFill>
                <a:schemeClr val="dk1"/>
              </a:solidFill>
              <a:latin typeface="Calibri"/>
              <a:ea typeface="Calibri"/>
              <a:cs typeface="Calibri"/>
              <a:sym typeface="Calibri"/>
            </a:endParaRPr>
          </a:p>
        </p:txBody>
      </p:sp>
      <p:sp>
        <p:nvSpPr>
          <p:cNvPr id="502" name="Google Shape;502;p29"/>
          <p:cNvSpPr/>
          <p:nvPr/>
        </p:nvSpPr>
        <p:spPr>
          <a:xfrm>
            <a:off x="1920240" y="2999232"/>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Primary Care AHEAD Enhanced Payments</a:t>
            </a:r>
            <a:endParaRPr b="0" i="0" sz="1200" u="none" cap="none" strike="noStrike">
              <a:solidFill>
                <a:schemeClr val="dk1"/>
              </a:solidFill>
              <a:latin typeface="Calibri"/>
              <a:ea typeface="Calibri"/>
              <a:cs typeface="Calibri"/>
              <a:sym typeface="Calibri"/>
            </a:endParaRPr>
          </a:p>
        </p:txBody>
      </p:sp>
      <p:sp>
        <p:nvSpPr>
          <p:cNvPr id="503" name="Google Shape;503;p29"/>
          <p:cNvSpPr/>
          <p:nvPr/>
        </p:nvSpPr>
        <p:spPr>
          <a:xfrm>
            <a:off x="1920240" y="3346704"/>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Vermont PCMH practices receive enhanced prospective Medicare payments under PC AHEAD pathways. Replaces expiring Blueprint Medicare PMPM demonstration. Voluntary — encourages expansion.</a:t>
            </a:r>
            <a:endParaRPr b="0" i="0" sz="1000" u="none" cap="none" strike="noStrike">
              <a:solidFill>
                <a:schemeClr val="dk1"/>
              </a:solidFill>
              <a:latin typeface="Calibri"/>
              <a:ea typeface="Calibri"/>
              <a:cs typeface="Calibri"/>
              <a:sym typeface="Calibri"/>
            </a:endParaRPr>
          </a:p>
        </p:txBody>
      </p:sp>
      <p:sp>
        <p:nvSpPr>
          <p:cNvPr id="504" name="Google Shape;504;p29"/>
          <p:cNvSpPr/>
          <p:nvPr/>
        </p:nvSpPr>
        <p:spPr>
          <a:xfrm>
            <a:off x="274320" y="4059936"/>
            <a:ext cx="8595360" cy="905256"/>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9"/>
          <p:cNvSpPr/>
          <p:nvPr/>
        </p:nvSpPr>
        <p:spPr>
          <a:xfrm>
            <a:off x="274320" y="4059936"/>
            <a:ext cx="1463040" cy="905256"/>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9"/>
          <p:cNvSpPr/>
          <p:nvPr/>
        </p:nvSpPr>
        <p:spPr>
          <a:xfrm>
            <a:off x="274320" y="4151376"/>
            <a:ext cx="1463040" cy="722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INVESTMENT LAYER</a:t>
            </a:r>
            <a:endParaRPr b="0" i="0" sz="1000" u="none" cap="none" strike="noStrike">
              <a:solidFill>
                <a:schemeClr val="dk1"/>
              </a:solidFill>
              <a:latin typeface="Calibri"/>
              <a:ea typeface="Calibri"/>
              <a:cs typeface="Calibri"/>
              <a:sym typeface="Calibri"/>
            </a:endParaRPr>
          </a:p>
        </p:txBody>
      </p:sp>
      <p:sp>
        <p:nvSpPr>
          <p:cNvPr id="507" name="Google Shape;507;p29"/>
          <p:cNvSpPr/>
          <p:nvPr/>
        </p:nvSpPr>
        <p:spPr>
          <a:xfrm>
            <a:off x="1920240" y="4114800"/>
            <a:ext cx="6766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200"/>
              <a:buFont typeface="Calibri"/>
              <a:buNone/>
            </a:pPr>
            <a:r>
              <a:rPr b="1" i="0" lang="en-US" sz="1200" u="none" cap="none" strike="noStrike">
                <a:solidFill>
                  <a:srgbClr val="0D5F6B"/>
                </a:solidFill>
                <a:latin typeface="Calibri"/>
                <a:ea typeface="Calibri"/>
                <a:cs typeface="Calibri"/>
                <a:sym typeface="Calibri"/>
              </a:rPr>
              <a:t>EAST Fund — Transformation Capital</a:t>
            </a:r>
            <a:endParaRPr b="0" i="0" sz="1200" u="none" cap="none" strike="noStrike">
              <a:solidFill>
                <a:schemeClr val="dk1"/>
              </a:solidFill>
              <a:latin typeface="Calibri"/>
              <a:ea typeface="Calibri"/>
              <a:cs typeface="Calibri"/>
              <a:sym typeface="Calibri"/>
            </a:endParaRPr>
          </a:p>
        </p:txBody>
      </p:sp>
      <p:sp>
        <p:nvSpPr>
          <p:cNvPr id="508" name="Google Shape;508;p29"/>
          <p:cNvSpPr/>
          <p:nvPr/>
        </p:nvSpPr>
        <p:spPr>
          <a:xfrm>
            <a:off x="1920240" y="4462272"/>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Vermont receives up to $150M/year in additional Medicare funds for primary care, behavioral health, SDOH, home health, long-term care investments that the payment reform requires.</a:t>
            </a:r>
            <a:endParaRPr b="0" i="0" sz="1000" u="none" cap="none" strike="noStrike">
              <a:solidFill>
                <a:schemeClr val="dk1"/>
              </a:solidFill>
              <a:latin typeface="Calibri"/>
              <a:ea typeface="Calibri"/>
              <a:cs typeface="Calibri"/>
              <a:sym typeface="Calibri"/>
            </a:endParaRPr>
          </a:p>
        </p:txBody>
      </p:sp>
      <p:sp>
        <p:nvSpPr>
          <p:cNvPr id="509" name="Google Shape;509;p29"/>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6 — Source: AHEAD State Agreement (January 2025); Act 68 of 2025; GMCB RBP Update (February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sp>
        <p:nvSpPr>
          <p:cNvPr id="515" name="Google Shape;515;p30"/>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THE FINANCIAL RETURN ON PREVENTION UNDER GLOBAL BUDGETS</a:t>
            </a:r>
            <a:endParaRPr b="0" i="0" sz="1800" u="none" cap="none" strike="noStrike">
              <a:solidFill>
                <a:schemeClr val="dk1"/>
              </a:solidFill>
              <a:latin typeface="Calibri"/>
              <a:ea typeface="Calibri"/>
              <a:cs typeface="Calibri"/>
              <a:sym typeface="Calibri"/>
            </a:endParaRPr>
          </a:p>
        </p:txBody>
      </p:sp>
      <p:pic>
        <p:nvPicPr>
          <p:cNvPr id="516" name="Google Shape;516;p30"/>
          <p:cNvPicPr preferRelativeResize="0"/>
          <p:nvPr/>
        </p:nvPicPr>
        <p:blipFill rotWithShape="1">
          <a:blip r:embed="rId3">
            <a:alphaModFix/>
          </a:blip>
          <a:srcRect b="0" l="0" r="0" t="0"/>
          <a:stretch/>
        </p:blipFill>
        <p:spPr>
          <a:xfrm>
            <a:off x="320040" y="685800"/>
            <a:ext cx="8503920" cy="3474720"/>
          </a:xfrm>
          <a:prstGeom prst="rect">
            <a:avLst/>
          </a:prstGeom>
          <a:noFill/>
          <a:ln>
            <a:noFill/>
          </a:ln>
        </p:spPr>
      </p:pic>
      <p:sp>
        <p:nvSpPr>
          <p:cNvPr id="517" name="Google Shape;517;p30"/>
          <p:cNvSpPr/>
          <p:nvPr/>
        </p:nvSpPr>
        <p:spPr>
          <a:xfrm>
            <a:off x="365760" y="4279392"/>
            <a:ext cx="841248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6B3C"/>
              </a:buClr>
              <a:buSzPts val="1100"/>
              <a:buFont typeface="Calibri"/>
              <a:buNone/>
            </a:pPr>
            <a:r>
              <a:rPr b="0" i="1" lang="en-US" sz="1100" u="none" cap="none" strike="noStrike">
                <a:solidFill>
                  <a:srgbClr val="1E6B3C"/>
                </a:solidFill>
                <a:latin typeface="Calibri"/>
                <a:ea typeface="Calibri"/>
                <a:cs typeface="Calibri"/>
                <a:sym typeface="Calibri"/>
              </a:rPr>
              <a:t>Under FFS, prevention costs money. Under global budgets, prevention saves money. Vermont's Blueprint proves the ROI — $5.8M reduction in medical expenditure per $1M invested (Population Health Management journal).</a:t>
            </a:r>
            <a:endParaRPr b="0" i="0" sz="1100" u="none" cap="none" strike="noStrike">
              <a:solidFill>
                <a:schemeClr val="dk1"/>
              </a:solidFill>
              <a:latin typeface="Calibri"/>
              <a:ea typeface="Calibri"/>
              <a:cs typeface="Calibri"/>
              <a:sym typeface="Calibri"/>
            </a:endParaRPr>
          </a:p>
        </p:txBody>
      </p:sp>
      <p:sp>
        <p:nvSpPr>
          <p:cNvPr id="518" name="Google Shape;518;p30"/>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Chapters 6 &amp; 7 — Source: Population Health Management (Blueprint ROI study); HTR Economics Pillar framework</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523" name="Shape 523"/>
        <p:cNvGrpSpPr/>
        <p:nvPr/>
      </p:nvGrpSpPr>
      <p:grpSpPr>
        <a:xfrm>
          <a:off x="0" y="0"/>
          <a:ext cx="0" cy="0"/>
          <a:chOff x="0" y="0"/>
          <a:chExt cx="0" cy="0"/>
        </a:xfrm>
      </p:grpSpPr>
      <p:sp>
        <p:nvSpPr>
          <p:cNvPr id="524" name="Google Shape;524;p31"/>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1"/>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8</a:t>
            </a:r>
            <a:endParaRPr b="0" i="0" sz="1300" u="none" cap="none" strike="noStrike">
              <a:solidFill>
                <a:schemeClr val="dk1"/>
              </a:solidFill>
              <a:latin typeface="Calibri"/>
              <a:ea typeface="Calibri"/>
              <a:cs typeface="Calibri"/>
              <a:sym typeface="Calibri"/>
            </a:endParaRPr>
          </a:p>
        </p:txBody>
      </p:sp>
      <p:sp>
        <p:nvSpPr>
          <p:cNvPr id="526" name="Google Shape;526;p31"/>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Operations Pillar — Hospital System Transformation</a:t>
            </a:r>
            <a:endParaRPr b="0" i="0" sz="3400" u="none" cap="none" strike="noStrike">
              <a:solidFill>
                <a:schemeClr val="dk1"/>
              </a:solidFill>
              <a:latin typeface="Calibri"/>
              <a:ea typeface="Calibri"/>
              <a:cs typeface="Calibri"/>
              <a:sym typeface="Calibri"/>
            </a:endParaRPr>
          </a:p>
        </p:txBody>
      </p:sp>
      <p:sp>
        <p:nvSpPr>
          <p:cNvPr id="527" name="Google Shape;527;p31"/>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2" name="Shape 532"/>
        <p:cNvGrpSpPr/>
        <p:nvPr/>
      </p:nvGrpSpPr>
      <p:grpSpPr>
        <a:xfrm>
          <a:off x="0" y="0"/>
          <a:ext cx="0" cy="0"/>
          <a:chOff x="0" y="0"/>
          <a:chExt cx="0" cy="0"/>
        </a:xfrm>
      </p:grpSpPr>
      <p:sp>
        <p:nvSpPr>
          <p:cNvPr id="533" name="Google Shape;533;p32"/>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 HOSPITAL PERFORMANCE vs. NATIONAL BENCHMARKS (2023)</a:t>
            </a:r>
            <a:endParaRPr b="0" i="0" sz="1800" u="none" cap="none" strike="noStrike">
              <a:solidFill>
                <a:schemeClr val="dk1"/>
              </a:solidFill>
              <a:latin typeface="Calibri"/>
              <a:ea typeface="Calibri"/>
              <a:cs typeface="Calibri"/>
              <a:sym typeface="Calibri"/>
            </a:endParaRPr>
          </a:p>
        </p:txBody>
      </p:sp>
      <p:graphicFrame>
        <p:nvGraphicFramePr>
          <p:cNvPr id="534" name="Google Shape;534;p32"/>
          <p:cNvGraphicFramePr/>
          <p:nvPr/>
        </p:nvGraphicFramePr>
        <p:xfrm>
          <a:off x="274320" y="658368"/>
          <a:ext cx="3000000" cy="3000000"/>
        </p:xfrm>
        <a:graphic>
          <a:graphicData uri="http://schemas.openxmlformats.org/drawingml/2006/table">
            <a:tbl>
              <a:tblPr>
                <a:noFill/>
                <a:tableStyleId>{A1D9B9E4-F9D2-4EFC-BB1D-056C6BACCCB8}</a:tableStyleId>
              </a:tblPr>
              <a:tblGrid>
                <a:gridCol w="2743200"/>
                <a:gridCol w="1005850"/>
                <a:gridCol w="1737350"/>
                <a:gridCol w="1920250"/>
                <a:gridCol w="1188725"/>
              </a:tblGrid>
              <a:tr h="47550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Measure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Vermont</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Benchmark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Gap</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Status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30-Day Readmission Rate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14.8%</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14.5%</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+0.3%</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1E6B3C"/>
                        </a:buClr>
                        <a:buSzPts val="1000"/>
                        <a:buFont typeface="Calibri"/>
                        <a:buNone/>
                      </a:pPr>
                      <a:r>
                        <a:rPr b="1" lang="en-US" sz="1000" u="none" cap="none" strike="noStrike">
                          <a:solidFill>
                            <a:srgbClr val="1E6B3C"/>
                          </a:solidFill>
                        </a:rPr>
                        <a:t>OK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D9EFE3"/>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Potentially Avoidable ED Visits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32.3%</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No national benchmark yet</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Major opportunity</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7B4A00"/>
                        </a:buClr>
                        <a:buSzPts val="1000"/>
                        <a:buFont typeface="Calibri"/>
                        <a:buNone/>
                      </a:pPr>
                      <a:r>
                        <a:rPr b="1" lang="en-US" sz="1000" u="none" cap="none" strike="noStrike">
                          <a:solidFill>
                            <a:srgbClr val="7B4A00"/>
                          </a:solidFill>
                        </a:rPr>
                        <a:t>ACTION</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Operating Profit / Adj. Discharge (PPS)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$5,345</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$4,162</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+$1,183 above benchmark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1E6B3C"/>
                        </a:buClr>
                        <a:buSzPts val="1000"/>
                        <a:buFont typeface="Calibri"/>
                        <a:buNone/>
                      </a:pPr>
                      <a:r>
                        <a:rPr b="1" lang="en-US" sz="1000" u="none" cap="none" strike="noStrike">
                          <a:solidFill>
                            <a:srgbClr val="1E6B3C"/>
                          </a:solidFill>
                        </a:rPr>
                        <a:t>OK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D9EFE3"/>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Operating Profit / Adj. Discharge (CAH)</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$938</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$2,784</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−$1,846 BELOW benchmark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8B1A1A"/>
                        </a:buClr>
                        <a:buSzPts val="1000"/>
                        <a:buFont typeface="Calibri"/>
                        <a:buNone/>
                      </a:pPr>
                      <a:r>
                        <a:rPr b="1" lang="en-US" sz="1000" u="none" cap="none" strike="noStrike">
                          <a:solidFill>
                            <a:srgbClr val="8B1A1A"/>
                          </a:solidFill>
                        </a:rPr>
                        <a:t>CRITICAL</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Mgmt &amp; Admin Cost / Adj. Discharge (PPS)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$2,730</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$1,427</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+$1,303 excess (91% above)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8B1A1A"/>
                        </a:buClr>
                        <a:buSzPts val="1000"/>
                        <a:buFont typeface="Calibri"/>
                        <a:buNone/>
                      </a:pPr>
                      <a:r>
                        <a:rPr b="1" lang="en-US" sz="1000" u="none" cap="none" strike="noStrike">
                          <a:solidFill>
                            <a:srgbClr val="8B1A1A"/>
                          </a:solidFill>
                        </a:rPr>
                        <a:t>CRITICAL</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Vermonters with Personal Health Provider</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91%</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87% national avg</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 above benchmark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0D5F6B"/>
                        </a:buClr>
                        <a:buSzPts val="1000"/>
                        <a:buFont typeface="Calibri"/>
                        <a:buNone/>
                      </a:pPr>
                      <a:r>
                        <a:rPr b="1" lang="en-US" sz="1000" u="none" cap="none" strike="noStrike">
                          <a:solidFill>
                            <a:srgbClr val="0D5F6B"/>
                          </a:solidFill>
                        </a:rPr>
                        <a:t>STRONG</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D4F1F4"/>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PCPs Accepting New Medicaid Patients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59%</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Not set</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Access gap for Medicaid patients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7B4A00"/>
                        </a:buClr>
                        <a:buSzPts val="1000"/>
                        <a:buFont typeface="Calibri"/>
                        <a:buNone/>
                      </a:pPr>
                      <a:r>
                        <a:rPr b="1" lang="en-US" sz="1000" u="none" cap="none" strike="noStrike">
                          <a:solidFill>
                            <a:srgbClr val="7B4A00"/>
                          </a:solidFill>
                        </a:rPr>
                        <a:t>ACTION</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r>
              <a:tr h="4755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ED Visits for MH/SIH per 10K ED visits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245.5</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Not set nationally</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High in Rutland, Windham counties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7B4A00"/>
                        </a:buClr>
                        <a:buSzPts val="1000"/>
                        <a:buFont typeface="Calibri"/>
                        <a:buNone/>
                      </a:pPr>
                      <a:r>
                        <a:rPr b="1" lang="en-US" sz="1000" u="none" cap="none" strike="noStrike">
                          <a:solidFill>
                            <a:srgbClr val="7B4A00"/>
                          </a:solidFill>
                        </a:rPr>
                        <a:t>ACTION</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r>
            </a:tbl>
          </a:graphicData>
        </a:graphic>
      </p:graphicFrame>
      <p:sp>
        <p:nvSpPr>
          <p:cNvPr id="535" name="Google Shape;535;p32"/>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8 — Source: AHS Health Care System Transformation Report (November 2025); NASHP via CMS; VDH</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540" name="Shape 540"/>
        <p:cNvGrpSpPr/>
        <p:nvPr/>
      </p:nvGrpSpPr>
      <p:grpSpPr>
        <a:xfrm>
          <a:off x="0" y="0"/>
          <a:ext cx="0" cy="0"/>
          <a:chOff x="0" y="0"/>
          <a:chExt cx="0" cy="0"/>
        </a:xfrm>
      </p:grpSpPr>
      <p:sp>
        <p:nvSpPr>
          <p:cNvPr id="541" name="Google Shape;541;p33"/>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 CIN: COE SPECIALTY CONCENTRATION BY HOSPITAL</a:t>
            </a:r>
            <a:endParaRPr b="0" i="0" sz="1800" u="none" cap="none" strike="noStrike">
              <a:solidFill>
                <a:schemeClr val="dk1"/>
              </a:solidFill>
              <a:latin typeface="Calibri"/>
              <a:ea typeface="Calibri"/>
              <a:cs typeface="Calibri"/>
              <a:sym typeface="Calibri"/>
            </a:endParaRPr>
          </a:p>
        </p:txBody>
      </p:sp>
      <p:pic>
        <p:nvPicPr>
          <p:cNvPr id="542" name="Google Shape;542;p33"/>
          <p:cNvPicPr preferRelativeResize="0"/>
          <p:nvPr/>
        </p:nvPicPr>
        <p:blipFill rotWithShape="1">
          <a:blip r:embed="rId3">
            <a:alphaModFix/>
          </a:blip>
          <a:srcRect b="0" l="0" r="0" t="0"/>
          <a:stretch/>
        </p:blipFill>
        <p:spPr>
          <a:xfrm>
            <a:off x="320040" y="658368"/>
            <a:ext cx="8503920" cy="3337560"/>
          </a:xfrm>
          <a:prstGeom prst="rect">
            <a:avLst/>
          </a:prstGeom>
          <a:noFill/>
          <a:ln>
            <a:noFill/>
          </a:ln>
        </p:spPr>
      </p:pic>
      <p:sp>
        <p:nvSpPr>
          <p:cNvPr id="543" name="Google Shape;543;p33"/>
          <p:cNvSpPr/>
          <p:nvPr/>
        </p:nvSpPr>
        <p:spPr>
          <a:xfrm>
            <a:off x="320040" y="4133088"/>
            <a:ext cx="274320" cy="27432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3"/>
          <p:cNvSpPr/>
          <p:nvPr/>
        </p:nvSpPr>
        <p:spPr>
          <a:xfrm>
            <a:off x="685800" y="413308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Tier 1 — Regional Specialty Centers (RSCs)</a:t>
            </a:r>
            <a:endParaRPr b="0" i="0" sz="1000" u="none" cap="none" strike="noStrike">
              <a:solidFill>
                <a:schemeClr val="dk1"/>
              </a:solidFill>
              <a:latin typeface="Calibri"/>
              <a:ea typeface="Calibri"/>
              <a:cs typeface="Calibri"/>
              <a:sym typeface="Calibri"/>
            </a:endParaRPr>
          </a:p>
        </p:txBody>
      </p:sp>
      <p:sp>
        <p:nvSpPr>
          <p:cNvPr id="545" name="Google Shape;545;p33"/>
          <p:cNvSpPr/>
          <p:nvPr/>
        </p:nvSpPr>
        <p:spPr>
          <a:xfrm>
            <a:off x="3154680" y="4133088"/>
            <a:ext cx="274320" cy="27432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3"/>
          <p:cNvSpPr/>
          <p:nvPr/>
        </p:nvSpPr>
        <p:spPr>
          <a:xfrm>
            <a:off x="3520440" y="413308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Tier 2 — Focused Scope Community Hospitals</a:t>
            </a:r>
            <a:endParaRPr b="0" i="0" sz="1000" u="none" cap="none" strike="noStrike">
              <a:solidFill>
                <a:schemeClr val="dk1"/>
              </a:solidFill>
              <a:latin typeface="Calibri"/>
              <a:ea typeface="Calibri"/>
              <a:cs typeface="Calibri"/>
              <a:sym typeface="Calibri"/>
            </a:endParaRPr>
          </a:p>
        </p:txBody>
      </p:sp>
      <p:sp>
        <p:nvSpPr>
          <p:cNvPr id="547" name="Google Shape;547;p33"/>
          <p:cNvSpPr/>
          <p:nvPr/>
        </p:nvSpPr>
        <p:spPr>
          <a:xfrm>
            <a:off x="5989320" y="4133088"/>
            <a:ext cx="274320" cy="274320"/>
          </a:xfrm>
          <a:prstGeom prst="rect">
            <a:avLst/>
          </a:prstGeom>
          <a:solidFill>
            <a:srgbClr val="6B3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3"/>
          <p:cNvSpPr/>
          <p:nvPr/>
        </p:nvSpPr>
        <p:spPr>
          <a:xfrm>
            <a:off x="6355080" y="413308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Tier 3 — Transition Assessment Required</a:t>
            </a:r>
            <a:endParaRPr b="0" i="0" sz="1000" u="none" cap="none" strike="noStrike">
              <a:solidFill>
                <a:schemeClr val="dk1"/>
              </a:solidFill>
              <a:latin typeface="Calibri"/>
              <a:ea typeface="Calibri"/>
              <a:cs typeface="Calibri"/>
              <a:sym typeface="Calibri"/>
            </a:endParaRPr>
          </a:p>
        </p:txBody>
      </p:sp>
      <p:sp>
        <p:nvSpPr>
          <p:cNvPr id="549" name="Google Shape;549;p33"/>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8 — Source: Oliver Wyman Act 167 Report (2024); AHS Hospital Transformation Plans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34"/>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THE ADMINISTRATIVE COST PREMIUM — VERMONT'S $1,303 PER-DISCHARGE GAP</a:t>
            </a:r>
            <a:endParaRPr b="0" i="0" sz="1700" u="none" cap="none" strike="noStrike">
              <a:solidFill>
                <a:schemeClr val="dk1"/>
              </a:solidFill>
              <a:latin typeface="Calibri"/>
              <a:ea typeface="Calibri"/>
              <a:cs typeface="Calibri"/>
              <a:sym typeface="Calibri"/>
            </a:endParaRPr>
          </a:p>
        </p:txBody>
      </p:sp>
      <p:pic>
        <p:nvPicPr>
          <p:cNvPr id="556" name="Google Shape;556;p34"/>
          <p:cNvPicPr preferRelativeResize="0"/>
          <p:nvPr/>
        </p:nvPicPr>
        <p:blipFill rotWithShape="1">
          <a:blip r:embed="rId3">
            <a:alphaModFix/>
          </a:blip>
          <a:srcRect b="0" l="0" r="0" t="0"/>
          <a:stretch/>
        </p:blipFill>
        <p:spPr>
          <a:xfrm>
            <a:off x="320040" y="658368"/>
            <a:ext cx="5943600" cy="3931920"/>
          </a:xfrm>
          <a:prstGeom prst="rect">
            <a:avLst/>
          </a:prstGeom>
          <a:noFill/>
          <a:ln>
            <a:noFill/>
          </a:ln>
        </p:spPr>
      </p:pic>
      <p:sp>
        <p:nvSpPr>
          <p:cNvPr id="557" name="Google Shape;557;p34"/>
          <p:cNvSpPr/>
          <p:nvPr/>
        </p:nvSpPr>
        <p:spPr>
          <a:xfrm>
            <a:off x="6492240" y="658368"/>
            <a:ext cx="2377440" cy="3931920"/>
          </a:xfrm>
          <a:prstGeom prst="rect">
            <a:avLst/>
          </a:prstGeom>
          <a:solidFill>
            <a:srgbClr val="FFF0CC"/>
          </a:solidFill>
          <a:ln cap="flat" cmpd="sng" w="12700">
            <a:solidFill>
              <a:srgbClr val="7B4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4"/>
          <p:cNvSpPr/>
          <p:nvPr/>
        </p:nvSpPr>
        <p:spPr>
          <a:xfrm>
            <a:off x="6583680" y="777240"/>
            <a:ext cx="2194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1100"/>
              <a:buFont typeface="Calibri"/>
              <a:buNone/>
            </a:pPr>
            <a:r>
              <a:rPr b="1" i="0" lang="en-US" sz="1100" u="none" cap="none" strike="noStrike">
                <a:solidFill>
                  <a:srgbClr val="7B4A00"/>
                </a:solidFill>
                <a:latin typeface="Calibri"/>
                <a:ea typeface="Calibri"/>
                <a:cs typeface="Calibri"/>
                <a:sym typeface="Calibri"/>
              </a:rPr>
              <a:t>WHAT THIS MEANS</a:t>
            </a:r>
            <a:endParaRPr b="0" i="0" sz="1100" u="none" cap="none" strike="noStrike">
              <a:solidFill>
                <a:schemeClr val="dk1"/>
              </a:solidFill>
              <a:latin typeface="Calibri"/>
              <a:ea typeface="Calibri"/>
              <a:cs typeface="Calibri"/>
              <a:sym typeface="Calibri"/>
            </a:endParaRPr>
          </a:p>
        </p:txBody>
      </p:sp>
      <p:sp>
        <p:nvSpPr>
          <p:cNvPr id="559" name="Google Shape;559;p34"/>
          <p:cNvSpPr/>
          <p:nvPr/>
        </p:nvSpPr>
        <p:spPr>
          <a:xfrm>
            <a:off x="6583680" y="123444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 Vermont PPS hospitals spend 91% MORE on administration than efficient peers</a:t>
            </a:r>
            <a:endParaRPr b="0" i="0" sz="950" u="none" cap="none" strike="noStrike">
              <a:solidFill>
                <a:schemeClr val="dk1"/>
              </a:solidFill>
              <a:latin typeface="Calibri"/>
              <a:ea typeface="Calibri"/>
              <a:cs typeface="Calibri"/>
              <a:sym typeface="Calibri"/>
            </a:endParaRPr>
          </a:p>
        </p:txBody>
      </p:sp>
      <p:sp>
        <p:nvSpPr>
          <p:cNvPr id="560" name="Google Shape;560;p34"/>
          <p:cNvSpPr/>
          <p:nvPr/>
        </p:nvSpPr>
        <p:spPr>
          <a:xfrm>
            <a:off x="6583680" y="178308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 This $1,303/discharge gap = primary operational inefficiency target</a:t>
            </a:r>
            <a:endParaRPr b="0" i="0" sz="950" u="none" cap="none" strike="noStrike">
              <a:solidFill>
                <a:schemeClr val="dk1"/>
              </a:solidFill>
              <a:latin typeface="Calibri"/>
              <a:ea typeface="Calibri"/>
              <a:cs typeface="Calibri"/>
              <a:sym typeface="Calibri"/>
            </a:endParaRPr>
          </a:p>
        </p:txBody>
      </p:sp>
      <p:sp>
        <p:nvSpPr>
          <p:cNvPr id="561" name="Google Shape;561;p34"/>
          <p:cNvSpPr/>
          <p:nvPr/>
        </p:nvSpPr>
        <p:spPr>
          <a:xfrm>
            <a:off x="6583680" y="233172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 Shared services through Vermont CIN can close this gap</a:t>
            </a:r>
            <a:endParaRPr b="0" i="0" sz="950" u="none" cap="none" strike="noStrike">
              <a:solidFill>
                <a:schemeClr val="dk1"/>
              </a:solidFill>
              <a:latin typeface="Calibri"/>
              <a:ea typeface="Calibri"/>
              <a:cs typeface="Calibri"/>
              <a:sym typeface="Calibri"/>
            </a:endParaRPr>
          </a:p>
        </p:txBody>
      </p:sp>
      <p:sp>
        <p:nvSpPr>
          <p:cNvPr id="562" name="Google Shape;562;p34"/>
          <p:cNvSpPr/>
          <p:nvPr/>
        </p:nvSpPr>
        <p:spPr>
          <a:xfrm>
            <a:off x="6583680" y="288036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 Oliver Wyman: administrative reduction contributes &gt;$100M of $400M+ transformation savings target</a:t>
            </a:r>
            <a:endParaRPr b="0" i="0" sz="950" u="none" cap="none" strike="noStrike">
              <a:solidFill>
                <a:schemeClr val="dk1"/>
              </a:solidFill>
              <a:latin typeface="Calibri"/>
              <a:ea typeface="Calibri"/>
              <a:cs typeface="Calibri"/>
              <a:sym typeface="Calibri"/>
            </a:endParaRPr>
          </a:p>
        </p:txBody>
      </p:sp>
      <p:sp>
        <p:nvSpPr>
          <p:cNvPr id="563" name="Google Shape;563;p34"/>
          <p:cNvSpPr/>
          <p:nvPr/>
        </p:nvSpPr>
        <p:spPr>
          <a:xfrm>
            <a:off x="6583680" y="34290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 AI scribes + credentialing automation + group purchasing = the operations playbook</a:t>
            </a:r>
            <a:endParaRPr b="0" i="0" sz="950" u="none" cap="none" strike="noStrike">
              <a:solidFill>
                <a:schemeClr val="dk1"/>
              </a:solidFill>
              <a:latin typeface="Calibri"/>
              <a:ea typeface="Calibri"/>
              <a:cs typeface="Calibri"/>
              <a:sym typeface="Calibri"/>
            </a:endParaRPr>
          </a:p>
        </p:txBody>
      </p:sp>
      <p:sp>
        <p:nvSpPr>
          <p:cNvPr id="564" name="Google Shape;564;p34"/>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8 — Source: AHS November 2025 Transformation Report; NASHP via CMS; Oliver Wyman Act 167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569" name="Shape 569"/>
        <p:cNvGrpSpPr/>
        <p:nvPr/>
      </p:nvGrpSpPr>
      <p:grpSpPr>
        <a:xfrm>
          <a:off x="0" y="0"/>
          <a:ext cx="0" cy="0"/>
          <a:chOff x="0" y="0"/>
          <a:chExt cx="0" cy="0"/>
        </a:xfrm>
      </p:grpSpPr>
      <p:sp>
        <p:nvSpPr>
          <p:cNvPr id="570" name="Google Shape;570;p35"/>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THE RHRC METHODOLOGY — TECHNICAL ASSISTANCE FOR 14 HOSPITALS</a:t>
            </a:r>
            <a:endParaRPr b="0" i="0" sz="1800" u="none" cap="none" strike="noStrike">
              <a:solidFill>
                <a:schemeClr val="dk1"/>
              </a:solidFill>
              <a:latin typeface="Calibri"/>
              <a:ea typeface="Calibri"/>
              <a:cs typeface="Calibri"/>
              <a:sym typeface="Calibri"/>
            </a:endParaRPr>
          </a:p>
        </p:txBody>
      </p:sp>
      <p:sp>
        <p:nvSpPr>
          <p:cNvPr id="571" name="Google Shape;571;p35"/>
          <p:cNvSpPr/>
          <p:nvPr/>
        </p:nvSpPr>
        <p:spPr>
          <a:xfrm>
            <a:off x="365760" y="566928"/>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Rural Health Redesign Center engagement — May through October 2025</a:t>
            </a:r>
            <a:endParaRPr b="0" i="0" sz="1100" u="none" cap="none" strike="noStrike">
              <a:solidFill>
                <a:schemeClr val="dk1"/>
              </a:solidFill>
              <a:latin typeface="Calibri"/>
              <a:ea typeface="Calibri"/>
              <a:cs typeface="Calibri"/>
              <a:sym typeface="Calibri"/>
            </a:endParaRPr>
          </a:p>
        </p:txBody>
      </p:sp>
      <p:sp>
        <p:nvSpPr>
          <p:cNvPr id="572" name="Google Shape;572;p35"/>
          <p:cNvSpPr/>
          <p:nvPr/>
        </p:nvSpPr>
        <p:spPr>
          <a:xfrm>
            <a:off x="274320" y="914400"/>
            <a:ext cx="4023360" cy="178308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5"/>
          <p:cNvSpPr/>
          <p:nvPr/>
        </p:nvSpPr>
        <p:spPr>
          <a:xfrm>
            <a:off x="274320" y="914400"/>
            <a:ext cx="502920" cy="1783080"/>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5"/>
          <p:cNvSpPr/>
          <p:nvPr/>
        </p:nvSpPr>
        <p:spPr>
          <a:xfrm>
            <a:off x="274320" y="1371600"/>
            <a:ext cx="50292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1</a:t>
            </a:r>
            <a:endParaRPr b="0" i="0" sz="2400" u="none" cap="none" strike="noStrike">
              <a:solidFill>
                <a:schemeClr val="dk1"/>
              </a:solidFill>
              <a:latin typeface="Calibri"/>
              <a:ea typeface="Calibri"/>
              <a:cs typeface="Calibri"/>
              <a:sym typeface="Calibri"/>
            </a:endParaRPr>
          </a:p>
        </p:txBody>
      </p:sp>
      <p:sp>
        <p:nvSpPr>
          <p:cNvPr id="575" name="Google Shape;575;p35"/>
          <p:cNvSpPr/>
          <p:nvPr/>
        </p:nvSpPr>
        <p:spPr>
          <a:xfrm>
            <a:off x="868680" y="1005840"/>
            <a:ext cx="3337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200"/>
              <a:buFont typeface="Calibri"/>
              <a:buNone/>
            </a:pPr>
            <a:r>
              <a:rPr b="1" i="0" lang="en-US" sz="1200" u="none" cap="none" strike="noStrike">
                <a:solidFill>
                  <a:srgbClr val="0D5F6B"/>
                </a:solidFill>
                <a:latin typeface="Calibri"/>
                <a:ea typeface="Calibri"/>
                <a:cs typeface="Calibri"/>
                <a:sym typeface="Calibri"/>
              </a:rPr>
              <a:t>Financial &amp; Operational Baseline</a:t>
            </a:r>
            <a:endParaRPr b="0" i="0" sz="1200" u="none" cap="none" strike="noStrike">
              <a:solidFill>
                <a:schemeClr val="dk1"/>
              </a:solidFill>
              <a:latin typeface="Calibri"/>
              <a:ea typeface="Calibri"/>
              <a:cs typeface="Calibri"/>
              <a:sym typeface="Calibri"/>
            </a:endParaRPr>
          </a:p>
        </p:txBody>
      </p:sp>
      <p:sp>
        <p:nvSpPr>
          <p:cNvPr id="576" name="Google Shape;576;p35"/>
          <p:cNvSpPr/>
          <p:nvPr/>
        </p:nvSpPr>
        <p:spPr>
          <a:xfrm>
            <a:off x="868680" y="1444752"/>
            <a:ext cx="333756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Hospital-specific cost data from GMCB financial records and CMS cost reports. Position vs. Vermont average and national benchmark on key efficiency metrics.</a:t>
            </a:r>
            <a:endParaRPr b="0" i="0" sz="1050" u="none" cap="none" strike="noStrike">
              <a:solidFill>
                <a:schemeClr val="dk1"/>
              </a:solidFill>
              <a:latin typeface="Calibri"/>
              <a:ea typeface="Calibri"/>
              <a:cs typeface="Calibri"/>
              <a:sym typeface="Calibri"/>
            </a:endParaRPr>
          </a:p>
        </p:txBody>
      </p:sp>
      <p:sp>
        <p:nvSpPr>
          <p:cNvPr id="577" name="Google Shape;577;p35"/>
          <p:cNvSpPr/>
          <p:nvPr/>
        </p:nvSpPr>
        <p:spPr>
          <a:xfrm>
            <a:off x="4572000" y="914400"/>
            <a:ext cx="4023360" cy="178308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5"/>
          <p:cNvSpPr/>
          <p:nvPr/>
        </p:nvSpPr>
        <p:spPr>
          <a:xfrm>
            <a:off x="4572000" y="914400"/>
            <a:ext cx="502920" cy="178308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5"/>
          <p:cNvSpPr/>
          <p:nvPr/>
        </p:nvSpPr>
        <p:spPr>
          <a:xfrm>
            <a:off x="4572000" y="1371600"/>
            <a:ext cx="50292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2</a:t>
            </a:r>
            <a:endParaRPr b="0" i="0" sz="2400" u="none" cap="none" strike="noStrike">
              <a:solidFill>
                <a:schemeClr val="dk1"/>
              </a:solidFill>
              <a:latin typeface="Calibri"/>
              <a:ea typeface="Calibri"/>
              <a:cs typeface="Calibri"/>
              <a:sym typeface="Calibri"/>
            </a:endParaRPr>
          </a:p>
        </p:txBody>
      </p:sp>
      <p:sp>
        <p:nvSpPr>
          <p:cNvPr id="580" name="Google Shape;580;p35"/>
          <p:cNvSpPr/>
          <p:nvPr/>
        </p:nvSpPr>
        <p:spPr>
          <a:xfrm>
            <a:off x="5166360" y="1005840"/>
            <a:ext cx="3337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Calibri"/>
              <a:buNone/>
            </a:pPr>
            <a:r>
              <a:rPr b="1" i="0" lang="en-US" sz="1200" u="none" cap="none" strike="noStrike">
                <a:solidFill>
                  <a:srgbClr val="2E75B6"/>
                </a:solidFill>
                <a:latin typeface="Calibri"/>
                <a:ea typeface="Calibri"/>
                <a:cs typeface="Calibri"/>
                <a:sym typeface="Calibri"/>
              </a:rPr>
              <a:t>Priority Identification</a:t>
            </a:r>
            <a:endParaRPr b="0" i="0" sz="1200" u="none" cap="none" strike="noStrike">
              <a:solidFill>
                <a:schemeClr val="dk1"/>
              </a:solidFill>
              <a:latin typeface="Calibri"/>
              <a:ea typeface="Calibri"/>
              <a:cs typeface="Calibri"/>
              <a:sym typeface="Calibri"/>
            </a:endParaRPr>
          </a:p>
        </p:txBody>
      </p:sp>
      <p:sp>
        <p:nvSpPr>
          <p:cNvPr id="581" name="Google Shape;581;p35"/>
          <p:cNvSpPr/>
          <p:nvPr/>
        </p:nvSpPr>
        <p:spPr>
          <a:xfrm>
            <a:off x="5166360" y="1444752"/>
            <a:ext cx="333756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Working with hospital leadership to identify highest-leverage short-term cost reduction opportunities and medium-term transformation priorities.</a:t>
            </a:r>
            <a:endParaRPr b="0" i="0" sz="1050" u="none" cap="none" strike="noStrike">
              <a:solidFill>
                <a:schemeClr val="dk1"/>
              </a:solidFill>
              <a:latin typeface="Calibri"/>
              <a:ea typeface="Calibri"/>
              <a:cs typeface="Calibri"/>
              <a:sym typeface="Calibri"/>
            </a:endParaRPr>
          </a:p>
        </p:txBody>
      </p:sp>
      <p:sp>
        <p:nvSpPr>
          <p:cNvPr id="582" name="Google Shape;582;p35"/>
          <p:cNvSpPr/>
          <p:nvPr/>
        </p:nvSpPr>
        <p:spPr>
          <a:xfrm>
            <a:off x="274320" y="2926080"/>
            <a:ext cx="4023360" cy="178308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5"/>
          <p:cNvSpPr/>
          <p:nvPr/>
        </p:nvSpPr>
        <p:spPr>
          <a:xfrm>
            <a:off x="274320" y="2926080"/>
            <a:ext cx="502920" cy="178308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5"/>
          <p:cNvSpPr/>
          <p:nvPr/>
        </p:nvSpPr>
        <p:spPr>
          <a:xfrm>
            <a:off x="274320" y="3383280"/>
            <a:ext cx="50292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3</a:t>
            </a:r>
            <a:endParaRPr b="0" i="0" sz="2400" u="none" cap="none" strike="noStrike">
              <a:solidFill>
                <a:schemeClr val="dk1"/>
              </a:solidFill>
              <a:latin typeface="Calibri"/>
              <a:ea typeface="Calibri"/>
              <a:cs typeface="Calibri"/>
              <a:sym typeface="Calibri"/>
            </a:endParaRPr>
          </a:p>
        </p:txBody>
      </p:sp>
      <p:sp>
        <p:nvSpPr>
          <p:cNvPr id="585" name="Google Shape;585;p35"/>
          <p:cNvSpPr/>
          <p:nvPr/>
        </p:nvSpPr>
        <p:spPr>
          <a:xfrm>
            <a:off x="868680" y="3017520"/>
            <a:ext cx="3337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Transformation Plan Development</a:t>
            </a:r>
            <a:endParaRPr b="0" i="0" sz="1200" u="none" cap="none" strike="noStrike">
              <a:solidFill>
                <a:schemeClr val="dk1"/>
              </a:solidFill>
              <a:latin typeface="Calibri"/>
              <a:ea typeface="Calibri"/>
              <a:cs typeface="Calibri"/>
              <a:sym typeface="Calibri"/>
            </a:endParaRPr>
          </a:p>
        </p:txBody>
      </p:sp>
      <p:sp>
        <p:nvSpPr>
          <p:cNvPr id="586" name="Google Shape;586;p35"/>
          <p:cNvSpPr/>
          <p:nvPr/>
        </p:nvSpPr>
        <p:spPr>
          <a:xfrm>
            <a:off x="868680" y="3456432"/>
            <a:ext cx="333756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Structured plans mapping specific actions to timelines, costs, and Act 167 outcome objectives. Hospital sustainability and cost analysis through service line review.</a:t>
            </a:r>
            <a:endParaRPr b="0" i="0" sz="1050" u="none" cap="none" strike="noStrike">
              <a:solidFill>
                <a:schemeClr val="dk1"/>
              </a:solidFill>
              <a:latin typeface="Calibri"/>
              <a:ea typeface="Calibri"/>
              <a:cs typeface="Calibri"/>
              <a:sym typeface="Calibri"/>
            </a:endParaRPr>
          </a:p>
        </p:txBody>
      </p:sp>
      <p:sp>
        <p:nvSpPr>
          <p:cNvPr id="587" name="Google Shape;587;p35"/>
          <p:cNvSpPr/>
          <p:nvPr/>
        </p:nvSpPr>
        <p:spPr>
          <a:xfrm>
            <a:off x="4572000" y="2926080"/>
            <a:ext cx="4023360" cy="1783080"/>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5"/>
          <p:cNvSpPr/>
          <p:nvPr/>
        </p:nvSpPr>
        <p:spPr>
          <a:xfrm>
            <a:off x="4572000" y="2926080"/>
            <a:ext cx="502920" cy="178308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5"/>
          <p:cNvSpPr/>
          <p:nvPr/>
        </p:nvSpPr>
        <p:spPr>
          <a:xfrm>
            <a:off x="4572000" y="3383280"/>
            <a:ext cx="50292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4</a:t>
            </a:r>
            <a:endParaRPr b="0" i="0" sz="2400" u="none" cap="none" strike="noStrike">
              <a:solidFill>
                <a:schemeClr val="dk1"/>
              </a:solidFill>
              <a:latin typeface="Calibri"/>
              <a:ea typeface="Calibri"/>
              <a:cs typeface="Calibri"/>
              <a:sym typeface="Calibri"/>
            </a:endParaRPr>
          </a:p>
        </p:txBody>
      </p:sp>
      <p:sp>
        <p:nvSpPr>
          <p:cNvPr id="590" name="Google Shape;590;p35"/>
          <p:cNvSpPr/>
          <p:nvPr/>
        </p:nvSpPr>
        <p:spPr>
          <a:xfrm>
            <a:off x="5166360" y="3017520"/>
            <a:ext cx="3337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Regional Coordination</a:t>
            </a:r>
            <a:endParaRPr b="0" i="0" sz="1200" u="none" cap="none" strike="noStrike">
              <a:solidFill>
                <a:schemeClr val="dk1"/>
              </a:solidFill>
              <a:latin typeface="Calibri"/>
              <a:ea typeface="Calibri"/>
              <a:cs typeface="Calibri"/>
              <a:sym typeface="Calibri"/>
            </a:endParaRPr>
          </a:p>
        </p:txBody>
      </p:sp>
      <p:sp>
        <p:nvSpPr>
          <p:cNvPr id="591" name="Google Shape;591;p35"/>
          <p:cNvSpPr/>
          <p:nvPr/>
        </p:nvSpPr>
        <p:spPr>
          <a:xfrm>
            <a:off x="5166360" y="3456432"/>
            <a:ext cx="333756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Connecting hospital-level planning to the statewide regional work. Ensuring individual plans are compatible with neighboring hospital plans. Identifying shared service opportunities.</a:t>
            </a:r>
            <a:endParaRPr b="0" i="0" sz="1050" u="none" cap="none" strike="noStrike">
              <a:solidFill>
                <a:schemeClr val="dk1"/>
              </a:solidFill>
              <a:latin typeface="Calibri"/>
              <a:ea typeface="Calibri"/>
              <a:cs typeface="Calibri"/>
              <a:sym typeface="Calibri"/>
            </a:endParaRPr>
          </a:p>
        </p:txBody>
      </p:sp>
      <p:sp>
        <p:nvSpPr>
          <p:cNvPr id="592" name="Google Shape;592;p35"/>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8 — Source: AHS November 2025 Transformation Report; AHS Health Care Transformation website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597" name="Shape 597"/>
        <p:cNvGrpSpPr/>
        <p:nvPr/>
      </p:nvGrpSpPr>
      <p:grpSpPr>
        <a:xfrm>
          <a:off x="0" y="0"/>
          <a:ext cx="0" cy="0"/>
          <a:chOff x="0" y="0"/>
          <a:chExt cx="0" cy="0"/>
        </a:xfrm>
      </p:grpSpPr>
      <p:sp>
        <p:nvSpPr>
          <p:cNvPr id="598" name="Google Shape;598;p36"/>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6"/>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10</a:t>
            </a:r>
            <a:endParaRPr b="0" i="0" sz="1300" u="none" cap="none" strike="noStrike">
              <a:solidFill>
                <a:schemeClr val="dk1"/>
              </a:solidFill>
              <a:latin typeface="Calibri"/>
              <a:ea typeface="Calibri"/>
              <a:cs typeface="Calibri"/>
              <a:sym typeface="Calibri"/>
            </a:endParaRPr>
          </a:p>
        </p:txBody>
      </p:sp>
      <p:sp>
        <p:nvSpPr>
          <p:cNvPr id="600" name="Google Shape;600;p36"/>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Clinical Pillar — Redesigning Care Delivery</a:t>
            </a:r>
            <a:endParaRPr b="0" i="0" sz="3400" u="none" cap="none" strike="noStrike">
              <a:solidFill>
                <a:schemeClr val="dk1"/>
              </a:solidFill>
              <a:latin typeface="Calibri"/>
              <a:ea typeface="Calibri"/>
              <a:cs typeface="Calibri"/>
              <a:sym typeface="Calibri"/>
            </a:endParaRPr>
          </a:p>
        </p:txBody>
      </p:sp>
      <p:sp>
        <p:nvSpPr>
          <p:cNvPr id="601" name="Google Shape;601;p36"/>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37"/>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VERMONT BLUEPRINT FOR HEALTH — 15 YEARS OF RESULTS</a:t>
            </a:r>
            <a:endParaRPr b="0" i="0" sz="2000" u="none" cap="none" strike="noStrike">
              <a:solidFill>
                <a:schemeClr val="dk1"/>
              </a:solidFill>
              <a:latin typeface="Calibri"/>
              <a:ea typeface="Calibri"/>
              <a:cs typeface="Calibri"/>
              <a:sym typeface="Calibri"/>
            </a:endParaRPr>
          </a:p>
        </p:txBody>
      </p:sp>
      <p:sp>
        <p:nvSpPr>
          <p:cNvPr id="608" name="Google Shape;608;p37"/>
          <p:cNvSpPr/>
          <p:nvPr/>
        </p:nvSpPr>
        <p:spPr>
          <a:xfrm>
            <a:off x="274320" y="749808"/>
            <a:ext cx="4023360" cy="1737360"/>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7"/>
          <p:cNvSpPr/>
          <p:nvPr/>
        </p:nvSpPr>
        <p:spPr>
          <a:xfrm>
            <a:off x="274320" y="749808"/>
            <a:ext cx="4023360" cy="329184"/>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7"/>
          <p:cNvSpPr/>
          <p:nvPr/>
        </p:nvSpPr>
        <p:spPr>
          <a:xfrm>
            <a:off x="274320" y="1152144"/>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6B3C"/>
              </a:buClr>
              <a:buSzPts val="4600"/>
              <a:buFont typeface="Calibri"/>
              <a:buNone/>
            </a:pPr>
            <a:r>
              <a:rPr b="1" i="0" lang="en-US" sz="4600" u="none" cap="none" strike="noStrike">
                <a:solidFill>
                  <a:srgbClr val="1E6B3C"/>
                </a:solidFill>
                <a:latin typeface="Calibri"/>
                <a:ea typeface="Calibri"/>
                <a:cs typeface="Calibri"/>
                <a:sym typeface="Calibri"/>
              </a:rPr>
              <a:t>$5.8M</a:t>
            </a:r>
            <a:endParaRPr b="0" i="0" sz="4600" u="none" cap="none" strike="noStrike">
              <a:solidFill>
                <a:schemeClr val="dk1"/>
              </a:solidFill>
              <a:latin typeface="Calibri"/>
              <a:ea typeface="Calibri"/>
              <a:cs typeface="Calibri"/>
              <a:sym typeface="Calibri"/>
            </a:endParaRPr>
          </a:p>
        </p:txBody>
      </p:sp>
      <p:sp>
        <p:nvSpPr>
          <p:cNvPr id="611" name="Google Shape;611;p37"/>
          <p:cNvSpPr/>
          <p:nvPr/>
        </p:nvSpPr>
        <p:spPr>
          <a:xfrm>
            <a:off x="411480" y="1883664"/>
            <a:ext cx="3749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Reduction in medical expenditure</a:t>
            </a:r>
            <a:endParaRPr b="0" i="0" sz="1100" u="none" cap="none" strike="noStrike">
              <a:solidFill>
                <a:schemeClr val="dk1"/>
              </a:solidFill>
              <a:latin typeface="Calibri"/>
              <a:ea typeface="Calibri"/>
              <a:cs typeface="Calibri"/>
              <a:sym typeface="Calibri"/>
            </a:endParaRPr>
          </a:p>
        </p:txBody>
      </p:sp>
      <p:sp>
        <p:nvSpPr>
          <p:cNvPr id="612" name="Google Shape;612;p37"/>
          <p:cNvSpPr/>
          <p:nvPr/>
        </p:nvSpPr>
        <p:spPr>
          <a:xfrm>
            <a:off x="411480" y="2185416"/>
            <a:ext cx="3749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Per $1M invested in Blueprint — documented 5.8:1 ROI (Population Health Management journal)</a:t>
            </a:r>
            <a:endParaRPr b="0" i="0" sz="950" u="none" cap="none" strike="noStrike">
              <a:solidFill>
                <a:schemeClr val="dk1"/>
              </a:solidFill>
              <a:latin typeface="Calibri"/>
              <a:ea typeface="Calibri"/>
              <a:cs typeface="Calibri"/>
              <a:sym typeface="Calibri"/>
            </a:endParaRPr>
          </a:p>
        </p:txBody>
      </p:sp>
      <p:sp>
        <p:nvSpPr>
          <p:cNvPr id="613" name="Google Shape;613;p37"/>
          <p:cNvSpPr/>
          <p:nvPr/>
        </p:nvSpPr>
        <p:spPr>
          <a:xfrm>
            <a:off x="4572000" y="749808"/>
            <a:ext cx="4023360" cy="173736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7"/>
          <p:cNvSpPr/>
          <p:nvPr/>
        </p:nvSpPr>
        <p:spPr>
          <a:xfrm>
            <a:off x="4572000" y="749808"/>
            <a:ext cx="4023360" cy="329184"/>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7"/>
          <p:cNvSpPr/>
          <p:nvPr/>
        </p:nvSpPr>
        <p:spPr>
          <a:xfrm>
            <a:off x="4572000" y="1152144"/>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5B6"/>
              </a:buClr>
              <a:buSzPts val="4600"/>
              <a:buFont typeface="Calibri"/>
              <a:buNone/>
            </a:pPr>
            <a:r>
              <a:rPr b="1" i="0" lang="en-US" sz="4600" u="none" cap="none" strike="noStrike">
                <a:solidFill>
                  <a:srgbClr val="2E75B6"/>
                </a:solidFill>
                <a:latin typeface="Calibri"/>
                <a:ea typeface="Calibri"/>
                <a:cs typeface="Calibri"/>
                <a:sym typeface="Calibri"/>
              </a:rPr>
              <a:t>100%</a:t>
            </a:r>
            <a:endParaRPr b="0" i="0" sz="4600" u="none" cap="none" strike="noStrike">
              <a:solidFill>
                <a:schemeClr val="dk1"/>
              </a:solidFill>
              <a:latin typeface="Calibri"/>
              <a:ea typeface="Calibri"/>
              <a:cs typeface="Calibri"/>
              <a:sym typeface="Calibri"/>
            </a:endParaRPr>
          </a:p>
        </p:txBody>
      </p:sp>
      <p:sp>
        <p:nvSpPr>
          <p:cNvPr id="616" name="Google Shape;616;p37"/>
          <p:cNvSpPr/>
          <p:nvPr/>
        </p:nvSpPr>
        <p:spPr>
          <a:xfrm>
            <a:off x="4709160" y="1883664"/>
            <a:ext cx="3749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Vermont PCMHs recognized by NCQA</a:t>
            </a:r>
            <a:endParaRPr b="0" i="0" sz="1100" u="none" cap="none" strike="noStrike">
              <a:solidFill>
                <a:schemeClr val="dk1"/>
              </a:solidFill>
              <a:latin typeface="Calibri"/>
              <a:ea typeface="Calibri"/>
              <a:cs typeface="Calibri"/>
              <a:sym typeface="Calibri"/>
            </a:endParaRPr>
          </a:p>
        </p:txBody>
      </p:sp>
      <p:sp>
        <p:nvSpPr>
          <p:cNvPr id="617" name="Google Shape;617;p37"/>
          <p:cNvSpPr/>
          <p:nvPr/>
        </p:nvSpPr>
        <p:spPr>
          <a:xfrm>
            <a:off x="4709160" y="2185416"/>
            <a:ext cx="3749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All participating practices meet NCQA Patient-Centered Medical Home standards</a:t>
            </a:r>
            <a:endParaRPr b="0" i="0" sz="950" u="none" cap="none" strike="noStrike">
              <a:solidFill>
                <a:schemeClr val="dk1"/>
              </a:solidFill>
              <a:latin typeface="Calibri"/>
              <a:ea typeface="Calibri"/>
              <a:cs typeface="Calibri"/>
              <a:sym typeface="Calibri"/>
            </a:endParaRPr>
          </a:p>
        </p:txBody>
      </p:sp>
      <p:sp>
        <p:nvSpPr>
          <p:cNvPr id="618" name="Google Shape;618;p37"/>
          <p:cNvSpPr/>
          <p:nvPr/>
        </p:nvSpPr>
        <p:spPr>
          <a:xfrm>
            <a:off x="274320" y="2697480"/>
            <a:ext cx="4023360" cy="173736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7"/>
          <p:cNvSpPr/>
          <p:nvPr/>
        </p:nvSpPr>
        <p:spPr>
          <a:xfrm>
            <a:off x="274320" y="2697480"/>
            <a:ext cx="4023360" cy="329184"/>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7"/>
          <p:cNvSpPr/>
          <p:nvPr/>
        </p:nvSpPr>
        <p:spPr>
          <a:xfrm>
            <a:off x="274320" y="3099816"/>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5F6B"/>
              </a:buClr>
              <a:buSzPts val="4600"/>
              <a:buFont typeface="Calibri"/>
              <a:buNone/>
            </a:pPr>
            <a:r>
              <a:rPr b="1" i="0" lang="en-US" sz="4600" u="none" cap="none" strike="noStrike">
                <a:solidFill>
                  <a:srgbClr val="0D5F6B"/>
                </a:solidFill>
                <a:latin typeface="Calibri"/>
                <a:ea typeface="Calibri"/>
                <a:cs typeface="Calibri"/>
                <a:sym typeface="Calibri"/>
              </a:rPr>
              <a:t>77%</a:t>
            </a:r>
            <a:endParaRPr b="0" i="0" sz="4600" u="none" cap="none" strike="noStrike">
              <a:solidFill>
                <a:schemeClr val="dk1"/>
              </a:solidFill>
              <a:latin typeface="Calibri"/>
              <a:ea typeface="Calibri"/>
              <a:cs typeface="Calibri"/>
              <a:sym typeface="Calibri"/>
            </a:endParaRPr>
          </a:p>
        </p:txBody>
      </p:sp>
      <p:sp>
        <p:nvSpPr>
          <p:cNvPr id="621" name="Google Shape;621;p37"/>
          <p:cNvSpPr/>
          <p:nvPr/>
        </p:nvSpPr>
        <p:spPr>
          <a:xfrm>
            <a:off x="411480" y="3831336"/>
            <a:ext cx="3749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Hypertension controlled in PCMH patients</a:t>
            </a:r>
            <a:endParaRPr b="0" i="0" sz="1100" u="none" cap="none" strike="noStrike">
              <a:solidFill>
                <a:schemeClr val="dk1"/>
              </a:solidFill>
              <a:latin typeface="Calibri"/>
              <a:ea typeface="Calibri"/>
              <a:cs typeface="Calibri"/>
              <a:sym typeface="Calibri"/>
            </a:endParaRPr>
          </a:p>
        </p:txBody>
      </p:sp>
      <p:sp>
        <p:nvSpPr>
          <p:cNvPr id="622" name="Google Shape;622;p37"/>
          <p:cNvSpPr/>
          <p:nvPr/>
        </p:nvSpPr>
        <p:spPr>
          <a:xfrm>
            <a:off x="411480" y="4133088"/>
            <a:ext cx="3749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Blueprint quality metric; 4 points above national benchmark</a:t>
            </a:r>
            <a:endParaRPr b="0" i="0" sz="950" u="none" cap="none" strike="noStrike">
              <a:solidFill>
                <a:schemeClr val="dk1"/>
              </a:solidFill>
              <a:latin typeface="Calibri"/>
              <a:ea typeface="Calibri"/>
              <a:cs typeface="Calibri"/>
              <a:sym typeface="Calibri"/>
            </a:endParaRPr>
          </a:p>
        </p:txBody>
      </p:sp>
      <p:sp>
        <p:nvSpPr>
          <p:cNvPr id="623" name="Google Shape;623;p37"/>
          <p:cNvSpPr/>
          <p:nvPr/>
        </p:nvSpPr>
        <p:spPr>
          <a:xfrm>
            <a:off x="4572000" y="2697480"/>
            <a:ext cx="4023360" cy="173736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7"/>
          <p:cNvSpPr/>
          <p:nvPr/>
        </p:nvSpPr>
        <p:spPr>
          <a:xfrm>
            <a:off x="4572000" y="2697480"/>
            <a:ext cx="4023360" cy="329184"/>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7"/>
          <p:cNvSpPr/>
          <p:nvPr/>
        </p:nvSpPr>
        <p:spPr>
          <a:xfrm>
            <a:off x="4572000" y="3099816"/>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5C8B"/>
              </a:buClr>
              <a:buSzPts val="4600"/>
              <a:buFont typeface="Calibri"/>
              <a:buNone/>
            </a:pPr>
            <a:r>
              <a:rPr b="1" i="0" lang="en-US" sz="4600" u="none" cap="none" strike="noStrike">
                <a:solidFill>
                  <a:srgbClr val="1F5C8B"/>
                </a:solidFill>
                <a:latin typeface="Calibri"/>
                <a:ea typeface="Calibri"/>
                <a:cs typeface="Calibri"/>
                <a:sym typeface="Calibri"/>
              </a:rPr>
              <a:t>91%</a:t>
            </a:r>
            <a:endParaRPr b="0" i="0" sz="4600" u="none" cap="none" strike="noStrike">
              <a:solidFill>
                <a:schemeClr val="dk1"/>
              </a:solidFill>
              <a:latin typeface="Calibri"/>
              <a:ea typeface="Calibri"/>
              <a:cs typeface="Calibri"/>
              <a:sym typeface="Calibri"/>
            </a:endParaRPr>
          </a:p>
        </p:txBody>
      </p:sp>
      <p:sp>
        <p:nvSpPr>
          <p:cNvPr id="626" name="Google Shape;626;p37"/>
          <p:cNvSpPr/>
          <p:nvPr/>
        </p:nvSpPr>
        <p:spPr>
          <a:xfrm>
            <a:off x="4709160" y="3831336"/>
            <a:ext cx="3749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Vermonters with a personal provider</a:t>
            </a:r>
            <a:endParaRPr b="0" i="0" sz="1100" u="none" cap="none" strike="noStrike">
              <a:solidFill>
                <a:schemeClr val="dk1"/>
              </a:solidFill>
              <a:latin typeface="Calibri"/>
              <a:ea typeface="Calibri"/>
              <a:cs typeface="Calibri"/>
              <a:sym typeface="Calibri"/>
            </a:endParaRPr>
          </a:p>
        </p:txBody>
      </p:sp>
      <p:sp>
        <p:nvSpPr>
          <p:cNvPr id="627" name="Google Shape;627;p37"/>
          <p:cNvSpPr/>
          <p:nvPr/>
        </p:nvSpPr>
        <p:spPr>
          <a:xfrm>
            <a:off x="4709160" y="4133088"/>
            <a:ext cx="3749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4 points above the 87% national benchmark — Blueprint's access foundation</a:t>
            </a:r>
            <a:endParaRPr b="0" i="0" sz="950" u="none" cap="none" strike="noStrike">
              <a:solidFill>
                <a:schemeClr val="dk1"/>
              </a:solidFill>
              <a:latin typeface="Calibri"/>
              <a:ea typeface="Calibri"/>
              <a:cs typeface="Calibri"/>
              <a:sym typeface="Calibri"/>
            </a:endParaRPr>
          </a:p>
        </p:txBody>
      </p:sp>
      <p:sp>
        <p:nvSpPr>
          <p:cNvPr id="628" name="Google Shape;628;p37"/>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10 — Source: Population Health Management (2016 Blueprint ROI study); AHS November 2025 Transformation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633" name="Shape 633"/>
        <p:cNvGrpSpPr/>
        <p:nvPr/>
      </p:nvGrpSpPr>
      <p:grpSpPr>
        <a:xfrm>
          <a:off x="0" y="0"/>
          <a:ext cx="0" cy="0"/>
          <a:chOff x="0" y="0"/>
          <a:chExt cx="0" cy="0"/>
        </a:xfrm>
      </p:grpSpPr>
      <p:sp>
        <p:nvSpPr>
          <p:cNvPr id="634" name="Google Shape;634;p38"/>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COLLABORATIVE CARE MODEL (CoCM) — THE BEHAVIORAL HEALTH INTEGRATION STANDARD</a:t>
            </a:r>
            <a:endParaRPr b="0" i="0" sz="1700" u="none" cap="none" strike="noStrike">
              <a:solidFill>
                <a:schemeClr val="dk1"/>
              </a:solidFill>
              <a:latin typeface="Calibri"/>
              <a:ea typeface="Calibri"/>
              <a:cs typeface="Calibri"/>
              <a:sym typeface="Calibri"/>
            </a:endParaRPr>
          </a:p>
        </p:txBody>
      </p:sp>
      <p:sp>
        <p:nvSpPr>
          <p:cNvPr id="635" name="Google Shape;635;p38"/>
          <p:cNvSpPr/>
          <p:nvPr/>
        </p:nvSpPr>
        <p:spPr>
          <a:xfrm>
            <a:off x="365760" y="566928"/>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only integrated care model with 90+ randomized controlled trials and designated Medicare billing codes (CPT 99492, 99493, 99494)</a:t>
            </a:r>
            <a:endParaRPr b="0" i="0" sz="1100" u="none" cap="none" strike="noStrike">
              <a:solidFill>
                <a:schemeClr val="dk1"/>
              </a:solidFill>
              <a:latin typeface="Calibri"/>
              <a:ea typeface="Calibri"/>
              <a:cs typeface="Calibri"/>
              <a:sym typeface="Calibri"/>
            </a:endParaRPr>
          </a:p>
        </p:txBody>
      </p:sp>
      <p:sp>
        <p:nvSpPr>
          <p:cNvPr id="636" name="Google Shape;636;p38"/>
          <p:cNvSpPr/>
          <p:nvPr/>
        </p:nvSpPr>
        <p:spPr>
          <a:xfrm>
            <a:off x="274320" y="960120"/>
            <a:ext cx="2651760" cy="356616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8"/>
          <p:cNvSpPr/>
          <p:nvPr/>
        </p:nvSpPr>
        <p:spPr>
          <a:xfrm>
            <a:off x="274320" y="960120"/>
            <a:ext cx="2651760" cy="64008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8"/>
          <p:cNvSpPr/>
          <p:nvPr/>
        </p:nvSpPr>
        <p:spPr>
          <a:xfrm>
            <a:off x="274320" y="960120"/>
            <a:ext cx="26517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Primary Care Provider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(PCP)</a:t>
            </a:r>
            <a:endParaRPr b="0" i="0" sz="1300" u="none" cap="none" strike="noStrike">
              <a:solidFill>
                <a:schemeClr val="dk1"/>
              </a:solidFill>
              <a:latin typeface="Calibri"/>
              <a:ea typeface="Calibri"/>
              <a:cs typeface="Calibri"/>
              <a:sym typeface="Calibri"/>
            </a:endParaRPr>
          </a:p>
        </p:txBody>
      </p:sp>
      <p:sp>
        <p:nvSpPr>
          <p:cNvPr id="639" name="Google Shape;639;p38"/>
          <p:cNvSpPr/>
          <p:nvPr/>
        </p:nvSpPr>
        <p:spPr>
          <a:xfrm>
            <a:off x="384048" y="1691640"/>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100"/>
              <a:buFont typeface="Calibri"/>
              <a:buNone/>
            </a:pPr>
            <a:r>
              <a:rPr b="1" i="1" lang="en-US" sz="1100" u="none" cap="none" strike="noStrike">
                <a:solidFill>
                  <a:srgbClr val="1F5C8B"/>
                </a:solidFill>
                <a:latin typeface="Calibri"/>
                <a:ea typeface="Calibri"/>
                <a:cs typeface="Calibri"/>
                <a:sym typeface="Calibri"/>
              </a:rPr>
              <a:t>Treating &amp; billing provider</a:t>
            </a:r>
            <a:endParaRPr b="0" i="0" sz="1100" u="none" cap="none" strike="noStrike">
              <a:solidFill>
                <a:schemeClr val="dk1"/>
              </a:solidFill>
              <a:latin typeface="Calibri"/>
              <a:ea typeface="Calibri"/>
              <a:cs typeface="Calibri"/>
              <a:sym typeface="Calibri"/>
            </a:endParaRPr>
          </a:p>
        </p:txBody>
      </p:sp>
      <p:sp>
        <p:nvSpPr>
          <p:cNvPr id="640" name="Google Shape;640;p38"/>
          <p:cNvSpPr/>
          <p:nvPr/>
        </p:nvSpPr>
        <p:spPr>
          <a:xfrm>
            <a:off x="384048" y="2029968"/>
            <a:ext cx="2432304" cy="2395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Identifies patients via validated screening (PHQ-9, GAD-7). Provides warm handoffs. Bills CoCM codes monthly. Retains clinical ownership.</a:t>
            </a:r>
            <a:endParaRPr b="0" i="0" sz="1050" u="none" cap="none" strike="noStrike">
              <a:solidFill>
                <a:schemeClr val="dk1"/>
              </a:solidFill>
              <a:latin typeface="Calibri"/>
              <a:ea typeface="Calibri"/>
              <a:cs typeface="Calibri"/>
              <a:sym typeface="Calibri"/>
            </a:endParaRPr>
          </a:p>
        </p:txBody>
      </p:sp>
      <p:sp>
        <p:nvSpPr>
          <p:cNvPr id="641" name="Google Shape;641;p38"/>
          <p:cNvSpPr/>
          <p:nvPr/>
        </p:nvSpPr>
        <p:spPr>
          <a:xfrm>
            <a:off x="3108960" y="960120"/>
            <a:ext cx="2651760" cy="356616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8"/>
          <p:cNvSpPr/>
          <p:nvPr/>
        </p:nvSpPr>
        <p:spPr>
          <a:xfrm>
            <a:off x="3108960" y="960120"/>
            <a:ext cx="2651760" cy="64008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8"/>
          <p:cNvSpPr/>
          <p:nvPr/>
        </p:nvSpPr>
        <p:spPr>
          <a:xfrm>
            <a:off x="3108960" y="960120"/>
            <a:ext cx="26517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Behavioral Health Care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Manager (BHCM)</a:t>
            </a:r>
            <a:endParaRPr b="0" i="0" sz="1300" u="none" cap="none" strike="noStrike">
              <a:solidFill>
                <a:schemeClr val="dk1"/>
              </a:solidFill>
              <a:latin typeface="Calibri"/>
              <a:ea typeface="Calibri"/>
              <a:cs typeface="Calibri"/>
              <a:sym typeface="Calibri"/>
            </a:endParaRPr>
          </a:p>
        </p:txBody>
      </p:sp>
      <p:sp>
        <p:nvSpPr>
          <p:cNvPr id="644" name="Google Shape;644;p38"/>
          <p:cNvSpPr/>
          <p:nvPr/>
        </p:nvSpPr>
        <p:spPr>
          <a:xfrm>
            <a:off x="3218688" y="1691640"/>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100"/>
              <a:buFont typeface="Calibri"/>
              <a:buNone/>
            </a:pPr>
            <a:r>
              <a:rPr b="1" i="1" lang="en-US" sz="1100" u="none" cap="none" strike="noStrike">
                <a:solidFill>
                  <a:srgbClr val="2E75B6"/>
                </a:solidFill>
                <a:latin typeface="Calibri"/>
                <a:ea typeface="Calibri"/>
                <a:cs typeface="Calibri"/>
                <a:sym typeface="Calibri"/>
              </a:rPr>
              <a:t>Day-to-day care coordinator</a:t>
            </a:r>
            <a:endParaRPr b="0" i="0" sz="1100" u="none" cap="none" strike="noStrike">
              <a:solidFill>
                <a:schemeClr val="dk1"/>
              </a:solidFill>
              <a:latin typeface="Calibri"/>
              <a:ea typeface="Calibri"/>
              <a:cs typeface="Calibri"/>
              <a:sym typeface="Calibri"/>
            </a:endParaRPr>
          </a:p>
        </p:txBody>
      </p:sp>
      <p:sp>
        <p:nvSpPr>
          <p:cNvPr id="645" name="Google Shape;645;p38"/>
          <p:cNvSpPr/>
          <p:nvPr/>
        </p:nvSpPr>
        <p:spPr>
          <a:xfrm>
            <a:off x="3218688" y="2029968"/>
            <a:ext cx="2432304" cy="2395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Maintains patient registry. Provides brief interventions. Monitors treatment response with validated scales. Escalates to psychiatric consultant as needed.</a:t>
            </a:r>
            <a:endParaRPr b="0" i="0" sz="1050" u="none" cap="none" strike="noStrike">
              <a:solidFill>
                <a:schemeClr val="dk1"/>
              </a:solidFill>
              <a:latin typeface="Calibri"/>
              <a:ea typeface="Calibri"/>
              <a:cs typeface="Calibri"/>
              <a:sym typeface="Calibri"/>
            </a:endParaRPr>
          </a:p>
        </p:txBody>
      </p:sp>
      <p:sp>
        <p:nvSpPr>
          <p:cNvPr id="646" name="Google Shape;646;p38"/>
          <p:cNvSpPr/>
          <p:nvPr/>
        </p:nvSpPr>
        <p:spPr>
          <a:xfrm>
            <a:off x="5943600" y="960120"/>
            <a:ext cx="2651760" cy="356616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8"/>
          <p:cNvSpPr/>
          <p:nvPr/>
        </p:nvSpPr>
        <p:spPr>
          <a:xfrm>
            <a:off x="5943600" y="960120"/>
            <a:ext cx="2651760" cy="640080"/>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8"/>
          <p:cNvSpPr/>
          <p:nvPr/>
        </p:nvSpPr>
        <p:spPr>
          <a:xfrm>
            <a:off x="5943600" y="960120"/>
            <a:ext cx="26517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Psychiatric</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Consultant</a:t>
            </a:r>
            <a:endParaRPr b="0" i="0" sz="1300" u="none" cap="none" strike="noStrike">
              <a:solidFill>
                <a:schemeClr val="dk1"/>
              </a:solidFill>
              <a:latin typeface="Calibri"/>
              <a:ea typeface="Calibri"/>
              <a:cs typeface="Calibri"/>
              <a:sym typeface="Calibri"/>
            </a:endParaRPr>
          </a:p>
        </p:txBody>
      </p:sp>
      <p:sp>
        <p:nvSpPr>
          <p:cNvPr id="649" name="Google Shape;649;p38"/>
          <p:cNvSpPr/>
          <p:nvPr/>
        </p:nvSpPr>
        <p:spPr>
          <a:xfrm>
            <a:off x="6053328" y="1691640"/>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100"/>
              <a:buFont typeface="Calibri"/>
              <a:buNone/>
            </a:pPr>
            <a:r>
              <a:rPr b="1" i="1" lang="en-US" sz="1100" u="none" cap="none" strike="noStrike">
                <a:solidFill>
                  <a:srgbClr val="0D5F6B"/>
                </a:solidFill>
                <a:latin typeface="Calibri"/>
                <a:ea typeface="Calibri"/>
                <a:cs typeface="Calibri"/>
                <a:sym typeface="Calibri"/>
              </a:rPr>
              <a:t>Clinical supervision</a:t>
            </a:r>
            <a:endParaRPr b="0" i="0" sz="1100" u="none" cap="none" strike="noStrike">
              <a:solidFill>
                <a:schemeClr val="dk1"/>
              </a:solidFill>
              <a:latin typeface="Calibri"/>
              <a:ea typeface="Calibri"/>
              <a:cs typeface="Calibri"/>
              <a:sym typeface="Calibri"/>
            </a:endParaRPr>
          </a:p>
        </p:txBody>
      </p:sp>
      <p:sp>
        <p:nvSpPr>
          <p:cNvPr id="650" name="Google Shape;650;p38"/>
          <p:cNvSpPr/>
          <p:nvPr/>
        </p:nvSpPr>
        <p:spPr>
          <a:xfrm>
            <a:off x="6053328" y="2029968"/>
            <a:ext cx="2432304" cy="2395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Regular case review with BHCM. Consultation on treatment recommendations. Direct care for highest-acuity cases only — one psychiatrist supports an entire practice.</a:t>
            </a:r>
            <a:endParaRPr b="0" i="0" sz="1050" u="none" cap="none" strike="noStrike">
              <a:solidFill>
                <a:schemeClr val="dk1"/>
              </a:solidFill>
              <a:latin typeface="Calibri"/>
              <a:ea typeface="Calibri"/>
              <a:cs typeface="Calibri"/>
              <a:sym typeface="Calibri"/>
            </a:endParaRPr>
          </a:p>
        </p:txBody>
      </p:sp>
      <p:sp>
        <p:nvSpPr>
          <p:cNvPr id="651" name="Google Shape;651;p38"/>
          <p:cNvSpPr/>
          <p:nvPr/>
        </p:nvSpPr>
        <p:spPr>
          <a:xfrm>
            <a:off x="274320" y="4617720"/>
            <a:ext cx="8595360" cy="347472"/>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8"/>
          <p:cNvSpPr/>
          <p:nvPr/>
        </p:nvSpPr>
        <p:spPr>
          <a:xfrm>
            <a:off x="365760" y="4645152"/>
            <a:ext cx="841248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Vermont application: Blueprint MHI pilot — 80% of administrative entities increased CHT staffing | BHCM positions the natural CHT deployment</a:t>
            </a:r>
            <a:endParaRPr b="0" i="0" sz="1000" u="none" cap="none" strike="noStrike">
              <a:solidFill>
                <a:schemeClr val="dk1"/>
              </a:solidFill>
              <a:latin typeface="Calibri"/>
              <a:ea typeface="Calibri"/>
              <a:cs typeface="Calibri"/>
              <a:sym typeface="Calibri"/>
            </a:endParaRPr>
          </a:p>
        </p:txBody>
      </p:sp>
      <p:sp>
        <p:nvSpPr>
          <p:cNvPr id="653" name="Google Shape;653;p38"/>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10 — Source: SAMHSA CoCM Program; CMS Behavioral Health Integration Services (January 2026); Vermont Blueprint MHI Evaluation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39"/>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 BEHAVIORAL HEALTH CRISIS: ED PRESENTATIONS BY COUNTY</a:t>
            </a:r>
            <a:endParaRPr b="0" i="0" sz="1800" u="none" cap="none" strike="noStrike">
              <a:solidFill>
                <a:schemeClr val="dk1"/>
              </a:solidFill>
              <a:latin typeface="Calibri"/>
              <a:ea typeface="Calibri"/>
              <a:cs typeface="Calibri"/>
              <a:sym typeface="Calibri"/>
            </a:endParaRPr>
          </a:p>
        </p:txBody>
      </p:sp>
      <p:pic>
        <p:nvPicPr>
          <p:cNvPr id="660" name="Google Shape;660;p39"/>
          <p:cNvPicPr preferRelativeResize="0"/>
          <p:nvPr/>
        </p:nvPicPr>
        <p:blipFill rotWithShape="1">
          <a:blip r:embed="rId3">
            <a:alphaModFix/>
          </a:blip>
          <a:srcRect b="0" l="0" r="0" t="0"/>
          <a:stretch/>
        </p:blipFill>
        <p:spPr>
          <a:xfrm>
            <a:off x="320040" y="685800"/>
            <a:ext cx="8503920" cy="3383280"/>
          </a:xfrm>
          <a:prstGeom prst="rect">
            <a:avLst/>
          </a:prstGeom>
          <a:noFill/>
          <a:ln>
            <a:noFill/>
          </a:ln>
        </p:spPr>
      </p:pic>
      <p:sp>
        <p:nvSpPr>
          <p:cNvPr id="661" name="Google Shape;661;p39"/>
          <p:cNvSpPr/>
          <p:nvPr/>
        </p:nvSpPr>
        <p:spPr>
          <a:xfrm>
            <a:off x="365760" y="4187952"/>
            <a:ext cx="841248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1100"/>
              <a:buFont typeface="Calibri"/>
              <a:buNone/>
            </a:pPr>
            <a:r>
              <a:rPr b="0" i="1" lang="en-US" sz="1100" u="none" cap="none" strike="noStrike">
                <a:solidFill>
                  <a:srgbClr val="8B1A1A"/>
                </a:solidFill>
                <a:latin typeface="Calibri"/>
                <a:ea typeface="Calibri"/>
                <a:cs typeface="Calibri"/>
                <a:sym typeface="Calibri"/>
              </a:rPr>
              <a:t>245.5 ED visits per 10,000 for suicide ideation/self-harm — the clearest evidence of behavioral health access failure. 5 new CCBHCs by July 2026 and permanent CoCM funding through AHEAD EAST Fund are the operational response.</a:t>
            </a:r>
            <a:endParaRPr b="0" i="0" sz="1100" u="none" cap="none" strike="noStrike">
              <a:solidFill>
                <a:schemeClr val="dk1"/>
              </a:solidFill>
              <a:latin typeface="Calibri"/>
              <a:ea typeface="Calibri"/>
              <a:cs typeface="Calibri"/>
              <a:sym typeface="Calibri"/>
            </a:endParaRPr>
          </a:p>
        </p:txBody>
      </p:sp>
      <p:sp>
        <p:nvSpPr>
          <p:cNvPr id="662" name="Google Shape;662;p39"/>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10 — Source: AHS November 2025 Transformation Report; VDH ED surveillance data</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667" name="Shape 667"/>
        <p:cNvGrpSpPr/>
        <p:nvPr/>
      </p:nvGrpSpPr>
      <p:grpSpPr>
        <a:xfrm>
          <a:off x="0" y="0"/>
          <a:ext cx="0" cy="0"/>
          <a:chOff x="0" y="0"/>
          <a:chExt cx="0" cy="0"/>
        </a:xfrm>
      </p:grpSpPr>
      <p:sp>
        <p:nvSpPr>
          <p:cNvPr id="668" name="Google Shape;668;p40"/>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VERMONT'S THREE-LAYER BEHAVIORAL HEALTH ARCHITECTURE</a:t>
            </a:r>
            <a:endParaRPr b="0" i="0" sz="1800" u="none" cap="none" strike="noStrike">
              <a:solidFill>
                <a:schemeClr val="dk1"/>
              </a:solidFill>
              <a:latin typeface="Calibri"/>
              <a:ea typeface="Calibri"/>
              <a:cs typeface="Calibri"/>
              <a:sym typeface="Calibri"/>
            </a:endParaRPr>
          </a:p>
        </p:txBody>
      </p:sp>
      <p:sp>
        <p:nvSpPr>
          <p:cNvPr id="669" name="Google Shape;669;p40"/>
          <p:cNvSpPr/>
          <p:nvPr/>
        </p:nvSpPr>
        <p:spPr>
          <a:xfrm>
            <a:off x="274320" y="713232"/>
            <a:ext cx="8595360" cy="123444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0"/>
          <p:cNvSpPr/>
          <p:nvPr/>
        </p:nvSpPr>
        <p:spPr>
          <a:xfrm>
            <a:off x="274320" y="713232"/>
            <a:ext cx="1371600" cy="123444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0"/>
          <p:cNvSpPr/>
          <p:nvPr/>
        </p:nvSpPr>
        <p:spPr>
          <a:xfrm>
            <a:off x="274320" y="758952"/>
            <a:ext cx="13716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Layer 1</a:t>
            </a:r>
            <a:endParaRPr b="0" i="0" sz="1300" u="none" cap="none" strike="noStrike">
              <a:solidFill>
                <a:schemeClr val="dk1"/>
              </a:solidFill>
              <a:latin typeface="Calibri"/>
              <a:ea typeface="Calibri"/>
              <a:cs typeface="Calibri"/>
              <a:sym typeface="Calibri"/>
            </a:endParaRPr>
          </a:p>
        </p:txBody>
      </p:sp>
      <p:sp>
        <p:nvSpPr>
          <p:cNvPr id="672" name="Google Shape;672;p40"/>
          <p:cNvSpPr/>
          <p:nvPr/>
        </p:nvSpPr>
        <p:spPr>
          <a:xfrm>
            <a:off x="1783080" y="768096"/>
            <a:ext cx="6949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Calibri"/>
              <a:buNone/>
            </a:pPr>
            <a:r>
              <a:rPr b="1" i="0" lang="en-US" sz="1200" u="none" cap="none" strike="noStrike">
                <a:solidFill>
                  <a:srgbClr val="2E75B6"/>
                </a:solidFill>
                <a:latin typeface="Calibri"/>
                <a:ea typeface="Calibri"/>
                <a:cs typeface="Calibri"/>
                <a:sym typeface="Calibri"/>
              </a:rPr>
              <a:t>Mental Health Integration in Primary Care</a:t>
            </a:r>
            <a:endParaRPr b="0" i="0" sz="1200" u="none" cap="none" strike="noStrike">
              <a:solidFill>
                <a:schemeClr val="dk1"/>
              </a:solidFill>
              <a:latin typeface="Calibri"/>
              <a:ea typeface="Calibri"/>
              <a:cs typeface="Calibri"/>
              <a:sym typeface="Calibri"/>
            </a:endParaRPr>
          </a:p>
        </p:txBody>
      </p:sp>
      <p:sp>
        <p:nvSpPr>
          <p:cNvPr id="673" name="Google Shape;673;p40"/>
          <p:cNvSpPr/>
          <p:nvPr/>
        </p:nvSpPr>
        <p:spPr>
          <a:xfrm>
            <a:off x="1783080" y="1133856"/>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CoCM + Blueprint MHI pilot: behavioral health care managers embedded in PCMH practices. PHQ-9/GAD-7 screening. Brief intervention. 80% of Blueprint administrative entities increased CHT staffing in MHI pilot.</a:t>
            </a:r>
            <a:endParaRPr b="0" i="0" sz="1000" u="none" cap="none" strike="noStrike">
              <a:solidFill>
                <a:schemeClr val="dk1"/>
              </a:solidFill>
              <a:latin typeface="Calibri"/>
              <a:ea typeface="Calibri"/>
              <a:cs typeface="Calibri"/>
              <a:sym typeface="Calibri"/>
            </a:endParaRPr>
          </a:p>
        </p:txBody>
      </p:sp>
      <p:sp>
        <p:nvSpPr>
          <p:cNvPr id="674" name="Google Shape;674;p40"/>
          <p:cNvSpPr/>
          <p:nvPr/>
        </p:nvSpPr>
        <p:spPr>
          <a:xfrm>
            <a:off x="1783080" y="1673352"/>
            <a:ext cx="6949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950"/>
              <a:buFont typeface="Calibri"/>
              <a:buNone/>
            </a:pPr>
            <a:r>
              <a:rPr b="1" i="1" lang="en-US" sz="950" u="none" cap="none" strike="noStrike">
                <a:solidFill>
                  <a:srgbClr val="2E75B6"/>
                </a:solidFill>
                <a:latin typeface="Calibri"/>
                <a:ea typeface="Calibri"/>
                <a:cs typeface="Calibri"/>
                <a:sym typeface="Calibri"/>
              </a:rPr>
              <a:t>Funding vehicle: AHEAD EAST Fund (permanent MHI funding) + Blueprint PCMH</a:t>
            </a:r>
            <a:endParaRPr b="0" i="0" sz="950" u="none" cap="none" strike="noStrike">
              <a:solidFill>
                <a:schemeClr val="dk1"/>
              </a:solidFill>
              <a:latin typeface="Calibri"/>
              <a:ea typeface="Calibri"/>
              <a:cs typeface="Calibri"/>
              <a:sym typeface="Calibri"/>
            </a:endParaRPr>
          </a:p>
        </p:txBody>
      </p:sp>
      <p:sp>
        <p:nvSpPr>
          <p:cNvPr id="675" name="Google Shape;675;p40"/>
          <p:cNvSpPr/>
          <p:nvPr/>
        </p:nvSpPr>
        <p:spPr>
          <a:xfrm>
            <a:off x="274320" y="2148840"/>
            <a:ext cx="8595360" cy="1234440"/>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0"/>
          <p:cNvSpPr/>
          <p:nvPr/>
        </p:nvSpPr>
        <p:spPr>
          <a:xfrm>
            <a:off x="274320" y="2148840"/>
            <a:ext cx="1371600" cy="1234440"/>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0"/>
          <p:cNvSpPr/>
          <p:nvPr/>
        </p:nvSpPr>
        <p:spPr>
          <a:xfrm>
            <a:off x="274320" y="2194560"/>
            <a:ext cx="13716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Layer 2</a:t>
            </a:r>
            <a:endParaRPr b="0" i="0" sz="1300" u="none" cap="none" strike="noStrike">
              <a:solidFill>
                <a:schemeClr val="dk1"/>
              </a:solidFill>
              <a:latin typeface="Calibri"/>
              <a:ea typeface="Calibri"/>
              <a:cs typeface="Calibri"/>
              <a:sym typeface="Calibri"/>
            </a:endParaRPr>
          </a:p>
        </p:txBody>
      </p:sp>
      <p:sp>
        <p:nvSpPr>
          <p:cNvPr id="678" name="Google Shape;678;p40"/>
          <p:cNvSpPr/>
          <p:nvPr/>
        </p:nvSpPr>
        <p:spPr>
          <a:xfrm>
            <a:off x="1783080" y="2203704"/>
            <a:ext cx="6949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200"/>
              <a:buFont typeface="Calibri"/>
              <a:buNone/>
            </a:pPr>
            <a:r>
              <a:rPr b="1" i="0" lang="en-US" sz="1200" u="none" cap="none" strike="noStrike">
                <a:solidFill>
                  <a:srgbClr val="0D5F6B"/>
                </a:solidFill>
                <a:latin typeface="Calibri"/>
                <a:ea typeface="Calibri"/>
                <a:cs typeface="Calibri"/>
                <a:sym typeface="Calibri"/>
              </a:rPr>
              <a:t>Certified Community-Based integrated Health Centers (CCBHCs)</a:t>
            </a:r>
            <a:endParaRPr b="0" i="0" sz="1200" u="none" cap="none" strike="noStrike">
              <a:solidFill>
                <a:schemeClr val="dk1"/>
              </a:solidFill>
              <a:latin typeface="Calibri"/>
              <a:ea typeface="Calibri"/>
              <a:cs typeface="Calibri"/>
              <a:sym typeface="Calibri"/>
            </a:endParaRPr>
          </a:p>
        </p:txBody>
      </p:sp>
      <p:sp>
        <p:nvSpPr>
          <p:cNvPr id="679" name="Google Shape;679;p40"/>
          <p:cNvSpPr/>
          <p:nvPr/>
        </p:nvSpPr>
        <p:spPr>
          <a:xfrm>
            <a:off x="1783080" y="2569464"/>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Vermont CCBHC Demonstration State since 2024. 2 operational as of 2025. 5 new entities by July 2026 (RHT Program). Serve all patients regardless of insurance status. Comprehensive behavioral health including crisis intervention, SUD treatment, care coordination.</a:t>
            </a:r>
            <a:endParaRPr b="0" i="0" sz="1000" u="none" cap="none" strike="noStrike">
              <a:solidFill>
                <a:schemeClr val="dk1"/>
              </a:solidFill>
              <a:latin typeface="Calibri"/>
              <a:ea typeface="Calibri"/>
              <a:cs typeface="Calibri"/>
              <a:sym typeface="Calibri"/>
            </a:endParaRPr>
          </a:p>
        </p:txBody>
      </p:sp>
      <p:sp>
        <p:nvSpPr>
          <p:cNvPr id="680" name="Google Shape;680;p40"/>
          <p:cNvSpPr/>
          <p:nvPr/>
        </p:nvSpPr>
        <p:spPr>
          <a:xfrm>
            <a:off x="1783080" y="3108960"/>
            <a:ext cx="6949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950"/>
              <a:buFont typeface="Calibri"/>
              <a:buNone/>
            </a:pPr>
            <a:r>
              <a:rPr b="1" i="1" lang="en-US" sz="950" u="none" cap="none" strike="noStrike">
                <a:solidFill>
                  <a:srgbClr val="0D5F6B"/>
                </a:solidFill>
                <a:latin typeface="Calibri"/>
                <a:ea typeface="Calibri"/>
                <a:cs typeface="Calibri"/>
                <a:sym typeface="Calibri"/>
              </a:rPr>
              <a:t>Funding vehicle: CCBHC Demonstration enhanced Medicaid + RHT Program grants</a:t>
            </a:r>
            <a:endParaRPr b="0" i="0" sz="950" u="none" cap="none" strike="noStrike">
              <a:solidFill>
                <a:schemeClr val="dk1"/>
              </a:solidFill>
              <a:latin typeface="Calibri"/>
              <a:ea typeface="Calibri"/>
              <a:cs typeface="Calibri"/>
              <a:sym typeface="Calibri"/>
            </a:endParaRPr>
          </a:p>
        </p:txBody>
      </p:sp>
      <p:sp>
        <p:nvSpPr>
          <p:cNvPr id="681" name="Google Shape;681;p40"/>
          <p:cNvSpPr/>
          <p:nvPr/>
        </p:nvSpPr>
        <p:spPr>
          <a:xfrm>
            <a:off x="274320" y="3584448"/>
            <a:ext cx="8595360" cy="1234440"/>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0"/>
          <p:cNvSpPr/>
          <p:nvPr/>
        </p:nvSpPr>
        <p:spPr>
          <a:xfrm>
            <a:off x="274320" y="3584448"/>
            <a:ext cx="1371600" cy="123444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0"/>
          <p:cNvSpPr/>
          <p:nvPr/>
        </p:nvSpPr>
        <p:spPr>
          <a:xfrm>
            <a:off x="274320" y="3630168"/>
            <a:ext cx="13716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Layer 3</a:t>
            </a:r>
            <a:endParaRPr b="0" i="0" sz="1300" u="none" cap="none" strike="noStrike">
              <a:solidFill>
                <a:schemeClr val="dk1"/>
              </a:solidFill>
              <a:latin typeface="Calibri"/>
              <a:ea typeface="Calibri"/>
              <a:cs typeface="Calibri"/>
              <a:sym typeface="Calibri"/>
            </a:endParaRPr>
          </a:p>
        </p:txBody>
      </p:sp>
      <p:sp>
        <p:nvSpPr>
          <p:cNvPr id="684" name="Google Shape;684;p40"/>
          <p:cNvSpPr/>
          <p:nvPr/>
        </p:nvSpPr>
        <p:spPr>
          <a:xfrm>
            <a:off x="1783080" y="3639312"/>
            <a:ext cx="6949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200"/>
              <a:buFont typeface="Calibri"/>
              <a:buNone/>
            </a:pPr>
            <a:r>
              <a:rPr b="1" i="0" lang="en-US" sz="1200" u="none" cap="none" strike="noStrike">
                <a:solidFill>
                  <a:srgbClr val="1F5C8B"/>
                </a:solidFill>
                <a:latin typeface="Calibri"/>
                <a:ea typeface="Calibri"/>
                <a:cs typeface="Calibri"/>
                <a:sym typeface="Calibri"/>
              </a:rPr>
              <a:t>Crisis System and Acute Behavioral Health</a:t>
            </a:r>
            <a:endParaRPr b="0" i="0" sz="1200" u="none" cap="none" strike="noStrike">
              <a:solidFill>
                <a:schemeClr val="dk1"/>
              </a:solidFill>
              <a:latin typeface="Calibri"/>
              <a:ea typeface="Calibri"/>
              <a:cs typeface="Calibri"/>
              <a:sym typeface="Calibri"/>
            </a:endParaRPr>
          </a:p>
        </p:txBody>
      </p:sp>
      <p:sp>
        <p:nvSpPr>
          <p:cNvPr id="685" name="Google Shape;685;p40"/>
          <p:cNvSpPr/>
          <p:nvPr/>
        </p:nvSpPr>
        <p:spPr>
          <a:xfrm>
            <a:off x="1783080" y="4005072"/>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Mobile crisis (operational January 2024). 988 Suicide and Crisis Lifeline centralized dispatch. 6 Designated Hospitals with inpatient psychiatric units. Brattleboro Retreat: primary psychiatric hospital. Hospital-level youth MH beds added under Act 167 actions.</a:t>
            </a:r>
            <a:endParaRPr b="0" i="0" sz="1000" u="none" cap="none" strike="noStrike">
              <a:solidFill>
                <a:schemeClr val="dk1"/>
              </a:solidFill>
              <a:latin typeface="Calibri"/>
              <a:ea typeface="Calibri"/>
              <a:cs typeface="Calibri"/>
              <a:sym typeface="Calibri"/>
            </a:endParaRPr>
          </a:p>
        </p:txBody>
      </p:sp>
      <p:sp>
        <p:nvSpPr>
          <p:cNvPr id="686" name="Google Shape;686;p40"/>
          <p:cNvSpPr/>
          <p:nvPr/>
        </p:nvSpPr>
        <p:spPr>
          <a:xfrm>
            <a:off x="1783080" y="4544568"/>
            <a:ext cx="6949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950"/>
              <a:buFont typeface="Calibri"/>
              <a:buNone/>
            </a:pPr>
            <a:r>
              <a:rPr b="1" i="1" lang="en-US" sz="950" u="none" cap="none" strike="noStrike">
                <a:solidFill>
                  <a:srgbClr val="1F5C8B"/>
                </a:solidFill>
                <a:latin typeface="Calibri"/>
                <a:ea typeface="Calibri"/>
                <a:cs typeface="Calibri"/>
                <a:sym typeface="Calibri"/>
              </a:rPr>
              <a:t>Funding vehicle: State funding + Medicaid + Act 167 mandatory actions</a:t>
            </a:r>
            <a:endParaRPr b="0" i="0" sz="950" u="none" cap="none" strike="noStrike">
              <a:solidFill>
                <a:schemeClr val="dk1"/>
              </a:solidFill>
              <a:latin typeface="Calibri"/>
              <a:ea typeface="Calibri"/>
              <a:cs typeface="Calibri"/>
              <a:sym typeface="Calibri"/>
            </a:endParaRPr>
          </a:p>
        </p:txBody>
      </p:sp>
      <p:sp>
        <p:nvSpPr>
          <p:cNvPr id="687" name="Google Shape;687;p40"/>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10 — Source: Vermont DMH CCBHC Program; Vermont Blueprint MHI Evaluation; AHS Transformation Reports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692" name="Shape 692"/>
        <p:cNvGrpSpPr/>
        <p:nvPr/>
      </p:nvGrpSpPr>
      <p:grpSpPr>
        <a:xfrm>
          <a:off x="0" y="0"/>
          <a:ext cx="0" cy="0"/>
          <a:chOff x="0" y="0"/>
          <a:chExt cx="0" cy="0"/>
        </a:xfrm>
      </p:grpSpPr>
      <p:sp>
        <p:nvSpPr>
          <p:cNvPr id="693" name="Google Shape;693;p41"/>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1"/>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11</a:t>
            </a:r>
            <a:endParaRPr b="0" i="0" sz="1300" u="none" cap="none" strike="noStrike">
              <a:solidFill>
                <a:schemeClr val="dk1"/>
              </a:solidFill>
              <a:latin typeface="Calibri"/>
              <a:ea typeface="Calibri"/>
              <a:cs typeface="Calibri"/>
              <a:sym typeface="Calibri"/>
            </a:endParaRPr>
          </a:p>
        </p:txBody>
      </p:sp>
      <p:sp>
        <p:nvSpPr>
          <p:cNvPr id="695" name="Google Shape;695;p41"/>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AHS Restructuring Roadmap</a:t>
            </a:r>
            <a:endParaRPr b="0" i="0" sz="3400" u="none" cap="none" strike="noStrike">
              <a:solidFill>
                <a:schemeClr val="dk1"/>
              </a:solidFill>
              <a:latin typeface="Calibri"/>
              <a:ea typeface="Calibri"/>
              <a:cs typeface="Calibri"/>
              <a:sym typeface="Calibri"/>
            </a:endParaRPr>
          </a:p>
        </p:txBody>
      </p:sp>
      <p:sp>
        <p:nvSpPr>
          <p:cNvPr id="696" name="Google Shape;696;p41"/>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1" name="Shape 701"/>
        <p:cNvGrpSpPr/>
        <p:nvPr/>
      </p:nvGrpSpPr>
      <p:grpSpPr>
        <a:xfrm>
          <a:off x="0" y="0"/>
          <a:ext cx="0" cy="0"/>
          <a:chOff x="0" y="0"/>
          <a:chExt cx="0" cy="0"/>
        </a:xfrm>
      </p:grpSpPr>
      <p:sp>
        <p:nvSpPr>
          <p:cNvPr id="702" name="Google Shape;702;p42"/>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THE FOUR AHS ORGANIZATIONAL GAPS OLIVER WYMAN IDENTIFIED</a:t>
            </a:r>
            <a:endParaRPr b="0" i="0" sz="1800" u="none" cap="none" strike="noStrike">
              <a:solidFill>
                <a:schemeClr val="dk1"/>
              </a:solidFill>
              <a:latin typeface="Calibri"/>
              <a:ea typeface="Calibri"/>
              <a:cs typeface="Calibri"/>
              <a:sym typeface="Calibri"/>
            </a:endParaRPr>
          </a:p>
        </p:txBody>
      </p:sp>
      <p:sp>
        <p:nvSpPr>
          <p:cNvPr id="703" name="Google Shape;703;p42"/>
          <p:cNvSpPr/>
          <p:nvPr/>
        </p:nvSpPr>
        <p:spPr>
          <a:xfrm>
            <a:off x="274320" y="713232"/>
            <a:ext cx="4023360" cy="1920240"/>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2"/>
          <p:cNvSpPr/>
          <p:nvPr/>
        </p:nvSpPr>
        <p:spPr>
          <a:xfrm>
            <a:off x="274320" y="713232"/>
            <a:ext cx="4023360" cy="347472"/>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2"/>
          <p:cNvSpPr/>
          <p:nvPr/>
        </p:nvSpPr>
        <p:spPr>
          <a:xfrm>
            <a:off x="274320" y="713232"/>
            <a:ext cx="40233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Gap 1: Program-Silo Structure</a:t>
            </a:r>
            <a:endParaRPr b="0" i="0" sz="1100" u="none" cap="none" strike="noStrike">
              <a:solidFill>
                <a:schemeClr val="dk1"/>
              </a:solidFill>
              <a:latin typeface="Calibri"/>
              <a:ea typeface="Calibri"/>
              <a:cs typeface="Calibri"/>
              <a:sym typeface="Calibri"/>
            </a:endParaRPr>
          </a:p>
        </p:txBody>
      </p:sp>
      <p:sp>
        <p:nvSpPr>
          <p:cNvPr id="706" name="Google Shape;706;p42"/>
          <p:cNvSpPr/>
          <p:nvPr/>
        </p:nvSpPr>
        <p:spPr>
          <a:xfrm>
            <a:off x="384048" y="1115568"/>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Problem: Organized around program types (Medicaid, mental health, SUD, aging), not geographic service areas. A hospital working on housing + MH + primary care must navigate 4+ AHS programs.</a:t>
            </a:r>
            <a:endParaRPr b="0" i="0" sz="950" u="none" cap="none" strike="noStrike">
              <a:solidFill>
                <a:schemeClr val="dk1"/>
              </a:solidFill>
              <a:latin typeface="Calibri"/>
              <a:ea typeface="Calibri"/>
              <a:cs typeface="Calibri"/>
              <a:sym typeface="Calibri"/>
            </a:endParaRPr>
          </a:p>
        </p:txBody>
      </p:sp>
      <p:sp>
        <p:nvSpPr>
          <p:cNvPr id="707" name="Google Shape;707;p42"/>
          <p:cNvSpPr/>
          <p:nvPr/>
        </p:nvSpPr>
        <p:spPr>
          <a:xfrm>
            <a:off x="384048" y="1938528"/>
            <a:ext cx="3794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950"/>
              <a:buFont typeface="Calibri"/>
              <a:buNone/>
            </a:pPr>
            <a:r>
              <a:rPr b="1" i="0" lang="en-US" sz="950" u="none" cap="none" strike="noStrike">
                <a:solidFill>
                  <a:srgbClr val="8B1A1A"/>
                </a:solidFill>
                <a:latin typeface="Calibri"/>
                <a:ea typeface="Calibri"/>
                <a:cs typeface="Calibri"/>
                <a:sym typeface="Calibri"/>
              </a:rPr>
              <a:t>Fix: Designate HSA-level AHS Coordinators who convene all relevant programs around each hospital's transformation plan.</a:t>
            </a:r>
            <a:endParaRPr b="0" i="0" sz="950" u="none" cap="none" strike="noStrike">
              <a:solidFill>
                <a:schemeClr val="dk1"/>
              </a:solidFill>
              <a:latin typeface="Calibri"/>
              <a:ea typeface="Calibri"/>
              <a:cs typeface="Calibri"/>
              <a:sym typeface="Calibri"/>
            </a:endParaRPr>
          </a:p>
        </p:txBody>
      </p:sp>
      <p:sp>
        <p:nvSpPr>
          <p:cNvPr id="708" name="Google Shape;708;p42"/>
          <p:cNvSpPr/>
          <p:nvPr/>
        </p:nvSpPr>
        <p:spPr>
          <a:xfrm>
            <a:off x="4572000" y="713232"/>
            <a:ext cx="4023360" cy="1920240"/>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2"/>
          <p:cNvSpPr/>
          <p:nvPr/>
        </p:nvSpPr>
        <p:spPr>
          <a:xfrm>
            <a:off x="4572000" y="713232"/>
            <a:ext cx="4023360" cy="347472"/>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2"/>
          <p:cNvSpPr/>
          <p:nvPr/>
        </p:nvSpPr>
        <p:spPr>
          <a:xfrm>
            <a:off x="4572000" y="713232"/>
            <a:ext cx="40233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Gap 2: No Planning &amp; Effectiveness Function</a:t>
            </a:r>
            <a:endParaRPr b="0" i="0" sz="1100" u="none" cap="none" strike="noStrike">
              <a:solidFill>
                <a:schemeClr val="dk1"/>
              </a:solidFill>
              <a:latin typeface="Calibri"/>
              <a:ea typeface="Calibri"/>
              <a:cs typeface="Calibri"/>
              <a:sym typeface="Calibri"/>
            </a:endParaRPr>
          </a:p>
        </p:txBody>
      </p:sp>
      <p:sp>
        <p:nvSpPr>
          <p:cNvPr id="711" name="Google Shape;711;p42"/>
          <p:cNvSpPr/>
          <p:nvPr/>
        </p:nvSpPr>
        <p:spPr>
          <a:xfrm>
            <a:off x="4681728" y="1115568"/>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Problem: No analytical unit to model financial/access impact of service changes, evaluate hospital proposals, or monitor whether transformation investments are producing results.</a:t>
            </a:r>
            <a:endParaRPr b="0" i="0" sz="950" u="none" cap="none" strike="noStrike">
              <a:solidFill>
                <a:schemeClr val="dk1"/>
              </a:solidFill>
              <a:latin typeface="Calibri"/>
              <a:ea typeface="Calibri"/>
              <a:cs typeface="Calibri"/>
              <a:sym typeface="Calibri"/>
            </a:endParaRPr>
          </a:p>
        </p:txBody>
      </p:sp>
      <p:sp>
        <p:nvSpPr>
          <p:cNvPr id="712" name="Google Shape;712;p42"/>
          <p:cNvSpPr/>
          <p:nvPr/>
        </p:nvSpPr>
        <p:spPr>
          <a:xfrm>
            <a:off x="4681728" y="1938528"/>
            <a:ext cx="3794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950"/>
              <a:buFont typeface="Calibri"/>
              <a:buNone/>
            </a:pPr>
            <a:r>
              <a:rPr b="1" i="0" lang="en-US" sz="950" u="none" cap="none" strike="noStrike">
                <a:solidFill>
                  <a:srgbClr val="7B4A00"/>
                </a:solidFill>
                <a:latin typeface="Calibri"/>
                <a:ea typeface="Calibri"/>
                <a:cs typeface="Calibri"/>
                <a:sym typeface="Calibri"/>
              </a:rPr>
              <a:t>Fix: Establish Division of Planning and Effectiveness. Joint AHS-GMCB analytics vendor (procurement underway 2025-2026).</a:t>
            </a:r>
            <a:endParaRPr b="0" i="0" sz="950" u="none" cap="none" strike="noStrike">
              <a:solidFill>
                <a:schemeClr val="dk1"/>
              </a:solidFill>
              <a:latin typeface="Calibri"/>
              <a:ea typeface="Calibri"/>
              <a:cs typeface="Calibri"/>
              <a:sym typeface="Calibri"/>
            </a:endParaRPr>
          </a:p>
        </p:txBody>
      </p:sp>
      <p:sp>
        <p:nvSpPr>
          <p:cNvPr id="713" name="Google Shape;713;p42"/>
          <p:cNvSpPr/>
          <p:nvPr/>
        </p:nvSpPr>
        <p:spPr>
          <a:xfrm>
            <a:off x="274320" y="2852928"/>
            <a:ext cx="4023360" cy="1920240"/>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2"/>
          <p:cNvSpPr/>
          <p:nvPr/>
        </p:nvSpPr>
        <p:spPr>
          <a:xfrm>
            <a:off x="274320" y="2852928"/>
            <a:ext cx="4023360" cy="347472"/>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2"/>
          <p:cNvSpPr/>
          <p:nvPr/>
        </p:nvSpPr>
        <p:spPr>
          <a:xfrm>
            <a:off x="274320" y="2852928"/>
            <a:ext cx="40233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Gap 3: Under-Resourced Transformation Mgmt</a:t>
            </a:r>
            <a:endParaRPr b="0" i="0" sz="1100" u="none" cap="none" strike="noStrike">
              <a:solidFill>
                <a:schemeClr val="dk1"/>
              </a:solidFill>
              <a:latin typeface="Calibri"/>
              <a:ea typeface="Calibri"/>
              <a:cs typeface="Calibri"/>
              <a:sym typeface="Calibri"/>
            </a:endParaRPr>
          </a:p>
        </p:txBody>
      </p:sp>
      <p:sp>
        <p:nvSpPr>
          <p:cNvPr id="716" name="Google Shape;716;p42"/>
          <p:cNvSpPr/>
          <p:nvPr/>
        </p:nvSpPr>
        <p:spPr>
          <a:xfrm>
            <a:off x="384048" y="3255264"/>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Problem: AHS must simultaneously manage AHEAD, 14 hospital plans, RHT Program ($195M), GMCB coordination, and monthly legislative reporting. Insufficient staff for this portfolio.</a:t>
            </a:r>
            <a:endParaRPr b="0" i="0" sz="950" u="none" cap="none" strike="noStrike">
              <a:solidFill>
                <a:schemeClr val="dk1"/>
              </a:solidFill>
              <a:latin typeface="Calibri"/>
              <a:ea typeface="Calibri"/>
              <a:cs typeface="Calibri"/>
              <a:sym typeface="Calibri"/>
            </a:endParaRPr>
          </a:p>
        </p:txBody>
      </p:sp>
      <p:sp>
        <p:nvSpPr>
          <p:cNvPr id="717" name="Google Shape;717;p42"/>
          <p:cNvSpPr/>
          <p:nvPr/>
        </p:nvSpPr>
        <p:spPr>
          <a:xfrm>
            <a:off x="384048" y="4078224"/>
            <a:ext cx="3794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950"/>
              <a:buFont typeface="Calibri"/>
              <a:buNone/>
            </a:pPr>
            <a:r>
              <a:rPr b="1" i="0" lang="en-US" sz="950" u="none" cap="none" strike="noStrike">
                <a:solidFill>
                  <a:srgbClr val="7B4A00"/>
                </a:solidFill>
                <a:latin typeface="Calibri"/>
                <a:ea typeface="Calibri"/>
                <a:cs typeface="Calibri"/>
                <a:sym typeface="Calibri"/>
              </a:rPr>
              <a:t>Fix: Hire dedicated transformation staff using RHT Program funds (explicitly authorized). Establish Project Management Office.</a:t>
            </a:r>
            <a:endParaRPr b="0" i="0" sz="950" u="none" cap="none" strike="noStrike">
              <a:solidFill>
                <a:schemeClr val="dk1"/>
              </a:solidFill>
              <a:latin typeface="Calibri"/>
              <a:ea typeface="Calibri"/>
              <a:cs typeface="Calibri"/>
              <a:sym typeface="Calibri"/>
            </a:endParaRPr>
          </a:p>
        </p:txBody>
      </p:sp>
      <p:sp>
        <p:nvSpPr>
          <p:cNvPr id="718" name="Google Shape;718;p42"/>
          <p:cNvSpPr/>
          <p:nvPr/>
        </p:nvSpPr>
        <p:spPr>
          <a:xfrm>
            <a:off x="4572000" y="2852928"/>
            <a:ext cx="4023360" cy="192024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2"/>
          <p:cNvSpPr/>
          <p:nvPr/>
        </p:nvSpPr>
        <p:spPr>
          <a:xfrm>
            <a:off x="4572000" y="2852928"/>
            <a:ext cx="4023360" cy="34747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2"/>
          <p:cNvSpPr/>
          <p:nvPr/>
        </p:nvSpPr>
        <p:spPr>
          <a:xfrm>
            <a:off x="4572000" y="2852928"/>
            <a:ext cx="40233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Gap 4: Fragmented SDOH Integration</a:t>
            </a:r>
            <a:endParaRPr b="0" i="0" sz="1100" u="none" cap="none" strike="noStrike">
              <a:solidFill>
                <a:schemeClr val="dk1"/>
              </a:solidFill>
              <a:latin typeface="Calibri"/>
              <a:ea typeface="Calibri"/>
              <a:cs typeface="Calibri"/>
              <a:sym typeface="Calibri"/>
            </a:endParaRPr>
          </a:p>
        </p:txBody>
      </p:sp>
      <p:sp>
        <p:nvSpPr>
          <p:cNvPr id="721" name="Google Shape;721;p42"/>
          <p:cNvSpPr/>
          <p:nvPr/>
        </p:nvSpPr>
        <p:spPr>
          <a:xfrm>
            <a:off x="4681728" y="3255264"/>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Problem: Housing, transportation, food assistance programs are separate from healthcare transformation goals. Cannot demonstrate SDOH → healthcare utilization reduction link.</a:t>
            </a:r>
            <a:endParaRPr b="0" i="0" sz="950" u="none" cap="none" strike="noStrike">
              <a:solidFill>
                <a:schemeClr val="dk1"/>
              </a:solidFill>
              <a:latin typeface="Calibri"/>
              <a:ea typeface="Calibri"/>
              <a:cs typeface="Calibri"/>
              <a:sym typeface="Calibri"/>
            </a:endParaRPr>
          </a:p>
        </p:txBody>
      </p:sp>
      <p:sp>
        <p:nvSpPr>
          <p:cNvPr id="722" name="Google Shape;722;p42"/>
          <p:cNvSpPr/>
          <p:nvPr/>
        </p:nvSpPr>
        <p:spPr>
          <a:xfrm>
            <a:off x="4681728" y="4078224"/>
            <a:ext cx="37947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950"/>
              <a:buFont typeface="Calibri"/>
              <a:buNone/>
            </a:pPr>
            <a:r>
              <a:rPr b="1" i="0" lang="en-US" sz="950" u="none" cap="none" strike="noStrike">
                <a:solidFill>
                  <a:srgbClr val="2E75B6"/>
                </a:solidFill>
                <a:latin typeface="Calibri"/>
                <a:ea typeface="Calibri"/>
                <a:cs typeface="Calibri"/>
                <a:sym typeface="Calibri"/>
              </a:rPr>
              <a:t>Fix: Cross-program SDOH integration protocols. HSA Coordinator model links health and social services. VHCURES linkage to social service data.</a:t>
            </a:r>
            <a:endParaRPr b="0" i="0" sz="950" u="none" cap="none" strike="noStrike">
              <a:solidFill>
                <a:schemeClr val="dk1"/>
              </a:solidFill>
              <a:latin typeface="Calibri"/>
              <a:ea typeface="Calibri"/>
              <a:cs typeface="Calibri"/>
              <a:sym typeface="Calibri"/>
            </a:endParaRPr>
          </a:p>
        </p:txBody>
      </p:sp>
      <p:sp>
        <p:nvSpPr>
          <p:cNvPr id="723" name="Google Shape;723;p42"/>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11 — Source: Oliver Wyman Act 167 Report (2024); AHS November 2025 Transformation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728" name="Shape 728"/>
        <p:cNvGrpSpPr/>
        <p:nvPr/>
      </p:nvGrpSpPr>
      <p:grpSpPr>
        <a:xfrm>
          <a:off x="0" y="0"/>
          <a:ext cx="0" cy="0"/>
          <a:chOff x="0" y="0"/>
          <a:chExt cx="0" cy="0"/>
        </a:xfrm>
      </p:grpSpPr>
      <p:sp>
        <p:nvSpPr>
          <p:cNvPr id="729" name="Google Shape;729;p43"/>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THE REDESIGNED AHS: THREE-LEVEL POPULATION HEALTH OPERATING MODEL</a:t>
            </a:r>
            <a:endParaRPr b="0" i="0" sz="1700" u="none" cap="none" strike="noStrike">
              <a:solidFill>
                <a:schemeClr val="dk1"/>
              </a:solidFill>
              <a:latin typeface="Calibri"/>
              <a:ea typeface="Calibri"/>
              <a:cs typeface="Calibri"/>
              <a:sym typeface="Calibri"/>
            </a:endParaRPr>
          </a:p>
        </p:txBody>
      </p:sp>
      <p:sp>
        <p:nvSpPr>
          <p:cNvPr id="730" name="Google Shape;730;p43"/>
          <p:cNvSpPr/>
          <p:nvPr/>
        </p:nvSpPr>
        <p:spPr>
          <a:xfrm>
            <a:off x="274320" y="749808"/>
            <a:ext cx="8595360" cy="1261872"/>
          </a:xfrm>
          <a:prstGeom prst="rect">
            <a:avLst/>
          </a:prstGeom>
          <a:solidFill>
            <a:srgbClr val="D5E8F0"/>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3"/>
          <p:cNvSpPr/>
          <p:nvPr/>
        </p:nvSpPr>
        <p:spPr>
          <a:xfrm>
            <a:off x="274320" y="749808"/>
            <a:ext cx="1737360" cy="1261872"/>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3"/>
          <p:cNvSpPr/>
          <p:nvPr/>
        </p:nvSpPr>
        <p:spPr>
          <a:xfrm>
            <a:off x="274320" y="795528"/>
            <a:ext cx="1737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Level 1</a:t>
            </a:r>
            <a:endParaRPr b="0" i="0" sz="1100" u="none" cap="none" strike="noStrike">
              <a:solidFill>
                <a:schemeClr val="dk1"/>
              </a:solidFill>
              <a:latin typeface="Calibri"/>
              <a:ea typeface="Calibri"/>
              <a:cs typeface="Calibri"/>
              <a:sym typeface="Calibri"/>
            </a:endParaRPr>
          </a:p>
        </p:txBody>
      </p:sp>
      <p:sp>
        <p:nvSpPr>
          <p:cNvPr id="733" name="Google Shape;733;p43"/>
          <p:cNvSpPr/>
          <p:nvPr/>
        </p:nvSpPr>
        <p:spPr>
          <a:xfrm>
            <a:off x="274320" y="1225296"/>
            <a:ext cx="173736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STATEWIDE SYSTEM ARCHITECT</a:t>
            </a:r>
            <a:endParaRPr b="0" i="0" sz="1000" u="none" cap="none" strike="noStrike">
              <a:solidFill>
                <a:schemeClr val="dk1"/>
              </a:solidFill>
              <a:latin typeface="Calibri"/>
              <a:ea typeface="Calibri"/>
              <a:cs typeface="Calibri"/>
              <a:sym typeface="Calibri"/>
            </a:endParaRPr>
          </a:p>
        </p:txBody>
      </p:sp>
      <p:sp>
        <p:nvSpPr>
          <p:cNvPr id="734" name="Google Shape;734;p43"/>
          <p:cNvSpPr/>
          <p:nvPr/>
        </p:nvSpPr>
        <p:spPr>
          <a:xfrm>
            <a:off x="2148840" y="841248"/>
            <a:ext cx="65836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Strategic direction and six-pillar framework  •  Payment reform trajectory (with GMCB)  •  Capital allocation: RHT, EAST Fund, Act 68 grants</a:t>
            </a:r>
            <a:endParaRPr b="0" i="0" sz="1050" u="none" cap="none" strike="noStrike">
              <a:solidFill>
                <a:schemeClr val="dk1"/>
              </a:solidFill>
              <a:latin typeface="Calibri"/>
              <a:ea typeface="Calibri"/>
              <a:cs typeface="Calibri"/>
              <a:sym typeface="Calibri"/>
            </a:endParaRPr>
          </a:p>
        </p:txBody>
      </p:sp>
      <p:sp>
        <p:nvSpPr>
          <p:cNvPr id="735" name="Google Shape;735;p43"/>
          <p:cNvSpPr/>
          <p:nvPr/>
        </p:nvSpPr>
        <p:spPr>
          <a:xfrm>
            <a:off x="2148840" y="1362456"/>
            <a:ext cx="6583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Federal relationship management (CMS, HRSA, CMMI)  •  Accountability framework and monthly reporting  •  Statewide Strategic Plan development (Dec 2028)</a:t>
            </a:r>
            <a:endParaRPr b="0" i="0" sz="1050" u="none" cap="none" strike="noStrike">
              <a:solidFill>
                <a:schemeClr val="dk1"/>
              </a:solidFill>
              <a:latin typeface="Calibri"/>
              <a:ea typeface="Calibri"/>
              <a:cs typeface="Calibri"/>
              <a:sym typeface="Calibri"/>
            </a:endParaRPr>
          </a:p>
        </p:txBody>
      </p:sp>
      <p:sp>
        <p:nvSpPr>
          <p:cNvPr id="736" name="Google Shape;736;p43"/>
          <p:cNvSpPr/>
          <p:nvPr/>
        </p:nvSpPr>
        <p:spPr>
          <a:xfrm>
            <a:off x="274320" y="2167128"/>
            <a:ext cx="8595360" cy="1261872"/>
          </a:xfrm>
          <a:prstGeom prst="rect">
            <a:avLst/>
          </a:prstGeom>
          <a:solidFill>
            <a:srgbClr val="EBF4FA"/>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3"/>
          <p:cNvSpPr/>
          <p:nvPr/>
        </p:nvSpPr>
        <p:spPr>
          <a:xfrm>
            <a:off x="274320" y="2167128"/>
            <a:ext cx="1737360" cy="126187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3"/>
          <p:cNvSpPr/>
          <p:nvPr/>
        </p:nvSpPr>
        <p:spPr>
          <a:xfrm>
            <a:off x="274320" y="2212848"/>
            <a:ext cx="1737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Level 2</a:t>
            </a:r>
            <a:endParaRPr b="0" i="0" sz="1100" u="none" cap="none" strike="noStrike">
              <a:solidFill>
                <a:schemeClr val="dk1"/>
              </a:solidFill>
              <a:latin typeface="Calibri"/>
              <a:ea typeface="Calibri"/>
              <a:cs typeface="Calibri"/>
              <a:sym typeface="Calibri"/>
            </a:endParaRPr>
          </a:p>
        </p:txBody>
      </p:sp>
      <p:sp>
        <p:nvSpPr>
          <p:cNvPr id="739" name="Google Shape;739;p43"/>
          <p:cNvSpPr/>
          <p:nvPr/>
        </p:nvSpPr>
        <p:spPr>
          <a:xfrm>
            <a:off x="274320" y="2642616"/>
            <a:ext cx="173736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REGIONAL NETWORK CONVENER (14 HSAs)</a:t>
            </a:r>
            <a:endParaRPr b="0" i="0" sz="1000" u="none" cap="none" strike="noStrike">
              <a:solidFill>
                <a:schemeClr val="dk1"/>
              </a:solidFill>
              <a:latin typeface="Calibri"/>
              <a:ea typeface="Calibri"/>
              <a:cs typeface="Calibri"/>
              <a:sym typeface="Calibri"/>
            </a:endParaRPr>
          </a:p>
        </p:txBody>
      </p:sp>
      <p:sp>
        <p:nvSpPr>
          <p:cNvPr id="740" name="Google Shape;740;p43"/>
          <p:cNvSpPr/>
          <p:nvPr/>
        </p:nvSpPr>
        <p:spPr>
          <a:xfrm>
            <a:off x="2148840" y="2258568"/>
            <a:ext cx="65836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HSA Coordinator for each of 14 Hospital Service Areas  •  Cross-program coordination: DVHA, DMH, Blueprint, ADS, DAIL  •  Hospital transformation plan integration and support</a:t>
            </a:r>
            <a:endParaRPr b="0" i="0" sz="1050" u="none" cap="none" strike="noStrike">
              <a:solidFill>
                <a:schemeClr val="dk1"/>
              </a:solidFill>
              <a:latin typeface="Calibri"/>
              <a:ea typeface="Calibri"/>
              <a:cs typeface="Calibri"/>
              <a:sym typeface="Calibri"/>
            </a:endParaRPr>
          </a:p>
        </p:txBody>
      </p:sp>
      <p:sp>
        <p:nvSpPr>
          <p:cNvPr id="741" name="Google Shape;741;p43"/>
          <p:cNvSpPr/>
          <p:nvPr/>
        </p:nvSpPr>
        <p:spPr>
          <a:xfrm>
            <a:off x="2148840" y="2779776"/>
            <a:ext cx="6583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Regional analytics using CIN analytics platform  •  Community engagement: hospitals, FQHCs, CBOs, SDOH programs</a:t>
            </a:r>
            <a:endParaRPr b="0" i="0" sz="1050" u="none" cap="none" strike="noStrike">
              <a:solidFill>
                <a:schemeClr val="dk1"/>
              </a:solidFill>
              <a:latin typeface="Calibri"/>
              <a:ea typeface="Calibri"/>
              <a:cs typeface="Calibri"/>
              <a:sym typeface="Calibri"/>
            </a:endParaRPr>
          </a:p>
        </p:txBody>
      </p:sp>
      <p:sp>
        <p:nvSpPr>
          <p:cNvPr id="742" name="Google Shape;742;p43"/>
          <p:cNvSpPr/>
          <p:nvPr/>
        </p:nvSpPr>
        <p:spPr>
          <a:xfrm>
            <a:off x="274320" y="3584448"/>
            <a:ext cx="8595360" cy="1261872"/>
          </a:xfrm>
          <a:prstGeom prst="rect">
            <a:avLst/>
          </a:prstGeom>
          <a:solidFill>
            <a:srgbClr val="F5F5F5"/>
          </a:solidFill>
          <a:ln cap="flat" cmpd="sng" w="12700">
            <a:solidFill>
              <a:srgbClr val="444444"/>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3"/>
          <p:cNvSpPr/>
          <p:nvPr/>
        </p:nvSpPr>
        <p:spPr>
          <a:xfrm>
            <a:off x="274320" y="3584448"/>
            <a:ext cx="1737360" cy="1261872"/>
          </a:xfrm>
          <a:prstGeom prst="rect">
            <a:avLst/>
          </a:prstGeom>
          <a:solidFill>
            <a:srgbClr val="44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3"/>
          <p:cNvSpPr/>
          <p:nvPr/>
        </p:nvSpPr>
        <p:spPr>
          <a:xfrm>
            <a:off x="274320" y="3630168"/>
            <a:ext cx="1737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Level 3</a:t>
            </a:r>
            <a:endParaRPr b="0" i="0" sz="1100" u="none" cap="none" strike="noStrike">
              <a:solidFill>
                <a:schemeClr val="dk1"/>
              </a:solidFill>
              <a:latin typeface="Calibri"/>
              <a:ea typeface="Calibri"/>
              <a:cs typeface="Calibri"/>
              <a:sym typeface="Calibri"/>
            </a:endParaRPr>
          </a:p>
        </p:txBody>
      </p:sp>
      <p:sp>
        <p:nvSpPr>
          <p:cNvPr id="745" name="Google Shape;745;p43"/>
          <p:cNvSpPr/>
          <p:nvPr/>
        </p:nvSpPr>
        <p:spPr>
          <a:xfrm>
            <a:off x="274320" y="4059936"/>
            <a:ext cx="173736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PROGRAM DELIVERY OPERATOR</a:t>
            </a:r>
            <a:endParaRPr b="0" i="0" sz="1000" u="none" cap="none" strike="noStrike">
              <a:solidFill>
                <a:schemeClr val="dk1"/>
              </a:solidFill>
              <a:latin typeface="Calibri"/>
              <a:ea typeface="Calibri"/>
              <a:cs typeface="Calibri"/>
              <a:sym typeface="Calibri"/>
            </a:endParaRPr>
          </a:p>
        </p:txBody>
      </p:sp>
      <p:sp>
        <p:nvSpPr>
          <p:cNvPr id="746" name="Google Shape;746;p43"/>
          <p:cNvSpPr/>
          <p:nvPr/>
        </p:nvSpPr>
        <p:spPr>
          <a:xfrm>
            <a:off x="2148840" y="3675888"/>
            <a:ext cx="65836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Medicaid (DVHA): AHEAD alignment, global budget Medicaid component  •  Blueprint for Health: PCMH expansion, MHI, CHT network  •  DMH: CCBHC development, crisis system, SUD continuum</a:t>
            </a:r>
            <a:endParaRPr b="0" i="0" sz="1050" u="none" cap="none" strike="noStrike">
              <a:solidFill>
                <a:schemeClr val="dk1"/>
              </a:solidFill>
              <a:latin typeface="Calibri"/>
              <a:ea typeface="Calibri"/>
              <a:cs typeface="Calibri"/>
              <a:sym typeface="Calibri"/>
            </a:endParaRPr>
          </a:p>
        </p:txBody>
      </p:sp>
      <p:sp>
        <p:nvSpPr>
          <p:cNvPr id="747" name="Google Shape;747;p43"/>
          <p:cNvSpPr/>
          <p:nvPr/>
        </p:nvSpPr>
        <p:spPr>
          <a:xfrm>
            <a:off x="2148840" y="4197096"/>
            <a:ext cx="6583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50"/>
              <a:buFont typeface="Calibri"/>
              <a:buNone/>
            </a:pPr>
            <a:r>
              <a:rPr b="0" i="0" lang="en-US" sz="1050" u="none" cap="none" strike="noStrike">
                <a:solidFill>
                  <a:srgbClr val="444444"/>
                </a:solidFill>
                <a:latin typeface="Calibri"/>
                <a:ea typeface="Calibri"/>
                <a:cs typeface="Calibri"/>
                <a:sym typeface="Calibri"/>
              </a:rPr>
              <a:t>SDOH programs: cross-program integration via HSA Coordinator layer</a:t>
            </a:r>
            <a:endParaRPr b="0" i="0" sz="1050" u="none" cap="none" strike="noStrike">
              <a:solidFill>
                <a:schemeClr val="dk1"/>
              </a:solidFill>
              <a:latin typeface="Calibri"/>
              <a:ea typeface="Calibri"/>
              <a:cs typeface="Calibri"/>
              <a:sym typeface="Calibri"/>
            </a:endParaRPr>
          </a:p>
        </p:txBody>
      </p:sp>
      <p:sp>
        <p:nvSpPr>
          <p:cNvPr id="748" name="Google Shape;748;p43"/>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11 — Source: Oliver Wyman Act 167 Report; Act 68 of 2025; AHS Health Care Delivery Advisory Committee mandate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p44"/>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 2028 STATEWIDE STRATEGIC PLAN — PROPOSED STRUCTURE</a:t>
            </a:r>
            <a:endParaRPr b="0" i="0" sz="1800" u="none" cap="none" strike="noStrike">
              <a:solidFill>
                <a:schemeClr val="dk1"/>
              </a:solidFill>
              <a:latin typeface="Calibri"/>
              <a:ea typeface="Calibri"/>
              <a:cs typeface="Calibri"/>
              <a:sym typeface="Calibri"/>
            </a:endParaRPr>
          </a:p>
        </p:txBody>
      </p:sp>
      <p:graphicFrame>
        <p:nvGraphicFramePr>
          <p:cNvPr id="755" name="Google Shape;755;p44"/>
          <p:cNvGraphicFramePr/>
          <p:nvPr/>
        </p:nvGraphicFramePr>
        <p:xfrm>
          <a:off x="274320" y="685800"/>
          <a:ext cx="3000000" cy="3000000"/>
        </p:xfrm>
        <a:graphic>
          <a:graphicData uri="http://schemas.openxmlformats.org/drawingml/2006/table">
            <a:tbl>
              <a:tblPr>
                <a:noFill/>
                <a:tableStyleId>{A1D9B9E4-F9D2-4EFC-BB1D-056C6BACCCB8}</a:tableStyleId>
              </a:tblPr>
              <a:tblGrid>
                <a:gridCol w="3657600"/>
                <a:gridCol w="4937750"/>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Plan Section</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Key Commitment Required</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Executive Summary — Vermont's crisis, progress, central commitments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Quantified 2031/2035/2040 trajectory — specific, not aspirational</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1: System Context — Updated diagnosis as of 2028 baseline</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Hospital financial positions updated with post-RBP/global budget data</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2: Payment Reform Architecture — RBP status, global budgets, AHEAD</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RBP and global budget dollar savings documented by payer and HSA</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3: Primary Care &amp; Behavioral Health — Blueprint, CCBHC, CoCM</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AHEAD primary care investment % target vs. baseline</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4: Hospital Network &amp; Regionalization — Tier designations, COE status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Confirmed tier designations — all 14 hospitals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5: Data &amp; Technology Infrastructure — VHCURES, HIE, analytics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VHCURES-VHIE integration status; statewide EHR decision</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6: Health Equity Strategy — Geographic, racial, SDOH equity</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Disparity metrics by county — Northeast Kingdom as priority</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7: Workforce Strategy — Supply, deployment, retention</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370 FTE gap plan with RHT workforce investment tracking</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8: AHS Organizational Architecture — HSA Coordinators, PMO</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HSA Coordinator deployments confirmed; PMO operational</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9: Accountability Framework — 17+ Act 167/68 metrics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Performance targets for 2028-2031 on all 17+ measures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Section 10: Financial Plan — RHT balance, EAST Fund, projected savings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Capital allocation plan; projected system savings vs. Oliver Wyman baseline</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756" name="Google Shape;756;p44"/>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11 — Source: Act 68 of 2025; HTR six-pillar framework; Health Care Delivery Advisory Committee mandate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761" name="Shape 761"/>
        <p:cNvGrpSpPr/>
        <p:nvPr/>
      </p:nvGrpSpPr>
      <p:grpSpPr>
        <a:xfrm>
          <a:off x="0" y="0"/>
          <a:ext cx="0" cy="0"/>
          <a:chOff x="0" y="0"/>
          <a:chExt cx="0" cy="0"/>
        </a:xfrm>
      </p:grpSpPr>
      <p:sp>
        <p:nvSpPr>
          <p:cNvPr id="762" name="Google Shape;762;p45"/>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HEALTH CARE DELIVERY ADVISORY COMMITTEE — ACT 68 MANDATE</a:t>
            </a:r>
            <a:endParaRPr b="0" i="0" sz="1800" u="none" cap="none" strike="noStrike">
              <a:solidFill>
                <a:schemeClr val="dk1"/>
              </a:solidFill>
              <a:latin typeface="Calibri"/>
              <a:ea typeface="Calibri"/>
              <a:cs typeface="Calibri"/>
              <a:sym typeface="Calibri"/>
            </a:endParaRPr>
          </a:p>
        </p:txBody>
      </p:sp>
      <p:pic>
        <p:nvPicPr>
          <p:cNvPr id="763" name="Google Shape;763;p45"/>
          <p:cNvPicPr preferRelativeResize="0"/>
          <p:nvPr/>
        </p:nvPicPr>
        <p:blipFill rotWithShape="1">
          <a:blip r:embed="rId3">
            <a:alphaModFix/>
          </a:blip>
          <a:srcRect b="0" l="0" r="0" t="0"/>
          <a:stretch/>
        </p:blipFill>
        <p:spPr>
          <a:xfrm>
            <a:off x="320040" y="685800"/>
            <a:ext cx="4572000" cy="4114800"/>
          </a:xfrm>
          <a:prstGeom prst="rect">
            <a:avLst/>
          </a:prstGeom>
          <a:noFill/>
          <a:ln>
            <a:noFill/>
          </a:ln>
        </p:spPr>
      </p:pic>
      <p:sp>
        <p:nvSpPr>
          <p:cNvPr id="764" name="Google Shape;764;p45"/>
          <p:cNvSpPr/>
          <p:nvPr/>
        </p:nvSpPr>
        <p:spPr>
          <a:xfrm>
            <a:off x="5212080" y="777240"/>
            <a:ext cx="3566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1300"/>
              <a:buFont typeface="Calibri"/>
              <a:buNone/>
            </a:pPr>
            <a:r>
              <a:rPr b="1" i="0" lang="en-US" sz="1300" u="none" cap="none" strike="noStrike">
                <a:solidFill>
                  <a:srgbClr val="1F5C8B"/>
                </a:solidFill>
                <a:latin typeface="Calibri"/>
                <a:ea typeface="Calibri"/>
                <a:cs typeface="Calibri"/>
                <a:sym typeface="Calibri"/>
              </a:rPr>
              <a:t>PRIMARY RESPONSIBILITIES:</a:t>
            </a:r>
            <a:endParaRPr b="0" i="0" sz="1300" u="none" cap="none" strike="noStrike">
              <a:solidFill>
                <a:schemeClr val="dk1"/>
              </a:solidFill>
              <a:latin typeface="Calibri"/>
              <a:ea typeface="Calibri"/>
              <a:cs typeface="Calibri"/>
              <a:sym typeface="Calibri"/>
            </a:endParaRPr>
          </a:p>
        </p:txBody>
      </p:sp>
      <p:sp>
        <p:nvSpPr>
          <p:cNvPr id="765" name="Google Shape;765;p45"/>
          <p:cNvSpPr/>
          <p:nvPr/>
        </p:nvSpPr>
        <p:spPr>
          <a:xfrm>
            <a:off x="5212080" y="118872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Set affordability benchmarks</a:t>
            </a:r>
            <a:endParaRPr b="0" i="0" sz="1050" u="none" cap="none" strike="noStrike">
              <a:solidFill>
                <a:schemeClr val="dk1"/>
              </a:solidFill>
              <a:latin typeface="Calibri"/>
              <a:ea typeface="Calibri"/>
              <a:cs typeface="Calibri"/>
              <a:sym typeface="Calibri"/>
            </a:endParaRPr>
          </a:p>
        </p:txBody>
      </p:sp>
      <p:sp>
        <p:nvSpPr>
          <p:cNvPr id="766" name="Google Shape;766;p45"/>
          <p:cNvSpPr/>
          <p:nvPr/>
        </p:nvSpPr>
        <p:spPr>
          <a:xfrm>
            <a:off x="5212080" y="169164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Monitor system performance</a:t>
            </a:r>
            <a:endParaRPr b="0" i="0" sz="1050" u="none" cap="none" strike="noStrike">
              <a:solidFill>
                <a:schemeClr val="dk1"/>
              </a:solidFill>
              <a:latin typeface="Calibri"/>
              <a:ea typeface="Calibri"/>
              <a:cs typeface="Calibri"/>
              <a:sym typeface="Calibri"/>
            </a:endParaRPr>
          </a:p>
        </p:txBody>
      </p:sp>
      <p:sp>
        <p:nvSpPr>
          <p:cNvPr id="767" name="Google Shape;767;p45"/>
          <p:cNvSpPr/>
          <p:nvPr/>
        </p:nvSpPr>
        <p:spPr>
          <a:xfrm>
            <a:off x="5212080" y="219456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Develop Statewide Strategic Plan (with AHS)</a:t>
            </a:r>
            <a:endParaRPr b="0" i="0" sz="1050" u="none" cap="none" strike="noStrike">
              <a:solidFill>
                <a:schemeClr val="dk1"/>
              </a:solidFill>
              <a:latin typeface="Calibri"/>
              <a:ea typeface="Calibri"/>
              <a:cs typeface="Calibri"/>
              <a:sym typeface="Calibri"/>
            </a:endParaRPr>
          </a:p>
        </p:txBody>
      </p:sp>
      <p:sp>
        <p:nvSpPr>
          <p:cNvPr id="768" name="Google Shape;768;p45"/>
          <p:cNvSpPr/>
          <p:nvPr/>
        </p:nvSpPr>
        <p:spPr>
          <a:xfrm>
            <a:off x="5212080" y="269748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Incorporate Comprehensive Primary Health Care Steering Committee recommendations</a:t>
            </a:r>
            <a:endParaRPr b="0" i="0" sz="1050" u="none" cap="none" strike="noStrike">
              <a:solidFill>
                <a:schemeClr val="dk1"/>
              </a:solidFill>
              <a:latin typeface="Calibri"/>
              <a:ea typeface="Calibri"/>
              <a:cs typeface="Calibri"/>
              <a:sym typeface="Calibri"/>
            </a:endParaRPr>
          </a:p>
        </p:txBody>
      </p:sp>
      <p:sp>
        <p:nvSpPr>
          <p:cNvPr id="769" name="Google Shape;769;p45"/>
          <p:cNvSpPr/>
          <p:nvPr/>
        </p:nvSpPr>
        <p:spPr>
          <a:xfrm>
            <a:off x="5212080" y="320040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Advise GMCB on continuous evaluation process</a:t>
            </a:r>
            <a:endParaRPr b="0" i="0" sz="1050" u="none" cap="none" strike="noStrike">
              <a:solidFill>
                <a:schemeClr val="dk1"/>
              </a:solidFill>
              <a:latin typeface="Calibri"/>
              <a:ea typeface="Calibri"/>
              <a:cs typeface="Calibri"/>
              <a:sym typeface="Calibri"/>
            </a:endParaRPr>
          </a:p>
        </p:txBody>
      </p:sp>
      <p:sp>
        <p:nvSpPr>
          <p:cNvPr id="770" name="Google Shape;770;p45"/>
          <p:cNvSpPr/>
          <p:nvPr/>
        </p:nvSpPr>
        <p:spPr>
          <a:xfrm>
            <a:off x="5212080" y="370332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Provide coordinated recommendations to General Assembly</a:t>
            </a:r>
            <a:endParaRPr b="0" i="0" sz="1050" u="none" cap="none" strike="noStrike">
              <a:solidFill>
                <a:schemeClr val="dk1"/>
              </a:solidFill>
              <a:latin typeface="Calibri"/>
              <a:ea typeface="Calibri"/>
              <a:cs typeface="Calibri"/>
              <a:sym typeface="Calibri"/>
            </a:endParaRPr>
          </a:p>
        </p:txBody>
      </p:sp>
      <p:sp>
        <p:nvSpPr>
          <p:cNvPr id="771" name="Google Shape;771;p45"/>
          <p:cNvSpPr/>
          <p:nvPr/>
        </p:nvSpPr>
        <p:spPr>
          <a:xfrm>
            <a:off x="5212080" y="4206240"/>
            <a:ext cx="35661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 Consult with Health Equity Advisory Commission</a:t>
            </a:r>
            <a:endParaRPr b="0" i="0" sz="1050" u="none" cap="none" strike="noStrike">
              <a:solidFill>
                <a:schemeClr val="dk1"/>
              </a:solidFill>
              <a:latin typeface="Calibri"/>
              <a:ea typeface="Calibri"/>
              <a:cs typeface="Calibri"/>
              <a:sym typeface="Calibri"/>
            </a:endParaRPr>
          </a:p>
        </p:txBody>
      </p:sp>
      <p:sp>
        <p:nvSpPr>
          <p:cNvPr id="772" name="Google Shape;772;p45"/>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11 — Source: Act 68 of 2025; healthcarereform.vermont.gov/health-care-reform-delivery-advisory-committee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777" name="Shape 777"/>
        <p:cNvGrpSpPr/>
        <p:nvPr/>
      </p:nvGrpSpPr>
      <p:grpSpPr>
        <a:xfrm>
          <a:off x="0" y="0"/>
          <a:ext cx="0" cy="0"/>
          <a:chOff x="0" y="0"/>
          <a:chExt cx="0" cy="0"/>
        </a:xfrm>
      </p:grpSpPr>
      <p:sp>
        <p:nvSpPr>
          <p:cNvPr id="778" name="Google Shape;778;p46"/>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6"/>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12</a:t>
            </a:r>
            <a:endParaRPr b="0" i="0" sz="1300" u="none" cap="none" strike="noStrike">
              <a:solidFill>
                <a:schemeClr val="dk1"/>
              </a:solidFill>
              <a:latin typeface="Calibri"/>
              <a:ea typeface="Calibri"/>
              <a:cs typeface="Calibri"/>
              <a:sym typeface="Calibri"/>
            </a:endParaRPr>
          </a:p>
        </p:txBody>
      </p:sp>
      <p:sp>
        <p:nvSpPr>
          <p:cNvPr id="780" name="Google Shape;780;p46"/>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Equity Pillar — Closing Gaps</a:t>
            </a:r>
            <a:endParaRPr b="0" i="0" sz="3400" u="none" cap="none" strike="noStrike">
              <a:solidFill>
                <a:schemeClr val="dk1"/>
              </a:solidFill>
              <a:latin typeface="Calibri"/>
              <a:ea typeface="Calibri"/>
              <a:cs typeface="Calibri"/>
              <a:sym typeface="Calibri"/>
            </a:endParaRPr>
          </a:p>
        </p:txBody>
      </p:sp>
      <p:sp>
        <p:nvSpPr>
          <p:cNvPr id="781" name="Google Shape;781;p46"/>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6" name="Shape 786"/>
        <p:cNvGrpSpPr/>
        <p:nvPr/>
      </p:nvGrpSpPr>
      <p:grpSpPr>
        <a:xfrm>
          <a:off x="0" y="0"/>
          <a:ext cx="0" cy="0"/>
          <a:chOff x="0" y="0"/>
          <a:chExt cx="0" cy="0"/>
        </a:xfrm>
      </p:grpSpPr>
      <p:sp>
        <p:nvSpPr>
          <p:cNvPr id="787" name="Google Shape;787;p47"/>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VERMONT'S GEOGRAPHIC EQUITY DISPARITIES — KEY COUNTY DATA</a:t>
            </a:r>
            <a:endParaRPr b="0" i="0" sz="1800" u="none" cap="none" strike="noStrike">
              <a:solidFill>
                <a:schemeClr val="dk1"/>
              </a:solidFill>
              <a:latin typeface="Calibri"/>
              <a:ea typeface="Calibri"/>
              <a:cs typeface="Calibri"/>
              <a:sym typeface="Calibri"/>
            </a:endParaRPr>
          </a:p>
        </p:txBody>
      </p:sp>
      <p:graphicFrame>
        <p:nvGraphicFramePr>
          <p:cNvPr id="788" name="Google Shape;788;p47"/>
          <p:cNvGraphicFramePr/>
          <p:nvPr/>
        </p:nvGraphicFramePr>
        <p:xfrm>
          <a:off x="274320" y="685800"/>
          <a:ext cx="3000000" cy="3000000"/>
        </p:xfrm>
        <a:graphic>
          <a:graphicData uri="http://schemas.openxmlformats.org/drawingml/2006/table">
            <a:tbl>
              <a:tblPr>
                <a:noFill/>
                <a:tableStyleId>{A1D9B9E4-F9D2-4EFC-BB1D-056C6BACCCB8}</a:tableStyleId>
              </a:tblPr>
              <a:tblGrid>
                <a:gridCol w="2286000"/>
                <a:gridCol w="1645925"/>
                <a:gridCol w="3108950"/>
                <a:gridCol w="1554475"/>
              </a:tblGrid>
              <a:tr h="4572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County / Region</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Uninsured Rate</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Key Disparity</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Priority</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Vermont statewide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Baseline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Reference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Essex County (NE Kingdom)</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~8% — nearly 3× statewide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Highest uninsurance, most rural, highest poverty</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8B1A1A"/>
                        </a:buClr>
                        <a:buSzPts val="1000"/>
                        <a:buFont typeface="Calibri"/>
                        <a:buNone/>
                      </a:pPr>
                      <a:r>
                        <a:rPr b="1" lang="en-US" sz="1000" u="none" cap="none" strike="noStrike">
                          <a:solidFill>
                            <a:srgbClr val="8B1A1A"/>
                          </a:solidFill>
                        </a:rPr>
                        <a:t>CRITICAL</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Orleans County (NE Kingdom)</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6-7%</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Limited provider access; North Country Hospital vulnerable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8B1A1A"/>
                        </a:buClr>
                        <a:buSzPts val="1000"/>
                        <a:buFont typeface="Calibri"/>
                        <a:buNone/>
                      </a:pPr>
                      <a:r>
                        <a:rPr b="1" lang="en-US" sz="1000" u="none" cap="none" strike="noStrike">
                          <a:solidFill>
                            <a:srgbClr val="8B1A1A"/>
                          </a:solidFill>
                        </a:rPr>
                        <a:t>HIGH</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Caledonia County (NE Kingdom)</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5-6%</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NE VT Regional Hospital serves area; financial fragility</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HIGH</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Rutland County</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~3.5%</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Higher opioid overdose rates; above-avg MH crisis ED presentations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7B4A00"/>
                        </a:buClr>
                        <a:buSzPts val="1000"/>
                        <a:buFont typeface="Calibri"/>
                        <a:buNone/>
                      </a:pPr>
                      <a:r>
                        <a:rPr b="1" lang="en-US" sz="1000" u="none" cap="none" strike="noStrike">
                          <a:solidFill>
                            <a:srgbClr val="7B4A00"/>
                          </a:solidFill>
                        </a:rPr>
                        <a:t>ELEVATED</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Windham County</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Higher suicide/SH and opioid rates; SUD corridor with Springfield Hospital</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7B4A00"/>
                        </a:buClr>
                        <a:buSzPts val="1000"/>
                        <a:buFont typeface="Calibri"/>
                        <a:buNone/>
                      </a:pPr>
                      <a:r>
                        <a:rPr b="1" lang="en-US" sz="1000" u="none" cap="none" strike="noStrike">
                          <a:solidFill>
                            <a:srgbClr val="7B4A00"/>
                          </a:solidFill>
                        </a:rPr>
                        <a:t>ELEVATED</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Chittenden County (Burlington)</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~2.5%</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Best-served county; UVMMC anchor</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BASELINE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Black adults (statewide)</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~18% uninsured (vs. 6% white adults)</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82% have insurance vs. 94% statewide; 80% have personal provider vs. 91%</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SIGNIFICANT</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789" name="Google Shape;789;p47"/>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12 — Source: Vermont Department of Health Health Equity Report (January 2025); Vermont RHT Application; AHS November 2025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794" name="Shape 794"/>
        <p:cNvGrpSpPr/>
        <p:nvPr/>
      </p:nvGrpSpPr>
      <p:grpSpPr>
        <a:xfrm>
          <a:off x="0" y="0"/>
          <a:ext cx="0" cy="0"/>
          <a:chOff x="0" y="0"/>
          <a:chExt cx="0" cy="0"/>
        </a:xfrm>
      </p:grpSpPr>
      <p:sp>
        <p:nvSpPr>
          <p:cNvPr id="795" name="Google Shape;795;p48"/>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HEALTH DISPARITY ROOT CAUSE TAXONOMY — MATCHING INTERVENTIONS TO CAUSES</a:t>
            </a:r>
            <a:endParaRPr b="0" i="0" sz="1700" u="none" cap="none" strike="noStrike">
              <a:solidFill>
                <a:schemeClr val="dk1"/>
              </a:solidFill>
              <a:latin typeface="Calibri"/>
              <a:ea typeface="Calibri"/>
              <a:cs typeface="Calibri"/>
              <a:sym typeface="Calibri"/>
            </a:endParaRPr>
          </a:p>
        </p:txBody>
      </p:sp>
      <p:sp>
        <p:nvSpPr>
          <p:cNvPr id="796" name="Google Shape;796;p48"/>
          <p:cNvSpPr/>
          <p:nvPr/>
        </p:nvSpPr>
        <p:spPr>
          <a:xfrm>
            <a:off x="228600" y="713232"/>
            <a:ext cx="1572768" cy="4224528"/>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8"/>
          <p:cNvSpPr/>
          <p:nvPr/>
        </p:nvSpPr>
        <p:spPr>
          <a:xfrm>
            <a:off x="228600" y="713232"/>
            <a:ext cx="1572768" cy="475488"/>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8"/>
          <p:cNvSpPr/>
          <p:nvPr/>
        </p:nvSpPr>
        <p:spPr>
          <a:xfrm>
            <a:off x="228600" y="713232"/>
            <a:ext cx="157276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799" name="Google Shape;799;p48"/>
          <p:cNvSpPr/>
          <p:nvPr/>
        </p:nvSpPr>
        <p:spPr>
          <a:xfrm>
            <a:off x="301752" y="1243584"/>
            <a:ext cx="142646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5C8B"/>
              </a:buClr>
              <a:buSzPts val="1050"/>
              <a:buFont typeface="Calibri"/>
              <a:buNone/>
            </a:pPr>
            <a:r>
              <a:rPr b="1" i="0" lang="en-US" sz="1050" u="none" cap="none" strike="noStrike">
                <a:solidFill>
                  <a:srgbClr val="1F5C8B"/>
                </a:solidFill>
                <a:latin typeface="Calibri"/>
                <a:ea typeface="Calibri"/>
                <a:cs typeface="Calibri"/>
                <a:sym typeface="Calibri"/>
              </a:rPr>
              <a:t>Geographic</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5C8B"/>
              </a:buClr>
              <a:buSzPts val="1050"/>
              <a:buFont typeface="Calibri"/>
              <a:buNone/>
            </a:pPr>
            <a:r>
              <a:rPr b="1" i="0" lang="en-US" sz="1050" u="none" cap="none" strike="noStrike">
                <a:solidFill>
                  <a:srgbClr val="1F5C8B"/>
                </a:solidFill>
                <a:latin typeface="Calibri"/>
                <a:ea typeface="Calibri"/>
                <a:cs typeface="Calibri"/>
                <a:sym typeface="Calibri"/>
              </a:rPr>
              <a:t>Access Barriers</a:t>
            </a:r>
            <a:endParaRPr b="0" i="0" sz="1050" u="none" cap="none" strike="noStrike">
              <a:solidFill>
                <a:schemeClr val="dk1"/>
              </a:solidFill>
              <a:latin typeface="Calibri"/>
              <a:ea typeface="Calibri"/>
              <a:cs typeface="Calibri"/>
              <a:sym typeface="Calibri"/>
            </a:endParaRPr>
          </a:p>
        </p:txBody>
      </p:sp>
      <p:sp>
        <p:nvSpPr>
          <p:cNvPr id="800" name="Google Shape;800;p48"/>
          <p:cNvSpPr/>
          <p:nvPr/>
        </p:nvSpPr>
        <p:spPr>
          <a:xfrm>
            <a:off x="301752" y="18288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libri"/>
              <a:buNone/>
            </a:pPr>
            <a:r>
              <a:rPr b="1" i="0" lang="en-US" sz="900" u="none" cap="none" strike="noStrike">
                <a:solidFill>
                  <a:srgbClr val="1A1A1A"/>
                </a:solidFill>
                <a:latin typeface="Calibri"/>
                <a:ea typeface="Calibri"/>
                <a:cs typeface="Calibri"/>
                <a:sym typeface="Calibri"/>
              </a:rPr>
              <a:t>MECHANISMS:</a:t>
            </a:r>
            <a:endParaRPr b="0" i="0" sz="900" u="none" cap="none" strike="noStrike">
              <a:solidFill>
                <a:schemeClr val="dk1"/>
              </a:solidFill>
              <a:latin typeface="Calibri"/>
              <a:ea typeface="Calibri"/>
              <a:cs typeface="Calibri"/>
              <a:sym typeface="Calibri"/>
            </a:endParaRPr>
          </a:p>
        </p:txBody>
      </p:sp>
      <p:sp>
        <p:nvSpPr>
          <p:cNvPr id="801" name="Google Shape;801;p48"/>
          <p:cNvSpPr/>
          <p:nvPr/>
        </p:nvSpPr>
        <p:spPr>
          <a:xfrm>
            <a:off x="301752" y="2103120"/>
            <a:ext cx="1426464"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Distance; transportation; provider shortage; broadband gaps; limited hours</a:t>
            </a:r>
            <a:endParaRPr b="0" i="0" sz="900" u="none" cap="none" strike="noStrike">
              <a:solidFill>
                <a:schemeClr val="dk1"/>
              </a:solidFill>
              <a:latin typeface="Calibri"/>
              <a:ea typeface="Calibri"/>
              <a:cs typeface="Calibri"/>
              <a:sym typeface="Calibri"/>
            </a:endParaRPr>
          </a:p>
        </p:txBody>
      </p:sp>
      <p:sp>
        <p:nvSpPr>
          <p:cNvPr id="802" name="Google Shape;802;p48"/>
          <p:cNvSpPr/>
          <p:nvPr/>
        </p:nvSpPr>
        <p:spPr>
          <a:xfrm>
            <a:off x="301752" y="32004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C8B"/>
              </a:buClr>
              <a:buSzPts val="900"/>
              <a:buFont typeface="Calibri"/>
              <a:buNone/>
            </a:pPr>
            <a:r>
              <a:rPr b="1" i="0" lang="en-US" sz="900" u="none" cap="none" strike="noStrike">
                <a:solidFill>
                  <a:srgbClr val="1F5C8B"/>
                </a:solidFill>
                <a:latin typeface="Calibri"/>
                <a:ea typeface="Calibri"/>
                <a:cs typeface="Calibri"/>
                <a:sym typeface="Calibri"/>
              </a:rPr>
              <a:t>INTERVENTIONS:</a:t>
            </a:r>
            <a:endParaRPr b="0" i="0" sz="900" u="none" cap="none" strike="noStrike">
              <a:solidFill>
                <a:schemeClr val="dk1"/>
              </a:solidFill>
              <a:latin typeface="Calibri"/>
              <a:ea typeface="Calibri"/>
              <a:cs typeface="Calibri"/>
              <a:sym typeface="Calibri"/>
            </a:endParaRPr>
          </a:p>
        </p:txBody>
      </p:sp>
      <p:sp>
        <p:nvSpPr>
          <p:cNvPr id="803" name="Google Shape;803;p48"/>
          <p:cNvSpPr/>
          <p:nvPr/>
        </p:nvSpPr>
        <p:spPr>
          <a:xfrm>
            <a:off x="301752" y="3493008"/>
            <a:ext cx="1426464"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COE regionalization + EMS; telehealth (RHT); broadband investment; Blueprint expansion</a:t>
            </a:r>
            <a:endParaRPr b="0" i="0" sz="900" u="none" cap="none" strike="noStrike">
              <a:solidFill>
                <a:schemeClr val="dk1"/>
              </a:solidFill>
              <a:latin typeface="Calibri"/>
              <a:ea typeface="Calibri"/>
              <a:cs typeface="Calibri"/>
              <a:sym typeface="Calibri"/>
            </a:endParaRPr>
          </a:p>
        </p:txBody>
      </p:sp>
      <p:sp>
        <p:nvSpPr>
          <p:cNvPr id="804" name="Google Shape;804;p48"/>
          <p:cNvSpPr/>
          <p:nvPr/>
        </p:nvSpPr>
        <p:spPr>
          <a:xfrm>
            <a:off x="1938528" y="713232"/>
            <a:ext cx="1572768" cy="4224528"/>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8"/>
          <p:cNvSpPr/>
          <p:nvPr/>
        </p:nvSpPr>
        <p:spPr>
          <a:xfrm>
            <a:off x="1938528" y="713232"/>
            <a:ext cx="1572768" cy="475488"/>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8"/>
          <p:cNvSpPr/>
          <p:nvPr/>
        </p:nvSpPr>
        <p:spPr>
          <a:xfrm>
            <a:off x="1938528" y="713232"/>
            <a:ext cx="157276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807" name="Google Shape;807;p48"/>
          <p:cNvSpPr/>
          <p:nvPr/>
        </p:nvSpPr>
        <p:spPr>
          <a:xfrm>
            <a:off x="2011680" y="1243584"/>
            <a:ext cx="142646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5F6B"/>
              </a:buClr>
              <a:buSzPts val="1050"/>
              <a:buFont typeface="Calibri"/>
              <a:buNone/>
            </a:pPr>
            <a:r>
              <a:rPr b="1" i="0" lang="en-US" sz="1050" u="none" cap="none" strike="noStrike">
                <a:solidFill>
                  <a:srgbClr val="0D5F6B"/>
                </a:solidFill>
                <a:latin typeface="Calibri"/>
                <a:ea typeface="Calibri"/>
                <a:cs typeface="Calibri"/>
                <a:sym typeface="Calibri"/>
              </a:rPr>
              <a:t>Social Needs</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5F6B"/>
              </a:buClr>
              <a:buSzPts val="1050"/>
              <a:buFont typeface="Calibri"/>
              <a:buNone/>
            </a:pPr>
            <a:r>
              <a:rPr b="1" i="0" lang="en-US" sz="1050" u="none" cap="none" strike="noStrike">
                <a:solidFill>
                  <a:srgbClr val="0D5F6B"/>
                </a:solidFill>
                <a:latin typeface="Calibri"/>
                <a:ea typeface="Calibri"/>
                <a:cs typeface="Calibri"/>
                <a:sym typeface="Calibri"/>
              </a:rPr>
              <a:t>Barriers</a:t>
            </a:r>
            <a:endParaRPr b="0" i="0" sz="1050" u="none" cap="none" strike="noStrike">
              <a:solidFill>
                <a:schemeClr val="dk1"/>
              </a:solidFill>
              <a:latin typeface="Calibri"/>
              <a:ea typeface="Calibri"/>
              <a:cs typeface="Calibri"/>
              <a:sym typeface="Calibri"/>
            </a:endParaRPr>
          </a:p>
        </p:txBody>
      </p:sp>
      <p:sp>
        <p:nvSpPr>
          <p:cNvPr id="808" name="Google Shape;808;p48"/>
          <p:cNvSpPr/>
          <p:nvPr/>
        </p:nvSpPr>
        <p:spPr>
          <a:xfrm>
            <a:off x="2011680" y="18288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libri"/>
              <a:buNone/>
            </a:pPr>
            <a:r>
              <a:rPr b="1" i="0" lang="en-US" sz="900" u="none" cap="none" strike="noStrike">
                <a:solidFill>
                  <a:srgbClr val="1A1A1A"/>
                </a:solidFill>
                <a:latin typeface="Calibri"/>
                <a:ea typeface="Calibri"/>
                <a:cs typeface="Calibri"/>
                <a:sym typeface="Calibri"/>
              </a:rPr>
              <a:t>MECHANISMS:</a:t>
            </a:r>
            <a:endParaRPr b="0" i="0" sz="900" u="none" cap="none" strike="noStrike">
              <a:solidFill>
                <a:schemeClr val="dk1"/>
              </a:solidFill>
              <a:latin typeface="Calibri"/>
              <a:ea typeface="Calibri"/>
              <a:cs typeface="Calibri"/>
              <a:sym typeface="Calibri"/>
            </a:endParaRPr>
          </a:p>
        </p:txBody>
      </p:sp>
      <p:sp>
        <p:nvSpPr>
          <p:cNvPr id="809" name="Google Shape;809;p48"/>
          <p:cNvSpPr/>
          <p:nvPr/>
        </p:nvSpPr>
        <p:spPr>
          <a:xfrm>
            <a:off x="2011680" y="2103120"/>
            <a:ext cx="1426464"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Housing instability; food insecurity; transportation; economic stress</a:t>
            </a:r>
            <a:endParaRPr b="0" i="0" sz="900" u="none" cap="none" strike="noStrike">
              <a:solidFill>
                <a:schemeClr val="dk1"/>
              </a:solidFill>
              <a:latin typeface="Calibri"/>
              <a:ea typeface="Calibri"/>
              <a:cs typeface="Calibri"/>
              <a:sym typeface="Calibri"/>
            </a:endParaRPr>
          </a:p>
        </p:txBody>
      </p:sp>
      <p:sp>
        <p:nvSpPr>
          <p:cNvPr id="810" name="Google Shape;810;p48"/>
          <p:cNvSpPr/>
          <p:nvPr/>
        </p:nvSpPr>
        <p:spPr>
          <a:xfrm>
            <a:off x="2011680" y="32004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900"/>
              <a:buFont typeface="Calibri"/>
              <a:buNone/>
            </a:pPr>
            <a:r>
              <a:rPr b="1" i="0" lang="en-US" sz="900" u="none" cap="none" strike="noStrike">
                <a:solidFill>
                  <a:srgbClr val="0D5F6B"/>
                </a:solidFill>
                <a:latin typeface="Calibri"/>
                <a:ea typeface="Calibri"/>
                <a:cs typeface="Calibri"/>
                <a:sym typeface="Calibri"/>
              </a:rPr>
              <a:t>INTERVENTIONS:</a:t>
            </a:r>
            <a:endParaRPr b="0" i="0" sz="900" u="none" cap="none" strike="noStrike">
              <a:solidFill>
                <a:schemeClr val="dk1"/>
              </a:solidFill>
              <a:latin typeface="Calibri"/>
              <a:ea typeface="Calibri"/>
              <a:cs typeface="Calibri"/>
              <a:sym typeface="Calibri"/>
            </a:endParaRPr>
          </a:p>
        </p:txBody>
      </p:sp>
      <p:sp>
        <p:nvSpPr>
          <p:cNvPr id="811" name="Google Shape;811;p48"/>
          <p:cNvSpPr/>
          <p:nvPr/>
        </p:nvSpPr>
        <p:spPr>
          <a:xfrm>
            <a:off x="2011680" y="3493008"/>
            <a:ext cx="1426464"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AHEAD EAST Fund SDOH; Blueprint HRSN screening; AHS HSA Coordinators; CHW deployment</a:t>
            </a:r>
            <a:endParaRPr b="0" i="0" sz="900" u="none" cap="none" strike="noStrike">
              <a:solidFill>
                <a:schemeClr val="dk1"/>
              </a:solidFill>
              <a:latin typeface="Calibri"/>
              <a:ea typeface="Calibri"/>
              <a:cs typeface="Calibri"/>
              <a:sym typeface="Calibri"/>
            </a:endParaRPr>
          </a:p>
        </p:txBody>
      </p:sp>
      <p:sp>
        <p:nvSpPr>
          <p:cNvPr id="812" name="Google Shape;812;p48"/>
          <p:cNvSpPr/>
          <p:nvPr/>
        </p:nvSpPr>
        <p:spPr>
          <a:xfrm>
            <a:off x="3648456" y="713232"/>
            <a:ext cx="1572768" cy="4224528"/>
          </a:xfrm>
          <a:prstGeom prst="rect">
            <a:avLst/>
          </a:prstGeom>
          <a:solidFill>
            <a:srgbClr val="FFFFFF"/>
          </a:solidFill>
          <a:ln cap="flat" cmpd="sng" w="12700">
            <a:solidFill>
              <a:srgbClr val="4A207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8"/>
          <p:cNvSpPr/>
          <p:nvPr/>
        </p:nvSpPr>
        <p:spPr>
          <a:xfrm>
            <a:off x="3648456" y="713232"/>
            <a:ext cx="1572768" cy="475488"/>
          </a:xfrm>
          <a:prstGeom prst="rect">
            <a:avLst/>
          </a:prstGeom>
          <a:solidFill>
            <a:srgbClr val="4A2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8"/>
          <p:cNvSpPr/>
          <p:nvPr/>
        </p:nvSpPr>
        <p:spPr>
          <a:xfrm>
            <a:off x="3648456" y="713232"/>
            <a:ext cx="157276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815" name="Google Shape;815;p48"/>
          <p:cNvSpPr/>
          <p:nvPr/>
        </p:nvSpPr>
        <p:spPr>
          <a:xfrm>
            <a:off x="3721608" y="1243584"/>
            <a:ext cx="142646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2070"/>
              </a:buClr>
              <a:buSzPts val="1050"/>
              <a:buFont typeface="Calibri"/>
              <a:buNone/>
            </a:pPr>
            <a:r>
              <a:rPr b="1" i="0" lang="en-US" sz="1050" u="none" cap="none" strike="noStrike">
                <a:solidFill>
                  <a:srgbClr val="4A2070"/>
                </a:solidFill>
                <a:latin typeface="Calibri"/>
                <a:ea typeface="Calibri"/>
                <a:cs typeface="Calibri"/>
                <a:sym typeface="Calibri"/>
              </a:rPr>
              <a:t>Clinical Practice</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2070"/>
              </a:buClr>
              <a:buSzPts val="1050"/>
              <a:buFont typeface="Calibri"/>
              <a:buNone/>
            </a:pPr>
            <a:r>
              <a:rPr b="1" i="0" lang="en-US" sz="1050" u="none" cap="none" strike="noStrike">
                <a:solidFill>
                  <a:srgbClr val="4A2070"/>
                </a:solidFill>
                <a:latin typeface="Calibri"/>
                <a:ea typeface="Calibri"/>
                <a:cs typeface="Calibri"/>
                <a:sym typeface="Calibri"/>
              </a:rPr>
              <a:t>Variation</a:t>
            </a:r>
            <a:endParaRPr b="0" i="0" sz="1050" u="none" cap="none" strike="noStrike">
              <a:solidFill>
                <a:schemeClr val="dk1"/>
              </a:solidFill>
              <a:latin typeface="Calibri"/>
              <a:ea typeface="Calibri"/>
              <a:cs typeface="Calibri"/>
              <a:sym typeface="Calibri"/>
            </a:endParaRPr>
          </a:p>
        </p:txBody>
      </p:sp>
      <p:sp>
        <p:nvSpPr>
          <p:cNvPr id="816" name="Google Shape;816;p48"/>
          <p:cNvSpPr/>
          <p:nvPr/>
        </p:nvSpPr>
        <p:spPr>
          <a:xfrm>
            <a:off x="3721608" y="18288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libri"/>
              <a:buNone/>
            </a:pPr>
            <a:r>
              <a:rPr b="1" i="0" lang="en-US" sz="900" u="none" cap="none" strike="noStrike">
                <a:solidFill>
                  <a:srgbClr val="1A1A1A"/>
                </a:solidFill>
                <a:latin typeface="Calibri"/>
                <a:ea typeface="Calibri"/>
                <a:cs typeface="Calibri"/>
                <a:sym typeface="Calibri"/>
              </a:rPr>
              <a:t>MECHANISMS:</a:t>
            </a:r>
            <a:endParaRPr b="0" i="0" sz="900" u="none" cap="none" strike="noStrike">
              <a:solidFill>
                <a:schemeClr val="dk1"/>
              </a:solidFill>
              <a:latin typeface="Calibri"/>
              <a:ea typeface="Calibri"/>
              <a:cs typeface="Calibri"/>
              <a:sym typeface="Calibri"/>
            </a:endParaRPr>
          </a:p>
        </p:txBody>
      </p:sp>
      <p:sp>
        <p:nvSpPr>
          <p:cNvPr id="817" name="Google Shape;817;p48"/>
          <p:cNvSpPr/>
          <p:nvPr/>
        </p:nvSpPr>
        <p:spPr>
          <a:xfrm>
            <a:off x="3721608" y="2103120"/>
            <a:ext cx="1426464"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Weight bias; racial bias in treatment; cultural incompetence; language barriers</a:t>
            </a:r>
            <a:endParaRPr b="0" i="0" sz="900" u="none" cap="none" strike="noStrike">
              <a:solidFill>
                <a:schemeClr val="dk1"/>
              </a:solidFill>
              <a:latin typeface="Calibri"/>
              <a:ea typeface="Calibri"/>
              <a:cs typeface="Calibri"/>
              <a:sym typeface="Calibri"/>
            </a:endParaRPr>
          </a:p>
        </p:txBody>
      </p:sp>
      <p:sp>
        <p:nvSpPr>
          <p:cNvPr id="818" name="Google Shape;818;p48"/>
          <p:cNvSpPr/>
          <p:nvPr/>
        </p:nvSpPr>
        <p:spPr>
          <a:xfrm>
            <a:off x="3721608" y="32004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070"/>
              </a:buClr>
              <a:buSzPts val="900"/>
              <a:buFont typeface="Calibri"/>
              <a:buNone/>
            </a:pPr>
            <a:r>
              <a:rPr b="1" i="0" lang="en-US" sz="900" u="none" cap="none" strike="noStrike">
                <a:solidFill>
                  <a:srgbClr val="4A2070"/>
                </a:solidFill>
                <a:latin typeface="Calibri"/>
                <a:ea typeface="Calibri"/>
                <a:cs typeface="Calibri"/>
                <a:sym typeface="Calibri"/>
              </a:rPr>
              <a:t>INTERVENTIONS:</a:t>
            </a:r>
            <a:endParaRPr b="0" i="0" sz="900" u="none" cap="none" strike="noStrike">
              <a:solidFill>
                <a:schemeClr val="dk1"/>
              </a:solidFill>
              <a:latin typeface="Calibri"/>
              <a:ea typeface="Calibri"/>
              <a:cs typeface="Calibri"/>
              <a:sym typeface="Calibri"/>
            </a:endParaRPr>
          </a:p>
        </p:txBody>
      </p:sp>
      <p:sp>
        <p:nvSpPr>
          <p:cNvPr id="819" name="Google Shape;819;p48"/>
          <p:cNvSpPr/>
          <p:nvPr/>
        </p:nvSpPr>
        <p:spPr>
          <a:xfrm>
            <a:off x="3721608" y="3493008"/>
            <a:ext cx="1426464"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Provider diversity recruitment; implicit bias training; standardized protocols; patient advisory councils</a:t>
            </a:r>
            <a:endParaRPr b="0" i="0" sz="900" u="none" cap="none" strike="noStrike">
              <a:solidFill>
                <a:schemeClr val="dk1"/>
              </a:solidFill>
              <a:latin typeface="Calibri"/>
              <a:ea typeface="Calibri"/>
              <a:cs typeface="Calibri"/>
              <a:sym typeface="Calibri"/>
            </a:endParaRPr>
          </a:p>
        </p:txBody>
      </p:sp>
      <p:sp>
        <p:nvSpPr>
          <p:cNvPr id="820" name="Google Shape;820;p48"/>
          <p:cNvSpPr/>
          <p:nvPr/>
        </p:nvSpPr>
        <p:spPr>
          <a:xfrm>
            <a:off x="5358384" y="713232"/>
            <a:ext cx="1572768" cy="4224528"/>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8"/>
          <p:cNvSpPr/>
          <p:nvPr/>
        </p:nvSpPr>
        <p:spPr>
          <a:xfrm>
            <a:off x="5358384" y="713232"/>
            <a:ext cx="1572768" cy="475488"/>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8"/>
          <p:cNvSpPr/>
          <p:nvPr/>
        </p:nvSpPr>
        <p:spPr>
          <a:xfrm>
            <a:off x="5358384" y="713232"/>
            <a:ext cx="157276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823" name="Google Shape;823;p48"/>
          <p:cNvSpPr/>
          <p:nvPr/>
        </p:nvSpPr>
        <p:spPr>
          <a:xfrm>
            <a:off x="5431536" y="1243584"/>
            <a:ext cx="142646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4A00"/>
              </a:buClr>
              <a:buSzPts val="1050"/>
              <a:buFont typeface="Calibri"/>
              <a:buNone/>
            </a:pPr>
            <a:r>
              <a:rPr b="1" i="0" lang="en-US" sz="1050" u="none" cap="none" strike="noStrike">
                <a:solidFill>
                  <a:srgbClr val="7B4A00"/>
                </a:solidFill>
                <a:latin typeface="Calibri"/>
                <a:ea typeface="Calibri"/>
                <a:cs typeface="Calibri"/>
                <a:sym typeface="Calibri"/>
              </a:rPr>
              <a:t>Coverage &amp; Cost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B4A00"/>
              </a:buClr>
              <a:buSzPts val="1050"/>
              <a:buFont typeface="Calibri"/>
              <a:buNone/>
            </a:pPr>
            <a:r>
              <a:rPr b="1" i="0" lang="en-US" sz="1050" u="none" cap="none" strike="noStrike">
                <a:solidFill>
                  <a:srgbClr val="7B4A00"/>
                </a:solidFill>
                <a:latin typeface="Calibri"/>
                <a:ea typeface="Calibri"/>
                <a:cs typeface="Calibri"/>
                <a:sym typeface="Calibri"/>
              </a:rPr>
              <a:t>Barriers</a:t>
            </a:r>
            <a:endParaRPr b="0" i="0" sz="1050" u="none" cap="none" strike="noStrike">
              <a:solidFill>
                <a:schemeClr val="dk1"/>
              </a:solidFill>
              <a:latin typeface="Calibri"/>
              <a:ea typeface="Calibri"/>
              <a:cs typeface="Calibri"/>
              <a:sym typeface="Calibri"/>
            </a:endParaRPr>
          </a:p>
        </p:txBody>
      </p:sp>
      <p:sp>
        <p:nvSpPr>
          <p:cNvPr id="824" name="Google Shape;824;p48"/>
          <p:cNvSpPr/>
          <p:nvPr/>
        </p:nvSpPr>
        <p:spPr>
          <a:xfrm>
            <a:off x="5431536" y="18288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libri"/>
              <a:buNone/>
            </a:pPr>
            <a:r>
              <a:rPr b="1" i="0" lang="en-US" sz="900" u="none" cap="none" strike="noStrike">
                <a:solidFill>
                  <a:srgbClr val="1A1A1A"/>
                </a:solidFill>
                <a:latin typeface="Calibri"/>
                <a:ea typeface="Calibri"/>
                <a:cs typeface="Calibri"/>
                <a:sym typeface="Calibri"/>
              </a:rPr>
              <a:t>MECHANISMS:</a:t>
            </a:r>
            <a:endParaRPr b="0" i="0" sz="900" u="none" cap="none" strike="noStrike">
              <a:solidFill>
                <a:schemeClr val="dk1"/>
              </a:solidFill>
              <a:latin typeface="Calibri"/>
              <a:ea typeface="Calibri"/>
              <a:cs typeface="Calibri"/>
              <a:sym typeface="Calibri"/>
            </a:endParaRPr>
          </a:p>
        </p:txBody>
      </p:sp>
      <p:sp>
        <p:nvSpPr>
          <p:cNvPr id="825" name="Google Shape;825;p48"/>
          <p:cNvSpPr/>
          <p:nvPr/>
        </p:nvSpPr>
        <p:spPr>
          <a:xfrm>
            <a:off x="5431536" y="2103120"/>
            <a:ext cx="1426464"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High deductibles; copays causing care avoidance; coverage gaps (GLP-1s for obesity)</a:t>
            </a:r>
            <a:endParaRPr b="0" i="0" sz="900" u="none" cap="none" strike="noStrike">
              <a:solidFill>
                <a:schemeClr val="dk1"/>
              </a:solidFill>
              <a:latin typeface="Calibri"/>
              <a:ea typeface="Calibri"/>
              <a:cs typeface="Calibri"/>
              <a:sym typeface="Calibri"/>
            </a:endParaRPr>
          </a:p>
        </p:txBody>
      </p:sp>
      <p:sp>
        <p:nvSpPr>
          <p:cNvPr id="826" name="Google Shape;826;p48"/>
          <p:cNvSpPr/>
          <p:nvPr/>
        </p:nvSpPr>
        <p:spPr>
          <a:xfrm>
            <a:off x="5431536" y="32004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900"/>
              <a:buFont typeface="Calibri"/>
              <a:buNone/>
            </a:pPr>
            <a:r>
              <a:rPr b="1" i="0" lang="en-US" sz="900" u="none" cap="none" strike="noStrike">
                <a:solidFill>
                  <a:srgbClr val="7B4A00"/>
                </a:solidFill>
                <a:latin typeface="Calibri"/>
                <a:ea typeface="Calibri"/>
                <a:cs typeface="Calibri"/>
                <a:sym typeface="Calibri"/>
              </a:rPr>
              <a:t>INTERVENTIONS:</a:t>
            </a:r>
            <a:endParaRPr b="0" i="0" sz="900" u="none" cap="none" strike="noStrike">
              <a:solidFill>
                <a:schemeClr val="dk1"/>
              </a:solidFill>
              <a:latin typeface="Calibri"/>
              <a:ea typeface="Calibri"/>
              <a:cs typeface="Calibri"/>
              <a:sym typeface="Calibri"/>
            </a:endParaRPr>
          </a:p>
        </p:txBody>
      </p:sp>
      <p:sp>
        <p:nvSpPr>
          <p:cNvPr id="827" name="Google Shape;827;p48"/>
          <p:cNvSpPr/>
          <p:nvPr/>
        </p:nvSpPr>
        <p:spPr>
          <a:xfrm>
            <a:off x="5431536" y="3493008"/>
            <a:ext cx="1426464"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Act 68 affordability benchmarks; RBP premium passthrough; BALANCE Model GLP-1 decision</a:t>
            </a:r>
            <a:endParaRPr b="0" i="0" sz="900" u="none" cap="none" strike="noStrike">
              <a:solidFill>
                <a:schemeClr val="dk1"/>
              </a:solidFill>
              <a:latin typeface="Calibri"/>
              <a:ea typeface="Calibri"/>
              <a:cs typeface="Calibri"/>
              <a:sym typeface="Calibri"/>
            </a:endParaRPr>
          </a:p>
        </p:txBody>
      </p:sp>
      <p:sp>
        <p:nvSpPr>
          <p:cNvPr id="828" name="Google Shape;828;p48"/>
          <p:cNvSpPr/>
          <p:nvPr/>
        </p:nvSpPr>
        <p:spPr>
          <a:xfrm>
            <a:off x="7068312" y="713232"/>
            <a:ext cx="1572768" cy="4224528"/>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8"/>
          <p:cNvSpPr/>
          <p:nvPr/>
        </p:nvSpPr>
        <p:spPr>
          <a:xfrm>
            <a:off x="7068312" y="713232"/>
            <a:ext cx="1572768" cy="475488"/>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8"/>
          <p:cNvSpPr/>
          <p:nvPr/>
        </p:nvSpPr>
        <p:spPr>
          <a:xfrm>
            <a:off x="7068312" y="713232"/>
            <a:ext cx="157276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5</a:t>
            </a:r>
            <a:endParaRPr b="0" i="0" sz="2000" u="none" cap="none" strike="noStrike">
              <a:solidFill>
                <a:schemeClr val="dk1"/>
              </a:solidFill>
              <a:latin typeface="Calibri"/>
              <a:ea typeface="Calibri"/>
              <a:cs typeface="Calibri"/>
              <a:sym typeface="Calibri"/>
            </a:endParaRPr>
          </a:p>
        </p:txBody>
      </p:sp>
      <p:sp>
        <p:nvSpPr>
          <p:cNvPr id="831" name="Google Shape;831;p48"/>
          <p:cNvSpPr/>
          <p:nvPr/>
        </p:nvSpPr>
        <p:spPr>
          <a:xfrm>
            <a:off x="7141464" y="1243584"/>
            <a:ext cx="142646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1A1A"/>
              </a:buClr>
              <a:buSzPts val="1050"/>
              <a:buFont typeface="Calibri"/>
              <a:buNone/>
            </a:pPr>
            <a:r>
              <a:rPr b="1" i="0" lang="en-US" sz="1050" u="none" cap="none" strike="noStrike">
                <a:solidFill>
                  <a:srgbClr val="8B1A1A"/>
                </a:solidFill>
                <a:latin typeface="Calibri"/>
                <a:ea typeface="Calibri"/>
                <a:cs typeface="Calibri"/>
                <a:sym typeface="Calibri"/>
              </a:rPr>
              <a:t>Trust &amp;</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1A1A"/>
              </a:buClr>
              <a:buSzPts val="1050"/>
              <a:buFont typeface="Calibri"/>
              <a:buNone/>
            </a:pPr>
            <a:r>
              <a:rPr b="1" i="0" lang="en-US" sz="1050" u="none" cap="none" strike="noStrike">
                <a:solidFill>
                  <a:srgbClr val="8B1A1A"/>
                </a:solidFill>
                <a:latin typeface="Calibri"/>
                <a:ea typeface="Calibri"/>
                <a:cs typeface="Calibri"/>
                <a:sym typeface="Calibri"/>
              </a:rPr>
              <a:t>Engagement Barriers</a:t>
            </a:r>
            <a:endParaRPr b="0" i="0" sz="1050" u="none" cap="none" strike="noStrike">
              <a:solidFill>
                <a:schemeClr val="dk1"/>
              </a:solidFill>
              <a:latin typeface="Calibri"/>
              <a:ea typeface="Calibri"/>
              <a:cs typeface="Calibri"/>
              <a:sym typeface="Calibri"/>
            </a:endParaRPr>
          </a:p>
        </p:txBody>
      </p:sp>
      <p:sp>
        <p:nvSpPr>
          <p:cNvPr id="832" name="Google Shape;832;p48"/>
          <p:cNvSpPr/>
          <p:nvPr/>
        </p:nvSpPr>
        <p:spPr>
          <a:xfrm>
            <a:off x="7141464" y="18288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libri"/>
              <a:buNone/>
            </a:pPr>
            <a:r>
              <a:rPr b="1" i="0" lang="en-US" sz="900" u="none" cap="none" strike="noStrike">
                <a:solidFill>
                  <a:srgbClr val="1A1A1A"/>
                </a:solidFill>
                <a:latin typeface="Calibri"/>
                <a:ea typeface="Calibri"/>
                <a:cs typeface="Calibri"/>
                <a:sym typeface="Calibri"/>
              </a:rPr>
              <a:t>MECHANISMS:</a:t>
            </a:r>
            <a:endParaRPr b="0" i="0" sz="900" u="none" cap="none" strike="noStrike">
              <a:solidFill>
                <a:schemeClr val="dk1"/>
              </a:solidFill>
              <a:latin typeface="Calibri"/>
              <a:ea typeface="Calibri"/>
              <a:cs typeface="Calibri"/>
              <a:sym typeface="Calibri"/>
            </a:endParaRPr>
          </a:p>
        </p:txBody>
      </p:sp>
      <p:sp>
        <p:nvSpPr>
          <p:cNvPr id="833" name="Google Shape;833;p48"/>
          <p:cNvSpPr/>
          <p:nvPr/>
        </p:nvSpPr>
        <p:spPr>
          <a:xfrm>
            <a:off x="7141464" y="2103120"/>
            <a:ext cx="1426464"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Discrimination in care; stigma; historical mistreatment; lack of culturally competent providers</a:t>
            </a:r>
            <a:endParaRPr b="0" i="0" sz="900" u="none" cap="none" strike="noStrike">
              <a:solidFill>
                <a:schemeClr val="dk1"/>
              </a:solidFill>
              <a:latin typeface="Calibri"/>
              <a:ea typeface="Calibri"/>
              <a:cs typeface="Calibri"/>
              <a:sym typeface="Calibri"/>
            </a:endParaRPr>
          </a:p>
        </p:txBody>
      </p:sp>
      <p:sp>
        <p:nvSpPr>
          <p:cNvPr id="834" name="Google Shape;834;p48"/>
          <p:cNvSpPr/>
          <p:nvPr/>
        </p:nvSpPr>
        <p:spPr>
          <a:xfrm>
            <a:off x="7141464" y="3200400"/>
            <a:ext cx="14264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900"/>
              <a:buFont typeface="Calibri"/>
              <a:buNone/>
            </a:pPr>
            <a:r>
              <a:rPr b="1" i="0" lang="en-US" sz="900" u="none" cap="none" strike="noStrike">
                <a:solidFill>
                  <a:srgbClr val="8B1A1A"/>
                </a:solidFill>
                <a:latin typeface="Calibri"/>
                <a:ea typeface="Calibri"/>
                <a:cs typeface="Calibri"/>
                <a:sym typeface="Calibri"/>
              </a:rPr>
              <a:t>INTERVENTIONS:</a:t>
            </a:r>
            <a:endParaRPr b="0" i="0" sz="900" u="none" cap="none" strike="noStrike">
              <a:solidFill>
                <a:schemeClr val="dk1"/>
              </a:solidFill>
              <a:latin typeface="Calibri"/>
              <a:ea typeface="Calibri"/>
              <a:cs typeface="Calibri"/>
              <a:sym typeface="Calibri"/>
            </a:endParaRPr>
          </a:p>
        </p:txBody>
      </p:sp>
      <p:sp>
        <p:nvSpPr>
          <p:cNvPr id="835" name="Google Shape;835;p48"/>
          <p:cNvSpPr/>
          <p:nvPr/>
        </p:nvSpPr>
        <p:spPr>
          <a:xfrm>
            <a:off x="7141464" y="3493008"/>
            <a:ext cx="1426464"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CHWs from served communities; HEART program (LGBTQ+); BIPOC community partnerships; CCBHCs</a:t>
            </a:r>
            <a:endParaRPr b="0" i="0" sz="900" u="none" cap="none" strike="noStrike">
              <a:solidFill>
                <a:schemeClr val="dk1"/>
              </a:solidFill>
              <a:latin typeface="Calibri"/>
              <a:ea typeface="Calibri"/>
              <a:cs typeface="Calibri"/>
              <a:sym typeface="Calibri"/>
            </a:endParaRPr>
          </a:p>
        </p:txBody>
      </p:sp>
      <p:sp>
        <p:nvSpPr>
          <p:cNvPr id="836" name="Google Shape;836;p48"/>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12 — Source: HTR Equity Pillar framework; Vermont Department of Health; Oliver Wyman Act 167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1" name="Shape 841"/>
        <p:cNvGrpSpPr/>
        <p:nvPr/>
      </p:nvGrpSpPr>
      <p:grpSpPr>
        <a:xfrm>
          <a:off x="0" y="0"/>
          <a:ext cx="0" cy="0"/>
          <a:chOff x="0" y="0"/>
          <a:chExt cx="0" cy="0"/>
        </a:xfrm>
      </p:grpSpPr>
      <p:sp>
        <p:nvSpPr>
          <p:cNvPr id="842" name="Google Shape;842;p49"/>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THE GLP-1 ACCESS EQUITY CRISIS — WHO GETS TRANSFORMATIVE OBESITY DRUGS</a:t>
            </a:r>
            <a:endParaRPr b="0" i="0" sz="1700" u="none" cap="none" strike="noStrike">
              <a:solidFill>
                <a:schemeClr val="dk1"/>
              </a:solidFill>
              <a:latin typeface="Calibri"/>
              <a:ea typeface="Calibri"/>
              <a:cs typeface="Calibri"/>
              <a:sym typeface="Calibri"/>
            </a:endParaRPr>
          </a:p>
        </p:txBody>
      </p:sp>
      <p:pic>
        <p:nvPicPr>
          <p:cNvPr id="843" name="Google Shape;843;p49"/>
          <p:cNvPicPr preferRelativeResize="0"/>
          <p:nvPr/>
        </p:nvPicPr>
        <p:blipFill rotWithShape="1">
          <a:blip r:embed="rId3">
            <a:alphaModFix/>
          </a:blip>
          <a:srcRect b="0" l="0" r="0" t="0"/>
          <a:stretch/>
        </p:blipFill>
        <p:spPr>
          <a:xfrm>
            <a:off x="320040" y="685800"/>
            <a:ext cx="4389120" cy="3383280"/>
          </a:xfrm>
          <a:prstGeom prst="rect">
            <a:avLst/>
          </a:prstGeom>
          <a:noFill/>
          <a:ln>
            <a:noFill/>
          </a:ln>
        </p:spPr>
      </p:pic>
      <p:sp>
        <p:nvSpPr>
          <p:cNvPr id="844" name="Google Shape;844;p49"/>
          <p:cNvSpPr/>
          <p:nvPr/>
        </p:nvSpPr>
        <p:spPr>
          <a:xfrm>
            <a:off x="5029200" y="713232"/>
            <a:ext cx="3749040" cy="1170432"/>
          </a:xfrm>
          <a:prstGeom prst="rect">
            <a:avLst/>
          </a:prstGeom>
          <a:solidFill>
            <a:srgbClr val="F7FAFB"/>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9"/>
          <p:cNvSpPr/>
          <p:nvPr/>
        </p:nvSpPr>
        <p:spPr>
          <a:xfrm>
            <a:off x="5166360" y="7772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100"/>
              <a:buFont typeface="Calibri"/>
              <a:buNone/>
            </a:pPr>
            <a:r>
              <a:rPr b="1" i="0" lang="en-US" sz="1100" u="none" cap="none" strike="noStrike">
                <a:solidFill>
                  <a:srgbClr val="0D5F6B"/>
                </a:solidFill>
                <a:latin typeface="Calibri"/>
                <a:ea typeface="Calibri"/>
                <a:cs typeface="Calibri"/>
                <a:sym typeface="Calibri"/>
              </a:rPr>
              <a:t>CMS BALANCE Model (Dec 2025)</a:t>
            </a:r>
            <a:endParaRPr b="0" i="0" sz="1100" u="none" cap="none" strike="noStrike">
              <a:solidFill>
                <a:schemeClr val="dk1"/>
              </a:solidFill>
              <a:latin typeface="Calibri"/>
              <a:ea typeface="Calibri"/>
              <a:cs typeface="Calibri"/>
              <a:sym typeface="Calibri"/>
            </a:endParaRPr>
          </a:p>
        </p:txBody>
      </p:sp>
      <p:sp>
        <p:nvSpPr>
          <p:cNvPr id="846" name="Google Shape;846;p49"/>
          <p:cNvSpPr/>
          <p:nvPr/>
        </p:nvSpPr>
        <p:spPr>
          <a:xfrm>
            <a:off x="5166360" y="1143000"/>
            <a:ext cx="34747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Voluntary model for Medicaid agencies to cover GLP-1s for obesity at negotiated prices. Launch: May 2026. Vermont DVHA must opt in.</a:t>
            </a:r>
            <a:endParaRPr b="0" i="0" sz="1000" u="none" cap="none" strike="noStrike">
              <a:solidFill>
                <a:schemeClr val="dk1"/>
              </a:solidFill>
              <a:latin typeface="Calibri"/>
              <a:ea typeface="Calibri"/>
              <a:cs typeface="Calibri"/>
              <a:sym typeface="Calibri"/>
            </a:endParaRPr>
          </a:p>
        </p:txBody>
      </p:sp>
      <p:sp>
        <p:nvSpPr>
          <p:cNvPr id="847" name="Google Shape;847;p49"/>
          <p:cNvSpPr/>
          <p:nvPr/>
        </p:nvSpPr>
        <p:spPr>
          <a:xfrm>
            <a:off x="5029200" y="1993392"/>
            <a:ext cx="3749040" cy="1170432"/>
          </a:xfrm>
          <a:prstGeom prst="rect">
            <a:avLst/>
          </a:prstGeom>
          <a:solidFill>
            <a:srgbClr val="F7FAFB"/>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9"/>
          <p:cNvSpPr/>
          <p:nvPr/>
        </p:nvSpPr>
        <p:spPr>
          <a:xfrm>
            <a:off x="5166360" y="205740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100"/>
              <a:buFont typeface="Calibri"/>
              <a:buNone/>
            </a:pPr>
            <a:r>
              <a:rPr b="1" i="0" lang="en-US" sz="1100" u="none" cap="none" strike="noStrike">
                <a:solidFill>
                  <a:srgbClr val="0D5F6B"/>
                </a:solidFill>
                <a:latin typeface="Calibri"/>
                <a:ea typeface="Calibri"/>
                <a:cs typeface="Calibri"/>
                <a:sym typeface="Calibri"/>
              </a:rPr>
              <a:t>Drug Costs After Negotiation</a:t>
            </a:r>
            <a:endParaRPr b="0" i="0" sz="1100" u="none" cap="none" strike="noStrike">
              <a:solidFill>
                <a:schemeClr val="dk1"/>
              </a:solidFill>
              <a:latin typeface="Calibri"/>
              <a:ea typeface="Calibri"/>
              <a:cs typeface="Calibri"/>
              <a:sym typeface="Calibri"/>
            </a:endParaRPr>
          </a:p>
        </p:txBody>
      </p:sp>
      <p:sp>
        <p:nvSpPr>
          <p:cNvPr id="849" name="Google Shape;849;p49"/>
          <p:cNvSpPr/>
          <p:nvPr/>
        </p:nvSpPr>
        <p:spPr>
          <a:xfrm>
            <a:off x="5166360" y="2423160"/>
            <a:ext cx="34747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IRA negotiated price: $274/month (effective 2027) vs. $1,000+ list price. Still out of reach without Medicaid coverage for Vermont's lowest-income patients.</a:t>
            </a:r>
            <a:endParaRPr b="0" i="0" sz="1000" u="none" cap="none" strike="noStrike">
              <a:solidFill>
                <a:schemeClr val="dk1"/>
              </a:solidFill>
              <a:latin typeface="Calibri"/>
              <a:ea typeface="Calibri"/>
              <a:cs typeface="Calibri"/>
              <a:sym typeface="Calibri"/>
            </a:endParaRPr>
          </a:p>
        </p:txBody>
      </p:sp>
      <p:sp>
        <p:nvSpPr>
          <p:cNvPr id="850" name="Google Shape;850;p49"/>
          <p:cNvSpPr/>
          <p:nvPr/>
        </p:nvSpPr>
        <p:spPr>
          <a:xfrm>
            <a:off x="5029200" y="3273552"/>
            <a:ext cx="3749040" cy="1170432"/>
          </a:xfrm>
          <a:prstGeom prst="rect">
            <a:avLst/>
          </a:prstGeom>
          <a:solidFill>
            <a:srgbClr val="F7FAFB"/>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9"/>
          <p:cNvSpPr/>
          <p:nvPr/>
        </p:nvSpPr>
        <p:spPr>
          <a:xfrm>
            <a:off x="5166360" y="333756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100"/>
              <a:buFont typeface="Calibri"/>
              <a:buNone/>
            </a:pPr>
            <a:r>
              <a:rPr b="1" i="0" lang="en-US" sz="1100" u="none" cap="none" strike="noStrike">
                <a:solidFill>
                  <a:srgbClr val="0D5F6B"/>
                </a:solidFill>
                <a:latin typeface="Calibri"/>
                <a:ea typeface="Calibri"/>
                <a:cs typeface="Calibri"/>
                <a:sym typeface="Calibri"/>
              </a:rPr>
              <a:t>Vermont's Equity Decision</a:t>
            </a:r>
            <a:endParaRPr b="0" i="0" sz="1100" u="none" cap="none" strike="noStrike">
              <a:solidFill>
                <a:schemeClr val="dk1"/>
              </a:solidFill>
              <a:latin typeface="Calibri"/>
              <a:ea typeface="Calibri"/>
              <a:cs typeface="Calibri"/>
              <a:sym typeface="Calibri"/>
            </a:endParaRPr>
          </a:p>
        </p:txBody>
      </p:sp>
      <p:sp>
        <p:nvSpPr>
          <p:cNvPr id="852" name="Google Shape;852;p49"/>
          <p:cNvSpPr/>
          <p:nvPr/>
        </p:nvSpPr>
        <p:spPr>
          <a:xfrm>
            <a:off x="5166360" y="3703320"/>
            <a:ext cx="34747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Vermont Medicaid covers GLP-1s for diabetes but NOT obesity. BALANCE opt-in is an equity policy choice: Medicaid patients have higher obesity, diabetes, and cardiovascular disease rates.</a:t>
            </a:r>
            <a:endParaRPr b="0" i="0" sz="1000" u="none" cap="none" strike="noStrike">
              <a:solidFill>
                <a:schemeClr val="dk1"/>
              </a:solidFill>
              <a:latin typeface="Calibri"/>
              <a:ea typeface="Calibri"/>
              <a:cs typeface="Calibri"/>
              <a:sym typeface="Calibri"/>
            </a:endParaRPr>
          </a:p>
        </p:txBody>
      </p:sp>
      <p:sp>
        <p:nvSpPr>
          <p:cNvPr id="853" name="Google Shape;853;p49"/>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12 — Source: KFF GLP-1 Medicaid Coverage Analysis (January 2026); CMS BALANCE Model (December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858" name="Shape 858"/>
        <p:cNvGrpSpPr/>
        <p:nvPr/>
      </p:nvGrpSpPr>
      <p:grpSpPr>
        <a:xfrm>
          <a:off x="0" y="0"/>
          <a:ext cx="0" cy="0"/>
          <a:chOff x="0" y="0"/>
          <a:chExt cx="0" cy="0"/>
        </a:xfrm>
      </p:grpSpPr>
      <p:sp>
        <p:nvSpPr>
          <p:cNvPr id="859" name="Google Shape;859;p50"/>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VERMONT EQUITY ACCOUNTABILITY FRAMEWORK — 2028 STRATEGIC PLAN TARGETS</a:t>
            </a:r>
            <a:endParaRPr b="0" i="0" sz="1700" u="none" cap="none" strike="noStrike">
              <a:solidFill>
                <a:schemeClr val="dk1"/>
              </a:solidFill>
              <a:latin typeface="Calibri"/>
              <a:ea typeface="Calibri"/>
              <a:cs typeface="Calibri"/>
              <a:sym typeface="Calibri"/>
            </a:endParaRPr>
          </a:p>
        </p:txBody>
      </p:sp>
      <p:graphicFrame>
        <p:nvGraphicFramePr>
          <p:cNvPr id="860" name="Google Shape;860;p50"/>
          <p:cNvGraphicFramePr/>
          <p:nvPr/>
        </p:nvGraphicFramePr>
        <p:xfrm>
          <a:off x="274320" y="685800"/>
          <a:ext cx="3000000" cy="3000000"/>
        </p:xfrm>
        <a:graphic>
          <a:graphicData uri="http://schemas.openxmlformats.org/drawingml/2006/table">
            <a:tbl>
              <a:tblPr>
                <a:noFill/>
                <a:tableStyleId>{A1D9B9E4-F9D2-4EFC-BB1D-056C6BACCCB8}</a:tableStyleId>
              </a:tblPr>
              <a:tblGrid>
                <a:gridCol w="2194550"/>
                <a:gridCol w="1920250"/>
                <a:gridCol w="2194550"/>
                <a:gridCol w="2286000"/>
              </a:tblGrid>
              <a:tr h="4755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Equity Indicator</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Stratification</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Current Status</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Target Direction</a:t>
                      </a:r>
                      <a:endParaRPr sz="11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Uninsured rate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county (focus: Essex, Orleans, Caledonia)</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Essex: ~8% vs. 3% statewide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Reduce NE Kingdom gap toward statewide 3% by 2030</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Primary care access rate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race/ethnicity (BIPOC vs. white)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BIPOC adults: 79-81% vs. 91% statewide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AE0E0"/>
                    </a:solidFill>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Reduce gap — target 87%+ for all race/ethnicity groups</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Potentially avoidable ED visits</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county; by income quintile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32.3% statewide — higher in rural counties</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Track NE Kingdom rate; reduce toward statewide average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30-day MH/SUD follow-up</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county; by race/ethnicity</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76% MH / 68% SUD — gaps in Rutland, Windham</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FFF0CC"/>
                    </a:solidFill>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Increase toward 85%+ in all counties</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GLP-1 access for Medicaid enrollees</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income; by county</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Not covered for obesity indication</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BALANCE Model opt-in decision 2026</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SDOH screening completion</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HSA; by patient demographics</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Operational in Blueprint PCMHs; not uniform</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Universal completion in all Blueprint PCMHs by 2027</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Emergency response time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By county (focus: NE Kingdom)</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No current baseline</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80"/>
                        <a:buFont typeface="Calibri"/>
                        <a:buNone/>
                      </a:pPr>
                      <a:r>
                        <a:rPr lang="en-US" sz="980" u="none" cap="none" strike="noStrike">
                          <a:solidFill>
                            <a:srgbClr val="000000"/>
                          </a:solidFill>
                        </a:rPr>
                        <a:t>Establish baseline; track improvement via EMS regionalization</a:t>
                      </a:r>
                      <a:endParaRPr sz="98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861" name="Google Shape;861;p50"/>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12 — Source: Act 167; Act 68; VDH Health Equity Data Report (January 2025); AHS November 2025 Transformation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866" name="Shape 866"/>
        <p:cNvGrpSpPr/>
        <p:nvPr/>
      </p:nvGrpSpPr>
      <p:grpSpPr>
        <a:xfrm>
          <a:off x="0" y="0"/>
          <a:ext cx="0" cy="0"/>
          <a:chOff x="0" y="0"/>
          <a:chExt cx="0" cy="0"/>
        </a:xfrm>
      </p:grpSpPr>
      <p:sp>
        <p:nvSpPr>
          <p:cNvPr id="867" name="Google Shape;867;p51"/>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1"/>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14</a:t>
            </a:r>
            <a:endParaRPr b="0" i="0" sz="1300" u="none" cap="none" strike="noStrike">
              <a:solidFill>
                <a:schemeClr val="dk1"/>
              </a:solidFill>
              <a:latin typeface="Calibri"/>
              <a:ea typeface="Calibri"/>
              <a:cs typeface="Calibri"/>
              <a:sym typeface="Calibri"/>
            </a:endParaRPr>
          </a:p>
        </p:txBody>
      </p:sp>
      <p:sp>
        <p:nvSpPr>
          <p:cNvPr id="869" name="Google Shape;869;p51"/>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Technology Pillar — Data Infrastructure</a:t>
            </a:r>
            <a:endParaRPr b="0" i="0" sz="3400" u="none" cap="none" strike="noStrike">
              <a:solidFill>
                <a:schemeClr val="dk1"/>
              </a:solidFill>
              <a:latin typeface="Calibri"/>
              <a:ea typeface="Calibri"/>
              <a:cs typeface="Calibri"/>
              <a:sym typeface="Calibri"/>
            </a:endParaRPr>
          </a:p>
        </p:txBody>
      </p:sp>
      <p:sp>
        <p:nvSpPr>
          <p:cNvPr id="870" name="Google Shape;870;p51"/>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875" name="Shape 875"/>
        <p:cNvGrpSpPr/>
        <p:nvPr/>
      </p:nvGrpSpPr>
      <p:grpSpPr>
        <a:xfrm>
          <a:off x="0" y="0"/>
          <a:ext cx="0" cy="0"/>
          <a:chOff x="0" y="0"/>
          <a:chExt cx="0" cy="0"/>
        </a:xfrm>
      </p:grpSpPr>
      <p:sp>
        <p:nvSpPr>
          <p:cNvPr id="876" name="Google Shape;876;p52"/>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VERMONT'S TARGET TECHNOLOGY ARCHITECTURE — FIVE LAYERS</a:t>
            </a:r>
            <a:endParaRPr b="0" i="0" sz="1800" u="none" cap="none" strike="noStrike">
              <a:solidFill>
                <a:schemeClr val="dk1"/>
              </a:solidFill>
              <a:latin typeface="Calibri"/>
              <a:ea typeface="Calibri"/>
              <a:cs typeface="Calibri"/>
              <a:sym typeface="Calibri"/>
            </a:endParaRPr>
          </a:p>
        </p:txBody>
      </p:sp>
      <p:sp>
        <p:nvSpPr>
          <p:cNvPr id="877" name="Google Shape;877;p52"/>
          <p:cNvSpPr/>
          <p:nvPr/>
        </p:nvSpPr>
        <p:spPr>
          <a:xfrm>
            <a:off x="274320" y="713232"/>
            <a:ext cx="8595360" cy="749808"/>
          </a:xfrm>
          <a:prstGeom prst="rect">
            <a:avLst/>
          </a:prstGeom>
          <a:solidFill>
            <a:srgbClr val="E8D5F5"/>
          </a:solidFill>
          <a:ln cap="flat" cmpd="sng" w="12700">
            <a:solidFill>
              <a:srgbClr val="4A2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2"/>
          <p:cNvSpPr/>
          <p:nvPr/>
        </p:nvSpPr>
        <p:spPr>
          <a:xfrm>
            <a:off x="274320" y="713232"/>
            <a:ext cx="1234440" cy="749808"/>
          </a:xfrm>
          <a:prstGeom prst="rect">
            <a:avLst/>
          </a:prstGeom>
          <a:solidFill>
            <a:srgbClr val="4A2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2"/>
          <p:cNvSpPr/>
          <p:nvPr/>
        </p:nvSpPr>
        <p:spPr>
          <a:xfrm>
            <a:off x="274320" y="713232"/>
            <a:ext cx="1234440" cy="7498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Layer 5</a:t>
            </a:r>
            <a:endParaRPr b="0" i="0" sz="1000" u="none" cap="none" strike="noStrike">
              <a:solidFill>
                <a:schemeClr val="dk1"/>
              </a:solidFill>
              <a:latin typeface="Calibri"/>
              <a:ea typeface="Calibri"/>
              <a:cs typeface="Calibri"/>
              <a:sym typeface="Calibri"/>
            </a:endParaRPr>
          </a:p>
        </p:txBody>
      </p:sp>
      <p:sp>
        <p:nvSpPr>
          <p:cNvPr id="880" name="Google Shape;880;p52"/>
          <p:cNvSpPr/>
          <p:nvPr/>
        </p:nvSpPr>
        <p:spPr>
          <a:xfrm>
            <a:off x="1600200" y="758952"/>
            <a:ext cx="7132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070"/>
              </a:buClr>
              <a:buSzPts val="1100"/>
              <a:buFont typeface="Calibri"/>
              <a:buNone/>
            </a:pPr>
            <a:r>
              <a:rPr b="1" i="0" lang="en-US" sz="1100" u="none" cap="none" strike="noStrike">
                <a:solidFill>
                  <a:srgbClr val="4A2070"/>
                </a:solidFill>
                <a:latin typeface="Calibri"/>
                <a:ea typeface="Calibri"/>
                <a:cs typeface="Calibri"/>
                <a:sym typeface="Calibri"/>
              </a:rPr>
              <a:t>Advanced Analytics &amp; AI Applications</a:t>
            </a:r>
            <a:endParaRPr b="0" i="0" sz="1100" u="none" cap="none" strike="noStrike">
              <a:solidFill>
                <a:schemeClr val="dk1"/>
              </a:solidFill>
              <a:latin typeface="Calibri"/>
              <a:ea typeface="Calibri"/>
              <a:cs typeface="Calibri"/>
              <a:sym typeface="Calibri"/>
            </a:endParaRPr>
          </a:p>
        </p:txBody>
      </p:sp>
      <p:sp>
        <p:nvSpPr>
          <p:cNvPr id="881" name="Google Shape;881;p52"/>
          <p:cNvSpPr/>
          <p:nvPr/>
        </p:nvSpPr>
        <p:spPr>
          <a:xfrm>
            <a:off x="1600200" y="1097280"/>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Population health analytics platform (AHS-GMCB)  ·  AI scribe grants (RHT)  ·  Diagnostic AI (CIN)  ·  RPM  ·  Price transparency</a:t>
            </a:r>
            <a:endParaRPr b="0" i="0" sz="1000" u="none" cap="none" strike="noStrike">
              <a:solidFill>
                <a:schemeClr val="dk1"/>
              </a:solidFill>
              <a:latin typeface="Calibri"/>
              <a:ea typeface="Calibri"/>
              <a:cs typeface="Calibri"/>
              <a:sym typeface="Calibri"/>
            </a:endParaRPr>
          </a:p>
        </p:txBody>
      </p:sp>
      <p:sp>
        <p:nvSpPr>
          <p:cNvPr id="882" name="Google Shape;882;p52"/>
          <p:cNvSpPr/>
          <p:nvPr/>
        </p:nvSpPr>
        <p:spPr>
          <a:xfrm>
            <a:off x="274320" y="1554480"/>
            <a:ext cx="8595360" cy="749808"/>
          </a:xfrm>
          <a:prstGeom prst="rect">
            <a:avLst/>
          </a:prstGeom>
          <a:solidFill>
            <a:srgbClr val="D4F1F4"/>
          </a:solidFill>
          <a:ln cap="flat" cmpd="sng" w="12700">
            <a:solidFill>
              <a:srgbClr val="0D5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2"/>
          <p:cNvSpPr/>
          <p:nvPr/>
        </p:nvSpPr>
        <p:spPr>
          <a:xfrm>
            <a:off x="274320" y="1554480"/>
            <a:ext cx="1234440" cy="749808"/>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2"/>
          <p:cNvSpPr/>
          <p:nvPr/>
        </p:nvSpPr>
        <p:spPr>
          <a:xfrm>
            <a:off x="274320" y="1554480"/>
            <a:ext cx="1234440" cy="7498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Layer 4</a:t>
            </a:r>
            <a:endParaRPr b="0" i="0" sz="1000" u="none" cap="none" strike="noStrike">
              <a:solidFill>
                <a:schemeClr val="dk1"/>
              </a:solidFill>
              <a:latin typeface="Calibri"/>
              <a:ea typeface="Calibri"/>
              <a:cs typeface="Calibri"/>
              <a:sym typeface="Calibri"/>
            </a:endParaRPr>
          </a:p>
        </p:txBody>
      </p:sp>
      <p:sp>
        <p:nvSpPr>
          <p:cNvPr id="885" name="Google Shape;885;p52"/>
          <p:cNvSpPr/>
          <p:nvPr/>
        </p:nvSpPr>
        <p:spPr>
          <a:xfrm>
            <a:off x="1600200" y="1600200"/>
            <a:ext cx="7132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F6B"/>
              </a:buClr>
              <a:buSzPts val="1100"/>
              <a:buFont typeface="Calibri"/>
              <a:buNone/>
            </a:pPr>
            <a:r>
              <a:rPr b="1" i="0" lang="en-US" sz="1100" u="none" cap="none" strike="noStrike">
                <a:solidFill>
                  <a:srgbClr val="0D5F6B"/>
                </a:solidFill>
                <a:latin typeface="Calibri"/>
                <a:ea typeface="Calibri"/>
                <a:cs typeface="Calibri"/>
                <a:sym typeface="Calibri"/>
              </a:rPr>
              <a:t>Population Health Management</a:t>
            </a:r>
            <a:endParaRPr b="0" i="0" sz="1100" u="none" cap="none" strike="noStrike">
              <a:solidFill>
                <a:schemeClr val="dk1"/>
              </a:solidFill>
              <a:latin typeface="Calibri"/>
              <a:ea typeface="Calibri"/>
              <a:cs typeface="Calibri"/>
              <a:sym typeface="Calibri"/>
            </a:endParaRPr>
          </a:p>
        </p:txBody>
      </p:sp>
      <p:sp>
        <p:nvSpPr>
          <p:cNvPr id="886" name="Google Shape;886;p52"/>
          <p:cNvSpPr/>
          <p:nvPr/>
        </p:nvSpPr>
        <p:spPr>
          <a:xfrm>
            <a:off x="1600200" y="1938528"/>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Blueprint clinical data registry  ·  Attribution management  ·  SDOH screening data  ·  CHT care coordination registry</a:t>
            </a:r>
            <a:endParaRPr b="0" i="0" sz="1000" u="none" cap="none" strike="noStrike">
              <a:solidFill>
                <a:schemeClr val="dk1"/>
              </a:solidFill>
              <a:latin typeface="Calibri"/>
              <a:ea typeface="Calibri"/>
              <a:cs typeface="Calibri"/>
              <a:sym typeface="Calibri"/>
            </a:endParaRPr>
          </a:p>
        </p:txBody>
      </p:sp>
      <p:sp>
        <p:nvSpPr>
          <p:cNvPr id="887" name="Google Shape;887;p52"/>
          <p:cNvSpPr/>
          <p:nvPr/>
        </p:nvSpPr>
        <p:spPr>
          <a:xfrm>
            <a:off x="274320" y="2395728"/>
            <a:ext cx="8595360" cy="749808"/>
          </a:xfrm>
          <a:prstGeom prst="rect">
            <a:avLst/>
          </a:prstGeom>
          <a:solidFill>
            <a:srgbClr val="D5E8F0"/>
          </a:solidFill>
          <a:ln cap="flat" cmpd="sng" w="12700">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2"/>
          <p:cNvSpPr/>
          <p:nvPr/>
        </p:nvSpPr>
        <p:spPr>
          <a:xfrm>
            <a:off x="274320" y="2395728"/>
            <a:ext cx="1234440" cy="749808"/>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2"/>
          <p:cNvSpPr/>
          <p:nvPr/>
        </p:nvSpPr>
        <p:spPr>
          <a:xfrm>
            <a:off x="274320" y="2395728"/>
            <a:ext cx="1234440" cy="7498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Layer 3</a:t>
            </a:r>
            <a:endParaRPr b="0" i="0" sz="1000" u="none" cap="none" strike="noStrike">
              <a:solidFill>
                <a:schemeClr val="dk1"/>
              </a:solidFill>
              <a:latin typeface="Calibri"/>
              <a:ea typeface="Calibri"/>
              <a:cs typeface="Calibri"/>
              <a:sym typeface="Calibri"/>
            </a:endParaRPr>
          </a:p>
        </p:txBody>
      </p:sp>
      <p:sp>
        <p:nvSpPr>
          <p:cNvPr id="890" name="Google Shape;890;p52"/>
          <p:cNvSpPr/>
          <p:nvPr/>
        </p:nvSpPr>
        <p:spPr>
          <a:xfrm>
            <a:off x="1600200" y="2441448"/>
            <a:ext cx="7132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100"/>
              <a:buFont typeface="Calibri"/>
              <a:buNone/>
            </a:pPr>
            <a:r>
              <a:rPr b="1" i="0" lang="en-US" sz="1100" u="none" cap="none" strike="noStrike">
                <a:solidFill>
                  <a:srgbClr val="2E75B6"/>
                </a:solidFill>
                <a:latin typeface="Calibri"/>
                <a:ea typeface="Calibri"/>
                <a:cs typeface="Calibri"/>
                <a:sym typeface="Calibri"/>
              </a:rPr>
              <a:t>Integrated Health Record (Target State)</a:t>
            </a:r>
            <a:endParaRPr b="0" i="0" sz="1100" u="none" cap="none" strike="noStrike">
              <a:solidFill>
                <a:schemeClr val="dk1"/>
              </a:solidFill>
              <a:latin typeface="Calibri"/>
              <a:ea typeface="Calibri"/>
              <a:cs typeface="Calibri"/>
              <a:sym typeface="Calibri"/>
            </a:endParaRPr>
          </a:p>
        </p:txBody>
      </p:sp>
      <p:sp>
        <p:nvSpPr>
          <p:cNvPr id="891" name="Google Shape;891;p52"/>
          <p:cNvSpPr/>
          <p:nvPr/>
        </p:nvSpPr>
        <p:spPr>
          <a:xfrm>
            <a:off x="1600200" y="2779776"/>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VHCURES-VHIE integration  ·  MH and SUD data (42 CFR Part 2 compliant)  ·  SDOH data  ·  Single patient identity</a:t>
            </a:r>
            <a:endParaRPr b="0" i="0" sz="1000" u="none" cap="none" strike="noStrike">
              <a:solidFill>
                <a:schemeClr val="dk1"/>
              </a:solidFill>
              <a:latin typeface="Calibri"/>
              <a:ea typeface="Calibri"/>
              <a:cs typeface="Calibri"/>
              <a:sym typeface="Calibri"/>
            </a:endParaRPr>
          </a:p>
        </p:txBody>
      </p:sp>
      <p:sp>
        <p:nvSpPr>
          <p:cNvPr id="892" name="Google Shape;892;p52"/>
          <p:cNvSpPr/>
          <p:nvPr/>
        </p:nvSpPr>
        <p:spPr>
          <a:xfrm>
            <a:off x="274320" y="3236976"/>
            <a:ext cx="8595360" cy="749808"/>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52"/>
          <p:cNvSpPr/>
          <p:nvPr/>
        </p:nvSpPr>
        <p:spPr>
          <a:xfrm>
            <a:off x="274320" y="3236976"/>
            <a:ext cx="1234440" cy="749808"/>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2"/>
          <p:cNvSpPr/>
          <p:nvPr/>
        </p:nvSpPr>
        <p:spPr>
          <a:xfrm>
            <a:off x="274320" y="3236976"/>
            <a:ext cx="1234440" cy="7498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Layer 2</a:t>
            </a:r>
            <a:endParaRPr b="0" i="0" sz="1000" u="none" cap="none" strike="noStrike">
              <a:solidFill>
                <a:schemeClr val="dk1"/>
              </a:solidFill>
              <a:latin typeface="Calibri"/>
              <a:ea typeface="Calibri"/>
              <a:cs typeface="Calibri"/>
              <a:sym typeface="Calibri"/>
            </a:endParaRPr>
          </a:p>
        </p:txBody>
      </p:sp>
      <p:sp>
        <p:nvSpPr>
          <p:cNvPr id="895" name="Google Shape;895;p52"/>
          <p:cNvSpPr/>
          <p:nvPr/>
        </p:nvSpPr>
        <p:spPr>
          <a:xfrm>
            <a:off x="1600200" y="3282696"/>
            <a:ext cx="7132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100"/>
              <a:buFont typeface="Calibri"/>
              <a:buNone/>
            </a:pPr>
            <a:r>
              <a:rPr b="1" i="0" lang="en-US" sz="1100" u="none" cap="none" strike="noStrike">
                <a:solidFill>
                  <a:srgbClr val="1E6B3C"/>
                </a:solidFill>
                <a:latin typeface="Calibri"/>
                <a:ea typeface="Calibri"/>
                <a:cs typeface="Calibri"/>
                <a:sym typeface="Calibri"/>
              </a:rPr>
              <a:t>Data Exchange Infrastructure</a:t>
            </a:r>
            <a:endParaRPr b="0" i="0" sz="1100" u="none" cap="none" strike="noStrike">
              <a:solidFill>
                <a:schemeClr val="dk1"/>
              </a:solidFill>
              <a:latin typeface="Calibri"/>
              <a:ea typeface="Calibri"/>
              <a:cs typeface="Calibri"/>
              <a:sym typeface="Calibri"/>
            </a:endParaRPr>
          </a:p>
        </p:txBody>
      </p:sp>
      <p:sp>
        <p:nvSpPr>
          <p:cNvPr id="896" name="Google Shape;896;p52"/>
          <p:cNvSpPr/>
          <p:nvPr/>
        </p:nvSpPr>
        <p:spPr>
          <a:xfrm>
            <a:off x="1600200" y="3621024"/>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Vermont VHIE/VITL  ·  FHIR R4 APIs  ·  Vermont CIN data standards  ·  CommonWell/Carequality national connectivity</a:t>
            </a:r>
            <a:endParaRPr b="0" i="0" sz="1000" u="none" cap="none" strike="noStrike">
              <a:solidFill>
                <a:schemeClr val="dk1"/>
              </a:solidFill>
              <a:latin typeface="Calibri"/>
              <a:ea typeface="Calibri"/>
              <a:cs typeface="Calibri"/>
              <a:sym typeface="Calibri"/>
            </a:endParaRPr>
          </a:p>
        </p:txBody>
      </p:sp>
      <p:sp>
        <p:nvSpPr>
          <p:cNvPr id="897" name="Google Shape;897;p52"/>
          <p:cNvSpPr/>
          <p:nvPr/>
        </p:nvSpPr>
        <p:spPr>
          <a:xfrm>
            <a:off x="274320" y="4078224"/>
            <a:ext cx="8595360" cy="749808"/>
          </a:xfrm>
          <a:prstGeom prst="rect">
            <a:avLst/>
          </a:prstGeom>
          <a:solidFill>
            <a:srgbClr val="ECEFF1"/>
          </a:solidFill>
          <a:ln cap="flat" cmpd="sng" w="12700">
            <a:solidFill>
              <a:srgbClr val="3645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2"/>
          <p:cNvSpPr/>
          <p:nvPr/>
        </p:nvSpPr>
        <p:spPr>
          <a:xfrm>
            <a:off x="274320" y="4078224"/>
            <a:ext cx="1234440" cy="749808"/>
          </a:xfrm>
          <a:prstGeom prst="rect">
            <a:avLst/>
          </a:prstGeom>
          <a:solidFill>
            <a:srgbClr val="364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2"/>
          <p:cNvSpPr/>
          <p:nvPr/>
        </p:nvSpPr>
        <p:spPr>
          <a:xfrm>
            <a:off x="274320" y="4078224"/>
            <a:ext cx="1234440" cy="7498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Layer 1</a:t>
            </a:r>
            <a:endParaRPr b="0" i="0" sz="1000" u="none" cap="none" strike="noStrike">
              <a:solidFill>
                <a:schemeClr val="dk1"/>
              </a:solidFill>
              <a:latin typeface="Calibri"/>
              <a:ea typeface="Calibri"/>
              <a:cs typeface="Calibri"/>
              <a:sym typeface="Calibri"/>
            </a:endParaRPr>
          </a:p>
        </p:txBody>
      </p:sp>
      <p:sp>
        <p:nvSpPr>
          <p:cNvPr id="900" name="Google Shape;900;p52"/>
          <p:cNvSpPr/>
          <p:nvPr/>
        </p:nvSpPr>
        <p:spPr>
          <a:xfrm>
            <a:off x="1600200" y="4123944"/>
            <a:ext cx="7132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100"/>
              <a:buFont typeface="Calibri"/>
              <a:buNone/>
            </a:pPr>
            <a:r>
              <a:rPr b="1" i="0" lang="en-US" sz="1100" u="none" cap="none" strike="noStrike">
                <a:solidFill>
                  <a:srgbClr val="36454F"/>
                </a:solidFill>
                <a:latin typeface="Calibri"/>
                <a:ea typeface="Calibri"/>
                <a:cs typeface="Calibri"/>
                <a:sym typeface="Calibri"/>
              </a:rPr>
              <a:t>Core Data Assets (Foundation)</a:t>
            </a:r>
            <a:endParaRPr b="0" i="0" sz="1100" u="none" cap="none" strike="noStrike">
              <a:solidFill>
                <a:schemeClr val="dk1"/>
              </a:solidFill>
              <a:latin typeface="Calibri"/>
              <a:ea typeface="Calibri"/>
              <a:cs typeface="Calibri"/>
              <a:sym typeface="Calibri"/>
            </a:endParaRPr>
          </a:p>
        </p:txBody>
      </p:sp>
      <p:sp>
        <p:nvSpPr>
          <p:cNvPr id="901" name="Google Shape;901;p52"/>
          <p:cNvSpPr/>
          <p:nvPr/>
        </p:nvSpPr>
        <p:spPr>
          <a:xfrm>
            <a:off x="1600200" y="4462272"/>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VHCURES (100% Medicare/Medicaid; 60% commercial)  ·  VUHDDS (14 hospitals)  ·  4 EHR platforms  ·  Blueprint clinical registry  ·  GMCB regulatory data</a:t>
            </a:r>
            <a:endParaRPr b="0" i="0" sz="1000" u="none" cap="none" strike="noStrike">
              <a:solidFill>
                <a:schemeClr val="dk1"/>
              </a:solidFill>
              <a:latin typeface="Calibri"/>
              <a:ea typeface="Calibri"/>
              <a:cs typeface="Calibri"/>
              <a:sym typeface="Calibri"/>
            </a:endParaRPr>
          </a:p>
        </p:txBody>
      </p:sp>
      <p:sp>
        <p:nvSpPr>
          <p:cNvPr id="902" name="Google Shape;902;p52"/>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14 — Source: GMCB VHCURES documentation; Vermont HIE Strategic Plan; Oliver Wyman Report; Vermont RHT Application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53"/>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VHCURES — VERMONT'S ALL-PAYER CLAIMS DATABASE: COVERAGE AND GAPS</a:t>
            </a:r>
            <a:endParaRPr b="0" i="0" sz="1800" u="none" cap="none" strike="noStrike">
              <a:solidFill>
                <a:schemeClr val="dk1"/>
              </a:solidFill>
              <a:latin typeface="Calibri"/>
              <a:ea typeface="Calibri"/>
              <a:cs typeface="Calibri"/>
              <a:sym typeface="Calibri"/>
            </a:endParaRPr>
          </a:p>
        </p:txBody>
      </p:sp>
      <p:pic>
        <p:nvPicPr>
          <p:cNvPr id="909" name="Google Shape;909;p53"/>
          <p:cNvPicPr preferRelativeResize="0"/>
          <p:nvPr/>
        </p:nvPicPr>
        <p:blipFill rotWithShape="1">
          <a:blip r:embed="rId3">
            <a:alphaModFix/>
          </a:blip>
          <a:srcRect b="0" l="0" r="0" t="0"/>
          <a:stretch/>
        </p:blipFill>
        <p:spPr>
          <a:xfrm>
            <a:off x="274320" y="685800"/>
            <a:ext cx="4389120" cy="3474720"/>
          </a:xfrm>
          <a:prstGeom prst="rect">
            <a:avLst/>
          </a:prstGeom>
          <a:noFill/>
          <a:ln>
            <a:noFill/>
          </a:ln>
        </p:spPr>
      </p:pic>
      <p:sp>
        <p:nvSpPr>
          <p:cNvPr id="910" name="Google Shape;910;p53"/>
          <p:cNvSpPr/>
          <p:nvPr/>
        </p:nvSpPr>
        <p:spPr>
          <a:xfrm>
            <a:off x="5029200" y="713232"/>
            <a:ext cx="3749040" cy="1170432"/>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53"/>
          <p:cNvSpPr/>
          <p:nvPr/>
        </p:nvSpPr>
        <p:spPr>
          <a:xfrm>
            <a:off x="5029200" y="713232"/>
            <a:ext cx="3749040" cy="292608"/>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53"/>
          <p:cNvSpPr/>
          <p:nvPr/>
        </p:nvSpPr>
        <p:spPr>
          <a:xfrm>
            <a:off x="5029200" y="713232"/>
            <a:ext cx="374904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ERISA Gap (~40% of commercial)</a:t>
            </a:r>
            <a:endParaRPr b="0" i="0" sz="1050" u="none" cap="none" strike="noStrike">
              <a:solidFill>
                <a:schemeClr val="dk1"/>
              </a:solidFill>
              <a:latin typeface="Calibri"/>
              <a:ea typeface="Calibri"/>
              <a:cs typeface="Calibri"/>
              <a:sym typeface="Calibri"/>
            </a:endParaRPr>
          </a:p>
        </p:txBody>
      </p:sp>
      <p:sp>
        <p:nvSpPr>
          <p:cNvPr id="913" name="Google Shape;913;p53"/>
          <p:cNvSpPr/>
          <p:nvPr/>
        </p:nvSpPr>
        <p:spPr>
          <a:xfrm>
            <a:off x="5138928" y="1060704"/>
            <a:ext cx="3520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Self-insured employers cannot be required by states to submit data (federal law). Many large Vermont employers excluded.</a:t>
            </a:r>
            <a:endParaRPr b="0" i="0" sz="950" u="none" cap="none" strike="noStrike">
              <a:solidFill>
                <a:schemeClr val="dk1"/>
              </a:solidFill>
              <a:latin typeface="Calibri"/>
              <a:ea typeface="Calibri"/>
              <a:cs typeface="Calibri"/>
              <a:sym typeface="Calibri"/>
            </a:endParaRPr>
          </a:p>
        </p:txBody>
      </p:sp>
      <p:sp>
        <p:nvSpPr>
          <p:cNvPr id="914" name="Google Shape;914;p53"/>
          <p:cNvSpPr/>
          <p:nvPr/>
        </p:nvSpPr>
        <p:spPr>
          <a:xfrm>
            <a:off x="5138928" y="1490472"/>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950"/>
              <a:buFont typeface="Calibri"/>
              <a:buNone/>
            </a:pPr>
            <a:r>
              <a:rPr b="0" i="1" lang="en-US" sz="950" u="none" cap="none" strike="noStrike">
                <a:solidFill>
                  <a:srgbClr val="7B4A00"/>
                </a:solidFill>
                <a:latin typeface="Calibri"/>
                <a:ea typeface="Calibri"/>
                <a:cs typeface="Calibri"/>
                <a:sym typeface="Calibri"/>
              </a:rPr>
              <a:t>Impact: Total cost of care calculations systematically undercount commercially insured population.</a:t>
            </a:r>
            <a:endParaRPr b="0" i="0" sz="950" u="none" cap="none" strike="noStrike">
              <a:solidFill>
                <a:schemeClr val="dk1"/>
              </a:solidFill>
              <a:latin typeface="Calibri"/>
              <a:ea typeface="Calibri"/>
              <a:cs typeface="Calibri"/>
              <a:sym typeface="Calibri"/>
            </a:endParaRPr>
          </a:p>
        </p:txBody>
      </p:sp>
      <p:sp>
        <p:nvSpPr>
          <p:cNvPr id="915" name="Google Shape;915;p53"/>
          <p:cNvSpPr/>
          <p:nvPr/>
        </p:nvSpPr>
        <p:spPr>
          <a:xfrm>
            <a:off x="5029200" y="2011680"/>
            <a:ext cx="3749040" cy="1170432"/>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3"/>
          <p:cNvSpPr/>
          <p:nvPr/>
        </p:nvSpPr>
        <p:spPr>
          <a:xfrm>
            <a:off x="5029200" y="2011680"/>
            <a:ext cx="3749040" cy="292608"/>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3"/>
          <p:cNvSpPr/>
          <p:nvPr/>
        </p:nvSpPr>
        <p:spPr>
          <a:xfrm>
            <a:off x="5029200" y="2011680"/>
            <a:ext cx="374904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12-18 Month Data Lag</a:t>
            </a:r>
            <a:endParaRPr b="0" i="0" sz="1050" u="none" cap="none" strike="noStrike">
              <a:solidFill>
                <a:schemeClr val="dk1"/>
              </a:solidFill>
              <a:latin typeface="Calibri"/>
              <a:ea typeface="Calibri"/>
              <a:cs typeface="Calibri"/>
              <a:sym typeface="Calibri"/>
            </a:endParaRPr>
          </a:p>
        </p:txBody>
      </p:sp>
      <p:sp>
        <p:nvSpPr>
          <p:cNvPr id="918" name="Google Shape;918;p53"/>
          <p:cNvSpPr/>
          <p:nvPr/>
        </p:nvSpPr>
        <p:spPr>
          <a:xfrm>
            <a:off x="5138928" y="2359152"/>
            <a:ext cx="3520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Most VHCURES data reflects conditions 12-18 months prior. November 2025 AHS report acknowledged most measures reflect 2023 or earlier.</a:t>
            </a:r>
            <a:endParaRPr b="0" i="0" sz="950" u="none" cap="none" strike="noStrike">
              <a:solidFill>
                <a:schemeClr val="dk1"/>
              </a:solidFill>
              <a:latin typeface="Calibri"/>
              <a:ea typeface="Calibri"/>
              <a:cs typeface="Calibri"/>
              <a:sym typeface="Calibri"/>
            </a:endParaRPr>
          </a:p>
        </p:txBody>
      </p:sp>
      <p:sp>
        <p:nvSpPr>
          <p:cNvPr id="919" name="Google Shape;919;p53"/>
          <p:cNvSpPr/>
          <p:nvPr/>
        </p:nvSpPr>
        <p:spPr>
          <a:xfrm>
            <a:off x="5138928" y="27889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950"/>
              <a:buFont typeface="Calibri"/>
              <a:buNone/>
            </a:pPr>
            <a:r>
              <a:rPr b="0" i="1" lang="en-US" sz="950" u="none" cap="none" strike="noStrike">
                <a:solidFill>
                  <a:srgbClr val="8B1A1A"/>
                </a:solidFill>
                <a:latin typeface="Calibri"/>
                <a:ea typeface="Calibri"/>
                <a:cs typeface="Calibri"/>
                <a:sym typeface="Calibri"/>
              </a:rPr>
              <a:t>Impact: Cannot manage global budgets in real-time. AHS-GMCB analytics vendor procurement addresses this.</a:t>
            </a:r>
            <a:endParaRPr b="0" i="0" sz="950" u="none" cap="none" strike="noStrike">
              <a:solidFill>
                <a:schemeClr val="dk1"/>
              </a:solidFill>
              <a:latin typeface="Calibri"/>
              <a:ea typeface="Calibri"/>
              <a:cs typeface="Calibri"/>
              <a:sym typeface="Calibri"/>
            </a:endParaRPr>
          </a:p>
        </p:txBody>
      </p:sp>
      <p:sp>
        <p:nvSpPr>
          <p:cNvPr id="920" name="Google Shape;920;p53"/>
          <p:cNvSpPr/>
          <p:nvPr/>
        </p:nvSpPr>
        <p:spPr>
          <a:xfrm>
            <a:off x="5029200" y="3310128"/>
            <a:ext cx="3749040" cy="1170432"/>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53"/>
          <p:cNvSpPr/>
          <p:nvPr/>
        </p:nvSpPr>
        <p:spPr>
          <a:xfrm>
            <a:off x="5029200" y="3310128"/>
            <a:ext cx="3749040" cy="292608"/>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3"/>
          <p:cNvSpPr/>
          <p:nvPr/>
        </p:nvSpPr>
        <p:spPr>
          <a:xfrm>
            <a:off x="5029200" y="3310128"/>
            <a:ext cx="374904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No Behavioral Health / SDOH Data</a:t>
            </a:r>
            <a:endParaRPr b="0" i="0" sz="1050" u="none" cap="none" strike="noStrike">
              <a:solidFill>
                <a:schemeClr val="dk1"/>
              </a:solidFill>
              <a:latin typeface="Calibri"/>
              <a:ea typeface="Calibri"/>
              <a:cs typeface="Calibri"/>
              <a:sym typeface="Calibri"/>
            </a:endParaRPr>
          </a:p>
        </p:txBody>
      </p:sp>
      <p:sp>
        <p:nvSpPr>
          <p:cNvPr id="923" name="Google Shape;923;p53"/>
          <p:cNvSpPr/>
          <p:nvPr/>
        </p:nvSpPr>
        <p:spPr>
          <a:xfrm>
            <a:off x="5138928" y="3657600"/>
            <a:ext cx="3520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Calibri"/>
              <a:buNone/>
            </a:pPr>
            <a:r>
              <a:rPr b="0" i="0" lang="en-US" sz="950" u="none" cap="none" strike="noStrike">
                <a:solidFill>
                  <a:srgbClr val="1A1A1A"/>
                </a:solidFill>
                <a:latin typeface="Calibri"/>
                <a:ea typeface="Calibri"/>
                <a:cs typeface="Calibri"/>
                <a:sym typeface="Calibri"/>
              </a:rPr>
              <a:t>MH/SUD records governed by 42 CFR Part 2. Social service utilization not in VHCURES.</a:t>
            </a:r>
            <a:endParaRPr b="0" i="0" sz="950" u="none" cap="none" strike="noStrike">
              <a:solidFill>
                <a:schemeClr val="dk1"/>
              </a:solidFill>
              <a:latin typeface="Calibri"/>
              <a:ea typeface="Calibri"/>
              <a:cs typeface="Calibri"/>
              <a:sym typeface="Calibri"/>
            </a:endParaRPr>
          </a:p>
        </p:txBody>
      </p:sp>
      <p:sp>
        <p:nvSpPr>
          <p:cNvPr id="924" name="Google Shape;924;p53"/>
          <p:cNvSpPr/>
          <p:nvPr/>
        </p:nvSpPr>
        <p:spPr>
          <a:xfrm>
            <a:off x="5138928" y="4087368"/>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1A1A"/>
              </a:buClr>
              <a:buSzPts val="950"/>
              <a:buFont typeface="Calibri"/>
              <a:buNone/>
            </a:pPr>
            <a:r>
              <a:rPr b="0" i="1" lang="en-US" sz="950" u="none" cap="none" strike="noStrike">
                <a:solidFill>
                  <a:srgbClr val="8B1A1A"/>
                </a:solidFill>
                <a:latin typeface="Calibri"/>
                <a:ea typeface="Calibri"/>
                <a:cs typeface="Calibri"/>
                <a:sym typeface="Calibri"/>
              </a:rPr>
              <a:t>Impact: Cannot link housing/transportation/food programs to healthcare outcomes — breaks SDOH → utilization analysis.</a:t>
            </a:r>
            <a:endParaRPr b="0" i="0" sz="950" u="none" cap="none" strike="noStrike">
              <a:solidFill>
                <a:schemeClr val="dk1"/>
              </a:solidFill>
              <a:latin typeface="Calibri"/>
              <a:ea typeface="Calibri"/>
              <a:cs typeface="Calibri"/>
              <a:sym typeface="Calibri"/>
            </a:endParaRPr>
          </a:p>
        </p:txBody>
      </p:sp>
      <p:sp>
        <p:nvSpPr>
          <p:cNvPr id="925" name="Google Shape;925;p53"/>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14 — Source: GMCB VHCURES documentation; Oliver Wyman Act 167 Report; AHS November 2025 Transformation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930" name="Shape 930"/>
        <p:cNvGrpSpPr/>
        <p:nvPr/>
      </p:nvGrpSpPr>
      <p:grpSpPr>
        <a:xfrm>
          <a:off x="0" y="0"/>
          <a:ext cx="0" cy="0"/>
          <a:chOff x="0" y="0"/>
          <a:chExt cx="0" cy="0"/>
        </a:xfrm>
      </p:grpSpPr>
      <p:sp>
        <p:nvSpPr>
          <p:cNvPr id="931" name="Google Shape;931;p54"/>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VERMONT'S THREE PRIORITY FHIR USE CASES — FROM STANDARD TO WORKING SYSTEM</a:t>
            </a:r>
            <a:endParaRPr b="0" i="0" sz="1700" u="none" cap="none" strike="noStrike">
              <a:solidFill>
                <a:schemeClr val="dk1"/>
              </a:solidFill>
              <a:latin typeface="Calibri"/>
              <a:ea typeface="Calibri"/>
              <a:cs typeface="Calibri"/>
              <a:sym typeface="Calibri"/>
            </a:endParaRPr>
          </a:p>
        </p:txBody>
      </p:sp>
      <p:sp>
        <p:nvSpPr>
          <p:cNvPr id="932" name="Google Shape;932;p54"/>
          <p:cNvSpPr/>
          <p:nvPr/>
        </p:nvSpPr>
        <p:spPr>
          <a:xfrm>
            <a:off x="274320" y="749808"/>
            <a:ext cx="8595360" cy="1280160"/>
          </a:xfrm>
          <a:prstGeom prst="rect">
            <a:avLst/>
          </a:prstGeom>
          <a:solidFill>
            <a:srgbClr val="FFFFFF"/>
          </a:solidFill>
          <a:ln cap="flat" cmpd="sng" w="12700">
            <a:solidFill>
              <a:srgbClr val="7B4A00"/>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4"/>
          <p:cNvSpPr/>
          <p:nvPr/>
        </p:nvSpPr>
        <p:spPr>
          <a:xfrm>
            <a:off x="274320" y="749808"/>
            <a:ext cx="566928" cy="1280160"/>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4"/>
          <p:cNvSpPr/>
          <p:nvPr/>
        </p:nvSpPr>
        <p:spPr>
          <a:xfrm>
            <a:off x="274320" y="1069848"/>
            <a:ext cx="5669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935" name="Google Shape;935;p54"/>
          <p:cNvSpPr/>
          <p:nvPr/>
        </p:nvSpPr>
        <p:spPr>
          <a:xfrm>
            <a:off x="960120" y="813816"/>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4A00"/>
              </a:buClr>
              <a:buSzPts val="1200"/>
              <a:buFont typeface="Calibri"/>
              <a:buNone/>
            </a:pPr>
            <a:r>
              <a:rPr b="1" i="0" lang="en-US" sz="1200" u="none" cap="none" strike="noStrike">
                <a:solidFill>
                  <a:srgbClr val="7B4A00"/>
                </a:solidFill>
                <a:latin typeface="Calibri"/>
                <a:ea typeface="Calibri"/>
                <a:cs typeface="Calibri"/>
                <a:sym typeface="Calibri"/>
              </a:rPr>
              <a:t>Patient Access API — §170.315(g)(10) compliance</a:t>
            </a:r>
            <a:endParaRPr b="0" i="0" sz="1200" u="none" cap="none" strike="noStrike">
              <a:solidFill>
                <a:schemeClr val="dk1"/>
              </a:solidFill>
              <a:latin typeface="Calibri"/>
              <a:ea typeface="Calibri"/>
              <a:cs typeface="Calibri"/>
              <a:sym typeface="Calibri"/>
            </a:endParaRPr>
          </a:p>
        </p:txBody>
      </p:sp>
      <p:sp>
        <p:nvSpPr>
          <p:cNvPr id="936" name="Google Shape;936;p54"/>
          <p:cNvSpPr/>
          <p:nvPr/>
        </p:nvSpPr>
        <p:spPr>
          <a:xfrm>
            <a:off x="960120" y="1207008"/>
            <a:ext cx="7772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Enables: Patients access their health records through third-party apps. Required by CMS for hospitals and clinicians receiving Medicare/Medicaid payments.</a:t>
            </a:r>
            <a:endParaRPr b="0" i="0" sz="1000" u="none" cap="none" strike="noStrike">
              <a:solidFill>
                <a:schemeClr val="dk1"/>
              </a:solidFill>
              <a:latin typeface="Calibri"/>
              <a:ea typeface="Calibri"/>
              <a:cs typeface="Calibri"/>
              <a:sym typeface="Calibri"/>
            </a:endParaRPr>
          </a:p>
        </p:txBody>
      </p:sp>
      <p:sp>
        <p:nvSpPr>
          <p:cNvPr id="937" name="Google Shape;937;p54"/>
          <p:cNvSpPr/>
          <p:nvPr/>
        </p:nvSpPr>
        <p:spPr>
          <a:xfrm>
            <a:off x="960120" y="161848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1" lang="en-US" sz="1000" u="none" cap="none" strike="noStrike">
                <a:solidFill>
                  <a:srgbClr val="444444"/>
                </a:solidFill>
                <a:latin typeface="Calibri"/>
                <a:ea typeface="Calibri"/>
                <a:cs typeface="Calibri"/>
                <a:sym typeface="Calibri"/>
              </a:rPr>
              <a:t>Vermont: All Vermont hospitals must be compliant. Monitor smaller CAHs without robust IT departments.</a:t>
            </a:r>
            <a:endParaRPr b="0" i="0" sz="1000" u="none" cap="none" strike="noStrike">
              <a:solidFill>
                <a:schemeClr val="dk1"/>
              </a:solidFill>
              <a:latin typeface="Calibri"/>
              <a:ea typeface="Calibri"/>
              <a:cs typeface="Calibri"/>
              <a:sym typeface="Calibri"/>
            </a:endParaRPr>
          </a:p>
        </p:txBody>
      </p:sp>
      <p:sp>
        <p:nvSpPr>
          <p:cNvPr id="938" name="Google Shape;938;p54"/>
          <p:cNvSpPr/>
          <p:nvPr/>
        </p:nvSpPr>
        <p:spPr>
          <a:xfrm>
            <a:off x="274320" y="2167128"/>
            <a:ext cx="8595360" cy="1280160"/>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54"/>
          <p:cNvSpPr/>
          <p:nvPr/>
        </p:nvSpPr>
        <p:spPr>
          <a:xfrm>
            <a:off x="274320" y="2167128"/>
            <a:ext cx="566928" cy="1280160"/>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54"/>
          <p:cNvSpPr/>
          <p:nvPr/>
        </p:nvSpPr>
        <p:spPr>
          <a:xfrm>
            <a:off x="274320" y="2487168"/>
            <a:ext cx="5669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941" name="Google Shape;941;p54"/>
          <p:cNvSpPr/>
          <p:nvPr/>
        </p:nvSpPr>
        <p:spPr>
          <a:xfrm>
            <a:off x="960120" y="2231136"/>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B3C"/>
              </a:buClr>
              <a:buSzPts val="1200"/>
              <a:buFont typeface="Calibri"/>
              <a:buNone/>
            </a:pPr>
            <a:r>
              <a:rPr b="1" i="0" lang="en-US" sz="1200" u="none" cap="none" strike="noStrike">
                <a:solidFill>
                  <a:srgbClr val="1E6B3C"/>
                </a:solidFill>
                <a:latin typeface="Calibri"/>
                <a:ea typeface="Calibri"/>
                <a:cs typeface="Calibri"/>
                <a:sym typeface="Calibri"/>
              </a:rPr>
              <a:t>Provider Access API — Care coordination across CIN</a:t>
            </a:r>
            <a:endParaRPr b="0" i="0" sz="1200" u="none" cap="none" strike="noStrike">
              <a:solidFill>
                <a:schemeClr val="dk1"/>
              </a:solidFill>
              <a:latin typeface="Calibri"/>
              <a:ea typeface="Calibri"/>
              <a:cs typeface="Calibri"/>
              <a:sym typeface="Calibri"/>
            </a:endParaRPr>
          </a:p>
        </p:txBody>
      </p:sp>
      <p:sp>
        <p:nvSpPr>
          <p:cNvPr id="942" name="Google Shape;942;p54"/>
          <p:cNvSpPr/>
          <p:nvPr/>
        </p:nvSpPr>
        <p:spPr>
          <a:xfrm>
            <a:off x="960120" y="2624328"/>
            <a:ext cx="7772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Enables: Care coordinators at one organization can query clinical records from another for shared patients. Enables real-time cross-facility care coordination.</a:t>
            </a:r>
            <a:endParaRPr b="0" i="0" sz="1000" u="none" cap="none" strike="noStrike">
              <a:solidFill>
                <a:schemeClr val="dk1"/>
              </a:solidFill>
              <a:latin typeface="Calibri"/>
              <a:ea typeface="Calibri"/>
              <a:cs typeface="Calibri"/>
              <a:sym typeface="Calibri"/>
            </a:endParaRPr>
          </a:p>
        </p:txBody>
      </p:sp>
      <p:sp>
        <p:nvSpPr>
          <p:cNvPr id="943" name="Google Shape;943;p54"/>
          <p:cNvSpPr/>
          <p:nvPr/>
        </p:nvSpPr>
        <p:spPr>
          <a:xfrm>
            <a:off x="960120" y="303580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1" lang="en-US" sz="1000" u="none" cap="none" strike="noStrike">
                <a:solidFill>
                  <a:srgbClr val="444444"/>
                </a:solidFill>
                <a:latin typeface="Calibri"/>
                <a:ea typeface="Calibri"/>
                <a:cs typeface="Calibri"/>
                <a:sym typeface="Calibri"/>
              </a:rPr>
              <a:t>Vermont: Priority RHT IT investment. Enables inter-hospital care coordination that regionalization blueprint requires.</a:t>
            </a:r>
            <a:endParaRPr b="0" i="0" sz="1000" u="none" cap="none" strike="noStrike">
              <a:solidFill>
                <a:schemeClr val="dk1"/>
              </a:solidFill>
              <a:latin typeface="Calibri"/>
              <a:ea typeface="Calibri"/>
              <a:cs typeface="Calibri"/>
              <a:sym typeface="Calibri"/>
            </a:endParaRPr>
          </a:p>
        </p:txBody>
      </p:sp>
      <p:sp>
        <p:nvSpPr>
          <p:cNvPr id="944" name="Google Shape;944;p54"/>
          <p:cNvSpPr/>
          <p:nvPr/>
        </p:nvSpPr>
        <p:spPr>
          <a:xfrm>
            <a:off x="274320" y="3584448"/>
            <a:ext cx="8595360" cy="1280160"/>
          </a:xfrm>
          <a:prstGeom prst="rect">
            <a:avLst/>
          </a:prstGeom>
          <a:solidFill>
            <a:srgbClr val="FFFFFF"/>
          </a:solidFill>
          <a:ln cap="flat" cmpd="sng" w="12700">
            <a:solidFill>
              <a:srgbClr val="2E75B6"/>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4"/>
          <p:cNvSpPr/>
          <p:nvPr/>
        </p:nvSpPr>
        <p:spPr>
          <a:xfrm>
            <a:off x="274320" y="3584448"/>
            <a:ext cx="566928" cy="128016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4"/>
          <p:cNvSpPr/>
          <p:nvPr/>
        </p:nvSpPr>
        <p:spPr>
          <a:xfrm>
            <a:off x="274320" y="3904488"/>
            <a:ext cx="5669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947" name="Google Shape;947;p54"/>
          <p:cNvSpPr/>
          <p:nvPr/>
        </p:nvSpPr>
        <p:spPr>
          <a:xfrm>
            <a:off x="960120" y="3648456"/>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Calibri"/>
              <a:buNone/>
            </a:pPr>
            <a:r>
              <a:rPr b="1" i="0" lang="en-US" sz="1200" u="none" cap="none" strike="noStrike">
                <a:solidFill>
                  <a:srgbClr val="2E75B6"/>
                </a:solidFill>
                <a:latin typeface="Calibri"/>
                <a:ea typeface="Calibri"/>
                <a:cs typeface="Calibri"/>
                <a:sym typeface="Calibri"/>
              </a:rPr>
              <a:t>Payer-to-Provider API — Electronic prior authorization</a:t>
            </a:r>
            <a:endParaRPr b="0" i="0" sz="1200" u="none" cap="none" strike="noStrike">
              <a:solidFill>
                <a:schemeClr val="dk1"/>
              </a:solidFill>
              <a:latin typeface="Calibri"/>
              <a:ea typeface="Calibri"/>
              <a:cs typeface="Calibri"/>
              <a:sym typeface="Calibri"/>
            </a:endParaRPr>
          </a:p>
        </p:txBody>
      </p:sp>
      <p:sp>
        <p:nvSpPr>
          <p:cNvPr id="948" name="Google Shape;948;p54"/>
          <p:cNvSpPr/>
          <p:nvPr/>
        </p:nvSpPr>
        <p:spPr>
          <a:xfrm>
            <a:off x="960120" y="4041648"/>
            <a:ext cx="7772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Enables: FHIR-based prior authorization eliminates manual PA. Formulary exchange reduces prescription errors. Uses Da Vinci CRD and DTR implementation guides.</a:t>
            </a:r>
            <a:endParaRPr b="0" i="0" sz="1000" u="none" cap="none" strike="noStrike">
              <a:solidFill>
                <a:schemeClr val="dk1"/>
              </a:solidFill>
              <a:latin typeface="Calibri"/>
              <a:ea typeface="Calibri"/>
              <a:cs typeface="Calibri"/>
              <a:sym typeface="Calibri"/>
            </a:endParaRPr>
          </a:p>
        </p:txBody>
      </p:sp>
      <p:sp>
        <p:nvSpPr>
          <p:cNvPr id="949" name="Google Shape;949;p54"/>
          <p:cNvSpPr/>
          <p:nvPr/>
        </p:nvSpPr>
        <p:spPr>
          <a:xfrm>
            <a:off x="960120" y="44531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1" lang="en-US" sz="1000" u="none" cap="none" strike="noStrike">
                <a:solidFill>
                  <a:srgbClr val="444444"/>
                </a:solidFill>
                <a:latin typeface="Calibri"/>
                <a:ea typeface="Calibri"/>
                <a:cs typeface="Calibri"/>
                <a:sym typeface="Calibri"/>
              </a:rPr>
              <a:t>Vermont: Accelerates Vermont's PA reform agenda. GMCB should require payer FHIR API compliance as condition of rate approval.</a:t>
            </a:r>
            <a:endParaRPr b="0" i="0" sz="1000" u="none" cap="none" strike="noStrike">
              <a:solidFill>
                <a:schemeClr val="dk1"/>
              </a:solidFill>
              <a:latin typeface="Calibri"/>
              <a:ea typeface="Calibri"/>
              <a:cs typeface="Calibri"/>
              <a:sym typeface="Calibri"/>
            </a:endParaRPr>
          </a:p>
        </p:txBody>
      </p:sp>
      <p:sp>
        <p:nvSpPr>
          <p:cNvPr id="950" name="Google Shape;950;p54"/>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14 / Chapter 15 — Source: CMS Interoperability Rule; ONC 21st Century Cures Rule; Vermont RHT Application; HTR Technology framework</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5" name="Shape 955"/>
        <p:cNvGrpSpPr/>
        <p:nvPr/>
      </p:nvGrpSpPr>
      <p:grpSpPr>
        <a:xfrm>
          <a:off x="0" y="0"/>
          <a:ext cx="0" cy="0"/>
          <a:chOff x="0" y="0"/>
          <a:chExt cx="0" cy="0"/>
        </a:xfrm>
      </p:grpSpPr>
      <p:sp>
        <p:nvSpPr>
          <p:cNvPr id="956" name="Google Shape;956;p55"/>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AI SCRIBE TECHNOLOGY — WORKFORCE MULTIPLIER FOR VERMONT'S RURAL PRACTICES</a:t>
            </a:r>
            <a:endParaRPr b="0" i="0" sz="1700" u="none" cap="none" strike="noStrike">
              <a:solidFill>
                <a:schemeClr val="dk1"/>
              </a:solidFill>
              <a:latin typeface="Calibri"/>
              <a:ea typeface="Calibri"/>
              <a:cs typeface="Calibri"/>
              <a:sym typeface="Calibri"/>
            </a:endParaRPr>
          </a:p>
        </p:txBody>
      </p:sp>
      <p:sp>
        <p:nvSpPr>
          <p:cNvPr id="957" name="Google Shape;957;p55"/>
          <p:cNvSpPr/>
          <p:nvPr/>
        </p:nvSpPr>
        <p:spPr>
          <a:xfrm>
            <a:off x="274320" y="713232"/>
            <a:ext cx="4023360" cy="1719072"/>
          </a:xfrm>
          <a:prstGeom prst="rect">
            <a:avLst/>
          </a:prstGeom>
          <a:solidFill>
            <a:srgbClr val="FFFFFF"/>
          </a:solidFill>
          <a:ln cap="flat" cmpd="sng" w="12700">
            <a:solidFill>
              <a:srgbClr val="1E6B3C"/>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5"/>
          <p:cNvSpPr/>
          <p:nvPr/>
        </p:nvSpPr>
        <p:spPr>
          <a:xfrm>
            <a:off x="274320" y="713232"/>
            <a:ext cx="4023360" cy="329184"/>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5"/>
          <p:cNvSpPr/>
          <p:nvPr/>
        </p:nvSpPr>
        <p:spPr>
          <a:xfrm>
            <a:off x="274320" y="1097280"/>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6B3C"/>
              </a:buClr>
              <a:buSzPts val="4400"/>
              <a:buFont typeface="Calibri"/>
              <a:buNone/>
            </a:pPr>
            <a:r>
              <a:rPr b="1" i="0" lang="en-US" sz="4400" u="none" cap="none" strike="noStrike">
                <a:solidFill>
                  <a:srgbClr val="1E6B3C"/>
                </a:solidFill>
                <a:latin typeface="Calibri"/>
                <a:ea typeface="Calibri"/>
                <a:cs typeface="Calibri"/>
                <a:sym typeface="Calibri"/>
              </a:rPr>
              <a:t>2+ hrs</a:t>
            </a:r>
            <a:endParaRPr b="0" i="0" sz="4400" u="none" cap="none" strike="noStrike">
              <a:solidFill>
                <a:schemeClr val="dk1"/>
              </a:solidFill>
              <a:latin typeface="Calibri"/>
              <a:ea typeface="Calibri"/>
              <a:cs typeface="Calibri"/>
              <a:sym typeface="Calibri"/>
            </a:endParaRPr>
          </a:p>
        </p:txBody>
      </p:sp>
      <p:sp>
        <p:nvSpPr>
          <p:cNvPr id="960" name="Google Shape;960;p55"/>
          <p:cNvSpPr/>
          <p:nvPr/>
        </p:nvSpPr>
        <p:spPr>
          <a:xfrm>
            <a:off x="384048" y="1810512"/>
            <a:ext cx="3794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Daily documentation time saved per provider</a:t>
            </a:r>
            <a:endParaRPr b="0" i="0" sz="1100" u="none" cap="none" strike="noStrike">
              <a:solidFill>
                <a:schemeClr val="dk1"/>
              </a:solidFill>
              <a:latin typeface="Calibri"/>
              <a:ea typeface="Calibri"/>
              <a:cs typeface="Calibri"/>
              <a:sym typeface="Calibri"/>
            </a:endParaRPr>
          </a:p>
        </p:txBody>
      </p:sp>
      <p:sp>
        <p:nvSpPr>
          <p:cNvPr id="961" name="Google Shape;961;p55"/>
          <p:cNvSpPr/>
          <p:nvPr/>
        </p:nvSpPr>
        <p:spPr>
          <a:xfrm>
            <a:off x="384048" y="2121408"/>
            <a:ext cx="3794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AI scribe automates transcription of clinical encounters</a:t>
            </a:r>
            <a:endParaRPr b="0" i="0" sz="950" u="none" cap="none" strike="noStrike">
              <a:solidFill>
                <a:schemeClr val="dk1"/>
              </a:solidFill>
              <a:latin typeface="Calibri"/>
              <a:ea typeface="Calibri"/>
              <a:cs typeface="Calibri"/>
              <a:sym typeface="Calibri"/>
            </a:endParaRPr>
          </a:p>
        </p:txBody>
      </p:sp>
      <p:sp>
        <p:nvSpPr>
          <p:cNvPr id="962" name="Google Shape;962;p55"/>
          <p:cNvSpPr/>
          <p:nvPr/>
        </p:nvSpPr>
        <p:spPr>
          <a:xfrm>
            <a:off x="4572000" y="713232"/>
            <a:ext cx="4023360" cy="1719072"/>
          </a:xfrm>
          <a:prstGeom prst="rect">
            <a:avLst/>
          </a:prstGeom>
          <a:solidFill>
            <a:srgbClr val="FFFFFF"/>
          </a:solidFill>
          <a:ln cap="flat" cmpd="sng" w="12700">
            <a:solidFill>
              <a:srgbClr val="8B1A1A"/>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5"/>
          <p:cNvSpPr/>
          <p:nvPr/>
        </p:nvSpPr>
        <p:spPr>
          <a:xfrm>
            <a:off x="4572000" y="713232"/>
            <a:ext cx="4023360" cy="329184"/>
          </a:xfrm>
          <a:prstGeom prst="rect">
            <a:avLst/>
          </a:prstGeom>
          <a:solidFill>
            <a:srgbClr val="8B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5"/>
          <p:cNvSpPr/>
          <p:nvPr/>
        </p:nvSpPr>
        <p:spPr>
          <a:xfrm>
            <a:off x="4572000" y="1097280"/>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4400"/>
              <a:buFont typeface="Calibri"/>
              <a:buNone/>
            </a:pPr>
            <a:r>
              <a:rPr b="1" i="0" lang="en-US" sz="4400" u="none" cap="none" strike="noStrike">
                <a:solidFill>
                  <a:srgbClr val="8B1A1A"/>
                </a:solidFill>
                <a:latin typeface="Calibri"/>
                <a:ea typeface="Calibri"/>
                <a:cs typeface="Calibri"/>
                <a:sym typeface="Calibri"/>
              </a:rPr>
              <a:t>370 FTE</a:t>
            </a:r>
            <a:endParaRPr b="0" i="0" sz="4400" u="none" cap="none" strike="noStrike">
              <a:solidFill>
                <a:schemeClr val="dk1"/>
              </a:solidFill>
              <a:latin typeface="Calibri"/>
              <a:ea typeface="Calibri"/>
              <a:cs typeface="Calibri"/>
              <a:sym typeface="Calibri"/>
            </a:endParaRPr>
          </a:p>
        </p:txBody>
      </p:sp>
      <p:sp>
        <p:nvSpPr>
          <p:cNvPr id="965" name="Google Shape;965;p55"/>
          <p:cNvSpPr/>
          <p:nvPr/>
        </p:nvSpPr>
        <p:spPr>
          <a:xfrm>
            <a:off x="4681728" y="1810512"/>
            <a:ext cx="3794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Vermont primary care shortage by 2030</a:t>
            </a:r>
            <a:endParaRPr b="0" i="0" sz="1100" u="none" cap="none" strike="noStrike">
              <a:solidFill>
                <a:schemeClr val="dk1"/>
              </a:solidFill>
              <a:latin typeface="Calibri"/>
              <a:ea typeface="Calibri"/>
              <a:cs typeface="Calibri"/>
              <a:sym typeface="Calibri"/>
            </a:endParaRPr>
          </a:p>
        </p:txBody>
      </p:sp>
      <p:sp>
        <p:nvSpPr>
          <p:cNvPr id="966" name="Google Shape;966;p55"/>
          <p:cNvSpPr/>
          <p:nvPr/>
        </p:nvSpPr>
        <p:spPr>
          <a:xfrm>
            <a:off x="4681728" y="2121408"/>
            <a:ext cx="3794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AI scribe = equivalent capacity gain without hiring</a:t>
            </a:r>
            <a:endParaRPr b="0" i="0" sz="950" u="none" cap="none" strike="noStrike">
              <a:solidFill>
                <a:schemeClr val="dk1"/>
              </a:solidFill>
              <a:latin typeface="Calibri"/>
              <a:ea typeface="Calibri"/>
              <a:cs typeface="Calibri"/>
              <a:sym typeface="Calibri"/>
            </a:endParaRPr>
          </a:p>
        </p:txBody>
      </p:sp>
      <p:sp>
        <p:nvSpPr>
          <p:cNvPr id="967" name="Google Shape;967;p55"/>
          <p:cNvSpPr/>
          <p:nvPr/>
        </p:nvSpPr>
        <p:spPr>
          <a:xfrm>
            <a:off x="274320" y="2697480"/>
            <a:ext cx="4023360" cy="1719072"/>
          </a:xfrm>
          <a:prstGeom prst="rect">
            <a:avLst/>
          </a:prstGeom>
          <a:solidFill>
            <a:srgbClr val="FFFFFF"/>
          </a:solidFill>
          <a:ln cap="flat" cmpd="sng" w="12700">
            <a:solidFill>
              <a:srgbClr val="0D5F6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5"/>
          <p:cNvSpPr/>
          <p:nvPr/>
        </p:nvSpPr>
        <p:spPr>
          <a:xfrm>
            <a:off x="274320" y="2697480"/>
            <a:ext cx="4023360" cy="329184"/>
          </a:xfrm>
          <a:prstGeom prst="rect">
            <a:avLst/>
          </a:prstGeom>
          <a:solidFill>
            <a:srgbClr val="0D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5"/>
          <p:cNvSpPr/>
          <p:nvPr/>
        </p:nvSpPr>
        <p:spPr>
          <a:xfrm>
            <a:off x="274320" y="3081528"/>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5F6B"/>
              </a:buClr>
              <a:buSzPts val="4400"/>
              <a:buFont typeface="Calibri"/>
              <a:buNone/>
            </a:pPr>
            <a:r>
              <a:rPr b="1" i="0" lang="en-US" sz="4400" u="none" cap="none" strike="noStrike">
                <a:solidFill>
                  <a:srgbClr val="0D5F6B"/>
                </a:solidFill>
                <a:latin typeface="Calibri"/>
                <a:ea typeface="Calibri"/>
                <a:cs typeface="Calibri"/>
                <a:sym typeface="Calibri"/>
              </a:rPr>
              <a:t>&gt;25%</a:t>
            </a:r>
            <a:endParaRPr b="0" i="0" sz="4400" u="none" cap="none" strike="noStrike">
              <a:solidFill>
                <a:schemeClr val="dk1"/>
              </a:solidFill>
              <a:latin typeface="Calibri"/>
              <a:ea typeface="Calibri"/>
              <a:cs typeface="Calibri"/>
              <a:sym typeface="Calibri"/>
            </a:endParaRPr>
          </a:p>
        </p:txBody>
      </p:sp>
      <p:sp>
        <p:nvSpPr>
          <p:cNvPr id="970" name="Google Shape;970;p55"/>
          <p:cNvSpPr/>
          <p:nvPr/>
        </p:nvSpPr>
        <p:spPr>
          <a:xfrm>
            <a:off x="384048" y="3794760"/>
            <a:ext cx="3794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Effective capacity gain per provider</a:t>
            </a:r>
            <a:endParaRPr b="0" i="0" sz="1100" u="none" cap="none" strike="noStrike">
              <a:solidFill>
                <a:schemeClr val="dk1"/>
              </a:solidFill>
              <a:latin typeface="Calibri"/>
              <a:ea typeface="Calibri"/>
              <a:cs typeface="Calibri"/>
              <a:sym typeface="Calibri"/>
            </a:endParaRPr>
          </a:p>
        </p:txBody>
      </p:sp>
      <p:sp>
        <p:nvSpPr>
          <p:cNvPr id="971" name="Google Shape;971;p55"/>
          <p:cNvSpPr/>
          <p:nvPr/>
        </p:nvSpPr>
        <p:spPr>
          <a:xfrm>
            <a:off x="384048" y="4105656"/>
            <a:ext cx="3794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At 8 patients/day, 2 hours saved = 4+ additional appointments</a:t>
            </a:r>
            <a:endParaRPr b="0" i="0" sz="950" u="none" cap="none" strike="noStrike">
              <a:solidFill>
                <a:schemeClr val="dk1"/>
              </a:solidFill>
              <a:latin typeface="Calibri"/>
              <a:ea typeface="Calibri"/>
              <a:cs typeface="Calibri"/>
              <a:sym typeface="Calibri"/>
            </a:endParaRPr>
          </a:p>
        </p:txBody>
      </p:sp>
      <p:sp>
        <p:nvSpPr>
          <p:cNvPr id="972" name="Google Shape;972;p55"/>
          <p:cNvSpPr/>
          <p:nvPr/>
        </p:nvSpPr>
        <p:spPr>
          <a:xfrm>
            <a:off x="4572000" y="2697480"/>
            <a:ext cx="4023360" cy="1719072"/>
          </a:xfrm>
          <a:prstGeom prst="rect">
            <a:avLst/>
          </a:prstGeom>
          <a:solidFill>
            <a:srgbClr val="FFFFFF"/>
          </a:solidFill>
          <a:ln cap="flat" cmpd="sng" w="12700">
            <a:solidFill>
              <a:srgbClr val="1F5C8B"/>
            </a:solidFill>
            <a:prstDash val="solid"/>
            <a:round/>
            <a:headEnd len="sm" w="sm" type="none"/>
            <a:tailEnd len="sm" w="sm" type="none"/>
          </a:ln>
          <a:effectLst>
            <a:outerShdw blurRad="76200" rotWithShape="0" algn="bl" dir="162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55"/>
          <p:cNvSpPr/>
          <p:nvPr/>
        </p:nvSpPr>
        <p:spPr>
          <a:xfrm>
            <a:off x="4572000" y="2697480"/>
            <a:ext cx="4023360" cy="329184"/>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5"/>
          <p:cNvSpPr/>
          <p:nvPr/>
        </p:nvSpPr>
        <p:spPr>
          <a:xfrm>
            <a:off x="4572000" y="3081528"/>
            <a:ext cx="4023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5C8B"/>
              </a:buClr>
              <a:buSzPts val="4400"/>
              <a:buFont typeface="Calibri"/>
              <a:buNone/>
            </a:pPr>
            <a:r>
              <a:rPr b="1" i="0" lang="en-US" sz="4400" u="none" cap="none" strike="noStrike">
                <a:solidFill>
                  <a:srgbClr val="1F5C8B"/>
                </a:solidFill>
                <a:latin typeface="Calibri"/>
                <a:ea typeface="Calibri"/>
                <a:cs typeface="Calibri"/>
                <a:sym typeface="Calibri"/>
              </a:rPr>
              <a:t>$195M</a:t>
            </a:r>
            <a:endParaRPr b="0" i="0" sz="4400" u="none" cap="none" strike="noStrike">
              <a:solidFill>
                <a:schemeClr val="dk1"/>
              </a:solidFill>
              <a:latin typeface="Calibri"/>
              <a:ea typeface="Calibri"/>
              <a:cs typeface="Calibri"/>
              <a:sym typeface="Calibri"/>
            </a:endParaRPr>
          </a:p>
        </p:txBody>
      </p:sp>
      <p:sp>
        <p:nvSpPr>
          <p:cNvPr id="975" name="Google Shape;975;p55"/>
          <p:cNvSpPr/>
          <p:nvPr/>
        </p:nvSpPr>
        <p:spPr>
          <a:xfrm>
            <a:off x="4681728" y="3794760"/>
            <a:ext cx="3794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RHT Program — includes AI scribe grants</a:t>
            </a:r>
            <a:endParaRPr b="0" i="0" sz="1100" u="none" cap="none" strike="noStrike">
              <a:solidFill>
                <a:schemeClr val="dk1"/>
              </a:solidFill>
              <a:latin typeface="Calibri"/>
              <a:ea typeface="Calibri"/>
              <a:cs typeface="Calibri"/>
              <a:sym typeface="Calibri"/>
            </a:endParaRPr>
          </a:p>
        </p:txBody>
      </p:sp>
      <p:sp>
        <p:nvSpPr>
          <p:cNvPr id="976" name="Google Shape;976;p55"/>
          <p:cNvSpPr/>
          <p:nvPr/>
        </p:nvSpPr>
        <p:spPr>
          <a:xfrm>
            <a:off x="4681728" y="4105656"/>
            <a:ext cx="3794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50"/>
              <a:buFont typeface="Calibri"/>
              <a:buNone/>
            </a:pPr>
            <a:r>
              <a:rPr b="0" i="1" lang="en-US" sz="950" u="none" cap="none" strike="noStrike">
                <a:solidFill>
                  <a:srgbClr val="666666"/>
                </a:solidFill>
                <a:latin typeface="Calibri"/>
                <a:ea typeface="Calibri"/>
                <a:cs typeface="Calibri"/>
                <a:sym typeface="Calibri"/>
              </a:rPr>
              <a:t>Explicitly for rural/independent practices that can't afford enterprise pricing</a:t>
            </a:r>
            <a:endParaRPr b="0" i="0" sz="950" u="none" cap="none" strike="noStrike">
              <a:solidFill>
                <a:schemeClr val="dk1"/>
              </a:solidFill>
              <a:latin typeface="Calibri"/>
              <a:ea typeface="Calibri"/>
              <a:cs typeface="Calibri"/>
              <a:sym typeface="Calibri"/>
            </a:endParaRPr>
          </a:p>
        </p:txBody>
      </p:sp>
      <p:sp>
        <p:nvSpPr>
          <p:cNvPr id="977" name="Google Shape;977;p55"/>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14 — Source: Vermont RHT Application; JAMA Network Open ambient scribe study (2024); National Consortium Telehealth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982" name="Shape 982"/>
        <p:cNvGrpSpPr/>
        <p:nvPr/>
      </p:nvGrpSpPr>
      <p:grpSpPr>
        <a:xfrm>
          <a:off x="0" y="0"/>
          <a:ext cx="0" cy="0"/>
          <a:chOff x="0" y="0"/>
          <a:chExt cx="0" cy="0"/>
        </a:xfrm>
      </p:grpSpPr>
      <p:sp>
        <p:nvSpPr>
          <p:cNvPr id="983" name="Google Shape;983;p56"/>
          <p:cNvSpPr/>
          <p:nvPr/>
        </p:nvSpPr>
        <p:spPr>
          <a:xfrm>
            <a:off x="0" y="0"/>
            <a:ext cx="137160" cy="5143500"/>
          </a:xfrm>
          <a:prstGeom prst="rect">
            <a:avLst/>
          </a:prstGeom>
          <a:solidFill>
            <a:srgbClr val="1F5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6"/>
          <p:cNvSpPr/>
          <p:nvPr/>
        </p:nvSpPr>
        <p:spPr>
          <a:xfrm>
            <a:off x="457200" y="1371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5B6"/>
              </a:buClr>
              <a:buSzPts val="1300"/>
              <a:buFont typeface="Calibri"/>
              <a:buNone/>
            </a:pPr>
            <a:r>
              <a:rPr b="1" i="0" lang="en-US" sz="1300" u="none" cap="none" strike="noStrike">
                <a:solidFill>
                  <a:srgbClr val="2E75B6"/>
                </a:solidFill>
                <a:latin typeface="Calibri"/>
                <a:ea typeface="Calibri"/>
                <a:cs typeface="Calibri"/>
                <a:sym typeface="Calibri"/>
              </a:rPr>
              <a:t>CHAPTER 17</a:t>
            </a:r>
            <a:endParaRPr b="0" i="0" sz="1300" u="none" cap="none" strike="noStrike">
              <a:solidFill>
                <a:schemeClr val="dk1"/>
              </a:solidFill>
              <a:latin typeface="Calibri"/>
              <a:ea typeface="Calibri"/>
              <a:cs typeface="Calibri"/>
              <a:sym typeface="Calibri"/>
            </a:endParaRPr>
          </a:p>
        </p:txBody>
      </p:sp>
      <p:sp>
        <p:nvSpPr>
          <p:cNvPr id="985" name="Google Shape;985;p56"/>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3400"/>
              <a:buFont typeface="Georgia"/>
              <a:buNone/>
            </a:pPr>
            <a:r>
              <a:rPr b="1" i="0" lang="en-US" sz="3400" u="none" cap="none" strike="noStrike">
                <a:solidFill>
                  <a:srgbClr val="1F5C8B"/>
                </a:solidFill>
                <a:latin typeface="Georgia"/>
                <a:ea typeface="Georgia"/>
                <a:cs typeface="Georgia"/>
                <a:sym typeface="Georgia"/>
              </a:rPr>
              <a:t>The Future — 2026 and Beyond</a:t>
            </a:r>
            <a:endParaRPr b="0" i="0" sz="3400" u="none" cap="none" strike="noStrike">
              <a:solidFill>
                <a:schemeClr val="dk1"/>
              </a:solidFill>
              <a:latin typeface="Calibri"/>
              <a:ea typeface="Calibri"/>
              <a:cs typeface="Calibri"/>
              <a:sym typeface="Calibri"/>
            </a:endParaRPr>
          </a:p>
        </p:txBody>
      </p:sp>
      <p:sp>
        <p:nvSpPr>
          <p:cNvPr id="986" name="Google Shape;986;p56"/>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Health Transformation Review  |  Transforming American Healthcare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1" name="Shape 991"/>
        <p:cNvGrpSpPr/>
        <p:nvPr/>
      </p:nvGrpSpPr>
      <p:grpSpPr>
        <a:xfrm>
          <a:off x="0" y="0"/>
          <a:ext cx="0" cy="0"/>
          <a:chOff x="0" y="0"/>
          <a:chExt cx="0" cy="0"/>
        </a:xfrm>
      </p:grpSpPr>
      <p:sp>
        <p:nvSpPr>
          <p:cNvPr id="992" name="Google Shape;992;p57"/>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700"/>
              <a:buFont typeface="Georgia"/>
              <a:buNone/>
            </a:pPr>
            <a:r>
              <a:rPr b="1" i="0" lang="en-US" sz="1700" u="none" cap="none" strike="noStrike">
                <a:solidFill>
                  <a:srgbClr val="1F5C8B"/>
                </a:solidFill>
                <a:latin typeface="Georgia"/>
                <a:ea typeface="Georgia"/>
                <a:cs typeface="Georgia"/>
                <a:sym typeface="Georgia"/>
              </a:rPr>
              <a:t>THE RURAL HEALTH FISCAL CLIFF: RHT FUNDS vs. MEDICAID CUT TIMELINE</a:t>
            </a:r>
            <a:endParaRPr b="0" i="0" sz="1700" u="none" cap="none" strike="noStrike">
              <a:solidFill>
                <a:schemeClr val="dk1"/>
              </a:solidFill>
              <a:latin typeface="Calibri"/>
              <a:ea typeface="Calibri"/>
              <a:cs typeface="Calibri"/>
              <a:sym typeface="Calibri"/>
            </a:endParaRPr>
          </a:p>
        </p:txBody>
      </p:sp>
      <p:pic>
        <p:nvPicPr>
          <p:cNvPr id="993" name="Google Shape;993;p57"/>
          <p:cNvPicPr preferRelativeResize="0"/>
          <p:nvPr/>
        </p:nvPicPr>
        <p:blipFill rotWithShape="1">
          <a:blip r:embed="rId3">
            <a:alphaModFix/>
          </a:blip>
          <a:srcRect b="0" l="0" r="0" t="0"/>
          <a:stretch/>
        </p:blipFill>
        <p:spPr>
          <a:xfrm>
            <a:off x="320040" y="658368"/>
            <a:ext cx="8503920" cy="3657600"/>
          </a:xfrm>
          <a:prstGeom prst="rect">
            <a:avLst/>
          </a:prstGeom>
          <a:noFill/>
          <a:ln>
            <a:noFill/>
          </a:ln>
        </p:spPr>
      </p:pic>
      <p:sp>
        <p:nvSpPr>
          <p:cNvPr id="994" name="Google Shape;994;p57"/>
          <p:cNvSpPr/>
          <p:nvPr/>
        </p:nvSpPr>
        <p:spPr>
          <a:xfrm>
            <a:off x="365760" y="4407408"/>
            <a:ext cx="8412480"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1A1A"/>
              </a:buClr>
              <a:buSzPts val="1100"/>
              <a:buFont typeface="Calibri"/>
              <a:buNone/>
            </a:pPr>
            <a:r>
              <a:rPr b="0" i="1" lang="en-US" sz="1100" u="none" cap="none" strike="noStrike">
                <a:solidFill>
                  <a:srgbClr val="8B1A1A"/>
                </a:solidFill>
                <a:latin typeface="Calibri"/>
                <a:ea typeface="Calibri"/>
                <a:cs typeface="Calibri"/>
                <a:sym typeface="Calibri"/>
              </a:rPr>
              <a:t>64% of Medicaid cuts hit AFTER 2030 when RHT funds expire. Vermont must achieve structural efficiency by 2030 to survive the back-loaded cuts.</a:t>
            </a:r>
            <a:endParaRPr b="0" i="0" sz="1100" u="none" cap="none" strike="noStrike">
              <a:solidFill>
                <a:schemeClr val="dk1"/>
              </a:solidFill>
              <a:latin typeface="Calibri"/>
              <a:ea typeface="Calibri"/>
              <a:cs typeface="Calibri"/>
              <a:sym typeface="Calibri"/>
            </a:endParaRPr>
          </a:p>
        </p:txBody>
      </p:sp>
      <p:sp>
        <p:nvSpPr>
          <p:cNvPr id="995" name="Google Shape;995;p57"/>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17 — Source: KFF 'A Closer Look at the $50B Rural Health Fund' (September 2025); CBO H.R.1 estimate; HTR analysis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1000" name="Shape 1000"/>
        <p:cNvGrpSpPr/>
        <p:nvPr/>
      </p:nvGrpSpPr>
      <p:grpSpPr>
        <a:xfrm>
          <a:off x="0" y="0"/>
          <a:ext cx="0" cy="0"/>
          <a:chOff x="0" y="0"/>
          <a:chExt cx="0" cy="0"/>
        </a:xfrm>
      </p:grpSpPr>
      <p:sp>
        <p:nvSpPr>
          <p:cNvPr id="1001" name="Google Shape;1001;p58"/>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200"/>
              <a:buFont typeface="Georgia"/>
              <a:buNone/>
            </a:pPr>
            <a:r>
              <a:rPr b="1" i="0" lang="en-US" sz="2200" u="none" cap="none" strike="noStrike">
                <a:solidFill>
                  <a:srgbClr val="1F5C8B"/>
                </a:solidFill>
                <a:latin typeface="Georgia"/>
                <a:ea typeface="Georgia"/>
                <a:cs typeface="Georgia"/>
                <a:sym typeface="Georgia"/>
              </a:rPr>
              <a:t>VERMONT 2026–2030: TWO SCENARIOS</a:t>
            </a:r>
            <a:endParaRPr b="0" i="0" sz="2200" u="none" cap="none" strike="noStrike">
              <a:solidFill>
                <a:schemeClr val="dk1"/>
              </a:solidFill>
              <a:latin typeface="Calibri"/>
              <a:ea typeface="Calibri"/>
              <a:cs typeface="Calibri"/>
              <a:sym typeface="Calibri"/>
            </a:endParaRPr>
          </a:p>
        </p:txBody>
      </p:sp>
      <p:sp>
        <p:nvSpPr>
          <p:cNvPr id="1002" name="Google Shape;1002;p58"/>
          <p:cNvSpPr/>
          <p:nvPr/>
        </p:nvSpPr>
        <p:spPr>
          <a:xfrm>
            <a:off x="274320" y="685800"/>
            <a:ext cx="4160520" cy="475488"/>
          </a:xfrm>
          <a:prstGeom prst="rect">
            <a:avLst/>
          </a:prstGeom>
          <a:solidFill>
            <a:srgbClr val="1E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8"/>
          <p:cNvSpPr/>
          <p:nvPr/>
        </p:nvSpPr>
        <p:spPr>
          <a:xfrm>
            <a:off x="274320" y="685800"/>
            <a:ext cx="4160520"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TRANSFORMATION SUCCESS SCENARIO</a:t>
            </a:r>
            <a:endParaRPr b="0" i="0" sz="1200" u="none" cap="none" strike="noStrike">
              <a:solidFill>
                <a:schemeClr val="dk1"/>
              </a:solidFill>
              <a:latin typeface="Calibri"/>
              <a:ea typeface="Calibri"/>
              <a:cs typeface="Calibri"/>
              <a:sym typeface="Calibri"/>
            </a:endParaRPr>
          </a:p>
        </p:txBody>
      </p:sp>
      <p:sp>
        <p:nvSpPr>
          <p:cNvPr id="1004" name="Google Shape;1004;p58"/>
          <p:cNvSpPr/>
          <p:nvPr/>
        </p:nvSpPr>
        <p:spPr>
          <a:xfrm>
            <a:off x="274320" y="1234440"/>
            <a:ext cx="4160520" cy="612648"/>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8"/>
          <p:cNvSpPr/>
          <p:nvPr/>
        </p:nvSpPr>
        <p:spPr>
          <a:xfrm>
            <a:off x="384048" y="1280160"/>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FY2027: RBP implemented. First premium growth slowdown in a decade.</a:t>
            </a:r>
            <a:endParaRPr b="0" i="0" sz="1000" u="none" cap="none" strike="noStrike">
              <a:solidFill>
                <a:schemeClr val="dk1"/>
              </a:solidFill>
              <a:latin typeface="Calibri"/>
              <a:ea typeface="Calibri"/>
              <a:cs typeface="Calibri"/>
              <a:sym typeface="Calibri"/>
            </a:endParaRPr>
          </a:p>
        </p:txBody>
      </p:sp>
      <p:sp>
        <p:nvSpPr>
          <p:cNvPr id="1006" name="Google Shape;1006;p58"/>
          <p:cNvSpPr/>
          <p:nvPr/>
        </p:nvSpPr>
        <p:spPr>
          <a:xfrm>
            <a:off x="274320" y="1911096"/>
            <a:ext cx="4160520" cy="612648"/>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8"/>
          <p:cNvSpPr/>
          <p:nvPr/>
        </p:nvSpPr>
        <p:spPr>
          <a:xfrm>
            <a:off x="384048" y="1956816"/>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FY2028: Non-CAH global budgets operational. AHEAD delivers population health improvements.</a:t>
            </a:r>
            <a:endParaRPr b="0" i="0" sz="1000" u="none" cap="none" strike="noStrike">
              <a:solidFill>
                <a:schemeClr val="dk1"/>
              </a:solidFill>
              <a:latin typeface="Calibri"/>
              <a:ea typeface="Calibri"/>
              <a:cs typeface="Calibri"/>
              <a:sym typeface="Calibri"/>
            </a:endParaRPr>
          </a:p>
        </p:txBody>
      </p:sp>
      <p:sp>
        <p:nvSpPr>
          <p:cNvPr id="1008" name="Google Shape;1008;p58"/>
          <p:cNvSpPr/>
          <p:nvPr/>
        </p:nvSpPr>
        <p:spPr>
          <a:xfrm>
            <a:off x="274320" y="2587752"/>
            <a:ext cx="4160520" cy="612648"/>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8"/>
          <p:cNvSpPr/>
          <p:nvPr/>
        </p:nvSpPr>
        <p:spPr>
          <a:xfrm>
            <a:off x="384048" y="2633472"/>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2028: AHS delivers Strategic Plan with specific quantified commitments.</a:t>
            </a:r>
            <a:endParaRPr b="0" i="0" sz="1000" u="none" cap="none" strike="noStrike">
              <a:solidFill>
                <a:schemeClr val="dk1"/>
              </a:solidFill>
              <a:latin typeface="Calibri"/>
              <a:ea typeface="Calibri"/>
              <a:cs typeface="Calibri"/>
              <a:sym typeface="Calibri"/>
            </a:endParaRPr>
          </a:p>
        </p:txBody>
      </p:sp>
      <p:sp>
        <p:nvSpPr>
          <p:cNvPr id="1010" name="Google Shape;1010;p58"/>
          <p:cNvSpPr/>
          <p:nvPr/>
        </p:nvSpPr>
        <p:spPr>
          <a:xfrm>
            <a:off x="274320" y="3264408"/>
            <a:ext cx="4160520" cy="612648"/>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8"/>
          <p:cNvSpPr/>
          <p:nvPr/>
        </p:nvSpPr>
        <p:spPr>
          <a:xfrm>
            <a:off x="384048" y="3310128"/>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2030: RHT capital fully deployed. Medicaid cuts absorbed through efficiency gains.</a:t>
            </a:r>
            <a:endParaRPr b="0" i="0" sz="1000" u="none" cap="none" strike="noStrike">
              <a:solidFill>
                <a:schemeClr val="dk1"/>
              </a:solidFill>
              <a:latin typeface="Calibri"/>
              <a:ea typeface="Calibri"/>
              <a:cs typeface="Calibri"/>
              <a:sym typeface="Calibri"/>
            </a:endParaRPr>
          </a:p>
        </p:txBody>
      </p:sp>
      <p:sp>
        <p:nvSpPr>
          <p:cNvPr id="1012" name="Google Shape;1012;p58"/>
          <p:cNvSpPr/>
          <p:nvPr/>
        </p:nvSpPr>
        <p:spPr>
          <a:xfrm>
            <a:off x="274320" y="3941064"/>
            <a:ext cx="4160520" cy="612648"/>
          </a:xfrm>
          <a:prstGeom prst="rect">
            <a:avLst/>
          </a:prstGeom>
          <a:solidFill>
            <a:srgbClr val="D9EFE3"/>
          </a:solidFill>
          <a:ln cap="flat" cmpd="sng" w="12700">
            <a:solidFill>
              <a:srgbClr val="1E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8"/>
          <p:cNvSpPr/>
          <p:nvPr/>
        </p:nvSpPr>
        <p:spPr>
          <a:xfrm>
            <a:off x="384048" y="3986784"/>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2031-35: Vermont as national template. AHEAD expands nationally using Vermont evidence.</a:t>
            </a:r>
            <a:endParaRPr b="0" i="0" sz="1000" u="none" cap="none" strike="noStrike">
              <a:solidFill>
                <a:schemeClr val="dk1"/>
              </a:solidFill>
              <a:latin typeface="Calibri"/>
              <a:ea typeface="Calibri"/>
              <a:cs typeface="Calibri"/>
              <a:sym typeface="Calibri"/>
            </a:endParaRPr>
          </a:p>
        </p:txBody>
      </p:sp>
      <p:sp>
        <p:nvSpPr>
          <p:cNvPr id="1014" name="Google Shape;1014;p58"/>
          <p:cNvSpPr/>
          <p:nvPr/>
        </p:nvSpPr>
        <p:spPr>
          <a:xfrm>
            <a:off x="4709160" y="685800"/>
            <a:ext cx="4160520" cy="475488"/>
          </a:xfrm>
          <a:prstGeom prst="rect">
            <a:avLst/>
          </a:prstGeom>
          <a:solidFill>
            <a:srgbClr val="7B4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58"/>
          <p:cNvSpPr/>
          <p:nvPr/>
        </p:nvSpPr>
        <p:spPr>
          <a:xfrm>
            <a:off x="4709160" y="685800"/>
            <a:ext cx="4160520"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PARTIAL TRANSFORMATION SCENARIO</a:t>
            </a:r>
            <a:endParaRPr b="0" i="0" sz="1200" u="none" cap="none" strike="noStrike">
              <a:solidFill>
                <a:schemeClr val="dk1"/>
              </a:solidFill>
              <a:latin typeface="Calibri"/>
              <a:ea typeface="Calibri"/>
              <a:cs typeface="Calibri"/>
              <a:sym typeface="Calibri"/>
            </a:endParaRPr>
          </a:p>
        </p:txBody>
      </p:sp>
      <p:sp>
        <p:nvSpPr>
          <p:cNvPr id="1016" name="Google Shape;1016;p58"/>
          <p:cNvSpPr/>
          <p:nvPr/>
        </p:nvSpPr>
        <p:spPr>
          <a:xfrm>
            <a:off x="4709160" y="1234440"/>
            <a:ext cx="4160520" cy="612648"/>
          </a:xfrm>
          <a:prstGeom prst="rect">
            <a:avLst/>
          </a:prstGeom>
          <a:solidFill>
            <a:srgbClr val="FFF0CC"/>
          </a:solidFill>
          <a:ln cap="flat" cmpd="sng" w="12700">
            <a:solidFill>
              <a:srgbClr val="7B4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8"/>
          <p:cNvSpPr/>
          <p:nvPr/>
        </p:nvSpPr>
        <p:spPr>
          <a:xfrm>
            <a:off x="4818888" y="1280160"/>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FY2027: RBP contested — UVMMC seeks legislative relief. Modified glide path.</a:t>
            </a:r>
            <a:endParaRPr b="0" i="0" sz="1000" u="none" cap="none" strike="noStrike">
              <a:solidFill>
                <a:schemeClr val="dk1"/>
              </a:solidFill>
              <a:latin typeface="Calibri"/>
              <a:ea typeface="Calibri"/>
              <a:cs typeface="Calibri"/>
              <a:sym typeface="Calibri"/>
            </a:endParaRPr>
          </a:p>
        </p:txBody>
      </p:sp>
      <p:sp>
        <p:nvSpPr>
          <p:cNvPr id="1018" name="Google Shape;1018;p58"/>
          <p:cNvSpPr/>
          <p:nvPr/>
        </p:nvSpPr>
        <p:spPr>
          <a:xfrm>
            <a:off x="4709160" y="1911096"/>
            <a:ext cx="4160520" cy="612648"/>
          </a:xfrm>
          <a:prstGeom prst="rect">
            <a:avLst/>
          </a:prstGeom>
          <a:solidFill>
            <a:srgbClr val="FFF0CC"/>
          </a:solidFill>
          <a:ln cap="flat" cmpd="sng" w="12700">
            <a:solidFill>
              <a:srgbClr val="7B4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8"/>
          <p:cNvSpPr/>
          <p:nvPr/>
        </p:nvSpPr>
        <p:spPr>
          <a:xfrm>
            <a:off x="4818888" y="1956816"/>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FY2028: Global budget methodology not finalized. Deadline extended.</a:t>
            </a:r>
            <a:endParaRPr b="0" i="0" sz="1000" u="none" cap="none" strike="noStrike">
              <a:solidFill>
                <a:schemeClr val="dk1"/>
              </a:solidFill>
              <a:latin typeface="Calibri"/>
              <a:ea typeface="Calibri"/>
              <a:cs typeface="Calibri"/>
              <a:sym typeface="Calibri"/>
            </a:endParaRPr>
          </a:p>
        </p:txBody>
      </p:sp>
      <p:sp>
        <p:nvSpPr>
          <p:cNvPr id="1020" name="Google Shape;1020;p58"/>
          <p:cNvSpPr/>
          <p:nvPr/>
        </p:nvSpPr>
        <p:spPr>
          <a:xfrm>
            <a:off x="4709160" y="2587752"/>
            <a:ext cx="4160520" cy="612648"/>
          </a:xfrm>
          <a:prstGeom prst="rect">
            <a:avLst/>
          </a:prstGeom>
          <a:solidFill>
            <a:srgbClr val="FFF0CC"/>
          </a:solidFill>
          <a:ln cap="flat" cmpd="sng" w="12700">
            <a:solidFill>
              <a:srgbClr val="7B4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8"/>
          <p:cNvSpPr/>
          <p:nvPr/>
        </p:nvSpPr>
        <p:spPr>
          <a:xfrm>
            <a:off x="4818888" y="2633472"/>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2028: Strategic Plan descriptive, not prescriptive — identifies questions, avoids commitments.</a:t>
            </a:r>
            <a:endParaRPr b="0" i="0" sz="1000" u="none" cap="none" strike="noStrike">
              <a:solidFill>
                <a:schemeClr val="dk1"/>
              </a:solidFill>
              <a:latin typeface="Calibri"/>
              <a:ea typeface="Calibri"/>
              <a:cs typeface="Calibri"/>
              <a:sym typeface="Calibri"/>
            </a:endParaRPr>
          </a:p>
        </p:txBody>
      </p:sp>
      <p:sp>
        <p:nvSpPr>
          <p:cNvPr id="1022" name="Google Shape;1022;p58"/>
          <p:cNvSpPr/>
          <p:nvPr/>
        </p:nvSpPr>
        <p:spPr>
          <a:xfrm>
            <a:off x="4709160" y="3264408"/>
            <a:ext cx="4160520" cy="612648"/>
          </a:xfrm>
          <a:prstGeom prst="rect">
            <a:avLst/>
          </a:prstGeom>
          <a:solidFill>
            <a:srgbClr val="FFF0CC"/>
          </a:solidFill>
          <a:ln cap="flat" cmpd="sng" w="12700">
            <a:solidFill>
              <a:srgbClr val="7B4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8"/>
          <p:cNvSpPr/>
          <p:nvPr/>
        </p:nvSpPr>
        <p:spPr>
          <a:xfrm>
            <a:off x="4818888" y="3310128"/>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2030: RHT capital partially for operations support, not structural transformation.</a:t>
            </a:r>
            <a:endParaRPr b="0" i="0" sz="1000" u="none" cap="none" strike="noStrike">
              <a:solidFill>
                <a:schemeClr val="dk1"/>
              </a:solidFill>
              <a:latin typeface="Calibri"/>
              <a:ea typeface="Calibri"/>
              <a:cs typeface="Calibri"/>
              <a:sym typeface="Calibri"/>
            </a:endParaRPr>
          </a:p>
        </p:txBody>
      </p:sp>
      <p:sp>
        <p:nvSpPr>
          <p:cNvPr id="1024" name="Google Shape;1024;p58"/>
          <p:cNvSpPr/>
          <p:nvPr/>
        </p:nvSpPr>
        <p:spPr>
          <a:xfrm>
            <a:off x="4709160" y="3941064"/>
            <a:ext cx="4160520" cy="612648"/>
          </a:xfrm>
          <a:prstGeom prst="rect">
            <a:avLst/>
          </a:prstGeom>
          <a:solidFill>
            <a:srgbClr val="FFF0CC"/>
          </a:solidFill>
          <a:ln cap="flat" cmpd="sng" w="12700">
            <a:solidFill>
              <a:srgbClr val="7B4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8"/>
          <p:cNvSpPr/>
          <p:nvPr/>
        </p:nvSpPr>
        <p:spPr>
          <a:xfrm>
            <a:off x="4818888" y="3986784"/>
            <a:ext cx="393192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0" i="0" lang="en-US" sz="1000" u="none" cap="none" strike="noStrike">
                <a:solidFill>
                  <a:srgbClr val="1A1A1A"/>
                </a:solidFill>
                <a:latin typeface="Calibri"/>
                <a:ea typeface="Calibri"/>
                <a:cs typeface="Calibri"/>
                <a:sym typeface="Calibri"/>
              </a:rPr>
              <a:t>2031-35: Transformation real but incomplete. Second reform wave required.</a:t>
            </a:r>
            <a:endParaRPr b="0" i="0" sz="1000" u="none" cap="none" strike="noStrike">
              <a:solidFill>
                <a:schemeClr val="dk1"/>
              </a:solidFill>
              <a:latin typeface="Calibri"/>
              <a:ea typeface="Calibri"/>
              <a:cs typeface="Calibri"/>
              <a:sym typeface="Calibri"/>
            </a:endParaRPr>
          </a:p>
        </p:txBody>
      </p:sp>
      <p:sp>
        <p:nvSpPr>
          <p:cNvPr id="1026" name="Google Shape;1026;p58"/>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17 — Source: HTR analysis; Oliver Wyman Act 167 Report; Vermont AHEAD State Agreement; Act 68 of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1" name="Shape 1031"/>
        <p:cNvGrpSpPr/>
        <p:nvPr/>
      </p:nvGrpSpPr>
      <p:grpSpPr>
        <a:xfrm>
          <a:off x="0" y="0"/>
          <a:ext cx="0" cy="0"/>
          <a:chOff x="0" y="0"/>
          <a:chExt cx="0" cy="0"/>
        </a:xfrm>
      </p:grpSpPr>
      <p:sp>
        <p:nvSpPr>
          <p:cNvPr id="1032" name="Google Shape;1032;p59"/>
          <p:cNvSpPr/>
          <p:nvPr/>
        </p:nvSpPr>
        <p:spPr>
          <a:xfrm>
            <a:off x="365760" y="164592"/>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1800"/>
              <a:buFont typeface="Georgia"/>
              <a:buNone/>
            </a:pPr>
            <a:r>
              <a:rPr b="1" i="0" lang="en-US" sz="1800" u="none" cap="none" strike="noStrike">
                <a:solidFill>
                  <a:srgbClr val="1F5C8B"/>
                </a:solidFill>
                <a:latin typeface="Georgia"/>
                <a:ea typeface="Georgia"/>
                <a:cs typeface="Georgia"/>
                <a:sym typeface="Georgia"/>
              </a:rPr>
              <a:t>SIX-PILLAR FORECAST 2026–2035: HEADWINDS AND TAILWINDS</a:t>
            </a:r>
            <a:endParaRPr b="0" i="0" sz="1800" u="none" cap="none" strike="noStrike">
              <a:solidFill>
                <a:schemeClr val="dk1"/>
              </a:solidFill>
              <a:latin typeface="Calibri"/>
              <a:ea typeface="Calibri"/>
              <a:cs typeface="Calibri"/>
              <a:sym typeface="Calibri"/>
            </a:endParaRPr>
          </a:p>
        </p:txBody>
      </p:sp>
      <p:graphicFrame>
        <p:nvGraphicFramePr>
          <p:cNvPr id="1033" name="Google Shape;1033;p59"/>
          <p:cNvGraphicFramePr/>
          <p:nvPr/>
        </p:nvGraphicFramePr>
        <p:xfrm>
          <a:off x="274320" y="658368"/>
          <a:ext cx="3000000" cy="3000000"/>
        </p:xfrm>
        <a:graphic>
          <a:graphicData uri="http://schemas.openxmlformats.org/drawingml/2006/table">
            <a:tbl>
              <a:tblPr>
                <a:noFill/>
                <a:tableStyleId>{A1D9B9E4-F9D2-4EFC-BB1D-056C6BACCCB8}</a:tableStyleId>
              </a:tblPr>
              <a:tblGrid>
                <a:gridCol w="1097275"/>
                <a:gridCol w="2286000"/>
                <a:gridCol w="2286000"/>
                <a:gridCol w="2926075"/>
              </a:tblGrid>
              <a:tr h="57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Pillar</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Primary Headwind</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Primary Tailwind</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2035 Outlook</a:t>
                      </a:r>
                      <a:endParaRPr sz="100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solidFill>
                      <a:srgbClr val="1F5C8B"/>
                    </a:solidFill>
                  </a:tcPr>
                </a:tc>
              </a:tr>
              <a:tr h="5760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Policy</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H.R.1 Medicaid cuts; federal policy instability; work requirements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AHEAD expanding; mandatory RBP/global budgets; price transparency momentum</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Moderate national progress; Vermont high if execution holds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760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Economics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Medicaid revenue reductions; GLP-1 spending wave</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RBP producing savings; IRA drug negotiation; ACO REACH maturing</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VBC reaches 70-75% commercial by 2030; global budgets beyond Vermont/MD limited</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760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Technology</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Data lag; AI governance absent; FHIR incomplete at smaller facilities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CIN analytics; RHT IT grants; ambient AI reducing burden; FHIR maturing</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Fastest-improving pillar nationally; AI governance the critical risk</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760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Clinical</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Primary care workforce shortage; MHI sustainability; PACE gap</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Blueprint + AHEAD primary care investment; CCBHC expansion; CoCM billing</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Steady improvement nationally; Vermont has country's strongest primary care infrastructure</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760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Equity</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H.R.1 coverage losses hitting most vulnerable; federal equity funding cuts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BALANCE GLP-1; CCBHC access policy; HRSN screening; Act 68 equity requirements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Highest-risk pillar nationally; explicit equity targets in Vermont Strategic Plan essential</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r h="5760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Operations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Hospital transformation pace; AHS capacity gaps; administrative complexity</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$195M RHT; all 14 hospitals engaged; GMCB capacity added; CIN shared services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Vermont: transformation underway; question is whether execution matches deadlines</a:t>
                      </a:r>
                      <a:endParaRPr sz="950" u="none" cap="none" strike="noStrike"/>
                    </a:p>
                  </a:txBody>
                  <a:tcPr marT="45725" marB="45725" marR="91450" marL="91450">
                    <a:lnL cap="flat" cmpd="sng" w="9525">
                      <a:solidFill>
                        <a:srgbClr val="CADCFC"/>
                      </a:solidFill>
                      <a:prstDash val="solid"/>
                      <a:round/>
                      <a:headEnd len="sm" w="sm" type="none"/>
                      <a:tailEnd len="sm" w="sm" type="none"/>
                    </a:lnL>
                    <a:lnR cap="flat" cmpd="sng" w="9525">
                      <a:solidFill>
                        <a:srgbClr val="CADCFC"/>
                      </a:solidFill>
                      <a:prstDash val="solid"/>
                      <a:round/>
                      <a:headEnd len="sm" w="sm" type="none"/>
                      <a:tailEnd len="sm" w="sm" type="none"/>
                    </a:lnR>
                    <a:lnT cap="flat" cmpd="sng" w="9525">
                      <a:solidFill>
                        <a:srgbClr val="CADCFC"/>
                      </a:solidFill>
                      <a:prstDash val="solid"/>
                      <a:round/>
                      <a:headEnd len="sm" w="sm" type="none"/>
                      <a:tailEnd len="sm" w="sm" type="none"/>
                    </a:lnT>
                    <a:lnB cap="flat" cmpd="sng" w="9525">
                      <a:solidFill>
                        <a:srgbClr val="CADCFC"/>
                      </a:solidFill>
                      <a:prstDash val="solid"/>
                      <a:round/>
                      <a:headEnd len="sm" w="sm" type="none"/>
                      <a:tailEnd len="sm" w="sm" type="none"/>
                    </a:lnB>
                  </a:tcPr>
                </a:tc>
              </a:tr>
            </a:tbl>
          </a:graphicData>
        </a:graphic>
      </p:graphicFrame>
      <p:sp>
        <p:nvSpPr>
          <p:cNvPr id="1034" name="Google Shape;1034;p59"/>
          <p:cNvSpPr/>
          <p:nvPr/>
        </p:nvSpPr>
        <p:spPr>
          <a:xfrm>
            <a:off x="365760" y="475488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Chapter 17 — Source: HTR analysis; KFF; Chartis 2026; Oliver Wyman; Vermont AHEAD Agreement; Act 68 of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5C8B"/>
        </a:solidFill>
      </p:bgPr>
    </p:bg>
    <p:spTree>
      <p:nvGrpSpPr>
        <p:cNvPr id="1039" name="Shape 1039"/>
        <p:cNvGrpSpPr/>
        <p:nvPr/>
      </p:nvGrpSpPr>
      <p:grpSpPr>
        <a:xfrm>
          <a:off x="0" y="0"/>
          <a:ext cx="0" cy="0"/>
          <a:chOff x="0" y="0"/>
          <a:chExt cx="0" cy="0"/>
        </a:xfrm>
      </p:grpSpPr>
      <p:sp>
        <p:nvSpPr>
          <p:cNvPr id="1040" name="Google Shape;1040;p60"/>
          <p:cNvSpPr/>
          <p:nvPr/>
        </p:nvSpPr>
        <p:spPr>
          <a:xfrm>
            <a:off x="0" y="3840480"/>
            <a:ext cx="9144000" cy="1303020"/>
          </a:xfrm>
          <a:prstGeom prst="rect">
            <a:avLst/>
          </a:prstGeom>
          <a:solidFill>
            <a:srgbClr val="163F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60"/>
          <p:cNvSpPr/>
          <p:nvPr/>
        </p:nvSpPr>
        <p:spPr>
          <a:xfrm>
            <a:off x="548640" y="777240"/>
            <a:ext cx="80467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Georgia"/>
              <a:buNone/>
            </a:pPr>
            <a:r>
              <a:rPr b="1" i="0" lang="en-US" sz="4200" u="none" cap="none" strike="noStrike">
                <a:solidFill>
                  <a:srgbClr val="FFFFFF"/>
                </a:solidFill>
                <a:latin typeface="Georgia"/>
                <a:ea typeface="Georgia"/>
                <a:cs typeface="Georgia"/>
                <a:sym typeface="Georgia"/>
              </a:rPr>
              <a:t>VERMONT IS NOT JUST VERMONT.</a:t>
            </a:r>
            <a:endParaRPr b="0" i="0" sz="4200" u="none" cap="none" strike="noStrike">
              <a:solidFill>
                <a:schemeClr val="dk1"/>
              </a:solidFill>
              <a:latin typeface="Calibri"/>
              <a:ea typeface="Calibri"/>
              <a:cs typeface="Calibri"/>
              <a:sym typeface="Calibri"/>
            </a:endParaRPr>
          </a:p>
        </p:txBody>
      </p:sp>
      <p:sp>
        <p:nvSpPr>
          <p:cNvPr id="1042" name="Google Shape;1042;p60"/>
          <p:cNvSpPr/>
          <p:nvPr/>
        </p:nvSpPr>
        <p:spPr>
          <a:xfrm>
            <a:off x="548640" y="1691640"/>
            <a:ext cx="804672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2800"/>
              <a:buFont typeface="Georgia"/>
              <a:buNone/>
            </a:pPr>
            <a:r>
              <a:rPr b="0" i="1" lang="en-US" sz="2800" u="none" cap="none" strike="noStrike">
                <a:solidFill>
                  <a:srgbClr val="CADCFC"/>
                </a:solidFill>
                <a:latin typeface="Georgia"/>
                <a:ea typeface="Georgia"/>
                <a:cs typeface="Georgia"/>
                <a:sym typeface="Georgia"/>
              </a:rPr>
              <a:t>It is every state,</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2800"/>
              <a:buFont typeface="Georgia"/>
              <a:buNone/>
            </a:pPr>
            <a:r>
              <a:rPr b="0" i="1" lang="en-US" sz="2800" u="none" cap="none" strike="noStrike">
                <a:solidFill>
                  <a:srgbClr val="CADCFC"/>
                </a:solidFill>
                <a:latin typeface="Georgia"/>
                <a:ea typeface="Georgia"/>
                <a:cs typeface="Georgia"/>
                <a:sym typeface="Georgia"/>
              </a:rPr>
              <a:t>ten to twenty years from now.</a:t>
            </a:r>
            <a:endParaRPr b="0" i="0" sz="2800" u="none" cap="none" strike="noStrike">
              <a:solidFill>
                <a:schemeClr val="dk1"/>
              </a:solidFill>
              <a:latin typeface="Calibri"/>
              <a:ea typeface="Calibri"/>
              <a:cs typeface="Calibri"/>
              <a:sym typeface="Calibri"/>
            </a:endParaRPr>
          </a:p>
        </p:txBody>
      </p:sp>
      <p:sp>
        <p:nvSpPr>
          <p:cNvPr id="1043" name="Google Shape;1043;p60"/>
          <p:cNvSpPr/>
          <p:nvPr/>
        </p:nvSpPr>
        <p:spPr>
          <a:xfrm>
            <a:off x="914400" y="2926080"/>
            <a:ext cx="73152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The forces producing Vermont's crisis — demographic aging, hospital financial fragility,</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commercial cross-subsidy collapse, voluntary reform failure — are present nationally.</a:t>
            </a:r>
            <a:endParaRPr b="0" i="0" sz="1400" u="none" cap="none" strike="noStrike">
              <a:solidFill>
                <a:schemeClr val="dk1"/>
              </a:solidFill>
              <a:latin typeface="Calibri"/>
              <a:ea typeface="Calibri"/>
              <a:cs typeface="Calibri"/>
              <a:sym typeface="Calibri"/>
            </a:endParaRPr>
          </a:p>
        </p:txBody>
      </p:sp>
      <p:sp>
        <p:nvSpPr>
          <p:cNvPr id="1044" name="Google Shape;1044;p60"/>
          <p:cNvSpPr/>
          <p:nvPr/>
        </p:nvSpPr>
        <p:spPr>
          <a:xfrm>
            <a:off x="457200" y="416052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Health Transformation Review  |  Transforming American Healthcare  |  April 2026  |  htreview.com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