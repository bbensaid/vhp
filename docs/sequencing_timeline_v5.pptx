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20040" y="128016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The Six-Pillar Execution Sequence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20040" y="594360"/>
            <a:ext cx="11521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Revised sequence: Policy → Technology → Economics → Clinical → Equity →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12648" y="1449324"/>
            <a:ext cx="10936224" cy="640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196596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" name="Google Shape;20;p3"/>
          <p:cNvCxnSpPr/>
          <p:nvPr/>
        </p:nvCxnSpPr>
        <p:spPr>
          <a:xfrm>
            <a:off x="388620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" name="Google Shape;21;p3"/>
          <p:cNvCxnSpPr/>
          <p:nvPr/>
        </p:nvCxnSpPr>
        <p:spPr>
          <a:xfrm>
            <a:off x="580644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" name="Google Shape;22;p3"/>
          <p:cNvCxnSpPr/>
          <p:nvPr/>
        </p:nvCxnSpPr>
        <p:spPr>
          <a:xfrm>
            <a:off x="772668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" name="Google Shape;23;p3"/>
          <p:cNvCxnSpPr/>
          <p:nvPr/>
        </p:nvCxnSpPr>
        <p:spPr>
          <a:xfrm>
            <a:off x="964692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" name="Google Shape;24;p3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907792" y="1188720"/>
            <a:ext cx="585216" cy="585216"/>
          </a:xfrm>
          <a:prstGeom prst="ellipse">
            <a:avLst/>
          </a:prstGeom>
          <a:solidFill>
            <a:srgbClr val="4A41B0"/>
          </a:solidFill>
          <a:ln cap="flat" cmpd="sng" w="1270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90779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828032" y="1188720"/>
            <a:ext cx="585216" cy="58521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82803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48272" y="1188720"/>
            <a:ext cx="585216" cy="585216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74827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8512" y="1188720"/>
            <a:ext cx="585216" cy="585216"/>
          </a:xfrm>
          <a:prstGeom prst="ellipse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66851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588752" y="1188720"/>
            <a:ext cx="585216" cy="585216"/>
          </a:xfrm>
          <a:prstGeom prst="ellipse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58875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1148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EBEBEB"/>
          </a:solidFill>
          <a:ln cap="flat" cmpd="sng" w="2285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11480" y="1938528"/>
            <a:ext cx="1737360" cy="384048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1148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8463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permissible?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53949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50292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Establish enforceable authority, mandate participation, and secure transformation capital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1148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Mandatory architecture + Policy-driven capital (RHT award) that funds the tech 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233172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E2E0F5"/>
          </a:solidFill>
          <a:ln cap="flat" cmpd="sng" w="2285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331720" y="1938528"/>
            <a:ext cx="1737360" cy="384048"/>
          </a:xfrm>
          <a:prstGeom prst="rect">
            <a:avLst/>
          </a:prstGeom>
          <a:solidFill>
            <a:srgbClr val="4A41B0"/>
          </a:solidFill>
          <a:ln cap="flat" cmpd="sng" w="1270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233172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40487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possible?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>
            <a:off x="245973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242316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Build integrated clinical + claims data infrastructure BEFORE financial risk is assumed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33172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Operating system for Economics, Clinical &amp; Operations — must exist before global budgets go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25196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D4EDE3"/>
          </a:solidFill>
          <a:ln cap="flat" cmpd="sng" w="228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251960" y="1938528"/>
            <a:ext cx="1737360" cy="38404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25196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32511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sustainable?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437997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434340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Deploy global budgets and reference-based pricing onto a system that can already see itself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25196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Incentive architecture goes live only when technology can support it — design happens in parallel during Stage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17220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F2D9D6"/>
          </a:solidFill>
          <a:ln cap="flat" cmpd="sng" w="2285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172200" y="1938528"/>
            <a:ext cx="1737360" cy="384048"/>
          </a:xfrm>
          <a:prstGeom prst="rect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17220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24535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effective?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630021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626364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Redesign care delivery and transform clinical practice on aligned incentives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7220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ROI realized only when payment incentives are live and technology can identify which patients need what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09244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F0D6E2"/>
          </a:solidFill>
          <a:ln cap="flat" cmpd="sng" w="2285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092440" y="1938528"/>
            <a:ext cx="1737360" cy="384048"/>
          </a:xfrm>
          <a:prstGeom prst="rect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09244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16559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just?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822045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818388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Audit, calibrate and correct — including social risk adjustment embedded in payment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09244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Constraining dependency: must be embedded in Stages 3–4 and audited here against real population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012680" y="1938528"/>
            <a:ext cx="1737360" cy="2834640"/>
          </a:xfrm>
          <a:prstGeom prst="roundRect">
            <a:avLst>
              <a:gd fmla="val 3158" name="adj"/>
            </a:avLst>
          </a:prstGeom>
          <a:solidFill>
            <a:srgbClr val="F2E4D0"/>
          </a:solidFill>
          <a:ln cap="flat" cmpd="sng" w="2285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012680" y="1938528"/>
            <a:ext cx="1737360" cy="384048"/>
          </a:xfrm>
          <a:prstGeom prst="rect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0012680" y="19385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085832" y="2359152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it executable?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10140696" y="2670048"/>
            <a:ext cx="1481328" cy="0"/>
          </a:xfrm>
          <a:prstGeom prst="straightConnector1">
            <a:avLst/>
          </a:prstGeom>
          <a:noFill/>
          <a:ln cap="flat" cmpd="sng" w="9525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1010412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Close the administrative cost gap and translate strategy into implemented programs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012680" y="486460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Execution layer: optimizes a system already defined by Stages 1–5. Vermont gap: $1,303/discharge vs. national benchmark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320040" y="128016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Vermont Evidence &amp; OneCare Sequencing Failures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20040" y="594360"/>
            <a:ext cx="11521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Vermont anchors show what correct sequencing achieves. OneCare failures show what happens when foundational stages are skipped.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12648" y="1449324"/>
            <a:ext cx="10936224" cy="64008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4"/>
          <p:cNvCxnSpPr/>
          <p:nvPr/>
        </p:nvCxnSpPr>
        <p:spPr>
          <a:xfrm>
            <a:off x="196596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7" name="Google Shape;87;p4"/>
          <p:cNvCxnSpPr/>
          <p:nvPr/>
        </p:nvCxnSpPr>
        <p:spPr>
          <a:xfrm>
            <a:off x="388620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" name="Google Shape;88;p4"/>
          <p:cNvCxnSpPr/>
          <p:nvPr/>
        </p:nvCxnSpPr>
        <p:spPr>
          <a:xfrm>
            <a:off x="580644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" name="Google Shape;89;p4"/>
          <p:cNvCxnSpPr/>
          <p:nvPr/>
        </p:nvCxnSpPr>
        <p:spPr>
          <a:xfrm>
            <a:off x="772668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0" name="Google Shape;90;p4"/>
          <p:cNvCxnSpPr/>
          <p:nvPr/>
        </p:nvCxnSpPr>
        <p:spPr>
          <a:xfrm>
            <a:off x="9646920" y="14813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77777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1" name="Google Shape;91;p4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907792" y="1188720"/>
            <a:ext cx="585216" cy="585216"/>
          </a:xfrm>
          <a:prstGeom prst="ellipse">
            <a:avLst/>
          </a:prstGeom>
          <a:solidFill>
            <a:srgbClr val="4A41B0"/>
          </a:solidFill>
          <a:ln cap="flat" cmpd="sng" w="1270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90779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28032" y="1188720"/>
            <a:ext cx="585216" cy="58521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82803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748272" y="1188720"/>
            <a:ext cx="585216" cy="585216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74827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668512" y="1188720"/>
            <a:ext cx="585216" cy="585216"/>
          </a:xfrm>
          <a:prstGeom prst="ellipse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66851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588752" y="1188720"/>
            <a:ext cx="585216" cy="585216"/>
          </a:xfrm>
          <a:prstGeom prst="ellipse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0588752" y="11887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1148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1148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1148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11480" y="2304288"/>
            <a:ext cx="1737360" cy="274320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1148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Acts 167, 51 &amp; 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AHEAD Model federal agreement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$195M Rural Health Transformation award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Mandatory provider reporting 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33172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4A41B0"/>
          </a:solidFill>
          <a:ln cap="flat" cmpd="sng" w="1270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33172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33172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331720" y="2304288"/>
            <a:ext cx="1737360" cy="274320"/>
          </a:xfrm>
          <a:prstGeom prst="rect">
            <a:avLst/>
          </a:prstGeom>
          <a:solidFill>
            <a:srgbClr val="4A41B0"/>
          </a:solidFill>
          <a:ln cap="flat" cmpd="sng" w="12700">
            <a:solidFill>
              <a:srgbClr val="4A4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33172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42316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VHCURES all-payer claims 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VITL/VHIE clinical data exchange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AHS-GMCB Analytics Vendor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AI-assisted documentation &amp; RPM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25196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25196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25196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251960" y="2304288"/>
            <a:ext cx="1737360" cy="27432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25196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34340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Global hospital budgets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Reference-Based Pricing at ≤200% Medicare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AHEAD EAST Fund up to $150M/year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Total Cost of Care model activation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7220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17220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7220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172200" y="2304288"/>
            <a:ext cx="1737360" cy="274320"/>
          </a:xfrm>
          <a:prstGeom prst="rect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17220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26364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PCMH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Collaborative Care Model (CoCM)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CCBHC expansion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Blueprint 5.8:1 ROI from primary 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09244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09244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09244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092440" y="2304288"/>
            <a:ext cx="1737360" cy="274320"/>
          </a:xfrm>
          <a:prstGeom prst="rect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09244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18388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HRSN screening at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EAST Fund for social determinants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Social risk adjustment in global budgets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Rural Emergency Hospital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012680" y="1865376"/>
            <a:ext cx="1737360" cy="347472"/>
          </a:xfrm>
          <a:prstGeom prst="roundRect">
            <a:avLst>
              <a:gd fmla="val 13158" name="adj"/>
            </a:avLst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012680" y="18653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012680" y="2304288"/>
            <a:ext cx="1737360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905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012680" y="2304288"/>
            <a:ext cx="1737360" cy="274320"/>
          </a:xfrm>
          <a:prstGeom prst="rect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001268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104120" y="2615184"/>
            <a:ext cx="15544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Rural Health Redesign Center (RHRC)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Shared administrative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14-hospital transformation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Community Health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20040" y="4114800"/>
            <a:ext cx="1920240" cy="384048"/>
          </a:xfrm>
          <a:prstGeom prst="roundRect">
            <a:avLst>
              <a:gd fmla="val 1190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20040" y="4114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OneCare 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20040" y="4572000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Stage 1 — Policy: Optional participation — no policy foundation to enforce accountability. High-cost providers opted out, leaving OneCare unable to control total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0040" y="4974336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Stage 2 — Technology: No integrated, real-time clinical and claims data. Care managers worked from data 60–90 days old — the 'Managing Blind' failure mode.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20040" y="5376672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Stage 3 — Economics: Payment model launched before technology substrate was ready. Economics-as-management attempted while managing blind — producing unexpected financial losses.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