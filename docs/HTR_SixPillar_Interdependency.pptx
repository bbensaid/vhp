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1F35"/>
        </a:solidFill>
      </p:bgPr>
    </p:bg>
    <p:spTree>
      <p:nvGrpSpPr>
        <p:cNvPr id="15" name="Shape 15"/>
        <p:cNvGrpSpPr/>
        <p:nvPr/>
      </p:nvGrpSpPr>
      <p:grpSpPr>
        <a:xfrm>
          <a:off x="0" y="0"/>
          <a:ext cx="0" cy="0"/>
          <a:chOff x="0" y="0"/>
          <a:chExt cx="0" cy="0"/>
        </a:xfrm>
      </p:grpSpPr>
      <p:sp>
        <p:nvSpPr>
          <p:cNvPr id="16" name="Google Shape;16;p3"/>
          <p:cNvSpPr/>
          <p:nvPr/>
        </p:nvSpPr>
        <p:spPr>
          <a:xfrm>
            <a:off x="228600" y="73152"/>
            <a:ext cx="86868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THE SIX-PILLAR INTERDEPENDENCY MAP</a:t>
            </a:r>
            <a:endParaRPr b="0" i="0" sz="1900" u="none" cap="none" strike="noStrike">
              <a:solidFill>
                <a:schemeClr val="dk1"/>
              </a:solidFill>
              <a:latin typeface="Calibri"/>
              <a:ea typeface="Calibri"/>
              <a:cs typeface="Calibri"/>
              <a:sym typeface="Calibri"/>
            </a:endParaRPr>
          </a:p>
        </p:txBody>
      </p:sp>
      <p:sp>
        <p:nvSpPr>
          <p:cNvPr id="17" name="Google Shape;17;p3"/>
          <p:cNvSpPr/>
          <p:nvPr/>
        </p:nvSpPr>
        <p:spPr>
          <a:xfrm>
            <a:off x="228600" y="475488"/>
            <a:ext cx="868680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000"/>
              <a:buFont typeface="Calibri"/>
              <a:buNone/>
            </a:pPr>
            <a:r>
              <a:rPr b="0" i="1" lang="en-US" sz="1000" u="none" cap="none" strike="noStrike">
                <a:solidFill>
                  <a:srgbClr val="CADCFC"/>
                </a:solidFill>
                <a:latin typeface="Calibri"/>
                <a:ea typeface="Calibri"/>
                <a:cs typeface="Calibri"/>
                <a:sym typeface="Calibri"/>
              </a:rPr>
              <a:t>How the pillars enable, constrain, and reinforce each other — and why all six must move together</a:t>
            </a:r>
            <a:endParaRPr b="0" i="0" sz="1000" u="none" cap="none" strike="noStrike">
              <a:solidFill>
                <a:schemeClr val="dk1"/>
              </a:solidFill>
              <a:latin typeface="Calibri"/>
              <a:ea typeface="Calibri"/>
              <a:cs typeface="Calibri"/>
              <a:sym typeface="Calibri"/>
            </a:endParaRPr>
          </a:p>
        </p:txBody>
      </p:sp>
      <p:sp>
        <p:nvSpPr>
          <p:cNvPr id="18" name="Google Shape;18;p3"/>
          <p:cNvSpPr/>
          <p:nvPr/>
        </p:nvSpPr>
        <p:spPr>
          <a:xfrm>
            <a:off x="3520440" y="1888236"/>
            <a:ext cx="2103120" cy="1892808"/>
          </a:xfrm>
          <a:prstGeom prst="ellipse">
            <a:avLst/>
          </a:prstGeom>
          <a:solidFill>
            <a:srgbClr val="CADCFC">
              <a:alpha val="14901"/>
            </a:srgbClr>
          </a:solidFill>
          <a:ln cap="flat" cmpd="sng" w="12700">
            <a:solidFill>
              <a:srgbClr val="CADCFC">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3657600" y="2011680"/>
            <a:ext cx="1828800" cy="1645920"/>
          </a:xfrm>
          <a:prstGeom prst="ellipse">
            <a:avLst/>
          </a:prstGeom>
          <a:solidFill>
            <a:srgbClr val="CADCFC">
              <a:alpha val="10980"/>
            </a:srgbClr>
          </a:solidFill>
          <a:ln cap="flat" cmpd="sng" w="12700">
            <a:solidFill>
              <a:srgbClr val="CADCFC">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3794760" y="2135124"/>
            <a:ext cx="1554480" cy="1399032"/>
          </a:xfrm>
          <a:prstGeom prst="ellipse">
            <a:avLst/>
          </a:prstGeom>
          <a:solidFill>
            <a:srgbClr val="CADCFC">
              <a:alpha val="7058"/>
            </a:srgbClr>
          </a:solidFill>
          <a:ln cap="flat" cmpd="sng" w="12700">
            <a:solidFill>
              <a:srgbClr val="CADCFC">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3931920" y="2245766"/>
            <a:ext cx="1280160" cy="1177747"/>
          </a:xfrm>
          <a:prstGeom prst="ellipse">
            <a:avLst/>
          </a:prstGeom>
          <a:solidFill>
            <a:srgbClr val="162D45"/>
          </a:solidFill>
          <a:ln cap="flat" cmpd="sng" w="12700">
            <a:solidFill>
              <a:srgbClr val="CADCFC"/>
            </a:solidFill>
            <a:prstDash val="solid"/>
            <a:round/>
            <a:headEnd len="sm" w="sm" type="none"/>
            <a:tailEnd len="sm" w="sm" type="none"/>
          </a:ln>
          <a:effectLst>
            <a:outerShdw blurRad="127000" rotWithShape="0" algn="bl" dir="16200000" dist="508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3931920" y="2258568"/>
            <a:ext cx="1280160" cy="11521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TRANSFORMATION</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OUTCOMES</a:t>
            </a:r>
            <a:endParaRPr b="0" i="0" sz="1050" u="none" cap="none" strike="noStrike">
              <a:solidFill>
                <a:schemeClr val="dk1"/>
              </a:solidFill>
              <a:latin typeface="Calibri"/>
              <a:ea typeface="Calibri"/>
              <a:cs typeface="Calibri"/>
              <a:sym typeface="Calibri"/>
            </a:endParaRPr>
          </a:p>
        </p:txBody>
      </p:sp>
      <p:sp>
        <p:nvSpPr>
          <p:cNvPr id="23" name="Google Shape;23;p3"/>
          <p:cNvSpPr/>
          <p:nvPr/>
        </p:nvSpPr>
        <p:spPr>
          <a:xfrm rot="5400000">
            <a:off x="4235501" y="1638605"/>
            <a:ext cx="672998" cy="395021"/>
          </a:xfrm>
          <a:prstGeom prst="rect">
            <a:avLst/>
          </a:prstGeom>
          <a:solidFill>
            <a:srgbClr val="4A9FD4">
              <a:alpha val="2196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4235501" y="1753819"/>
            <a:ext cx="672998" cy="164592"/>
          </a:xfrm>
          <a:prstGeom prst="rect">
            <a:avLst/>
          </a:prstGeom>
          <a:solidFill>
            <a:srgbClr val="2E75B6">
              <a:alpha val="5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4489704" y="2090318"/>
            <a:ext cx="164592" cy="164592"/>
          </a:xfrm>
          <a:prstGeom prst="ellipse">
            <a:avLst/>
          </a:prstGeom>
          <a:solidFill>
            <a:srgbClr val="4A9FD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8642245">
            <a:off x="5076700" y="1944394"/>
            <a:ext cx="1286131" cy="395021"/>
          </a:xfrm>
          <a:prstGeom prst="rect">
            <a:avLst/>
          </a:prstGeom>
          <a:solidFill>
            <a:srgbClr val="E8A020">
              <a:alpha val="2196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8642245">
            <a:off x="5076700" y="2059608"/>
            <a:ext cx="1286131" cy="164592"/>
          </a:xfrm>
          <a:prstGeom prst="rect">
            <a:avLst/>
          </a:prstGeom>
          <a:solidFill>
            <a:srgbClr val="C8860A">
              <a:alpha val="5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5116972" y="2437253"/>
            <a:ext cx="164592" cy="164592"/>
          </a:xfrm>
          <a:prstGeom prst="ellipse">
            <a:avLst/>
          </a:prstGeom>
          <a:solidFill>
            <a:srgbClr val="E8A020"/>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9440970">
            <a:off x="5217649" y="3016667"/>
            <a:ext cx="1000945" cy="395021"/>
          </a:xfrm>
          <a:prstGeom prst="rect">
            <a:avLst/>
          </a:prstGeom>
          <a:solidFill>
            <a:srgbClr val="2ECC71">
              <a:alpha val="2196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9440970">
            <a:off x="5217649" y="3131882"/>
            <a:ext cx="1000945" cy="164592"/>
          </a:xfrm>
          <a:prstGeom prst="rect">
            <a:avLst/>
          </a:prstGeom>
          <a:solidFill>
            <a:srgbClr val="27AE60">
              <a:alpha val="5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5173954" y="2939145"/>
            <a:ext cx="164592" cy="164592"/>
          </a:xfrm>
          <a:prstGeom prst="ellipse">
            <a:avLst/>
          </a:prstGeom>
          <a:solidFill>
            <a:srgbClr val="2ECC7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4272077" y="3599078"/>
            <a:ext cx="599846" cy="395021"/>
          </a:xfrm>
          <a:prstGeom prst="rect">
            <a:avLst/>
          </a:prstGeom>
          <a:solidFill>
            <a:srgbClr val="78909C">
              <a:alpha val="2196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rot="-5400000">
            <a:off x="4272077" y="3714293"/>
            <a:ext cx="599846" cy="164592"/>
          </a:xfrm>
          <a:prstGeom prst="rect">
            <a:avLst/>
          </a:prstGeom>
          <a:solidFill>
            <a:srgbClr val="546E7A">
              <a:alpha val="5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4489704" y="3414370"/>
            <a:ext cx="164592" cy="164592"/>
          </a:xfrm>
          <a:prstGeom prst="ellipse">
            <a:avLst/>
          </a:prstGeom>
          <a:solidFill>
            <a:srgbClr val="78909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1359030">
            <a:off x="2925405" y="3016667"/>
            <a:ext cx="1000945" cy="395021"/>
          </a:xfrm>
          <a:prstGeom prst="rect">
            <a:avLst/>
          </a:prstGeom>
          <a:solidFill>
            <a:srgbClr val="9B3DBF">
              <a:alpha val="2196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1359030">
            <a:off x="2925405" y="3131882"/>
            <a:ext cx="1000945" cy="164592"/>
          </a:xfrm>
          <a:prstGeom prst="rect">
            <a:avLst/>
          </a:prstGeom>
          <a:solidFill>
            <a:srgbClr val="7B2D8B">
              <a:alpha val="5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3805454" y="2939145"/>
            <a:ext cx="164592" cy="164592"/>
          </a:xfrm>
          <a:prstGeom prst="ellipse">
            <a:avLst/>
          </a:prstGeom>
          <a:solidFill>
            <a:srgbClr val="9B3DB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2157755">
            <a:off x="2781169" y="1944394"/>
            <a:ext cx="1286131" cy="395021"/>
          </a:xfrm>
          <a:prstGeom prst="rect">
            <a:avLst/>
          </a:prstGeom>
          <a:solidFill>
            <a:srgbClr val="00ACC1">
              <a:alpha val="2196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2157755">
            <a:off x="2781169" y="2059608"/>
            <a:ext cx="1286131" cy="164592"/>
          </a:xfrm>
          <a:prstGeom prst="rect">
            <a:avLst/>
          </a:prstGeom>
          <a:solidFill>
            <a:srgbClr val="00838F">
              <a:alpha val="54901"/>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3862436" y="2437253"/>
            <a:ext cx="164592" cy="164592"/>
          </a:xfrm>
          <a:prstGeom prst="ellipse">
            <a:avLst/>
          </a:prstGeom>
          <a:solidFill>
            <a:srgbClr val="00ACC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3"/>
          <p:cNvCxnSpPr/>
          <p:nvPr/>
        </p:nvCxnSpPr>
        <p:spPr>
          <a:xfrm>
            <a:off x="4572000" y="1097280"/>
            <a:ext cx="2331720" cy="475488"/>
          </a:xfrm>
          <a:prstGeom prst="straightConnector1">
            <a:avLst/>
          </a:prstGeom>
          <a:noFill/>
          <a:ln cap="flat" cmpd="sng" w="12700">
            <a:solidFill>
              <a:srgbClr val="4A9FD4">
                <a:alpha val="45098"/>
              </a:srgbClr>
            </a:solidFill>
            <a:prstDash val="dash"/>
            <a:round/>
            <a:headEnd len="sm" w="sm" type="none"/>
            <a:tailEnd len="sm" w="sm" type="none"/>
          </a:ln>
        </p:spPr>
      </p:cxnSp>
      <p:cxnSp>
        <p:nvCxnSpPr>
          <p:cNvPr id="42" name="Google Shape;42;p3"/>
          <p:cNvCxnSpPr/>
          <p:nvPr/>
        </p:nvCxnSpPr>
        <p:spPr>
          <a:xfrm>
            <a:off x="6903720" y="1572768"/>
            <a:ext cx="9144" cy="1947672"/>
          </a:xfrm>
          <a:prstGeom prst="straightConnector1">
            <a:avLst/>
          </a:prstGeom>
          <a:noFill/>
          <a:ln cap="flat" cmpd="sng" w="12700">
            <a:solidFill>
              <a:srgbClr val="E8A020">
                <a:alpha val="45098"/>
              </a:srgbClr>
            </a:solidFill>
            <a:prstDash val="dash"/>
            <a:round/>
            <a:headEnd len="sm" w="sm" type="none"/>
            <a:tailEnd len="sm" w="sm" type="none"/>
          </a:ln>
        </p:spPr>
      </p:cxnSp>
      <p:cxnSp>
        <p:nvCxnSpPr>
          <p:cNvPr id="43" name="Google Shape;43;p3"/>
          <p:cNvCxnSpPr/>
          <p:nvPr/>
        </p:nvCxnSpPr>
        <p:spPr>
          <a:xfrm>
            <a:off x="4572000" y="3520440"/>
            <a:ext cx="2331720" cy="978408"/>
          </a:xfrm>
          <a:prstGeom prst="straightConnector1">
            <a:avLst/>
          </a:prstGeom>
          <a:noFill/>
          <a:ln cap="flat" cmpd="sng" w="12700">
            <a:solidFill>
              <a:srgbClr val="2ECC71">
                <a:alpha val="45098"/>
              </a:srgbClr>
            </a:solidFill>
            <a:prstDash val="dash"/>
            <a:round/>
            <a:headEnd len="sm" w="sm" type="none"/>
            <a:tailEnd len="sm" w="sm" type="none"/>
          </a:ln>
        </p:spPr>
      </p:cxnSp>
      <p:cxnSp>
        <p:nvCxnSpPr>
          <p:cNvPr id="44" name="Google Shape;44;p3"/>
          <p:cNvCxnSpPr/>
          <p:nvPr/>
        </p:nvCxnSpPr>
        <p:spPr>
          <a:xfrm>
            <a:off x="2240280" y="3520440"/>
            <a:ext cx="2331720" cy="978408"/>
          </a:xfrm>
          <a:prstGeom prst="straightConnector1">
            <a:avLst/>
          </a:prstGeom>
          <a:noFill/>
          <a:ln cap="flat" cmpd="sng" w="12700">
            <a:solidFill>
              <a:srgbClr val="78909C">
                <a:alpha val="45098"/>
              </a:srgbClr>
            </a:solidFill>
            <a:prstDash val="dash"/>
            <a:round/>
            <a:headEnd len="sm" w="sm" type="none"/>
            <a:tailEnd len="sm" w="sm" type="none"/>
          </a:ln>
        </p:spPr>
      </p:cxnSp>
      <p:cxnSp>
        <p:nvCxnSpPr>
          <p:cNvPr id="45" name="Google Shape;45;p3"/>
          <p:cNvCxnSpPr/>
          <p:nvPr/>
        </p:nvCxnSpPr>
        <p:spPr>
          <a:xfrm>
            <a:off x="2240280" y="1572768"/>
            <a:ext cx="9144" cy="1947672"/>
          </a:xfrm>
          <a:prstGeom prst="straightConnector1">
            <a:avLst/>
          </a:prstGeom>
          <a:noFill/>
          <a:ln cap="flat" cmpd="sng" w="12700">
            <a:solidFill>
              <a:srgbClr val="9B3DBF">
                <a:alpha val="45098"/>
              </a:srgbClr>
            </a:solidFill>
            <a:prstDash val="dash"/>
            <a:round/>
            <a:headEnd len="sm" w="sm" type="none"/>
            <a:tailEnd len="sm" w="sm" type="none"/>
          </a:ln>
        </p:spPr>
      </p:cxnSp>
      <p:cxnSp>
        <p:nvCxnSpPr>
          <p:cNvPr id="46" name="Google Shape;46;p3"/>
          <p:cNvCxnSpPr/>
          <p:nvPr/>
        </p:nvCxnSpPr>
        <p:spPr>
          <a:xfrm>
            <a:off x="2240280" y="1097280"/>
            <a:ext cx="2331720" cy="475488"/>
          </a:xfrm>
          <a:prstGeom prst="straightConnector1">
            <a:avLst/>
          </a:prstGeom>
          <a:noFill/>
          <a:ln cap="flat" cmpd="sng" w="12700">
            <a:solidFill>
              <a:srgbClr val="00ACC1">
                <a:alpha val="45098"/>
              </a:srgbClr>
            </a:solidFill>
            <a:prstDash val="dash"/>
            <a:round/>
            <a:headEnd len="sm" w="sm" type="none"/>
            <a:tailEnd len="sm" w="sm" type="none"/>
          </a:ln>
        </p:spPr>
      </p:cxnSp>
      <p:sp>
        <p:nvSpPr>
          <p:cNvPr id="47" name="Google Shape;47;p3"/>
          <p:cNvSpPr/>
          <p:nvPr/>
        </p:nvSpPr>
        <p:spPr>
          <a:xfrm>
            <a:off x="3799332" y="676656"/>
            <a:ext cx="1545336" cy="841248"/>
          </a:xfrm>
          <a:prstGeom prst="rect">
            <a:avLst/>
          </a:prstGeom>
          <a:solidFill>
            <a:srgbClr val="4A9FD4">
              <a:alpha val="20000"/>
            </a:srgbClr>
          </a:solidFill>
          <a:ln cap="flat" cmpd="sng" w="12700">
            <a:solidFill>
              <a:srgbClr val="4A9FD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3863340" y="740664"/>
            <a:ext cx="1417320" cy="713232"/>
          </a:xfrm>
          <a:prstGeom prst="rect">
            <a:avLst/>
          </a:prstGeom>
          <a:solidFill>
            <a:srgbClr val="1A4F7A"/>
          </a:solidFill>
          <a:ln cap="flat" cmpd="sng" w="12700">
            <a:solidFill>
              <a:srgbClr val="4A9FD4"/>
            </a:solidFill>
            <a:prstDash val="solid"/>
            <a:round/>
            <a:headEnd len="sm" w="sm" type="none"/>
            <a:tailEnd len="sm" w="sm" type="none"/>
          </a:ln>
          <a:effectLst>
            <a:outerShdw blurRad="127000" rotWithShape="0" algn="bl" dir="16200000" dist="508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3863340" y="740664"/>
            <a:ext cx="1417320" cy="274320"/>
          </a:xfrm>
          <a:prstGeom prst="rect">
            <a:avLst/>
          </a:prstGeom>
          <a:solidFill>
            <a:srgbClr val="2E75B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3863340" y="749808"/>
            <a:ext cx="1417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POLICY</a:t>
            </a:r>
            <a:endParaRPr b="0" i="0" sz="1200" u="none" cap="none" strike="noStrike">
              <a:solidFill>
                <a:schemeClr val="dk1"/>
              </a:solidFill>
              <a:latin typeface="Calibri"/>
              <a:ea typeface="Calibri"/>
              <a:cs typeface="Calibri"/>
              <a:sym typeface="Calibri"/>
            </a:endParaRPr>
          </a:p>
        </p:txBody>
      </p:sp>
      <p:sp>
        <p:nvSpPr>
          <p:cNvPr id="51" name="Google Shape;51;p3"/>
          <p:cNvSpPr/>
          <p:nvPr/>
        </p:nvSpPr>
        <p:spPr>
          <a:xfrm>
            <a:off x="3936492" y="1051560"/>
            <a:ext cx="1271016"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Mandatory Architecture</a:t>
            </a:r>
            <a:endParaRPr b="0" i="0" sz="950" u="none" cap="none" strike="noStrike">
              <a:solidFill>
                <a:schemeClr val="dk1"/>
              </a:solidFill>
              <a:latin typeface="Calibri"/>
              <a:ea typeface="Calibri"/>
              <a:cs typeface="Calibri"/>
              <a:sym typeface="Calibri"/>
            </a:endParaRPr>
          </a:p>
        </p:txBody>
      </p:sp>
      <p:sp>
        <p:nvSpPr>
          <p:cNvPr id="52" name="Google Shape;52;p3"/>
          <p:cNvSpPr/>
          <p:nvPr/>
        </p:nvSpPr>
        <p:spPr>
          <a:xfrm>
            <a:off x="6131052" y="1152144"/>
            <a:ext cx="1545336" cy="841248"/>
          </a:xfrm>
          <a:prstGeom prst="rect">
            <a:avLst/>
          </a:prstGeom>
          <a:solidFill>
            <a:srgbClr val="E8A020">
              <a:alpha val="20000"/>
            </a:srgbClr>
          </a:solidFill>
          <a:ln cap="flat" cmpd="sng" w="12700">
            <a:solidFill>
              <a:srgbClr val="E8A02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6195060" y="1216152"/>
            <a:ext cx="1417320" cy="713232"/>
          </a:xfrm>
          <a:prstGeom prst="rect">
            <a:avLst/>
          </a:prstGeom>
          <a:solidFill>
            <a:srgbClr val="6B3A00"/>
          </a:solidFill>
          <a:ln cap="flat" cmpd="sng" w="12700">
            <a:solidFill>
              <a:srgbClr val="E8A020"/>
            </a:solidFill>
            <a:prstDash val="solid"/>
            <a:round/>
            <a:headEnd len="sm" w="sm" type="none"/>
            <a:tailEnd len="sm" w="sm" type="none"/>
          </a:ln>
          <a:effectLst>
            <a:outerShdw blurRad="127000" rotWithShape="0" algn="bl" dir="16200000" dist="508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6195060" y="1216152"/>
            <a:ext cx="1417320" cy="274320"/>
          </a:xfrm>
          <a:prstGeom prst="rect">
            <a:avLst/>
          </a:prstGeom>
          <a:solidFill>
            <a:srgbClr val="C8860A"/>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6195060" y="1225296"/>
            <a:ext cx="1417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ECONOMICS</a:t>
            </a:r>
            <a:endParaRPr b="0" i="0" sz="1200" u="none" cap="none" strike="noStrike">
              <a:solidFill>
                <a:schemeClr val="dk1"/>
              </a:solidFill>
              <a:latin typeface="Calibri"/>
              <a:ea typeface="Calibri"/>
              <a:cs typeface="Calibri"/>
              <a:sym typeface="Calibri"/>
            </a:endParaRPr>
          </a:p>
        </p:txBody>
      </p:sp>
      <p:sp>
        <p:nvSpPr>
          <p:cNvPr id="56" name="Google Shape;56;p3"/>
          <p:cNvSpPr/>
          <p:nvPr/>
        </p:nvSpPr>
        <p:spPr>
          <a:xfrm>
            <a:off x="6268212" y="1527048"/>
            <a:ext cx="1271016"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Payment Reform</a:t>
            </a:r>
            <a:endParaRPr b="0" i="0" sz="950" u="none" cap="none" strike="noStrike">
              <a:solidFill>
                <a:schemeClr val="dk1"/>
              </a:solidFill>
              <a:latin typeface="Calibri"/>
              <a:ea typeface="Calibri"/>
              <a:cs typeface="Calibri"/>
              <a:sym typeface="Calibri"/>
            </a:endParaRPr>
          </a:p>
        </p:txBody>
      </p:sp>
      <p:sp>
        <p:nvSpPr>
          <p:cNvPr id="57" name="Google Shape;57;p3"/>
          <p:cNvSpPr/>
          <p:nvPr/>
        </p:nvSpPr>
        <p:spPr>
          <a:xfrm>
            <a:off x="6131052" y="3099816"/>
            <a:ext cx="1545336" cy="841248"/>
          </a:xfrm>
          <a:prstGeom prst="rect">
            <a:avLst/>
          </a:prstGeom>
          <a:solidFill>
            <a:srgbClr val="2ECC71">
              <a:alpha val="20000"/>
            </a:srgbClr>
          </a:solidFill>
          <a:ln cap="flat" cmpd="sng" w="12700">
            <a:solidFill>
              <a:srgbClr val="2ECC7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195060" y="3163824"/>
            <a:ext cx="1417320" cy="713232"/>
          </a:xfrm>
          <a:prstGeom prst="rect">
            <a:avLst/>
          </a:prstGeom>
          <a:solidFill>
            <a:srgbClr val="1E6B3C"/>
          </a:solidFill>
          <a:ln cap="flat" cmpd="sng" w="12700">
            <a:solidFill>
              <a:srgbClr val="2ECC71"/>
            </a:solidFill>
            <a:prstDash val="solid"/>
            <a:round/>
            <a:headEnd len="sm" w="sm" type="none"/>
            <a:tailEnd len="sm" w="sm" type="none"/>
          </a:ln>
          <a:effectLst>
            <a:outerShdw blurRad="127000" rotWithShape="0" algn="bl" dir="16200000" dist="508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6195060" y="3163824"/>
            <a:ext cx="1417320" cy="274320"/>
          </a:xfrm>
          <a:prstGeom prst="rect">
            <a:avLst/>
          </a:prstGeom>
          <a:solidFill>
            <a:srgbClr val="27AE6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6195060" y="3172968"/>
            <a:ext cx="1417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CLINICAL</a:t>
            </a:r>
            <a:endParaRPr b="0" i="0" sz="1200" u="none" cap="none" strike="noStrike">
              <a:solidFill>
                <a:schemeClr val="dk1"/>
              </a:solidFill>
              <a:latin typeface="Calibri"/>
              <a:ea typeface="Calibri"/>
              <a:cs typeface="Calibri"/>
              <a:sym typeface="Calibri"/>
            </a:endParaRPr>
          </a:p>
        </p:txBody>
      </p:sp>
      <p:sp>
        <p:nvSpPr>
          <p:cNvPr id="61" name="Google Shape;61;p3"/>
          <p:cNvSpPr/>
          <p:nvPr/>
        </p:nvSpPr>
        <p:spPr>
          <a:xfrm>
            <a:off x="6268212" y="3474720"/>
            <a:ext cx="1271016"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Care Delivery Redesign</a:t>
            </a:r>
            <a:endParaRPr b="0" i="0" sz="950" u="none" cap="none" strike="noStrike">
              <a:solidFill>
                <a:schemeClr val="dk1"/>
              </a:solidFill>
              <a:latin typeface="Calibri"/>
              <a:ea typeface="Calibri"/>
              <a:cs typeface="Calibri"/>
              <a:sym typeface="Calibri"/>
            </a:endParaRPr>
          </a:p>
        </p:txBody>
      </p:sp>
      <p:sp>
        <p:nvSpPr>
          <p:cNvPr id="62" name="Google Shape;62;p3"/>
          <p:cNvSpPr/>
          <p:nvPr/>
        </p:nvSpPr>
        <p:spPr>
          <a:xfrm>
            <a:off x="3799332" y="4078224"/>
            <a:ext cx="1545336" cy="841248"/>
          </a:xfrm>
          <a:prstGeom prst="rect">
            <a:avLst/>
          </a:prstGeom>
          <a:solidFill>
            <a:srgbClr val="78909C">
              <a:alpha val="20000"/>
            </a:srgbClr>
          </a:solidFill>
          <a:ln cap="flat" cmpd="sng" w="12700">
            <a:solidFill>
              <a:srgbClr val="78909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3863340" y="4142232"/>
            <a:ext cx="1417320" cy="713232"/>
          </a:xfrm>
          <a:prstGeom prst="rect">
            <a:avLst/>
          </a:prstGeom>
          <a:solidFill>
            <a:srgbClr val="2C3E50"/>
          </a:solidFill>
          <a:ln cap="flat" cmpd="sng" w="12700">
            <a:solidFill>
              <a:srgbClr val="78909C"/>
            </a:solidFill>
            <a:prstDash val="solid"/>
            <a:round/>
            <a:headEnd len="sm" w="sm" type="none"/>
            <a:tailEnd len="sm" w="sm" type="none"/>
          </a:ln>
          <a:effectLst>
            <a:outerShdw blurRad="127000" rotWithShape="0" algn="bl" dir="16200000" dist="508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3863340" y="4142232"/>
            <a:ext cx="1417320" cy="274320"/>
          </a:xfrm>
          <a:prstGeom prst="rect">
            <a:avLst/>
          </a:prstGeom>
          <a:solidFill>
            <a:srgbClr val="546E7A"/>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3863340" y="4151376"/>
            <a:ext cx="1417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OPERATIONS</a:t>
            </a:r>
            <a:endParaRPr b="0" i="0" sz="1200" u="none" cap="none" strike="noStrike">
              <a:solidFill>
                <a:schemeClr val="dk1"/>
              </a:solidFill>
              <a:latin typeface="Calibri"/>
              <a:ea typeface="Calibri"/>
              <a:cs typeface="Calibri"/>
              <a:sym typeface="Calibri"/>
            </a:endParaRPr>
          </a:p>
        </p:txBody>
      </p:sp>
      <p:sp>
        <p:nvSpPr>
          <p:cNvPr id="66" name="Google Shape;66;p3"/>
          <p:cNvSpPr/>
          <p:nvPr/>
        </p:nvSpPr>
        <p:spPr>
          <a:xfrm>
            <a:off x="3936492" y="4453128"/>
            <a:ext cx="1271016"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Execution &amp; Administration</a:t>
            </a:r>
            <a:endParaRPr b="0" i="0" sz="950" u="none" cap="none" strike="noStrike">
              <a:solidFill>
                <a:schemeClr val="dk1"/>
              </a:solidFill>
              <a:latin typeface="Calibri"/>
              <a:ea typeface="Calibri"/>
              <a:cs typeface="Calibri"/>
              <a:sym typeface="Calibri"/>
            </a:endParaRPr>
          </a:p>
        </p:txBody>
      </p:sp>
      <p:sp>
        <p:nvSpPr>
          <p:cNvPr id="67" name="Google Shape;67;p3"/>
          <p:cNvSpPr/>
          <p:nvPr/>
        </p:nvSpPr>
        <p:spPr>
          <a:xfrm>
            <a:off x="1467612" y="3099816"/>
            <a:ext cx="1545336" cy="841248"/>
          </a:xfrm>
          <a:prstGeom prst="rect">
            <a:avLst/>
          </a:prstGeom>
          <a:solidFill>
            <a:srgbClr val="9B3DBF">
              <a:alpha val="20000"/>
            </a:srgbClr>
          </a:solidFill>
          <a:ln cap="flat" cmpd="sng" w="12700">
            <a:solidFill>
              <a:srgbClr val="9B3DB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1531620" y="3163824"/>
            <a:ext cx="1417320" cy="713232"/>
          </a:xfrm>
          <a:prstGeom prst="rect">
            <a:avLst/>
          </a:prstGeom>
          <a:solidFill>
            <a:srgbClr val="4A2070"/>
          </a:solidFill>
          <a:ln cap="flat" cmpd="sng" w="12700">
            <a:solidFill>
              <a:srgbClr val="9B3DBF"/>
            </a:solidFill>
            <a:prstDash val="solid"/>
            <a:round/>
            <a:headEnd len="sm" w="sm" type="none"/>
            <a:tailEnd len="sm" w="sm" type="none"/>
          </a:ln>
          <a:effectLst>
            <a:outerShdw blurRad="127000" rotWithShape="0" algn="bl" dir="16200000" dist="508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1531620" y="3163824"/>
            <a:ext cx="1417320" cy="274320"/>
          </a:xfrm>
          <a:prstGeom prst="rect">
            <a:avLst/>
          </a:prstGeom>
          <a:solidFill>
            <a:srgbClr val="7B2D8B"/>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1531620" y="3172968"/>
            <a:ext cx="1417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EQUITY</a:t>
            </a:r>
            <a:endParaRPr b="0" i="0" sz="1200" u="none" cap="none" strike="noStrike">
              <a:solidFill>
                <a:schemeClr val="dk1"/>
              </a:solidFill>
              <a:latin typeface="Calibri"/>
              <a:ea typeface="Calibri"/>
              <a:cs typeface="Calibri"/>
              <a:sym typeface="Calibri"/>
            </a:endParaRPr>
          </a:p>
        </p:txBody>
      </p:sp>
      <p:sp>
        <p:nvSpPr>
          <p:cNvPr id="71" name="Google Shape;71;p3"/>
          <p:cNvSpPr/>
          <p:nvPr/>
        </p:nvSpPr>
        <p:spPr>
          <a:xfrm>
            <a:off x="1604772" y="3474720"/>
            <a:ext cx="1271016"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Closing Gaps</a:t>
            </a:r>
            <a:endParaRPr b="0" i="0" sz="950" u="none" cap="none" strike="noStrike">
              <a:solidFill>
                <a:schemeClr val="dk1"/>
              </a:solidFill>
              <a:latin typeface="Calibri"/>
              <a:ea typeface="Calibri"/>
              <a:cs typeface="Calibri"/>
              <a:sym typeface="Calibri"/>
            </a:endParaRPr>
          </a:p>
        </p:txBody>
      </p:sp>
      <p:sp>
        <p:nvSpPr>
          <p:cNvPr id="72" name="Google Shape;72;p3"/>
          <p:cNvSpPr/>
          <p:nvPr/>
        </p:nvSpPr>
        <p:spPr>
          <a:xfrm>
            <a:off x="1467612" y="1152144"/>
            <a:ext cx="1545336" cy="841248"/>
          </a:xfrm>
          <a:prstGeom prst="rect">
            <a:avLst/>
          </a:prstGeom>
          <a:solidFill>
            <a:srgbClr val="00ACC1">
              <a:alpha val="20000"/>
            </a:srgbClr>
          </a:solidFill>
          <a:ln cap="flat" cmpd="sng" w="12700">
            <a:solidFill>
              <a:srgbClr val="00ACC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1531620" y="1216152"/>
            <a:ext cx="1417320" cy="713232"/>
          </a:xfrm>
          <a:prstGeom prst="rect">
            <a:avLst/>
          </a:prstGeom>
          <a:solidFill>
            <a:srgbClr val="0D5F6B"/>
          </a:solidFill>
          <a:ln cap="flat" cmpd="sng" w="12700">
            <a:solidFill>
              <a:srgbClr val="00ACC1"/>
            </a:solidFill>
            <a:prstDash val="solid"/>
            <a:round/>
            <a:headEnd len="sm" w="sm" type="none"/>
            <a:tailEnd len="sm" w="sm" type="none"/>
          </a:ln>
          <a:effectLst>
            <a:outerShdw blurRad="127000" rotWithShape="0" algn="bl" dir="16200000" dist="508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1531620" y="1216152"/>
            <a:ext cx="1417320" cy="274320"/>
          </a:xfrm>
          <a:prstGeom prst="rect">
            <a:avLst/>
          </a:prstGeom>
          <a:solidFill>
            <a:srgbClr val="00838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1531620" y="1225296"/>
            <a:ext cx="1417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TECHNOLOGY</a:t>
            </a:r>
            <a:endParaRPr b="0" i="0" sz="1200" u="none" cap="none" strike="noStrike">
              <a:solidFill>
                <a:schemeClr val="dk1"/>
              </a:solidFill>
              <a:latin typeface="Calibri"/>
              <a:ea typeface="Calibri"/>
              <a:cs typeface="Calibri"/>
              <a:sym typeface="Calibri"/>
            </a:endParaRPr>
          </a:p>
        </p:txBody>
      </p:sp>
      <p:sp>
        <p:nvSpPr>
          <p:cNvPr id="76" name="Google Shape;76;p3"/>
          <p:cNvSpPr/>
          <p:nvPr/>
        </p:nvSpPr>
        <p:spPr>
          <a:xfrm>
            <a:off x="1604772" y="1527048"/>
            <a:ext cx="1271016"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Data Infrastructure</a:t>
            </a:r>
            <a:endParaRPr b="0" i="0" sz="950" u="none" cap="none" strike="noStrike">
              <a:solidFill>
                <a:schemeClr val="dk1"/>
              </a:solidFill>
              <a:latin typeface="Calibri"/>
              <a:ea typeface="Calibri"/>
              <a:cs typeface="Calibri"/>
              <a:sym typeface="Calibri"/>
            </a:endParaRPr>
          </a:p>
        </p:txBody>
      </p:sp>
      <p:sp>
        <p:nvSpPr>
          <p:cNvPr id="77" name="Google Shape;77;p3"/>
          <p:cNvSpPr/>
          <p:nvPr/>
        </p:nvSpPr>
        <p:spPr>
          <a:xfrm>
            <a:off x="5943600" y="1234440"/>
            <a:ext cx="1371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020"/>
              </a:buClr>
              <a:buSzPts val="850"/>
              <a:buFont typeface="Calibri"/>
              <a:buNone/>
            </a:pPr>
            <a:r>
              <a:rPr b="0" i="1" lang="en-US" sz="850" u="none" cap="none" strike="noStrike">
                <a:solidFill>
                  <a:srgbClr val="E8A020"/>
                </a:solidFill>
                <a:latin typeface="Calibri"/>
                <a:ea typeface="Calibri"/>
                <a:cs typeface="Calibri"/>
                <a:sym typeface="Calibri"/>
              </a:rPr>
              <a:t>enables mandatory</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A020"/>
              </a:buClr>
              <a:buSzPts val="850"/>
              <a:buFont typeface="Calibri"/>
              <a:buNone/>
            </a:pPr>
            <a:r>
              <a:rPr b="0" i="1" lang="en-US" sz="850" u="none" cap="none" strike="noStrike">
                <a:solidFill>
                  <a:srgbClr val="E8A020"/>
                </a:solidFill>
                <a:latin typeface="Calibri"/>
                <a:ea typeface="Calibri"/>
                <a:cs typeface="Calibri"/>
                <a:sym typeface="Calibri"/>
              </a:rPr>
              <a:t>payment reform</a:t>
            </a:r>
            <a:endParaRPr b="0" i="0" sz="850" u="none" cap="none" strike="noStrike">
              <a:solidFill>
                <a:schemeClr val="dk1"/>
              </a:solidFill>
              <a:latin typeface="Calibri"/>
              <a:ea typeface="Calibri"/>
              <a:cs typeface="Calibri"/>
              <a:sym typeface="Calibri"/>
            </a:endParaRPr>
          </a:p>
        </p:txBody>
      </p:sp>
      <p:sp>
        <p:nvSpPr>
          <p:cNvPr id="78" name="Google Shape;78;p3"/>
          <p:cNvSpPr/>
          <p:nvPr/>
        </p:nvSpPr>
        <p:spPr>
          <a:xfrm>
            <a:off x="7452360" y="2542032"/>
            <a:ext cx="1371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CC71"/>
              </a:buClr>
              <a:buSzPts val="850"/>
              <a:buFont typeface="Calibri"/>
              <a:buNone/>
            </a:pPr>
            <a:r>
              <a:rPr b="0" i="1" lang="en-US" sz="850" u="none" cap="none" strike="noStrike">
                <a:solidFill>
                  <a:srgbClr val="2ECC71"/>
                </a:solidFill>
                <a:latin typeface="Calibri"/>
                <a:ea typeface="Calibri"/>
                <a:cs typeface="Calibri"/>
                <a:sym typeface="Calibri"/>
              </a:rPr>
              <a:t>incentivizes</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CC71"/>
              </a:buClr>
              <a:buSzPts val="850"/>
              <a:buFont typeface="Calibri"/>
              <a:buNone/>
            </a:pPr>
            <a:r>
              <a:rPr b="0" i="1" lang="en-US" sz="850" u="none" cap="none" strike="noStrike">
                <a:solidFill>
                  <a:srgbClr val="2ECC71"/>
                </a:solidFill>
                <a:latin typeface="Calibri"/>
                <a:ea typeface="Calibri"/>
                <a:cs typeface="Calibri"/>
                <a:sym typeface="Calibri"/>
              </a:rPr>
              <a:t>care redesign</a:t>
            </a:r>
            <a:endParaRPr b="0" i="0" sz="850" u="none" cap="none" strike="noStrike">
              <a:solidFill>
                <a:schemeClr val="dk1"/>
              </a:solidFill>
              <a:latin typeface="Calibri"/>
              <a:ea typeface="Calibri"/>
              <a:cs typeface="Calibri"/>
              <a:sym typeface="Calibri"/>
            </a:endParaRPr>
          </a:p>
        </p:txBody>
      </p:sp>
      <p:sp>
        <p:nvSpPr>
          <p:cNvPr id="79" name="Google Shape;79;p3"/>
          <p:cNvSpPr/>
          <p:nvPr/>
        </p:nvSpPr>
        <p:spPr>
          <a:xfrm>
            <a:off x="5943600" y="3950208"/>
            <a:ext cx="1371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8909C"/>
              </a:buClr>
              <a:buSzPts val="850"/>
              <a:buFont typeface="Calibri"/>
              <a:buNone/>
            </a:pPr>
            <a:r>
              <a:rPr b="0" i="1" lang="en-US" sz="850" u="none" cap="none" strike="noStrike">
                <a:solidFill>
                  <a:srgbClr val="78909C"/>
                </a:solidFill>
                <a:latin typeface="Calibri"/>
                <a:ea typeface="Calibri"/>
                <a:cs typeface="Calibri"/>
                <a:sym typeface="Calibri"/>
              </a:rPr>
              <a:t>requires</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8909C"/>
              </a:buClr>
              <a:buSzPts val="850"/>
              <a:buFont typeface="Calibri"/>
              <a:buNone/>
            </a:pPr>
            <a:r>
              <a:rPr b="0" i="1" lang="en-US" sz="850" u="none" cap="none" strike="noStrike">
                <a:solidFill>
                  <a:srgbClr val="78909C"/>
                </a:solidFill>
                <a:latin typeface="Calibri"/>
                <a:ea typeface="Calibri"/>
                <a:cs typeface="Calibri"/>
                <a:sym typeface="Calibri"/>
              </a:rPr>
              <a:t>execution</a:t>
            </a:r>
            <a:endParaRPr b="0" i="0" sz="850" u="none" cap="none" strike="noStrike">
              <a:solidFill>
                <a:schemeClr val="dk1"/>
              </a:solidFill>
              <a:latin typeface="Calibri"/>
              <a:ea typeface="Calibri"/>
              <a:cs typeface="Calibri"/>
              <a:sym typeface="Calibri"/>
            </a:endParaRPr>
          </a:p>
        </p:txBody>
      </p:sp>
      <p:sp>
        <p:nvSpPr>
          <p:cNvPr id="80" name="Google Shape;80;p3"/>
          <p:cNvSpPr/>
          <p:nvPr/>
        </p:nvSpPr>
        <p:spPr>
          <a:xfrm>
            <a:off x="2560320" y="3950208"/>
            <a:ext cx="1371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3DBF"/>
              </a:buClr>
              <a:buSzPts val="850"/>
              <a:buFont typeface="Calibri"/>
              <a:buNone/>
            </a:pPr>
            <a:r>
              <a:rPr b="0" i="1" lang="en-US" sz="850" u="none" cap="none" strike="noStrike">
                <a:solidFill>
                  <a:srgbClr val="9B3DBF"/>
                </a:solidFill>
                <a:latin typeface="Calibri"/>
                <a:ea typeface="Calibri"/>
                <a:cs typeface="Calibri"/>
                <a:sym typeface="Calibri"/>
              </a:rPr>
              <a:t>equity is a</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B3DBF"/>
              </a:buClr>
              <a:buSzPts val="850"/>
              <a:buFont typeface="Calibri"/>
              <a:buNone/>
            </a:pPr>
            <a:r>
              <a:rPr b="0" i="1" lang="en-US" sz="850" u="none" cap="none" strike="noStrike">
                <a:solidFill>
                  <a:srgbClr val="9B3DBF"/>
                </a:solidFill>
                <a:latin typeface="Calibri"/>
                <a:ea typeface="Calibri"/>
                <a:cs typeface="Calibri"/>
                <a:sym typeface="Calibri"/>
              </a:rPr>
              <a:t>cross-cutting lens</a:t>
            </a:r>
            <a:endParaRPr b="0" i="0" sz="850" u="none" cap="none" strike="noStrike">
              <a:solidFill>
                <a:schemeClr val="dk1"/>
              </a:solidFill>
              <a:latin typeface="Calibri"/>
              <a:ea typeface="Calibri"/>
              <a:cs typeface="Calibri"/>
              <a:sym typeface="Calibri"/>
            </a:endParaRPr>
          </a:p>
        </p:txBody>
      </p:sp>
      <p:sp>
        <p:nvSpPr>
          <p:cNvPr id="81" name="Google Shape;81;p3"/>
          <p:cNvSpPr/>
          <p:nvPr/>
        </p:nvSpPr>
        <p:spPr>
          <a:xfrm>
            <a:off x="1024128" y="2542032"/>
            <a:ext cx="1371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CC1"/>
              </a:buClr>
              <a:buSzPts val="850"/>
              <a:buFont typeface="Calibri"/>
              <a:buNone/>
            </a:pPr>
            <a:r>
              <a:rPr b="0" i="1" lang="en-US" sz="850" u="none" cap="none" strike="noStrike">
                <a:solidFill>
                  <a:srgbClr val="00ACC1"/>
                </a:solidFill>
                <a:latin typeface="Calibri"/>
                <a:ea typeface="Calibri"/>
                <a:cs typeface="Calibri"/>
                <a:sym typeface="Calibri"/>
              </a:rPr>
              <a:t>data substrate</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ACC1"/>
              </a:buClr>
              <a:buSzPts val="850"/>
              <a:buFont typeface="Calibri"/>
              <a:buNone/>
            </a:pPr>
            <a:r>
              <a:rPr b="0" i="1" lang="en-US" sz="850" u="none" cap="none" strike="noStrike">
                <a:solidFill>
                  <a:srgbClr val="00ACC1"/>
                </a:solidFill>
                <a:latin typeface="Calibri"/>
                <a:ea typeface="Calibri"/>
                <a:cs typeface="Calibri"/>
                <a:sym typeface="Calibri"/>
              </a:rPr>
              <a:t>for all pillars</a:t>
            </a:r>
            <a:endParaRPr b="0" i="0" sz="850" u="none" cap="none" strike="noStrike">
              <a:solidFill>
                <a:schemeClr val="dk1"/>
              </a:solidFill>
              <a:latin typeface="Calibri"/>
              <a:ea typeface="Calibri"/>
              <a:cs typeface="Calibri"/>
              <a:sym typeface="Calibri"/>
            </a:endParaRPr>
          </a:p>
        </p:txBody>
      </p:sp>
      <p:sp>
        <p:nvSpPr>
          <p:cNvPr id="82" name="Google Shape;82;p3"/>
          <p:cNvSpPr/>
          <p:nvPr/>
        </p:nvSpPr>
        <p:spPr>
          <a:xfrm>
            <a:off x="2999232" y="1234440"/>
            <a:ext cx="1371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9FD4"/>
              </a:buClr>
              <a:buSzPts val="850"/>
              <a:buFont typeface="Calibri"/>
              <a:buNone/>
            </a:pPr>
            <a:r>
              <a:rPr b="0" i="1" lang="en-US" sz="850" u="none" cap="none" strike="noStrike">
                <a:solidFill>
                  <a:srgbClr val="4A9FD4"/>
                </a:solidFill>
                <a:latin typeface="Calibri"/>
                <a:ea typeface="Calibri"/>
                <a:cs typeface="Calibri"/>
                <a:sym typeface="Calibri"/>
              </a:rPr>
              <a:t>policy enables</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9FD4"/>
              </a:buClr>
              <a:buSzPts val="850"/>
              <a:buFont typeface="Calibri"/>
              <a:buNone/>
            </a:pPr>
            <a:r>
              <a:rPr b="0" i="1" lang="en-US" sz="850" u="none" cap="none" strike="noStrike">
                <a:solidFill>
                  <a:srgbClr val="4A9FD4"/>
                </a:solidFill>
                <a:latin typeface="Calibri"/>
                <a:ea typeface="Calibri"/>
                <a:cs typeface="Calibri"/>
                <a:sym typeface="Calibri"/>
              </a:rPr>
              <a:t>all reform</a:t>
            </a:r>
            <a:endParaRPr b="0" i="0" sz="850" u="none" cap="none" strike="noStrike">
              <a:solidFill>
                <a:schemeClr val="dk1"/>
              </a:solidFill>
              <a:latin typeface="Calibri"/>
              <a:ea typeface="Calibri"/>
              <a:cs typeface="Calibri"/>
              <a:sym typeface="Calibri"/>
            </a:endParaRPr>
          </a:p>
        </p:txBody>
      </p:sp>
      <p:sp>
        <p:nvSpPr>
          <p:cNvPr id="83" name="Google Shape;83;p3"/>
          <p:cNvSpPr/>
          <p:nvPr/>
        </p:nvSpPr>
        <p:spPr>
          <a:xfrm>
            <a:off x="274320" y="4828032"/>
            <a:ext cx="859536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Every pillar feeds transformation outcomes via spokes (solid) and constrains adjacent pillars via the hexagonal ring (dashed). Remove any pillar and the system breaks.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B"/>
        </a:solidFill>
      </p:bgPr>
    </p:bg>
    <p:spTree>
      <p:nvGrpSpPr>
        <p:cNvPr id="88" name="Shape 88"/>
        <p:cNvGrpSpPr/>
        <p:nvPr/>
      </p:nvGrpSpPr>
      <p:grpSpPr>
        <a:xfrm>
          <a:off x="0" y="0"/>
          <a:ext cx="0" cy="0"/>
          <a:chOff x="0" y="0"/>
          <a:chExt cx="0" cy="0"/>
        </a:xfrm>
      </p:grpSpPr>
      <p:sp>
        <p:nvSpPr>
          <p:cNvPr id="89" name="Google Shape;89;p4"/>
          <p:cNvSpPr/>
          <p:nvPr/>
        </p:nvSpPr>
        <p:spPr>
          <a:xfrm>
            <a:off x="320040" y="109728"/>
            <a:ext cx="85039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8B"/>
              </a:buClr>
              <a:buSzPts val="2000"/>
              <a:buFont typeface="Georgia"/>
              <a:buNone/>
            </a:pPr>
            <a:r>
              <a:rPr b="1" i="0" lang="en-US" sz="2000" u="none" cap="none" strike="noStrike">
                <a:solidFill>
                  <a:srgbClr val="1F5C8B"/>
                </a:solidFill>
                <a:latin typeface="Georgia"/>
                <a:ea typeface="Georgia"/>
                <a:cs typeface="Georgia"/>
                <a:sym typeface="Georgia"/>
              </a:rPr>
              <a:t>THE CRITICAL DEPENDENCIES: WHY EVERY PILLAR NEEDS EVERY OTHER</a:t>
            </a:r>
            <a:endParaRPr b="0" i="0" sz="2000" u="none" cap="none" strike="noStrike">
              <a:solidFill>
                <a:schemeClr val="dk1"/>
              </a:solidFill>
              <a:latin typeface="Calibri"/>
              <a:ea typeface="Calibri"/>
              <a:cs typeface="Calibri"/>
              <a:sym typeface="Calibri"/>
            </a:endParaRPr>
          </a:p>
        </p:txBody>
      </p:sp>
      <p:sp>
        <p:nvSpPr>
          <p:cNvPr id="90" name="Google Shape;90;p4"/>
          <p:cNvSpPr/>
          <p:nvPr/>
        </p:nvSpPr>
        <p:spPr>
          <a:xfrm>
            <a:off x="320040" y="475488"/>
            <a:ext cx="850392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Remove any one pillar and transformation fails — here is the specific causal logic</a:t>
            </a:r>
            <a:endParaRPr b="0" i="0" sz="1100" u="none" cap="none" strike="noStrike">
              <a:solidFill>
                <a:schemeClr val="dk1"/>
              </a:solidFill>
              <a:latin typeface="Calibri"/>
              <a:ea typeface="Calibri"/>
              <a:cs typeface="Calibri"/>
              <a:sym typeface="Calibri"/>
            </a:endParaRPr>
          </a:p>
        </p:txBody>
      </p:sp>
      <p:sp>
        <p:nvSpPr>
          <p:cNvPr id="91" name="Google Shape;91;p4"/>
          <p:cNvSpPr/>
          <p:nvPr/>
        </p:nvSpPr>
        <p:spPr>
          <a:xfrm>
            <a:off x="274320" y="896112"/>
            <a:ext cx="4069080" cy="1261872"/>
          </a:xfrm>
          <a:prstGeom prst="rect">
            <a:avLst/>
          </a:prstGeom>
          <a:solidFill>
            <a:srgbClr val="D5E8F0"/>
          </a:solidFill>
          <a:ln cap="flat" cmpd="sng" w="12700">
            <a:solidFill>
              <a:srgbClr val="1F5C8B"/>
            </a:solidFill>
            <a:prstDash val="solid"/>
            <a:round/>
            <a:headEnd len="sm" w="sm" type="none"/>
            <a:tailEnd len="sm" w="sm" type="none"/>
          </a:ln>
          <a:effectLst>
            <a:outerShdw blurRad="63500" rotWithShape="0" algn="bl" dir="162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274320" y="896112"/>
            <a:ext cx="4069080" cy="365760"/>
          </a:xfrm>
          <a:prstGeom prst="rect">
            <a:avLst/>
          </a:prstGeom>
          <a:solidFill>
            <a:srgbClr val="1F5C8B"/>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274320" y="896112"/>
            <a:ext cx="4069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POLICY  →enables→  ECONOMICS</a:t>
            </a:r>
            <a:endParaRPr b="0" i="0" sz="1100" u="none" cap="none" strike="noStrike">
              <a:solidFill>
                <a:schemeClr val="dk1"/>
              </a:solidFill>
              <a:latin typeface="Calibri"/>
              <a:ea typeface="Calibri"/>
              <a:cs typeface="Calibri"/>
              <a:sym typeface="Calibri"/>
            </a:endParaRPr>
          </a:p>
        </p:txBody>
      </p:sp>
      <p:sp>
        <p:nvSpPr>
          <p:cNvPr id="94" name="Google Shape;94;p4"/>
          <p:cNvSpPr/>
          <p:nvPr/>
        </p:nvSpPr>
        <p:spPr>
          <a:xfrm>
            <a:off x="384048" y="1316736"/>
            <a:ext cx="38221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Mandatory authority converts voluntary payment reform (which high-cost actors opt out of) into structural change. Act 68's mandatory RBP and global budgets work precisely because they are NOT optional.</a:t>
            </a:r>
            <a:endParaRPr b="0" i="0" sz="1050" u="none" cap="none" strike="noStrike">
              <a:solidFill>
                <a:schemeClr val="dk1"/>
              </a:solidFill>
              <a:latin typeface="Calibri"/>
              <a:ea typeface="Calibri"/>
              <a:cs typeface="Calibri"/>
              <a:sym typeface="Calibri"/>
            </a:endParaRPr>
          </a:p>
        </p:txBody>
      </p:sp>
      <p:sp>
        <p:nvSpPr>
          <p:cNvPr id="95" name="Google Shape;95;p4"/>
          <p:cNvSpPr/>
          <p:nvPr/>
        </p:nvSpPr>
        <p:spPr>
          <a:xfrm>
            <a:off x="274320" y="2267712"/>
            <a:ext cx="4069080" cy="1261872"/>
          </a:xfrm>
          <a:prstGeom prst="rect">
            <a:avLst/>
          </a:prstGeom>
          <a:solidFill>
            <a:srgbClr val="FFF0CC"/>
          </a:solidFill>
          <a:ln cap="flat" cmpd="sng" w="12700">
            <a:solidFill>
              <a:srgbClr val="6B3A00"/>
            </a:solidFill>
            <a:prstDash val="solid"/>
            <a:round/>
            <a:headEnd len="sm" w="sm" type="none"/>
            <a:tailEnd len="sm" w="sm" type="none"/>
          </a:ln>
          <a:effectLst>
            <a:outerShdw blurRad="63500" rotWithShape="0" algn="bl" dir="162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274320" y="2267712"/>
            <a:ext cx="4069080" cy="365760"/>
          </a:xfrm>
          <a:prstGeom prst="rect">
            <a:avLst/>
          </a:prstGeom>
          <a:solidFill>
            <a:srgbClr val="6B3A0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274320" y="2267712"/>
            <a:ext cx="4069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ECONOMICS  →drives→  CLINICAL</a:t>
            </a:r>
            <a:endParaRPr b="0" i="0" sz="1100" u="none" cap="none" strike="noStrike">
              <a:solidFill>
                <a:schemeClr val="dk1"/>
              </a:solidFill>
              <a:latin typeface="Calibri"/>
              <a:ea typeface="Calibri"/>
              <a:cs typeface="Calibri"/>
              <a:sym typeface="Calibri"/>
            </a:endParaRPr>
          </a:p>
        </p:txBody>
      </p:sp>
      <p:sp>
        <p:nvSpPr>
          <p:cNvPr id="98" name="Google Shape;98;p4"/>
          <p:cNvSpPr/>
          <p:nvPr/>
        </p:nvSpPr>
        <p:spPr>
          <a:xfrm>
            <a:off x="384048" y="2688336"/>
            <a:ext cx="38221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Payment incentives create the clinical transformation motive. Under FFS, preventing hospitalizations costs revenue. Under global budgets, preventing hospitalizations saves money. The payment model makes clinical redesign financially rational.</a:t>
            </a:r>
            <a:endParaRPr b="0" i="0" sz="1050" u="none" cap="none" strike="noStrike">
              <a:solidFill>
                <a:schemeClr val="dk1"/>
              </a:solidFill>
              <a:latin typeface="Calibri"/>
              <a:ea typeface="Calibri"/>
              <a:cs typeface="Calibri"/>
              <a:sym typeface="Calibri"/>
            </a:endParaRPr>
          </a:p>
        </p:txBody>
      </p:sp>
      <p:sp>
        <p:nvSpPr>
          <p:cNvPr id="99" name="Google Shape;99;p4"/>
          <p:cNvSpPr/>
          <p:nvPr/>
        </p:nvSpPr>
        <p:spPr>
          <a:xfrm>
            <a:off x="274320" y="3639312"/>
            <a:ext cx="4069080" cy="1261872"/>
          </a:xfrm>
          <a:prstGeom prst="rect">
            <a:avLst/>
          </a:prstGeom>
          <a:solidFill>
            <a:srgbClr val="D4F1F4"/>
          </a:solidFill>
          <a:ln cap="flat" cmpd="sng" w="12700">
            <a:solidFill>
              <a:srgbClr val="0D5F6B"/>
            </a:solidFill>
            <a:prstDash val="solid"/>
            <a:round/>
            <a:headEnd len="sm" w="sm" type="none"/>
            <a:tailEnd len="sm" w="sm" type="none"/>
          </a:ln>
          <a:effectLst>
            <a:outerShdw blurRad="63500" rotWithShape="0" algn="bl" dir="162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274320" y="3639312"/>
            <a:ext cx="4069080" cy="365760"/>
          </a:xfrm>
          <a:prstGeom prst="rect">
            <a:avLst/>
          </a:prstGeom>
          <a:solidFill>
            <a:srgbClr val="0D5F6B"/>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274320" y="3639312"/>
            <a:ext cx="4069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TECHNOLOGY  →enables→  ALL PILLARS</a:t>
            </a:r>
            <a:endParaRPr b="0" i="0" sz="1100" u="none" cap="none" strike="noStrike">
              <a:solidFill>
                <a:schemeClr val="dk1"/>
              </a:solidFill>
              <a:latin typeface="Calibri"/>
              <a:ea typeface="Calibri"/>
              <a:cs typeface="Calibri"/>
              <a:sym typeface="Calibri"/>
            </a:endParaRPr>
          </a:p>
        </p:txBody>
      </p:sp>
      <p:sp>
        <p:nvSpPr>
          <p:cNvPr id="102" name="Google Shape;102;p4"/>
          <p:cNvSpPr/>
          <p:nvPr/>
        </p:nvSpPr>
        <p:spPr>
          <a:xfrm>
            <a:off x="384048" y="4059936"/>
            <a:ext cx="38221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Data infrastructure is the management substrate for every other pillar. You cannot manage global budgets without TCOC attribution. You cannot improve HEDIS without stratified data. You cannot close equity gaps without disaggregated county-level data.</a:t>
            </a:r>
            <a:endParaRPr b="0" i="0" sz="1050" u="none" cap="none" strike="noStrike">
              <a:solidFill>
                <a:schemeClr val="dk1"/>
              </a:solidFill>
              <a:latin typeface="Calibri"/>
              <a:ea typeface="Calibri"/>
              <a:cs typeface="Calibri"/>
              <a:sym typeface="Calibri"/>
            </a:endParaRPr>
          </a:p>
        </p:txBody>
      </p:sp>
      <p:sp>
        <p:nvSpPr>
          <p:cNvPr id="103" name="Google Shape;103;p4"/>
          <p:cNvSpPr/>
          <p:nvPr/>
        </p:nvSpPr>
        <p:spPr>
          <a:xfrm>
            <a:off x="4617720" y="896112"/>
            <a:ext cx="4069080" cy="1261872"/>
          </a:xfrm>
          <a:prstGeom prst="rect">
            <a:avLst/>
          </a:prstGeom>
          <a:solidFill>
            <a:srgbClr val="E8D5F5"/>
          </a:solidFill>
          <a:ln cap="flat" cmpd="sng" w="12700">
            <a:solidFill>
              <a:srgbClr val="4A2070"/>
            </a:solidFill>
            <a:prstDash val="solid"/>
            <a:round/>
            <a:headEnd len="sm" w="sm" type="none"/>
            <a:tailEnd len="sm" w="sm" type="none"/>
          </a:ln>
          <a:effectLst>
            <a:outerShdw blurRad="63500" rotWithShape="0" algn="bl" dir="162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4617720" y="896112"/>
            <a:ext cx="4069080" cy="365760"/>
          </a:xfrm>
          <a:prstGeom prst="rect">
            <a:avLst/>
          </a:prstGeom>
          <a:solidFill>
            <a:srgbClr val="4A207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4617720" y="896112"/>
            <a:ext cx="4069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EQUITY  →constrains→  ALL PILLARS</a:t>
            </a:r>
            <a:endParaRPr b="0" i="0" sz="1100" u="none" cap="none" strike="noStrike">
              <a:solidFill>
                <a:schemeClr val="dk1"/>
              </a:solidFill>
              <a:latin typeface="Calibri"/>
              <a:ea typeface="Calibri"/>
              <a:cs typeface="Calibri"/>
              <a:sym typeface="Calibri"/>
            </a:endParaRPr>
          </a:p>
        </p:txBody>
      </p:sp>
      <p:sp>
        <p:nvSpPr>
          <p:cNvPr id="106" name="Google Shape;106;p4"/>
          <p:cNvSpPr/>
          <p:nvPr/>
        </p:nvSpPr>
        <p:spPr>
          <a:xfrm>
            <a:off x="4727448" y="1316736"/>
            <a:ext cx="38221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Every payment design, care model, and technology investment must be evaluated for equity implications. A transformation that reduces average costs while widening geographic or racial disparities has failed by the standards Acts 167 and 68 establish.</a:t>
            </a:r>
            <a:endParaRPr b="0" i="0" sz="1050" u="none" cap="none" strike="noStrike">
              <a:solidFill>
                <a:schemeClr val="dk1"/>
              </a:solidFill>
              <a:latin typeface="Calibri"/>
              <a:ea typeface="Calibri"/>
              <a:cs typeface="Calibri"/>
              <a:sym typeface="Calibri"/>
            </a:endParaRPr>
          </a:p>
        </p:txBody>
      </p:sp>
      <p:sp>
        <p:nvSpPr>
          <p:cNvPr id="107" name="Google Shape;107;p4"/>
          <p:cNvSpPr/>
          <p:nvPr/>
        </p:nvSpPr>
        <p:spPr>
          <a:xfrm>
            <a:off x="4617720" y="2267712"/>
            <a:ext cx="4069080" cy="1261872"/>
          </a:xfrm>
          <a:prstGeom prst="rect">
            <a:avLst/>
          </a:prstGeom>
          <a:solidFill>
            <a:srgbClr val="ECEFF1"/>
          </a:solidFill>
          <a:ln cap="flat" cmpd="sng" w="12700">
            <a:solidFill>
              <a:srgbClr val="2C3E50"/>
            </a:solidFill>
            <a:prstDash val="solid"/>
            <a:round/>
            <a:headEnd len="sm" w="sm" type="none"/>
            <a:tailEnd len="sm" w="sm" type="none"/>
          </a:ln>
          <a:effectLst>
            <a:outerShdw blurRad="63500" rotWithShape="0" algn="bl" dir="162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4617720" y="2267712"/>
            <a:ext cx="4069080" cy="365760"/>
          </a:xfrm>
          <a:prstGeom prst="rect">
            <a:avLst/>
          </a:prstGeom>
          <a:solidFill>
            <a:srgbClr val="2C3E50"/>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4617720" y="2267712"/>
            <a:ext cx="4069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OPERATIONS  →executes→  CLINICAL + POLICY</a:t>
            </a:r>
            <a:endParaRPr b="0" i="0" sz="1100" u="none" cap="none" strike="noStrike">
              <a:solidFill>
                <a:schemeClr val="dk1"/>
              </a:solidFill>
              <a:latin typeface="Calibri"/>
              <a:ea typeface="Calibri"/>
              <a:cs typeface="Calibri"/>
              <a:sym typeface="Calibri"/>
            </a:endParaRPr>
          </a:p>
        </p:txBody>
      </p:sp>
      <p:sp>
        <p:nvSpPr>
          <p:cNvPr id="110" name="Google Shape;110;p4"/>
          <p:cNvSpPr/>
          <p:nvPr/>
        </p:nvSpPr>
        <p:spPr>
          <a:xfrm>
            <a:off x="4727448" y="2688336"/>
            <a:ext cx="38221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Strategy without execution capacity is aspiration. The most analytically sound payment reform fails if AHS lacks organizational capacity, project management infrastructure, and the execution discipline to implement transformation on statutory timelines.</a:t>
            </a:r>
            <a:endParaRPr b="0" i="0" sz="1050" u="none" cap="none" strike="noStrike">
              <a:solidFill>
                <a:schemeClr val="dk1"/>
              </a:solidFill>
              <a:latin typeface="Calibri"/>
              <a:ea typeface="Calibri"/>
              <a:cs typeface="Calibri"/>
              <a:sym typeface="Calibri"/>
            </a:endParaRPr>
          </a:p>
        </p:txBody>
      </p:sp>
      <p:sp>
        <p:nvSpPr>
          <p:cNvPr id="111" name="Google Shape;111;p4"/>
          <p:cNvSpPr/>
          <p:nvPr/>
        </p:nvSpPr>
        <p:spPr>
          <a:xfrm>
            <a:off x="4617720" y="3639312"/>
            <a:ext cx="4069080" cy="1261872"/>
          </a:xfrm>
          <a:prstGeom prst="rect">
            <a:avLst/>
          </a:prstGeom>
          <a:solidFill>
            <a:srgbClr val="D9EFE3"/>
          </a:solidFill>
          <a:ln cap="flat" cmpd="sng" w="12700">
            <a:solidFill>
              <a:srgbClr val="1E6B3C"/>
            </a:solidFill>
            <a:prstDash val="solid"/>
            <a:round/>
            <a:headEnd len="sm" w="sm" type="none"/>
            <a:tailEnd len="sm" w="sm" type="none"/>
          </a:ln>
          <a:effectLst>
            <a:outerShdw blurRad="63500" rotWithShape="0" algn="bl" dir="162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617720" y="3639312"/>
            <a:ext cx="4069080" cy="365760"/>
          </a:xfrm>
          <a:prstGeom prst="rect">
            <a:avLst/>
          </a:prstGeom>
          <a:solidFill>
            <a:srgbClr val="1E6B3C"/>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4617720" y="3639312"/>
            <a:ext cx="4069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CLINICAL  →proves→  ECONOMICS</a:t>
            </a:r>
            <a:endParaRPr b="0" i="0" sz="1100" u="none" cap="none" strike="noStrike">
              <a:solidFill>
                <a:schemeClr val="dk1"/>
              </a:solidFill>
              <a:latin typeface="Calibri"/>
              <a:ea typeface="Calibri"/>
              <a:cs typeface="Calibri"/>
              <a:sym typeface="Calibri"/>
            </a:endParaRPr>
          </a:p>
        </p:txBody>
      </p:sp>
      <p:sp>
        <p:nvSpPr>
          <p:cNvPr id="114" name="Google Shape;114;p4"/>
          <p:cNvSpPr/>
          <p:nvPr/>
        </p:nvSpPr>
        <p:spPr>
          <a:xfrm>
            <a:off x="4727448" y="4059936"/>
            <a:ext cx="382219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Calibri"/>
              <a:buNone/>
            </a:pPr>
            <a:r>
              <a:rPr b="0" i="0" lang="en-US" sz="1050" u="none" cap="none" strike="noStrike">
                <a:solidFill>
                  <a:srgbClr val="1A1A1A"/>
                </a:solidFill>
                <a:latin typeface="Calibri"/>
                <a:ea typeface="Calibri"/>
                <a:cs typeface="Calibri"/>
                <a:sym typeface="Calibri"/>
              </a:rPr>
              <a:t>Clinical redesign is the mechanism through which payment reform delivers its promised results. Global budgets change incentives; primary care investment and behavioral health integration change behavior. Vermont's Blueprint proves the 5.8:1 ROI.</a:t>
            </a:r>
            <a:endParaRPr b="0" i="0" sz="1050" u="none" cap="none" strike="noStrike">
              <a:solidFill>
                <a:schemeClr val="dk1"/>
              </a:solidFill>
              <a:latin typeface="Calibri"/>
              <a:ea typeface="Calibri"/>
              <a:cs typeface="Calibri"/>
              <a:sym typeface="Calibri"/>
            </a:endParaRPr>
          </a:p>
        </p:txBody>
      </p:sp>
      <p:sp>
        <p:nvSpPr>
          <p:cNvPr id="115" name="Google Shape;115;p4"/>
          <p:cNvSpPr/>
          <p:nvPr/>
        </p:nvSpPr>
        <p:spPr>
          <a:xfrm>
            <a:off x="365760" y="4919472"/>
            <a:ext cx="841248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HTR six-pillar framework  |  Chapter 1  |  Health Transformation Review  |  Transforming American Healthcare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