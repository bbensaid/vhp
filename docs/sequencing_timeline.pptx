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65760" y="16459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The Six-Pillar Execution Sequence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65760" y="5669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Why order is not optional — and what happens when it is ignored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65760" y="2372868"/>
            <a:ext cx="11430000" cy="45720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2258568" y="2372868"/>
            <a:ext cx="9144" cy="4572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4160520" y="2372868"/>
            <a:ext cx="9144" cy="4572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6062472" y="2372868"/>
            <a:ext cx="9144" cy="4572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7964424" y="2372868"/>
            <a:ext cx="9144" cy="4572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9866376" y="2372868"/>
            <a:ext cx="9144" cy="4572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1060704" y="2139696"/>
            <a:ext cx="512064" cy="512064"/>
          </a:xfrm>
          <a:prstGeom prst="ellipse">
            <a:avLst/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060704" y="213969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38912" y="896112"/>
            <a:ext cx="1755648" cy="1417320"/>
          </a:xfrm>
          <a:prstGeom prst="roundRect">
            <a:avLst>
              <a:gd fmla="val 3871" name="adj"/>
            </a:avLst>
          </a:prstGeom>
          <a:solidFill>
            <a:srgbClr val="E8E8E8"/>
          </a:solidFill>
          <a:ln cap="flat" cmpd="sng" w="15225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38912" y="987552"/>
            <a:ext cx="1755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38912" y="1243584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Is it permissible?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3"/>
          <p:cNvCxnSpPr/>
          <p:nvPr/>
        </p:nvCxnSpPr>
        <p:spPr>
          <a:xfrm>
            <a:off x="548640" y="1481328"/>
            <a:ext cx="1536192" cy="0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/>
          <p:nvPr/>
        </p:nvSpPr>
        <p:spPr>
          <a:xfrm>
            <a:off x="512064" y="1536192"/>
            <a:ext cx="16093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Establish enforceable authority &amp; mandate participation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3"/>
          <p:cNvCxnSpPr/>
          <p:nvPr/>
        </p:nvCxnSpPr>
        <p:spPr>
          <a:xfrm rot="10800000">
            <a:off x="1316736" y="2139696"/>
            <a:ext cx="0" cy="173736"/>
          </a:xfrm>
          <a:prstGeom prst="straightConnector1">
            <a:avLst/>
          </a:prstGeom>
          <a:noFill/>
          <a:ln cap="flat" cmpd="sng" w="9525">
            <a:solidFill>
              <a:srgbClr val="3D3D3D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" name="Google Shape;32;p3"/>
          <p:cNvSpPr/>
          <p:nvPr/>
        </p:nvSpPr>
        <p:spPr>
          <a:xfrm>
            <a:off x="438912" y="2761488"/>
            <a:ext cx="1755648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438912" y="2761488"/>
            <a:ext cx="1755648" cy="237744"/>
          </a:xfrm>
          <a:prstGeom prst="rect">
            <a:avLst/>
          </a:prstGeom>
          <a:solidFill>
            <a:srgbClr val="3D3D3D"/>
          </a:solidFill>
          <a:ln cap="flat" cmpd="sng" w="12700">
            <a:solidFill>
              <a:srgbClr val="3D3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438912" y="2761488"/>
            <a:ext cx="1755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12064" y="3035808"/>
            <a:ext cx="1609344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AHEAD Model agreement with CMS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Acts 167 and 68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Mandatory provider reporting requirements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38912" y="4261104"/>
            <a:ext cx="1755648" cy="658368"/>
          </a:xfrm>
          <a:prstGeom prst="roundRect">
            <a:avLst>
              <a:gd fmla="val 6944" name="adj"/>
            </a:avLst>
          </a:prstGeom>
          <a:solidFill>
            <a:srgbClr val="FFF3F3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493776" y="429768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OneCare failure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93776" y="4462272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B241C"/>
                </a:solidFill>
                <a:latin typeface="Calibri"/>
                <a:ea typeface="Calibri"/>
                <a:cs typeface="Calibri"/>
                <a:sym typeface="Calibri"/>
              </a:rPr>
              <a:t>OneCare: optional participation — no policy foundation to enforce accountability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2962656" y="2139696"/>
            <a:ext cx="512064" cy="512064"/>
          </a:xfrm>
          <a:prstGeom prst="ellipse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2962656" y="213969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2340864" y="896112"/>
            <a:ext cx="1755648" cy="1417320"/>
          </a:xfrm>
          <a:prstGeom prst="roundRect">
            <a:avLst>
              <a:gd fmla="val 3871" name="adj"/>
            </a:avLst>
          </a:prstGeom>
          <a:solidFill>
            <a:srgbClr val="E1F5EE"/>
          </a:solidFill>
          <a:ln cap="flat" cmpd="sng" w="152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2340864" y="987552"/>
            <a:ext cx="1755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Economics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2340864" y="1243584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Is it sustainable?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3"/>
          <p:cNvCxnSpPr/>
          <p:nvPr/>
        </p:nvCxnSpPr>
        <p:spPr>
          <a:xfrm>
            <a:off x="2450592" y="1481328"/>
            <a:ext cx="1536192" cy="0"/>
          </a:xfrm>
          <a:prstGeom prst="straightConnector1">
            <a:avLst/>
          </a:prstGeom>
          <a:noFill/>
          <a:ln cap="flat" cmpd="sng" w="9525">
            <a:solidFill>
              <a:srgbClr val="0F6E56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5" name="Google Shape;45;p3"/>
          <p:cNvSpPr/>
          <p:nvPr/>
        </p:nvSpPr>
        <p:spPr>
          <a:xfrm>
            <a:off x="2414016" y="1536192"/>
            <a:ext cx="16093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Design payment architecture &amp; fund the technology build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3"/>
          <p:cNvCxnSpPr/>
          <p:nvPr/>
        </p:nvCxnSpPr>
        <p:spPr>
          <a:xfrm rot="10800000">
            <a:off x="3218688" y="2139696"/>
            <a:ext cx="0" cy="173736"/>
          </a:xfrm>
          <a:prstGeom prst="straightConnector1">
            <a:avLst/>
          </a:prstGeom>
          <a:noFill/>
          <a:ln cap="flat" cmpd="sng" w="9525">
            <a:solidFill>
              <a:srgbClr val="0F6E56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7" name="Google Shape;47;p3"/>
          <p:cNvSpPr/>
          <p:nvPr/>
        </p:nvSpPr>
        <p:spPr>
          <a:xfrm>
            <a:off x="2340864" y="2761488"/>
            <a:ext cx="1755648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2340864" y="2761488"/>
            <a:ext cx="1755648" cy="237744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2340864" y="2761488"/>
            <a:ext cx="1755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414016" y="3035808"/>
            <a:ext cx="1609344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Total Cost of Care model design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Global budget parameters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Blueprint PMPM payment structure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AHEAD federal funding commitments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2340864" y="4261104"/>
            <a:ext cx="1755648" cy="658368"/>
          </a:xfrm>
          <a:prstGeom prst="roundRect">
            <a:avLst>
              <a:gd fmla="val 6944" name="adj"/>
            </a:avLst>
          </a:prstGeom>
          <a:solidFill>
            <a:srgbClr val="FFF3F3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2395728" y="429768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OneCare failure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395728" y="4462272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B241C"/>
                </a:solidFill>
                <a:latin typeface="Calibri"/>
                <a:ea typeface="Calibri"/>
                <a:cs typeface="Calibri"/>
                <a:sym typeface="Calibri"/>
              </a:rPr>
              <a:t>OneCare: payment model designed without funding technology infrastructure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864608" y="2139696"/>
            <a:ext cx="512064" cy="512064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864608" y="213969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242816" y="896112"/>
            <a:ext cx="1755648" cy="1417320"/>
          </a:xfrm>
          <a:prstGeom prst="roundRect">
            <a:avLst>
              <a:gd fmla="val 3871" name="adj"/>
            </a:avLst>
          </a:prstGeom>
          <a:solidFill>
            <a:srgbClr val="EEEDFE"/>
          </a:solidFill>
          <a:ln cap="flat" cmpd="sng" w="15225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242816" y="987552"/>
            <a:ext cx="1755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4AB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34AB7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242816" y="1243584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Is it possible?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3"/>
          <p:cNvCxnSpPr/>
          <p:nvPr/>
        </p:nvCxnSpPr>
        <p:spPr>
          <a:xfrm>
            <a:off x="4352544" y="1481328"/>
            <a:ext cx="1536192" cy="0"/>
          </a:xfrm>
          <a:prstGeom prst="straightConnector1">
            <a:avLst/>
          </a:prstGeom>
          <a:noFill/>
          <a:ln cap="flat" cmpd="sng" w="9525">
            <a:solidFill>
              <a:srgbClr val="534AB7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0" name="Google Shape;60;p3"/>
          <p:cNvSpPr/>
          <p:nvPr/>
        </p:nvSpPr>
        <p:spPr>
          <a:xfrm>
            <a:off x="4315968" y="1536192"/>
            <a:ext cx="16093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Build integrated clinical + claims data infrastructure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3"/>
          <p:cNvCxnSpPr/>
          <p:nvPr/>
        </p:nvCxnSpPr>
        <p:spPr>
          <a:xfrm rot="10800000">
            <a:off x="5120640" y="2139696"/>
            <a:ext cx="0" cy="173736"/>
          </a:xfrm>
          <a:prstGeom prst="straightConnector1">
            <a:avLst/>
          </a:prstGeom>
          <a:noFill/>
          <a:ln cap="flat" cmpd="sng" w="9525">
            <a:solidFill>
              <a:srgbClr val="534AB7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2" name="Google Shape;62;p3"/>
          <p:cNvSpPr/>
          <p:nvPr/>
        </p:nvSpPr>
        <p:spPr>
          <a:xfrm>
            <a:off x="4242816" y="2761488"/>
            <a:ext cx="1755648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242816" y="2761488"/>
            <a:ext cx="1755648" cy="237744"/>
          </a:xfrm>
          <a:prstGeom prst="rect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242816" y="2761488"/>
            <a:ext cx="1755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315968" y="3035808"/>
            <a:ext cx="1609344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Clinical registry development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SDOH screening platforms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Integrated claims + clinical data feeds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Care management information systems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242816" y="4261104"/>
            <a:ext cx="1755648" cy="658368"/>
          </a:xfrm>
          <a:prstGeom prst="roundRect">
            <a:avLst>
              <a:gd fmla="val 6944" name="adj"/>
            </a:avLst>
          </a:prstGeom>
          <a:solidFill>
            <a:srgbClr val="FFF3F3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297680" y="429768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OneCare failure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297680" y="4462272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41C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7B241C"/>
                </a:solidFill>
                <a:latin typeface="Calibri"/>
                <a:ea typeface="Calibri"/>
                <a:cs typeface="Calibri"/>
                <a:sym typeface="Calibri"/>
              </a:rPr>
              <a:t>OneCare: no integrated, real-time clinical &amp; claims data — managed blind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766560" y="2139696"/>
            <a:ext cx="512064" cy="512064"/>
          </a:xfrm>
          <a:prstGeom prst="ellipse">
            <a:avLst/>
          </a:prstGeom>
          <a:solidFill>
            <a:srgbClr val="854F0B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766560" y="213969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144768" y="896112"/>
            <a:ext cx="1755648" cy="1417320"/>
          </a:xfrm>
          <a:prstGeom prst="roundRect">
            <a:avLst>
              <a:gd fmla="val 3871" name="adj"/>
            </a:avLst>
          </a:prstGeom>
          <a:solidFill>
            <a:srgbClr val="FAEEDA"/>
          </a:solidFill>
          <a:ln cap="flat" cmpd="sng" w="15225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144768" y="987552"/>
            <a:ext cx="1755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144768" y="1243584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Is it executable?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3"/>
          <p:cNvCxnSpPr/>
          <p:nvPr/>
        </p:nvCxnSpPr>
        <p:spPr>
          <a:xfrm>
            <a:off x="6254496" y="1481328"/>
            <a:ext cx="1536192" cy="0"/>
          </a:xfrm>
          <a:prstGeom prst="straightConnector1">
            <a:avLst/>
          </a:prstGeom>
          <a:noFill/>
          <a:ln cap="flat" cmpd="sng" w="9525">
            <a:solidFill>
              <a:srgbClr val="854F0B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5" name="Google Shape;75;p3"/>
          <p:cNvSpPr/>
          <p:nvPr/>
        </p:nvSpPr>
        <p:spPr>
          <a:xfrm>
            <a:off x="6217920" y="1536192"/>
            <a:ext cx="16093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Deploy workforce, care coordination &amp; admin systems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3"/>
          <p:cNvCxnSpPr/>
          <p:nvPr/>
        </p:nvCxnSpPr>
        <p:spPr>
          <a:xfrm rot="10800000">
            <a:off x="7022592" y="2139696"/>
            <a:ext cx="0" cy="173736"/>
          </a:xfrm>
          <a:prstGeom prst="straightConnector1">
            <a:avLst/>
          </a:prstGeom>
          <a:noFill/>
          <a:ln cap="flat" cmpd="sng" w="9525">
            <a:solidFill>
              <a:srgbClr val="854F0B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7" name="Google Shape;77;p3"/>
          <p:cNvSpPr/>
          <p:nvPr/>
        </p:nvSpPr>
        <p:spPr>
          <a:xfrm>
            <a:off x="6144768" y="2761488"/>
            <a:ext cx="1755648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144768" y="2761488"/>
            <a:ext cx="1755648" cy="237744"/>
          </a:xfrm>
          <a:prstGeom prst="rect">
            <a:avLst/>
          </a:prstGeom>
          <a:solidFill>
            <a:srgbClr val="854F0B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144768" y="2761488"/>
            <a:ext cx="1755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217920" y="3035808"/>
            <a:ext cx="1609344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Blueprint Hub &amp; Spoke network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Community Health Teams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Rural Health Transformation workforce expansion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668512" y="2139696"/>
            <a:ext cx="512064" cy="512064"/>
          </a:xfrm>
          <a:prstGeom prst="ellipse">
            <a:avLst/>
          </a:prstGeom>
          <a:solidFill>
            <a:srgbClr val="7B1D0E"/>
          </a:solidFill>
          <a:ln cap="flat" cmpd="sng" w="1270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8668512" y="213969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046720" y="896112"/>
            <a:ext cx="1755648" cy="1417320"/>
          </a:xfrm>
          <a:prstGeom prst="roundRect">
            <a:avLst>
              <a:gd fmla="val 3871" name="adj"/>
            </a:avLst>
          </a:prstGeom>
          <a:solidFill>
            <a:srgbClr val="FAECE7"/>
          </a:solidFill>
          <a:ln cap="flat" cmpd="sng" w="15225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8046720" y="987552"/>
            <a:ext cx="1755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D0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1D0E"/>
                </a:solidFill>
                <a:latin typeface="Calibri"/>
                <a:ea typeface="Calibri"/>
                <a:cs typeface="Calibri"/>
                <a:sym typeface="Calibri"/>
              </a:rPr>
              <a:t>Clinical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046720" y="1243584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Is it effective?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3"/>
          <p:cNvCxnSpPr/>
          <p:nvPr/>
        </p:nvCxnSpPr>
        <p:spPr>
          <a:xfrm>
            <a:off x="8156448" y="1481328"/>
            <a:ext cx="1536192" cy="0"/>
          </a:xfrm>
          <a:prstGeom prst="straightConnector1">
            <a:avLst/>
          </a:prstGeom>
          <a:noFill/>
          <a:ln cap="flat" cmpd="sng" w="9525">
            <a:solidFill>
              <a:srgbClr val="7B1D0E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7" name="Google Shape;87;p3"/>
          <p:cNvSpPr/>
          <p:nvPr/>
        </p:nvSpPr>
        <p:spPr>
          <a:xfrm>
            <a:off x="8119872" y="1536192"/>
            <a:ext cx="16093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Redesign care delivery &amp; transform clinical practice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3"/>
          <p:cNvCxnSpPr/>
          <p:nvPr/>
        </p:nvCxnSpPr>
        <p:spPr>
          <a:xfrm rot="10800000">
            <a:off x="8924544" y="2139696"/>
            <a:ext cx="0" cy="173736"/>
          </a:xfrm>
          <a:prstGeom prst="straightConnector1">
            <a:avLst/>
          </a:prstGeom>
          <a:noFill/>
          <a:ln cap="flat" cmpd="sng" w="9525">
            <a:solidFill>
              <a:srgbClr val="7B1D0E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9" name="Google Shape;89;p3"/>
          <p:cNvSpPr/>
          <p:nvPr/>
        </p:nvSpPr>
        <p:spPr>
          <a:xfrm>
            <a:off x="8046720" y="2761488"/>
            <a:ext cx="1755648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8046720" y="2761488"/>
            <a:ext cx="1755648" cy="237744"/>
          </a:xfrm>
          <a:prstGeom prst="rect">
            <a:avLst/>
          </a:prstGeom>
          <a:solidFill>
            <a:srgbClr val="7B1D0E"/>
          </a:solidFill>
          <a:ln cap="flat" cmpd="sng" w="12700">
            <a:solidFill>
              <a:srgbClr val="7B1D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8046720" y="2761488"/>
            <a:ext cx="1755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8119872" y="3035808"/>
            <a:ext cx="1609344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PCMH transformation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Collaborative Care Model (CoCM)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CCBHC expansion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Blueprint 5.8:1 ROI from primary care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0570464" y="2139696"/>
            <a:ext cx="512064" cy="512064"/>
          </a:xfrm>
          <a:prstGeom prst="ellipse">
            <a:avLst/>
          </a:prstGeom>
          <a:solidFill>
            <a:srgbClr val="72243E"/>
          </a:solidFill>
          <a:ln cap="flat" cmpd="sng" w="12700">
            <a:solidFill>
              <a:srgbClr val="7224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0570464" y="213969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9948672" y="896112"/>
            <a:ext cx="1755648" cy="1417320"/>
          </a:xfrm>
          <a:prstGeom prst="roundRect">
            <a:avLst>
              <a:gd fmla="val 3871" name="adj"/>
            </a:avLst>
          </a:prstGeom>
          <a:solidFill>
            <a:srgbClr val="FBEAF0"/>
          </a:solidFill>
          <a:ln cap="flat" cmpd="sng" w="15225">
            <a:solidFill>
              <a:srgbClr val="7224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9948672" y="987552"/>
            <a:ext cx="1755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224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2243E"/>
                </a:solidFill>
                <a:latin typeface="Calibri"/>
                <a:ea typeface="Calibri"/>
                <a:cs typeface="Calibri"/>
                <a:sym typeface="Calibri"/>
              </a:rPr>
              <a:t>Equity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9948672" y="1243584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Is it just?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3"/>
          <p:cNvCxnSpPr/>
          <p:nvPr/>
        </p:nvCxnSpPr>
        <p:spPr>
          <a:xfrm>
            <a:off x="10058400" y="1481328"/>
            <a:ext cx="1536192" cy="0"/>
          </a:xfrm>
          <a:prstGeom prst="straightConnector1">
            <a:avLst/>
          </a:prstGeom>
          <a:noFill/>
          <a:ln cap="flat" cmpd="sng" w="9525">
            <a:solidFill>
              <a:srgbClr val="72243E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9" name="Google Shape;99;p3"/>
          <p:cNvSpPr/>
          <p:nvPr/>
        </p:nvSpPr>
        <p:spPr>
          <a:xfrm>
            <a:off x="10021824" y="1536192"/>
            <a:ext cx="160934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Audit, calibrate &amp; correct for population disparities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3"/>
          <p:cNvCxnSpPr/>
          <p:nvPr/>
        </p:nvCxnSpPr>
        <p:spPr>
          <a:xfrm rot="10800000">
            <a:off x="10826496" y="2139696"/>
            <a:ext cx="0" cy="173736"/>
          </a:xfrm>
          <a:prstGeom prst="straightConnector1">
            <a:avLst/>
          </a:prstGeom>
          <a:noFill/>
          <a:ln cap="flat" cmpd="sng" w="9525">
            <a:solidFill>
              <a:srgbClr val="72243E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1" name="Google Shape;101;p3"/>
          <p:cNvSpPr/>
          <p:nvPr/>
        </p:nvSpPr>
        <p:spPr>
          <a:xfrm>
            <a:off x="9948672" y="2761488"/>
            <a:ext cx="1755648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9948672" y="2761488"/>
            <a:ext cx="1755648" cy="237744"/>
          </a:xfrm>
          <a:prstGeom prst="rect">
            <a:avLst/>
          </a:prstGeom>
          <a:solidFill>
            <a:srgbClr val="72243E"/>
          </a:solidFill>
          <a:ln cap="flat" cmpd="sng" w="12700">
            <a:solidFill>
              <a:srgbClr val="7224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9948672" y="2761488"/>
            <a:ext cx="1755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Vermont anchor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0021824" y="3035808"/>
            <a:ext cx="1609344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HRSN screening at scale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Targeted outreach in high-uninsurance areas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Language access across Blueprint network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3"/>
          <p:cNvCxnSpPr/>
          <p:nvPr/>
        </p:nvCxnSpPr>
        <p:spPr>
          <a:xfrm>
            <a:off x="1993392" y="2395728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999999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6" name="Google Shape;106;p3"/>
          <p:cNvCxnSpPr/>
          <p:nvPr/>
        </p:nvCxnSpPr>
        <p:spPr>
          <a:xfrm>
            <a:off x="3895344" y="2395728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999999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7" name="Google Shape;107;p3"/>
          <p:cNvCxnSpPr/>
          <p:nvPr/>
        </p:nvCxnSpPr>
        <p:spPr>
          <a:xfrm>
            <a:off x="5797296" y="2395728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999999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8" name="Google Shape;108;p3"/>
          <p:cNvCxnSpPr/>
          <p:nvPr/>
        </p:nvCxnSpPr>
        <p:spPr>
          <a:xfrm>
            <a:off x="7699248" y="2395728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999999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" name="Google Shape;109;p3"/>
          <p:cNvCxnSpPr/>
          <p:nvPr/>
        </p:nvCxnSpPr>
        <p:spPr>
          <a:xfrm>
            <a:off x="9601200" y="2395728"/>
            <a:ext cx="201168" cy="0"/>
          </a:xfrm>
          <a:prstGeom prst="straightConnector1">
            <a:avLst/>
          </a:prstGeom>
          <a:noFill/>
          <a:ln cap="flat" cmpd="sng" w="15225">
            <a:solidFill>
              <a:srgbClr val="999999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0" name="Google Shape;110;p3"/>
          <p:cNvSpPr/>
          <p:nvPr/>
        </p:nvSpPr>
        <p:spPr>
          <a:xfrm>
            <a:off x="365760" y="6583680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Upper cards: key action at each stage     |     Lower cards: Vermont implementation anchors     |     Red flags: OneCare sequencing failures (Stages 1–3)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