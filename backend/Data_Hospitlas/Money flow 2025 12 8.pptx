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15.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2.xml" ContentType="application/vnd.openxmlformats-officedocument.presentationml.notesSlide+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31"/>
  </p:notesMasterIdLst>
  <p:sldIdLst>
    <p:sldId id="269" r:id="rId3"/>
    <p:sldId id="270" r:id="rId4"/>
    <p:sldId id="271" r:id="rId5"/>
    <p:sldId id="273" r:id="rId6"/>
    <p:sldId id="268" r:id="rId7"/>
    <p:sldId id="272" r:id="rId8"/>
    <p:sldId id="274" r:id="rId9"/>
    <p:sldId id="277" r:id="rId10"/>
    <p:sldId id="276" r:id="rId11"/>
    <p:sldId id="544" r:id="rId12"/>
    <p:sldId id="289" r:id="rId13"/>
    <p:sldId id="617" r:id="rId14"/>
    <p:sldId id="618" r:id="rId15"/>
    <p:sldId id="619" r:id="rId16"/>
    <p:sldId id="622" r:id="rId17"/>
    <p:sldId id="621" r:id="rId18"/>
    <p:sldId id="623" r:id="rId19"/>
    <p:sldId id="624" r:id="rId20"/>
    <p:sldId id="257" r:id="rId21"/>
    <p:sldId id="258" r:id="rId22"/>
    <p:sldId id="259" r:id="rId23"/>
    <p:sldId id="262" r:id="rId24"/>
    <p:sldId id="264" r:id="rId25"/>
    <p:sldId id="260" r:id="rId26"/>
    <p:sldId id="263" r:id="rId27"/>
    <p:sldId id="265" r:id="rId28"/>
    <p:sldId id="266" r:id="rId29"/>
    <p:sldId id="267"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86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06582-D17D-430C-B6B9-F6715AAF382D}" type="datetimeFigureOut">
              <a:rPr lang="en-US" smtClean="0"/>
              <a:t>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F9F0E-EE62-4DE6-9443-E7932BF06F1D}" type="slidenum">
              <a:rPr lang="en-US" smtClean="0"/>
              <a:t>‹#›</a:t>
            </a:fld>
            <a:endParaRPr lang="en-US"/>
          </a:p>
        </p:txBody>
      </p:sp>
    </p:spTree>
    <p:extLst>
      <p:ext uri="{BB962C8B-B14F-4D97-AF65-F5344CB8AC3E}">
        <p14:creationId xmlns:p14="http://schemas.microsoft.com/office/powerpoint/2010/main" val="88908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CEC7D8-80E7-4A18-9B29-7CF6C688881E}" type="slidenum">
              <a:rPr lang="en-US" smtClean="0"/>
              <a:t>10</a:t>
            </a:fld>
            <a:endParaRPr lang="en-US"/>
          </a:p>
        </p:txBody>
      </p:sp>
    </p:spTree>
    <p:extLst>
      <p:ext uri="{BB962C8B-B14F-4D97-AF65-F5344CB8AC3E}">
        <p14:creationId xmlns:p14="http://schemas.microsoft.com/office/powerpoint/2010/main" val="939316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notes"/>
          <p:cNvSpPr>
            <a:spLocks noGrp="1" noRot="1" noChangeAspect="1"/>
          </p:cNvSpPr>
          <p:nvPr>
            <p:ph type="sldImg" idx="2"/>
          </p:nvPr>
        </p:nvSpPr>
        <p:spPr>
          <a:xfrm>
            <a:off x="1414463" y="1162050"/>
            <a:ext cx="4181475"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3:notes"/>
          <p:cNvSpPr txBox="1">
            <a:spLocks noGrp="1"/>
          </p:cNvSpPr>
          <p:nvPr>
            <p:ph type="body" idx="1"/>
          </p:nvPr>
        </p:nvSpPr>
        <p:spPr>
          <a:xfrm>
            <a:off x="701040" y="4473892"/>
            <a:ext cx="5608200" cy="36606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75" name="Google Shape;275;p3:notes"/>
          <p:cNvSpPr txBox="1">
            <a:spLocks noGrp="1"/>
          </p:cNvSpPr>
          <p:nvPr>
            <p:ph type="sldNum" idx="12"/>
          </p:nvPr>
        </p:nvSpPr>
        <p:spPr>
          <a:xfrm>
            <a:off x="3970938" y="8829967"/>
            <a:ext cx="3037800" cy="466500"/>
          </a:xfrm>
          <a:prstGeom prst="rect">
            <a:avLst/>
          </a:prstGeom>
          <a:noFill/>
          <a:ln>
            <a:noFill/>
          </a:ln>
        </p:spPr>
        <p:txBody>
          <a:bodyPr spcFirstLastPara="1" wrap="square" lIns="93175" tIns="46575" rIns="93175" bIns="46575"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882905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EC7D8-80E7-4A18-9B29-7CF6C68888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023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EC7D8-80E7-4A18-9B29-7CF6C68888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293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EC7D8-80E7-4A18-9B29-7CF6C68888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052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EC7D8-80E7-4A18-9B29-7CF6C68888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558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CEC7D8-80E7-4A18-9B29-7CF6C68888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5404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658a31017a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58a31017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658a31017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658a31017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658a31017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658a31017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108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658a31017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658a31017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658a31017a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658a31017a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658a31017a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658a31017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658a31017a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658a31017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658a31017a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658a31017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3034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3CEDC5-C4A6-43B4-BDE2-24A82228609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1499428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CEDC5-C4A6-43B4-BDE2-24A82228609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51623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3CEDC5-C4A6-43B4-BDE2-24A82228609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1150525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3CEDC5-C4A6-43B4-BDE2-24A82228609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3599452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3CEDC5-C4A6-43B4-BDE2-24A82228609F}" type="datetimeFigureOut">
              <a:rPr lang="en-US" smtClean="0"/>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138933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3CEDC5-C4A6-43B4-BDE2-24A82228609F}" type="datetimeFigureOut">
              <a:rPr lang="en-US" smtClean="0"/>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222682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3CEDC5-C4A6-43B4-BDE2-24A82228609F}" type="datetimeFigureOut">
              <a:rPr lang="en-US" smtClean="0"/>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3345144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3CEDC5-C4A6-43B4-BDE2-24A82228609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98015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A3CEDC5-C4A6-43B4-BDE2-24A82228609F}"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2582148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CEDC5-C4A6-43B4-BDE2-24A82228609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468583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3CEDC5-C4A6-43B4-BDE2-24A82228609F}"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103DD0-B656-41EC-AC74-EB4CEAD5DAEA}" type="slidenum">
              <a:rPr lang="en-US" smtClean="0"/>
              <a:t>‹#›</a:t>
            </a:fld>
            <a:endParaRPr lang="en-US"/>
          </a:p>
        </p:txBody>
      </p:sp>
    </p:spTree>
    <p:extLst>
      <p:ext uri="{BB962C8B-B14F-4D97-AF65-F5344CB8AC3E}">
        <p14:creationId xmlns:p14="http://schemas.microsoft.com/office/powerpoint/2010/main" val="2604248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89314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34197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32"/>
        <p:cNvGrpSpPr/>
        <p:nvPr/>
      </p:nvGrpSpPr>
      <p:grpSpPr>
        <a:xfrm>
          <a:off x="0" y="0"/>
          <a:ext cx="0" cy="0"/>
          <a:chOff x="0" y="0"/>
          <a:chExt cx="0" cy="0"/>
        </a:xfrm>
      </p:grpSpPr>
      <p:sp>
        <p:nvSpPr>
          <p:cNvPr id="33" name="Google Shape;33;p28"/>
          <p:cNvSpPr txBox="1">
            <a:spLocks noGrp="1"/>
          </p:cNvSpPr>
          <p:nvPr>
            <p:ph type="body" idx="1"/>
          </p:nvPr>
        </p:nvSpPr>
        <p:spPr>
          <a:xfrm>
            <a:off x="516740" y="2254257"/>
            <a:ext cx="8276159" cy="3927341"/>
          </a:xfrm>
          <a:prstGeom prst="rect">
            <a:avLst/>
          </a:prstGeom>
          <a:noFill/>
          <a:ln>
            <a:noFill/>
          </a:ln>
        </p:spPr>
        <p:txBody>
          <a:bodyPr spcFirstLastPara="1" wrap="square" lIns="0" tIns="0" rIns="0" bIns="0" anchor="t" anchorCtr="0">
            <a:noAutofit/>
          </a:bodyPr>
          <a:lstStyle>
            <a:lvl1pPr marL="342900" lvl="0" indent="-257175" algn="l">
              <a:lnSpc>
                <a:spcPct val="105000"/>
              </a:lnSpc>
              <a:spcBef>
                <a:spcPts val="675"/>
              </a:spcBef>
              <a:spcAft>
                <a:spcPts val="0"/>
              </a:spcAft>
              <a:buClr>
                <a:schemeClr val="dk1"/>
              </a:buClr>
              <a:buSzPts val="1800"/>
              <a:buChar char="•"/>
              <a:defRPr/>
            </a:lvl1pPr>
            <a:lvl2pPr marL="685800" lvl="1" indent="-257175" algn="l">
              <a:lnSpc>
                <a:spcPct val="105000"/>
              </a:lnSpc>
              <a:spcBef>
                <a:spcPts val="675"/>
              </a:spcBef>
              <a:spcAft>
                <a:spcPts val="0"/>
              </a:spcAft>
              <a:buClr>
                <a:schemeClr val="dk1"/>
              </a:buClr>
              <a:buSzPts val="1800"/>
              <a:buChar char="–"/>
              <a:defRPr/>
            </a:lvl2pPr>
            <a:lvl3pPr marL="1028700" lvl="2" indent="-257175" algn="l">
              <a:lnSpc>
                <a:spcPct val="105000"/>
              </a:lnSpc>
              <a:spcBef>
                <a:spcPts val="675"/>
              </a:spcBef>
              <a:spcAft>
                <a:spcPts val="0"/>
              </a:spcAft>
              <a:buClr>
                <a:schemeClr val="dk1"/>
              </a:buClr>
              <a:buSzPts val="1800"/>
              <a:buChar char="•"/>
              <a:defRPr/>
            </a:lvl3pPr>
            <a:lvl4pPr marL="1371600" lvl="3" indent="-257175" algn="l">
              <a:lnSpc>
                <a:spcPct val="105000"/>
              </a:lnSpc>
              <a:spcBef>
                <a:spcPts val="675"/>
              </a:spcBef>
              <a:spcAft>
                <a:spcPts val="0"/>
              </a:spcAft>
              <a:buSzPts val="1800"/>
              <a:buChar char="–"/>
              <a:defRPr/>
            </a:lvl4pPr>
            <a:lvl5pPr marL="1714500" lvl="4" indent="-257175" algn="l">
              <a:lnSpc>
                <a:spcPct val="105000"/>
              </a:lnSpc>
              <a:spcBef>
                <a:spcPts val="6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4" name="Google Shape;34;p28"/>
          <p:cNvSpPr txBox="1">
            <a:spLocks noGrp="1"/>
          </p:cNvSpPr>
          <p:nvPr>
            <p:ph type="dt" idx="10"/>
          </p:nvPr>
        </p:nvSpPr>
        <p:spPr>
          <a:xfrm>
            <a:off x="7495225" y="483801"/>
            <a:ext cx="797981" cy="138499"/>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8549643" y="483801"/>
            <a:ext cx="243257" cy="138499"/>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
        <p:nvSpPr>
          <p:cNvPr id="36" name="Google Shape;36;p28"/>
          <p:cNvSpPr txBox="1">
            <a:spLocks noGrp="1"/>
          </p:cNvSpPr>
          <p:nvPr>
            <p:ph type="ftr" idx="11"/>
          </p:nvPr>
        </p:nvSpPr>
        <p:spPr>
          <a:xfrm>
            <a:off x="2646047" y="501477"/>
            <a:ext cx="2957253" cy="174939"/>
          </a:xfrm>
          <a:prstGeom prst="rect">
            <a:avLst/>
          </a:prstGeom>
          <a:noFill/>
          <a:ln>
            <a:noFill/>
          </a:ln>
        </p:spPr>
        <p:txBody>
          <a:bodyPr spcFirstLastPara="1" wrap="square" lIns="0" tIns="0" rIns="0" bIns="0" anchor="t" anchorCtr="0">
            <a:noAutofit/>
          </a:bodyPr>
          <a:lstStyle>
            <a:lvl1pPr lvl="0" algn="l">
              <a:lnSpc>
                <a:spcPct val="120000"/>
              </a:lnSpc>
              <a:spcBef>
                <a:spcPts val="0"/>
              </a:spcBef>
              <a:spcAft>
                <a:spcPts val="0"/>
              </a:spcAft>
              <a:buSzPts val="1400"/>
              <a:buNone/>
              <a:defRPr sz="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title"/>
          </p:nvPr>
        </p:nvSpPr>
        <p:spPr>
          <a:xfrm>
            <a:off x="516741" y="1266868"/>
            <a:ext cx="8276159" cy="73421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2349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D46C0-241C-4E88-8043-47DF05F3324F}"/>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9E6F4C2-BC0C-4420-8015-5BACC3255C8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FFB53E9-F302-4FD8-A00C-844C6E3BD529}"/>
              </a:ext>
            </a:extLst>
          </p:cNvPr>
          <p:cNvSpPr>
            <a:spLocks noGrp="1"/>
          </p:cNvSpPr>
          <p:nvPr>
            <p:ph type="dt" sz="half" idx="10"/>
          </p:nvPr>
        </p:nvSpPr>
        <p:spPr/>
        <p:txBody>
          <a:bodyPr/>
          <a:lstStyle/>
          <a:p>
            <a:fld id="{0BD60C53-2F23-40E1-852E-954FEBD9EDAC}" type="datetime1">
              <a:rPr lang="en-US" smtClean="0"/>
              <a:t>1/1/2026</a:t>
            </a:fld>
            <a:endParaRPr lang="en-US"/>
          </a:p>
        </p:txBody>
      </p:sp>
      <p:sp>
        <p:nvSpPr>
          <p:cNvPr id="5" name="Footer Placeholder 4">
            <a:extLst>
              <a:ext uri="{FF2B5EF4-FFF2-40B4-BE49-F238E27FC236}">
                <a16:creationId xmlns:a16="http://schemas.microsoft.com/office/drawing/2014/main" id="{D1DC2615-2DB9-4008-B40F-00A4D9190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D452A-7681-43F0-8635-46DC0DB8371F}"/>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2784930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0DF78-535D-4431-BFB2-B75B3A4C20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7ED59E-E431-4658-8CCD-85B3C3B4BB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78783-89E8-4229-83D9-861AA0D0BAE2}"/>
              </a:ext>
            </a:extLst>
          </p:cNvPr>
          <p:cNvSpPr>
            <a:spLocks noGrp="1"/>
          </p:cNvSpPr>
          <p:nvPr>
            <p:ph type="dt" sz="half" idx="10"/>
          </p:nvPr>
        </p:nvSpPr>
        <p:spPr/>
        <p:txBody>
          <a:bodyPr/>
          <a:lstStyle/>
          <a:p>
            <a:fld id="{EFF096C7-E3D2-4113-BFBF-CAD85E7488EA}" type="datetime1">
              <a:rPr lang="en-US" smtClean="0"/>
              <a:t>1/1/2026</a:t>
            </a:fld>
            <a:endParaRPr lang="en-US"/>
          </a:p>
        </p:txBody>
      </p:sp>
      <p:sp>
        <p:nvSpPr>
          <p:cNvPr id="5" name="Footer Placeholder 4">
            <a:extLst>
              <a:ext uri="{FF2B5EF4-FFF2-40B4-BE49-F238E27FC236}">
                <a16:creationId xmlns:a16="http://schemas.microsoft.com/office/drawing/2014/main" id="{FD5A092E-3319-4831-BF66-AAACCA891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37E61-A921-4E7F-B8DA-6AD07D7827AF}"/>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256544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4E7A5-C30C-4649-876C-4F8E044A294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051A7B7-967F-4279-AAEA-35A435622B0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C73A78-339A-46EA-B963-C74406E83D4F}"/>
              </a:ext>
            </a:extLst>
          </p:cNvPr>
          <p:cNvSpPr>
            <a:spLocks noGrp="1"/>
          </p:cNvSpPr>
          <p:nvPr>
            <p:ph type="dt" sz="half" idx="10"/>
          </p:nvPr>
        </p:nvSpPr>
        <p:spPr/>
        <p:txBody>
          <a:bodyPr/>
          <a:lstStyle/>
          <a:p>
            <a:fld id="{5399FEFC-44E4-4CA1-8473-1CBDC920790E}" type="datetime1">
              <a:rPr lang="en-US" smtClean="0"/>
              <a:t>1/1/2026</a:t>
            </a:fld>
            <a:endParaRPr lang="en-US"/>
          </a:p>
        </p:txBody>
      </p:sp>
      <p:sp>
        <p:nvSpPr>
          <p:cNvPr id="5" name="Footer Placeholder 4">
            <a:extLst>
              <a:ext uri="{FF2B5EF4-FFF2-40B4-BE49-F238E27FC236}">
                <a16:creationId xmlns:a16="http://schemas.microsoft.com/office/drawing/2014/main" id="{811BC7FD-3859-42EA-A09D-9683CD1034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AF55E9-061C-45A8-89FF-4992809F824F}"/>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877805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3677-DBF4-4DA9-9ABE-C38290C6F2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4FB770-DB93-46E7-9119-BDD15647FD6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942DE0-3174-4080-8BB9-88958FAAE69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C9CE61-839D-42A7-946A-46D0F08FEB5F}"/>
              </a:ext>
            </a:extLst>
          </p:cNvPr>
          <p:cNvSpPr>
            <a:spLocks noGrp="1"/>
          </p:cNvSpPr>
          <p:nvPr>
            <p:ph type="dt" sz="half" idx="10"/>
          </p:nvPr>
        </p:nvSpPr>
        <p:spPr/>
        <p:txBody>
          <a:bodyPr/>
          <a:lstStyle/>
          <a:p>
            <a:fld id="{C93804E6-9FE9-4181-8001-A8300EECA889}" type="datetime1">
              <a:rPr lang="en-US" smtClean="0"/>
              <a:t>1/1/2026</a:t>
            </a:fld>
            <a:endParaRPr lang="en-US"/>
          </a:p>
        </p:txBody>
      </p:sp>
      <p:sp>
        <p:nvSpPr>
          <p:cNvPr id="6" name="Footer Placeholder 5">
            <a:extLst>
              <a:ext uri="{FF2B5EF4-FFF2-40B4-BE49-F238E27FC236}">
                <a16:creationId xmlns:a16="http://schemas.microsoft.com/office/drawing/2014/main" id="{22CE4DD7-ABDD-4DA9-A838-6964401AC6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D4D54E-EC7C-49C6-9A31-791668557B45}"/>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31593393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45BF9-24E8-4230-BA64-F2B6A03EE8A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EA80B-1A4D-43E4-8BA1-BD94E14BF9F1}"/>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1EC5304-69B9-4DBD-9ED8-B286103DADB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D84D2C-9879-415D-AE3A-DE6837F005D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B07019E-D63F-41A7-B16A-E23AC5E7DF6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94F418-2F14-402B-AE3F-7F018608C999}"/>
              </a:ext>
            </a:extLst>
          </p:cNvPr>
          <p:cNvSpPr>
            <a:spLocks noGrp="1"/>
          </p:cNvSpPr>
          <p:nvPr>
            <p:ph type="dt" sz="half" idx="10"/>
          </p:nvPr>
        </p:nvSpPr>
        <p:spPr/>
        <p:txBody>
          <a:bodyPr/>
          <a:lstStyle/>
          <a:p>
            <a:fld id="{721C8F3D-DF5B-47D9-8039-D10E0D8724D2}" type="datetime1">
              <a:rPr lang="en-US" smtClean="0"/>
              <a:t>1/1/2026</a:t>
            </a:fld>
            <a:endParaRPr lang="en-US"/>
          </a:p>
        </p:txBody>
      </p:sp>
      <p:sp>
        <p:nvSpPr>
          <p:cNvPr id="8" name="Footer Placeholder 7">
            <a:extLst>
              <a:ext uri="{FF2B5EF4-FFF2-40B4-BE49-F238E27FC236}">
                <a16:creationId xmlns:a16="http://schemas.microsoft.com/office/drawing/2014/main" id="{1DDC4264-3925-43EE-8CB3-D2426C34F3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C8CA98-E7B5-4479-92C6-13E8E5158ED6}"/>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1011100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D601-89F4-4AE0-8CF2-9D1A51995C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507E70-9C67-4E8E-B56E-0B466FC1C28F}"/>
              </a:ext>
            </a:extLst>
          </p:cNvPr>
          <p:cNvSpPr>
            <a:spLocks noGrp="1"/>
          </p:cNvSpPr>
          <p:nvPr>
            <p:ph type="dt" sz="half" idx="10"/>
          </p:nvPr>
        </p:nvSpPr>
        <p:spPr/>
        <p:txBody>
          <a:bodyPr/>
          <a:lstStyle/>
          <a:p>
            <a:fld id="{5570F977-CF09-423A-9708-4E2802FD9753}" type="datetime1">
              <a:rPr lang="en-US" smtClean="0"/>
              <a:t>1/1/2026</a:t>
            </a:fld>
            <a:endParaRPr lang="en-US"/>
          </a:p>
        </p:txBody>
      </p:sp>
      <p:sp>
        <p:nvSpPr>
          <p:cNvPr id="4" name="Footer Placeholder 3">
            <a:extLst>
              <a:ext uri="{FF2B5EF4-FFF2-40B4-BE49-F238E27FC236}">
                <a16:creationId xmlns:a16="http://schemas.microsoft.com/office/drawing/2014/main" id="{C0E339C8-61A4-430B-A4D9-5F93ED8D02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F1E977-406B-47A7-943E-2A64E9379707}"/>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41703673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443F2-0389-42F9-85EF-89ACEA6D7CF8}"/>
              </a:ext>
            </a:extLst>
          </p:cNvPr>
          <p:cNvSpPr>
            <a:spLocks noGrp="1"/>
          </p:cNvSpPr>
          <p:nvPr>
            <p:ph type="dt" sz="half" idx="10"/>
          </p:nvPr>
        </p:nvSpPr>
        <p:spPr/>
        <p:txBody>
          <a:bodyPr/>
          <a:lstStyle/>
          <a:p>
            <a:fld id="{E38F3890-7C01-4D2C-9B85-2CA0ADFADF09}" type="datetime1">
              <a:rPr lang="en-US" smtClean="0"/>
              <a:t>1/1/2026</a:t>
            </a:fld>
            <a:endParaRPr lang="en-US"/>
          </a:p>
        </p:txBody>
      </p:sp>
      <p:sp>
        <p:nvSpPr>
          <p:cNvPr id="3" name="Footer Placeholder 2">
            <a:extLst>
              <a:ext uri="{FF2B5EF4-FFF2-40B4-BE49-F238E27FC236}">
                <a16:creationId xmlns:a16="http://schemas.microsoft.com/office/drawing/2014/main" id="{C82BE461-E275-43C4-AA5F-DFAAFC3E61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8ECFD6-C871-4CBE-AB71-9379AD611B33}"/>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1151105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128CD-64DD-4B9F-9828-2A286DED0F0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BDAA30-9041-4E2D-8754-47498CA3798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7A7DE1-A9DD-437B-84DB-F34D5DEDB58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58E573-067E-43D3-A3EC-B243B349D993}"/>
              </a:ext>
            </a:extLst>
          </p:cNvPr>
          <p:cNvSpPr>
            <a:spLocks noGrp="1"/>
          </p:cNvSpPr>
          <p:nvPr>
            <p:ph type="dt" sz="half" idx="10"/>
          </p:nvPr>
        </p:nvSpPr>
        <p:spPr/>
        <p:txBody>
          <a:bodyPr/>
          <a:lstStyle/>
          <a:p>
            <a:fld id="{1FE0024B-0757-48D5-970B-7494289238C0}" type="datetime1">
              <a:rPr lang="en-US" smtClean="0"/>
              <a:t>1/1/2026</a:t>
            </a:fld>
            <a:endParaRPr lang="en-US"/>
          </a:p>
        </p:txBody>
      </p:sp>
      <p:sp>
        <p:nvSpPr>
          <p:cNvPr id="6" name="Footer Placeholder 5">
            <a:extLst>
              <a:ext uri="{FF2B5EF4-FFF2-40B4-BE49-F238E27FC236}">
                <a16:creationId xmlns:a16="http://schemas.microsoft.com/office/drawing/2014/main" id="{163D2A22-7200-4E68-A07D-FCE82352B3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350D1D-70B3-439A-A65C-A506BE1C7A96}"/>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2558896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B17F6-13BD-4EC8-9402-C17B78164E2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A0DA92F-E9E0-4246-BC94-806AFD68458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A108166-C5BB-4A6A-9E94-B508EF745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849472E-D202-49A9-86BD-E163B04AEAC3}"/>
              </a:ext>
            </a:extLst>
          </p:cNvPr>
          <p:cNvSpPr>
            <a:spLocks noGrp="1"/>
          </p:cNvSpPr>
          <p:nvPr>
            <p:ph type="dt" sz="half" idx="10"/>
          </p:nvPr>
        </p:nvSpPr>
        <p:spPr/>
        <p:txBody>
          <a:bodyPr/>
          <a:lstStyle/>
          <a:p>
            <a:fld id="{D35ADA8B-F0CD-4F7D-9F21-780AAE94FE2B}" type="datetime1">
              <a:rPr lang="en-US" smtClean="0"/>
              <a:t>1/1/2026</a:t>
            </a:fld>
            <a:endParaRPr lang="en-US"/>
          </a:p>
        </p:txBody>
      </p:sp>
      <p:sp>
        <p:nvSpPr>
          <p:cNvPr id="6" name="Footer Placeholder 5">
            <a:extLst>
              <a:ext uri="{FF2B5EF4-FFF2-40B4-BE49-F238E27FC236}">
                <a16:creationId xmlns:a16="http://schemas.microsoft.com/office/drawing/2014/main" id="{CFCF3DC6-E082-491B-B07D-D087BDBED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E68994-4C3F-4005-A915-0D2C4DD1CD60}"/>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16132530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09C9-A684-47E3-898C-AAE119D218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C59B27-4A2E-4453-832C-9D090E50F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FC000-D5A6-4E20-8B89-819699AF54D9}"/>
              </a:ext>
            </a:extLst>
          </p:cNvPr>
          <p:cNvSpPr>
            <a:spLocks noGrp="1"/>
          </p:cNvSpPr>
          <p:nvPr>
            <p:ph type="dt" sz="half" idx="10"/>
          </p:nvPr>
        </p:nvSpPr>
        <p:spPr/>
        <p:txBody>
          <a:bodyPr/>
          <a:lstStyle/>
          <a:p>
            <a:fld id="{F278A037-1CED-4E2A-9497-43910B464863}" type="datetime1">
              <a:rPr lang="en-US" smtClean="0"/>
              <a:t>1/1/2026</a:t>
            </a:fld>
            <a:endParaRPr lang="en-US"/>
          </a:p>
        </p:txBody>
      </p:sp>
      <p:sp>
        <p:nvSpPr>
          <p:cNvPr id="5" name="Footer Placeholder 4">
            <a:extLst>
              <a:ext uri="{FF2B5EF4-FFF2-40B4-BE49-F238E27FC236}">
                <a16:creationId xmlns:a16="http://schemas.microsoft.com/office/drawing/2014/main" id="{0ABCB676-3906-48F8-AAD6-E900DCB87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2C1D3-5558-45BF-8333-18C54A75D9C6}"/>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1129244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F22A44-7DD3-46F4-8612-F457DDC11EB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F8FBAC-6FC3-434E-80BD-6BCC1C907E0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07725-92AD-4FE2-8BAF-19D26EF4404F}"/>
              </a:ext>
            </a:extLst>
          </p:cNvPr>
          <p:cNvSpPr>
            <a:spLocks noGrp="1"/>
          </p:cNvSpPr>
          <p:nvPr>
            <p:ph type="dt" sz="half" idx="10"/>
          </p:nvPr>
        </p:nvSpPr>
        <p:spPr/>
        <p:txBody>
          <a:bodyPr/>
          <a:lstStyle/>
          <a:p>
            <a:fld id="{0EFF314F-68BB-465B-A5AD-969959EE75B4}" type="datetime1">
              <a:rPr lang="en-US" smtClean="0"/>
              <a:t>1/1/2026</a:t>
            </a:fld>
            <a:endParaRPr lang="en-US"/>
          </a:p>
        </p:txBody>
      </p:sp>
      <p:sp>
        <p:nvSpPr>
          <p:cNvPr id="5" name="Footer Placeholder 4">
            <a:extLst>
              <a:ext uri="{FF2B5EF4-FFF2-40B4-BE49-F238E27FC236}">
                <a16:creationId xmlns:a16="http://schemas.microsoft.com/office/drawing/2014/main" id="{EB4C3D6E-41D2-411B-A31B-B7D8D0CC9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3367C4-C28B-409D-9E7D-2F9FAB0ABEDD}"/>
              </a:ext>
            </a:extLst>
          </p:cNvPr>
          <p:cNvSpPr>
            <a:spLocks noGrp="1"/>
          </p:cNvSpPr>
          <p:nvPr>
            <p:ph type="sldNum" sz="quarter" idx="12"/>
          </p:nvPr>
        </p:nvSpPr>
        <p:spPr/>
        <p:txBody>
          <a:bodyPr/>
          <a:lstStyle/>
          <a:p>
            <a:fld id="{B096A2CE-7E7C-4D08-99D4-9E35824CF6A1}" type="slidenum">
              <a:rPr lang="en-US" smtClean="0"/>
              <a:t>‹#›</a:t>
            </a:fld>
            <a:endParaRPr lang="en-US"/>
          </a:p>
        </p:txBody>
      </p:sp>
    </p:spTree>
    <p:extLst>
      <p:ext uri="{BB962C8B-B14F-4D97-AF65-F5344CB8AC3E}">
        <p14:creationId xmlns:p14="http://schemas.microsoft.com/office/powerpoint/2010/main" val="911994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32"/>
        <p:cNvGrpSpPr/>
        <p:nvPr/>
      </p:nvGrpSpPr>
      <p:grpSpPr>
        <a:xfrm>
          <a:off x="0" y="0"/>
          <a:ext cx="0" cy="0"/>
          <a:chOff x="0" y="0"/>
          <a:chExt cx="0" cy="0"/>
        </a:xfrm>
      </p:grpSpPr>
      <p:sp>
        <p:nvSpPr>
          <p:cNvPr id="33" name="Google Shape;33;p28"/>
          <p:cNvSpPr txBox="1">
            <a:spLocks noGrp="1"/>
          </p:cNvSpPr>
          <p:nvPr>
            <p:ph type="body" idx="1"/>
          </p:nvPr>
        </p:nvSpPr>
        <p:spPr>
          <a:xfrm>
            <a:off x="516740" y="2254257"/>
            <a:ext cx="8276159" cy="3927341"/>
          </a:xfrm>
          <a:prstGeom prst="rect">
            <a:avLst/>
          </a:prstGeom>
          <a:noFill/>
          <a:ln>
            <a:noFill/>
          </a:ln>
        </p:spPr>
        <p:txBody>
          <a:bodyPr spcFirstLastPara="1" wrap="square" lIns="0" tIns="0" rIns="0" bIns="0" anchor="t" anchorCtr="0">
            <a:noAutofit/>
          </a:bodyPr>
          <a:lstStyle>
            <a:lvl1pPr marL="342900" lvl="0" indent="-257175" algn="l">
              <a:lnSpc>
                <a:spcPct val="105000"/>
              </a:lnSpc>
              <a:spcBef>
                <a:spcPts val="675"/>
              </a:spcBef>
              <a:spcAft>
                <a:spcPts val="0"/>
              </a:spcAft>
              <a:buClr>
                <a:schemeClr val="dk1"/>
              </a:buClr>
              <a:buSzPts val="1800"/>
              <a:buChar char="•"/>
              <a:defRPr/>
            </a:lvl1pPr>
            <a:lvl2pPr marL="685800" lvl="1" indent="-257175" algn="l">
              <a:lnSpc>
                <a:spcPct val="105000"/>
              </a:lnSpc>
              <a:spcBef>
                <a:spcPts val="675"/>
              </a:spcBef>
              <a:spcAft>
                <a:spcPts val="0"/>
              </a:spcAft>
              <a:buClr>
                <a:schemeClr val="dk1"/>
              </a:buClr>
              <a:buSzPts val="1800"/>
              <a:buChar char="–"/>
              <a:defRPr/>
            </a:lvl2pPr>
            <a:lvl3pPr marL="1028700" lvl="2" indent="-257175" algn="l">
              <a:lnSpc>
                <a:spcPct val="105000"/>
              </a:lnSpc>
              <a:spcBef>
                <a:spcPts val="675"/>
              </a:spcBef>
              <a:spcAft>
                <a:spcPts val="0"/>
              </a:spcAft>
              <a:buClr>
                <a:schemeClr val="dk1"/>
              </a:buClr>
              <a:buSzPts val="1800"/>
              <a:buChar char="•"/>
              <a:defRPr/>
            </a:lvl3pPr>
            <a:lvl4pPr marL="1371600" lvl="3" indent="-257175" algn="l">
              <a:lnSpc>
                <a:spcPct val="105000"/>
              </a:lnSpc>
              <a:spcBef>
                <a:spcPts val="675"/>
              </a:spcBef>
              <a:spcAft>
                <a:spcPts val="0"/>
              </a:spcAft>
              <a:buSzPts val="1800"/>
              <a:buChar char="–"/>
              <a:defRPr/>
            </a:lvl4pPr>
            <a:lvl5pPr marL="1714500" lvl="4" indent="-257175" algn="l">
              <a:lnSpc>
                <a:spcPct val="105000"/>
              </a:lnSpc>
              <a:spcBef>
                <a:spcPts val="6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4" name="Google Shape;34;p28"/>
          <p:cNvSpPr txBox="1">
            <a:spLocks noGrp="1"/>
          </p:cNvSpPr>
          <p:nvPr>
            <p:ph type="dt" idx="10"/>
          </p:nvPr>
        </p:nvSpPr>
        <p:spPr>
          <a:xfrm>
            <a:off x="7495225" y="483801"/>
            <a:ext cx="797981" cy="138499"/>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8549643" y="483801"/>
            <a:ext cx="243257" cy="138499"/>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6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
        <p:nvSpPr>
          <p:cNvPr id="36" name="Google Shape;36;p28"/>
          <p:cNvSpPr txBox="1">
            <a:spLocks noGrp="1"/>
          </p:cNvSpPr>
          <p:nvPr>
            <p:ph type="ftr" idx="11"/>
          </p:nvPr>
        </p:nvSpPr>
        <p:spPr>
          <a:xfrm>
            <a:off x="2646047" y="501477"/>
            <a:ext cx="2957253" cy="174939"/>
          </a:xfrm>
          <a:prstGeom prst="rect">
            <a:avLst/>
          </a:prstGeom>
          <a:noFill/>
          <a:ln>
            <a:noFill/>
          </a:ln>
        </p:spPr>
        <p:txBody>
          <a:bodyPr spcFirstLastPara="1" wrap="square" lIns="0" tIns="0" rIns="0" bIns="0" anchor="t" anchorCtr="0">
            <a:noAutofit/>
          </a:bodyPr>
          <a:lstStyle>
            <a:lvl1pPr lvl="0" algn="l">
              <a:lnSpc>
                <a:spcPct val="120000"/>
              </a:lnSpc>
              <a:spcBef>
                <a:spcPts val="0"/>
              </a:spcBef>
              <a:spcAft>
                <a:spcPts val="0"/>
              </a:spcAft>
              <a:buSzPts val="1400"/>
              <a:buNone/>
              <a:defRPr sz="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title"/>
          </p:nvPr>
        </p:nvSpPr>
        <p:spPr>
          <a:xfrm>
            <a:off x="516741" y="1266868"/>
            <a:ext cx="8276159" cy="73421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834708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3CEDC5-C4A6-43B4-BDE2-24A82228609F}" type="datetimeFigureOut">
              <a:rPr lang="en-US" smtClean="0"/>
              <a:t>1/1/2026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03DD0-B656-41EC-AC74-EB4CEAD5DAEA}" type="slidenum">
              <a:rPr lang="en-US" smtClean="0"/>
              <a:t>‹#›</a:t>
            </a:fld>
            <a:endParaRPr lang="en-US"/>
          </a:p>
        </p:txBody>
      </p:sp>
    </p:spTree>
    <p:extLst>
      <p:ext uri="{BB962C8B-B14F-4D97-AF65-F5344CB8AC3E}">
        <p14:creationId xmlns:p14="http://schemas.microsoft.com/office/powerpoint/2010/main" val="18906758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8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5829D3-1E1A-47F8-96AA-4B7B701E2B9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5A0371-0AF9-46A5-A43F-7E53922D205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3A9306-C086-41CA-983F-DA7E20C0356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35DE241-6667-43B9-A2BD-F0C11164BF91}" type="datetime1">
              <a:rPr lang="en-US" smtClean="0"/>
              <a:t>1/1/2026</a:t>
            </a:fld>
            <a:endParaRPr lang="en-US"/>
          </a:p>
        </p:txBody>
      </p:sp>
      <p:sp>
        <p:nvSpPr>
          <p:cNvPr id="5" name="Footer Placeholder 4">
            <a:extLst>
              <a:ext uri="{FF2B5EF4-FFF2-40B4-BE49-F238E27FC236}">
                <a16:creationId xmlns:a16="http://schemas.microsoft.com/office/drawing/2014/main" id="{92AE1566-88B5-4422-86E6-82AB8028019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E36A2E-4BC3-498B-AC23-B5B12007861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96A2CE-7E7C-4D08-99D4-9E35824CF6A1}" type="slidenum">
              <a:rPr lang="en-US" smtClean="0"/>
              <a:t>‹#›</a:t>
            </a:fld>
            <a:endParaRPr lang="en-US"/>
          </a:p>
        </p:txBody>
      </p:sp>
    </p:spTree>
    <p:extLst>
      <p:ext uri="{BB962C8B-B14F-4D97-AF65-F5344CB8AC3E}">
        <p14:creationId xmlns:p14="http://schemas.microsoft.com/office/powerpoint/2010/main" val="390399116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beckershospitalreview.com/finance/medicares-2025-physician-pay-cut-explained.html?origin=BHRE&amp;utm_source=BHRE&amp;utm_medium=email&amp;utm_content=newsletter&amp;oly_enc_id=8897H0383167F5C"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AD320F-E983-4A9F-AEEB-F24620934001}"/>
              </a:ext>
            </a:extLst>
          </p:cNvPr>
          <p:cNvSpPr txBox="1"/>
          <p:nvPr/>
        </p:nvSpPr>
        <p:spPr>
          <a:xfrm flipH="1">
            <a:off x="1600200" y="846667"/>
            <a:ext cx="6187440" cy="2123658"/>
          </a:xfrm>
          <a:prstGeom prst="rect">
            <a:avLst/>
          </a:prstGeom>
          <a:noFill/>
        </p:spPr>
        <p:txBody>
          <a:bodyPr wrap="square" rtlCol="0">
            <a:spAutoFit/>
          </a:bodyPr>
          <a:lstStyle/>
          <a:p>
            <a:r>
              <a:rPr lang="en-US" sz="4400" dirty="0"/>
              <a:t>Model of how healthcare works, why it matters, and how to fix it</a:t>
            </a:r>
          </a:p>
        </p:txBody>
      </p:sp>
      <p:sp>
        <p:nvSpPr>
          <p:cNvPr id="3" name="TextBox 2">
            <a:extLst>
              <a:ext uri="{FF2B5EF4-FFF2-40B4-BE49-F238E27FC236}">
                <a16:creationId xmlns:a16="http://schemas.microsoft.com/office/drawing/2014/main" id="{B7E44A73-E03C-4D66-B363-97C0E80C43AB}"/>
              </a:ext>
            </a:extLst>
          </p:cNvPr>
          <p:cNvSpPr txBox="1"/>
          <p:nvPr/>
        </p:nvSpPr>
        <p:spPr>
          <a:xfrm>
            <a:off x="524934" y="6011333"/>
            <a:ext cx="1187569" cy="461665"/>
          </a:xfrm>
          <a:prstGeom prst="rect">
            <a:avLst/>
          </a:prstGeom>
          <a:noFill/>
        </p:spPr>
        <p:txBody>
          <a:bodyPr wrap="none" rtlCol="0">
            <a:spAutoFit/>
          </a:bodyPr>
          <a:lstStyle/>
          <a:p>
            <a:r>
              <a:rPr lang="en-US" sz="1200" dirty="0"/>
              <a:t>James Trimarchi</a:t>
            </a:r>
          </a:p>
          <a:p>
            <a:r>
              <a:rPr lang="en-US" sz="1200" dirty="0"/>
              <a:t>12/8/2025</a:t>
            </a:r>
          </a:p>
        </p:txBody>
      </p:sp>
    </p:spTree>
    <p:extLst>
      <p:ext uri="{BB962C8B-B14F-4D97-AF65-F5344CB8AC3E}">
        <p14:creationId xmlns:p14="http://schemas.microsoft.com/office/powerpoint/2010/main" val="2989694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60454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1586611" y="2842873"/>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13" name="Rectangle: Rounded Corners 12">
            <a:extLst>
              <a:ext uri="{FF2B5EF4-FFF2-40B4-BE49-F238E27FC236}">
                <a16:creationId xmlns:a16="http://schemas.microsoft.com/office/drawing/2014/main" id="{53D97E9E-5AD0-4F67-B049-9013E8DB2D8D}"/>
              </a:ext>
            </a:extLst>
          </p:cNvPr>
          <p:cNvSpPr/>
          <p:nvPr/>
        </p:nvSpPr>
        <p:spPr>
          <a:xfrm>
            <a:off x="3794694" y="1643078"/>
            <a:ext cx="1829859" cy="3462325"/>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don’t have enough money left to spend in other sectors of Vermont’s economy</a:t>
            </a:r>
          </a:p>
        </p:txBody>
      </p:sp>
      <p:sp>
        <p:nvSpPr>
          <p:cNvPr id="14" name="Rectangle: Rounded Corners 13">
            <a:extLst>
              <a:ext uri="{FF2B5EF4-FFF2-40B4-BE49-F238E27FC236}">
                <a16:creationId xmlns:a16="http://schemas.microsoft.com/office/drawing/2014/main" id="{E267D77E-9B51-460C-A047-5EBB22B289E1}"/>
              </a:ext>
            </a:extLst>
          </p:cNvPr>
          <p:cNvSpPr/>
          <p:nvPr/>
        </p:nvSpPr>
        <p:spPr>
          <a:xfrm>
            <a:off x="6012959" y="2225867"/>
            <a:ext cx="2369040" cy="229674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Vermont’s economic vibrancy and sustainability is in jeopardy</a:t>
            </a:r>
          </a:p>
        </p:txBody>
      </p:sp>
      <p:cxnSp>
        <p:nvCxnSpPr>
          <p:cNvPr id="15" name="Straight Arrow Connector 14">
            <a:extLst>
              <a:ext uri="{FF2B5EF4-FFF2-40B4-BE49-F238E27FC236}">
                <a16:creationId xmlns:a16="http://schemas.microsoft.com/office/drawing/2014/main" id="{E1998107-FD23-4D60-904A-B8B80F4CC67D}"/>
              </a:ext>
            </a:extLst>
          </p:cNvPr>
          <p:cNvCxnSpPr>
            <a:stCxn id="5" idx="3"/>
            <a:endCxn id="13" idx="1"/>
          </p:cNvCxnSpPr>
          <p:nvPr/>
        </p:nvCxnSpPr>
        <p:spPr>
          <a:xfrm flipV="1">
            <a:off x="3416470" y="3374241"/>
            <a:ext cx="378224" cy="567"/>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EE39C6-B817-4B42-A875-B5E79B5A9931}"/>
              </a:ext>
            </a:extLst>
          </p:cNvPr>
          <p:cNvCxnSpPr>
            <a:cxnSpLocks/>
            <a:stCxn id="13" idx="3"/>
            <a:endCxn id="14" idx="1"/>
          </p:cNvCxnSpPr>
          <p:nvPr/>
        </p:nvCxnSpPr>
        <p:spPr>
          <a:xfrm flipV="1">
            <a:off x="5624553" y="3374240"/>
            <a:ext cx="388406" cy="1"/>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17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60454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1586611" y="2842873"/>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pic>
        <p:nvPicPr>
          <p:cNvPr id="8" name="Picture 7">
            <a:extLst>
              <a:ext uri="{FF2B5EF4-FFF2-40B4-BE49-F238E27FC236}">
                <a16:creationId xmlns:a16="http://schemas.microsoft.com/office/drawing/2014/main" id="{72353FFC-6DDD-42A1-A7EF-3295F3FA90E4}"/>
              </a:ext>
            </a:extLst>
          </p:cNvPr>
          <p:cNvPicPr>
            <a:picLocks noChangeAspect="1"/>
          </p:cNvPicPr>
          <p:nvPr/>
        </p:nvPicPr>
        <p:blipFill>
          <a:blip r:embed="rId2"/>
          <a:stretch>
            <a:fillRect/>
          </a:stretch>
        </p:blipFill>
        <p:spPr>
          <a:xfrm>
            <a:off x="3569677" y="687235"/>
            <a:ext cx="5329080" cy="3084665"/>
          </a:xfrm>
          <a:prstGeom prst="rect">
            <a:avLst/>
          </a:prstGeom>
        </p:spPr>
      </p:pic>
      <p:pic>
        <p:nvPicPr>
          <p:cNvPr id="9" name="Picture 8">
            <a:extLst>
              <a:ext uri="{FF2B5EF4-FFF2-40B4-BE49-F238E27FC236}">
                <a16:creationId xmlns:a16="http://schemas.microsoft.com/office/drawing/2014/main" id="{F65216A7-3689-41E5-9009-BAEE003753EA}"/>
              </a:ext>
            </a:extLst>
          </p:cNvPr>
          <p:cNvPicPr>
            <a:picLocks noChangeAspect="1"/>
          </p:cNvPicPr>
          <p:nvPr/>
        </p:nvPicPr>
        <p:blipFill>
          <a:blip r:embed="rId3"/>
          <a:stretch>
            <a:fillRect/>
          </a:stretch>
        </p:blipFill>
        <p:spPr>
          <a:xfrm>
            <a:off x="3659175" y="3771900"/>
            <a:ext cx="4763856" cy="3012940"/>
          </a:xfrm>
          <a:prstGeom prst="rect">
            <a:avLst/>
          </a:prstGeom>
        </p:spPr>
      </p:pic>
      <p:sp>
        <p:nvSpPr>
          <p:cNvPr id="2" name="TextBox 1">
            <a:extLst>
              <a:ext uri="{FF2B5EF4-FFF2-40B4-BE49-F238E27FC236}">
                <a16:creationId xmlns:a16="http://schemas.microsoft.com/office/drawing/2014/main" id="{47C48B23-6B4C-4CCA-A18A-0B31E9FA6247}"/>
              </a:ext>
            </a:extLst>
          </p:cNvPr>
          <p:cNvSpPr txBox="1"/>
          <p:nvPr/>
        </p:nvSpPr>
        <p:spPr>
          <a:xfrm>
            <a:off x="1586611" y="1900491"/>
            <a:ext cx="1826654" cy="369332"/>
          </a:xfrm>
          <a:prstGeom prst="rect">
            <a:avLst/>
          </a:prstGeom>
          <a:noFill/>
        </p:spPr>
        <p:txBody>
          <a:bodyPr wrap="none" rtlCol="0">
            <a:spAutoFit/>
          </a:bodyPr>
          <a:lstStyle/>
          <a:p>
            <a:r>
              <a:rPr lang="en-US" dirty="0"/>
              <a:t>Pay for Premiums</a:t>
            </a:r>
          </a:p>
        </p:txBody>
      </p:sp>
      <p:sp>
        <p:nvSpPr>
          <p:cNvPr id="3" name="TextBox 2">
            <a:extLst>
              <a:ext uri="{FF2B5EF4-FFF2-40B4-BE49-F238E27FC236}">
                <a16:creationId xmlns:a16="http://schemas.microsoft.com/office/drawing/2014/main" id="{B30A51BA-EA3F-4D48-8958-05F84A7564A7}"/>
              </a:ext>
            </a:extLst>
          </p:cNvPr>
          <p:cNvSpPr txBox="1"/>
          <p:nvPr/>
        </p:nvSpPr>
        <p:spPr>
          <a:xfrm>
            <a:off x="1845496" y="4563116"/>
            <a:ext cx="1308884" cy="369332"/>
          </a:xfrm>
          <a:prstGeom prst="rect">
            <a:avLst/>
          </a:prstGeom>
          <a:noFill/>
        </p:spPr>
        <p:txBody>
          <a:bodyPr wrap="none" rtlCol="0">
            <a:spAutoFit/>
          </a:bodyPr>
          <a:lstStyle/>
          <a:p>
            <a:r>
              <a:rPr lang="en-US" dirty="0"/>
              <a:t>Pay for Care</a:t>
            </a:r>
          </a:p>
        </p:txBody>
      </p:sp>
      <p:cxnSp>
        <p:nvCxnSpPr>
          <p:cNvPr id="12" name="Straight Arrow Connector 11">
            <a:extLst>
              <a:ext uri="{FF2B5EF4-FFF2-40B4-BE49-F238E27FC236}">
                <a16:creationId xmlns:a16="http://schemas.microsoft.com/office/drawing/2014/main" id="{C2A53C3B-D6E4-434D-9C77-4995083CB752}"/>
              </a:ext>
            </a:extLst>
          </p:cNvPr>
          <p:cNvCxnSpPr>
            <a:cxnSpLocks/>
            <a:stCxn id="5" idx="0"/>
            <a:endCxn id="2" idx="2"/>
          </p:cNvCxnSpPr>
          <p:nvPr/>
        </p:nvCxnSpPr>
        <p:spPr>
          <a:xfrm flipH="1" flipV="1">
            <a:off x="2499938" y="2269823"/>
            <a:ext cx="1603" cy="573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956B317-C8F0-4BC8-9E96-D6BCDEBD9AD6}"/>
              </a:ext>
            </a:extLst>
          </p:cNvPr>
          <p:cNvCxnSpPr>
            <a:cxnSpLocks/>
            <a:stCxn id="5" idx="2"/>
            <a:endCxn id="3" idx="0"/>
          </p:cNvCxnSpPr>
          <p:nvPr/>
        </p:nvCxnSpPr>
        <p:spPr>
          <a:xfrm flipH="1">
            <a:off x="2499938" y="3906743"/>
            <a:ext cx="1603" cy="6563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51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sp>
        <p:nvSpPr>
          <p:cNvPr id="9" name="Rectangle: Rounded Corners 8">
            <a:extLst>
              <a:ext uri="{FF2B5EF4-FFF2-40B4-BE49-F238E27FC236}">
                <a16:creationId xmlns:a16="http://schemas.microsoft.com/office/drawing/2014/main" id="{0C97C06B-1452-47ED-8CA6-C00E7FA90577}"/>
              </a:ext>
            </a:extLst>
          </p:cNvPr>
          <p:cNvSpPr/>
          <p:nvPr/>
        </p:nvSpPr>
        <p:spPr>
          <a:xfrm>
            <a:off x="4170796" y="2195259"/>
            <a:ext cx="1737443" cy="118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Commercial insurance providers charge too much for insurance</a:t>
            </a:r>
          </a:p>
        </p:txBody>
      </p:sp>
      <p:sp>
        <p:nvSpPr>
          <p:cNvPr id="12" name="Rectangle: Rounded Corners 11">
            <a:extLst>
              <a:ext uri="{FF2B5EF4-FFF2-40B4-BE49-F238E27FC236}">
                <a16:creationId xmlns:a16="http://schemas.microsoft.com/office/drawing/2014/main" id="{1978499E-A162-421A-8FA7-FADB79B64B56}"/>
              </a:ext>
            </a:extLst>
          </p:cNvPr>
          <p:cNvSpPr/>
          <p:nvPr/>
        </p:nvSpPr>
        <p:spPr>
          <a:xfrm>
            <a:off x="2021158"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Hospitals charge too much</a:t>
            </a:r>
          </a:p>
        </p:txBody>
      </p:sp>
      <p:cxnSp>
        <p:nvCxnSpPr>
          <p:cNvPr id="3" name="Straight Arrow Connector 2">
            <a:extLst>
              <a:ext uri="{FF2B5EF4-FFF2-40B4-BE49-F238E27FC236}">
                <a16:creationId xmlns:a16="http://schemas.microsoft.com/office/drawing/2014/main" id="{1D82CC16-810E-4956-9842-D035F80584AA}"/>
              </a:ext>
            </a:extLst>
          </p:cNvPr>
          <p:cNvCxnSpPr>
            <a:stCxn id="12" idx="3"/>
            <a:endCxn id="9" idx="1"/>
          </p:cNvCxnSpPr>
          <p:nvPr/>
        </p:nvCxnSpPr>
        <p:spPr>
          <a:xfrm flipV="1">
            <a:off x="3758601" y="2786807"/>
            <a:ext cx="412195" cy="10921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083C42-F54F-4942-954F-BBB70C42B95D}"/>
              </a:ext>
            </a:extLst>
          </p:cNvPr>
          <p:cNvCxnSpPr>
            <a:stCxn id="9" idx="3"/>
            <a:endCxn id="7" idx="1"/>
          </p:cNvCxnSpPr>
          <p:nvPr/>
        </p:nvCxnSpPr>
        <p:spPr>
          <a:xfrm flipV="1">
            <a:off x="5908239" y="2504980"/>
            <a:ext cx="536520" cy="2818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25C49A-B4A4-4F41-A917-6DE3C5E90AAD}"/>
              </a:ext>
            </a:extLst>
          </p:cNvPr>
          <p:cNvCxnSpPr>
            <a:cxnSpLocks/>
          </p:cNvCxnSpPr>
          <p:nvPr/>
        </p:nvCxnSpPr>
        <p:spPr>
          <a:xfrm flipH="1" flipV="1">
            <a:off x="7359688"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60DCA40-6E9F-4BB0-97F4-F2CBC74E8DF3}"/>
              </a:ext>
            </a:extLst>
          </p:cNvPr>
          <p:cNvCxnSpPr>
            <a:stCxn id="12" idx="3"/>
            <a:endCxn id="6" idx="1"/>
          </p:cNvCxnSpPr>
          <p:nvPr/>
        </p:nvCxnSpPr>
        <p:spPr>
          <a:xfrm>
            <a:off x="3758601" y="3879006"/>
            <a:ext cx="2960431" cy="9921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Tree>
    <p:extLst>
      <p:ext uri="{BB962C8B-B14F-4D97-AF65-F5344CB8AC3E}">
        <p14:creationId xmlns:p14="http://schemas.microsoft.com/office/powerpoint/2010/main" val="268283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sp>
        <p:nvSpPr>
          <p:cNvPr id="9" name="Rectangle: Rounded Corners 8">
            <a:extLst>
              <a:ext uri="{FF2B5EF4-FFF2-40B4-BE49-F238E27FC236}">
                <a16:creationId xmlns:a16="http://schemas.microsoft.com/office/drawing/2014/main" id="{0C97C06B-1452-47ED-8CA6-C00E7FA90577}"/>
              </a:ext>
            </a:extLst>
          </p:cNvPr>
          <p:cNvSpPr/>
          <p:nvPr/>
        </p:nvSpPr>
        <p:spPr>
          <a:xfrm>
            <a:off x="4170796" y="2195259"/>
            <a:ext cx="1737443" cy="118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Commercial insurance providers charge too much for insurance</a:t>
            </a:r>
          </a:p>
        </p:txBody>
      </p:sp>
      <p:sp>
        <p:nvSpPr>
          <p:cNvPr id="10" name="Rectangle: Rounded Corners 9">
            <a:extLst>
              <a:ext uri="{FF2B5EF4-FFF2-40B4-BE49-F238E27FC236}">
                <a16:creationId xmlns:a16="http://schemas.microsoft.com/office/drawing/2014/main" id="{2E9D9015-ADC9-4ABF-B65F-BD3AA5F3BCBD}"/>
              </a:ext>
            </a:extLst>
          </p:cNvPr>
          <p:cNvSpPr/>
          <p:nvPr/>
        </p:nvSpPr>
        <p:spPr>
          <a:xfrm>
            <a:off x="77617"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 Expenses are too High</a:t>
            </a:r>
          </a:p>
        </p:txBody>
      </p:sp>
      <p:sp>
        <p:nvSpPr>
          <p:cNvPr id="12" name="Rectangle: Rounded Corners 11">
            <a:extLst>
              <a:ext uri="{FF2B5EF4-FFF2-40B4-BE49-F238E27FC236}">
                <a16:creationId xmlns:a16="http://schemas.microsoft.com/office/drawing/2014/main" id="{1978499E-A162-421A-8FA7-FADB79B64B56}"/>
              </a:ext>
            </a:extLst>
          </p:cNvPr>
          <p:cNvSpPr/>
          <p:nvPr/>
        </p:nvSpPr>
        <p:spPr>
          <a:xfrm>
            <a:off x="2021158"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Hospitals charge too much</a:t>
            </a:r>
          </a:p>
        </p:txBody>
      </p:sp>
      <p:cxnSp>
        <p:nvCxnSpPr>
          <p:cNvPr id="3" name="Straight Arrow Connector 2">
            <a:extLst>
              <a:ext uri="{FF2B5EF4-FFF2-40B4-BE49-F238E27FC236}">
                <a16:creationId xmlns:a16="http://schemas.microsoft.com/office/drawing/2014/main" id="{1D82CC16-810E-4956-9842-D035F80584AA}"/>
              </a:ext>
            </a:extLst>
          </p:cNvPr>
          <p:cNvCxnSpPr>
            <a:stCxn id="12" idx="3"/>
            <a:endCxn id="9" idx="1"/>
          </p:cNvCxnSpPr>
          <p:nvPr/>
        </p:nvCxnSpPr>
        <p:spPr>
          <a:xfrm flipV="1">
            <a:off x="3758601" y="2786807"/>
            <a:ext cx="412195" cy="10921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083C42-F54F-4942-954F-BBB70C42B95D}"/>
              </a:ext>
            </a:extLst>
          </p:cNvPr>
          <p:cNvCxnSpPr>
            <a:stCxn id="9" idx="3"/>
            <a:endCxn id="7" idx="1"/>
          </p:cNvCxnSpPr>
          <p:nvPr/>
        </p:nvCxnSpPr>
        <p:spPr>
          <a:xfrm flipV="1">
            <a:off x="5908239" y="2504980"/>
            <a:ext cx="536520" cy="2818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25C49A-B4A4-4F41-A917-6DE3C5E90AAD}"/>
              </a:ext>
            </a:extLst>
          </p:cNvPr>
          <p:cNvCxnSpPr>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60DCA40-6E9F-4BB0-97F4-F2CBC74E8DF3}"/>
              </a:ext>
            </a:extLst>
          </p:cNvPr>
          <p:cNvCxnSpPr>
            <a:stCxn id="12" idx="3"/>
            <a:endCxn id="6" idx="1"/>
          </p:cNvCxnSpPr>
          <p:nvPr/>
        </p:nvCxnSpPr>
        <p:spPr>
          <a:xfrm>
            <a:off x="3758601" y="3879006"/>
            <a:ext cx="2960431" cy="9921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4642657-371A-4965-9D6B-D5B9CA4A69C4}"/>
              </a:ext>
            </a:extLst>
          </p:cNvPr>
          <p:cNvCxnSpPr>
            <a:cxnSpLocks/>
            <a:stCxn id="10" idx="3"/>
            <a:endCxn id="12" idx="1"/>
          </p:cNvCxnSpPr>
          <p:nvPr/>
        </p:nvCxnSpPr>
        <p:spPr>
          <a:xfrm>
            <a:off x="1815060" y="3879006"/>
            <a:ext cx="2060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Tree>
    <p:extLst>
      <p:ext uri="{BB962C8B-B14F-4D97-AF65-F5344CB8AC3E}">
        <p14:creationId xmlns:p14="http://schemas.microsoft.com/office/powerpoint/2010/main" val="309277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sp>
        <p:nvSpPr>
          <p:cNvPr id="9" name="Rectangle: Rounded Corners 8">
            <a:extLst>
              <a:ext uri="{FF2B5EF4-FFF2-40B4-BE49-F238E27FC236}">
                <a16:creationId xmlns:a16="http://schemas.microsoft.com/office/drawing/2014/main" id="{0C97C06B-1452-47ED-8CA6-C00E7FA90577}"/>
              </a:ext>
            </a:extLst>
          </p:cNvPr>
          <p:cNvSpPr/>
          <p:nvPr/>
        </p:nvSpPr>
        <p:spPr>
          <a:xfrm>
            <a:off x="4170796" y="2195259"/>
            <a:ext cx="1737443" cy="118309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Commercial insurance providers charge too much for insurance</a:t>
            </a:r>
          </a:p>
        </p:txBody>
      </p:sp>
      <p:sp>
        <p:nvSpPr>
          <p:cNvPr id="10" name="Rectangle: Rounded Corners 9">
            <a:extLst>
              <a:ext uri="{FF2B5EF4-FFF2-40B4-BE49-F238E27FC236}">
                <a16:creationId xmlns:a16="http://schemas.microsoft.com/office/drawing/2014/main" id="{2E9D9015-ADC9-4ABF-B65F-BD3AA5F3BCBD}"/>
              </a:ext>
            </a:extLst>
          </p:cNvPr>
          <p:cNvSpPr/>
          <p:nvPr/>
        </p:nvSpPr>
        <p:spPr>
          <a:xfrm>
            <a:off x="77617"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 Expenses are too High</a:t>
            </a:r>
          </a:p>
        </p:txBody>
      </p:sp>
      <p:sp>
        <p:nvSpPr>
          <p:cNvPr id="12" name="Rectangle: Rounded Corners 11">
            <a:extLst>
              <a:ext uri="{FF2B5EF4-FFF2-40B4-BE49-F238E27FC236}">
                <a16:creationId xmlns:a16="http://schemas.microsoft.com/office/drawing/2014/main" id="{1978499E-A162-421A-8FA7-FADB79B64B56}"/>
              </a:ext>
            </a:extLst>
          </p:cNvPr>
          <p:cNvSpPr/>
          <p:nvPr/>
        </p:nvSpPr>
        <p:spPr>
          <a:xfrm>
            <a:off x="2021158"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Hospitals charge too much</a:t>
            </a:r>
          </a:p>
        </p:txBody>
      </p:sp>
      <p:cxnSp>
        <p:nvCxnSpPr>
          <p:cNvPr id="3" name="Straight Arrow Connector 2">
            <a:extLst>
              <a:ext uri="{FF2B5EF4-FFF2-40B4-BE49-F238E27FC236}">
                <a16:creationId xmlns:a16="http://schemas.microsoft.com/office/drawing/2014/main" id="{1D82CC16-810E-4956-9842-D035F80584AA}"/>
              </a:ext>
            </a:extLst>
          </p:cNvPr>
          <p:cNvCxnSpPr>
            <a:stCxn id="12" idx="3"/>
            <a:endCxn id="9" idx="1"/>
          </p:cNvCxnSpPr>
          <p:nvPr/>
        </p:nvCxnSpPr>
        <p:spPr>
          <a:xfrm flipV="1">
            <a:off x="3758601" y="2786807"/>
            <a:ext cx="412195" cy="10921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083C42-F54F-4942-954F-BBB70C42B95D}"/>
              </a:ext>
            </a:extLst>
          </p:cNvPr>
          <p:cNvCxnSpPr>
            <a:stCxn id="9" idx="3"/>
            <a:endCxn id="7" idx="1"/>
          </p:cNvCxnSpPr>
          <p:nvPr/>
        </p:nvCxnSpPr>
        <p:spPr>
          <a:xfrm flipV="1">
            <a:off x="5908239" y="2504980"/>
            <a:ext cx="536520" cy="2818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25C49A-B4A4-4F41-A917-6DE3C5E90AAD}"/>
              </a:ext>
            </a:extLst>
          </p:cNvPr>
          <p:cNvCxnSpPr>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60DCA40-6E9F-4BB0-97F4-F2CBC74E8DF3}"/>
              </a:ext>
            </a:extLst>
          </p:cNvPr>
          <p:cNvCxnSpPr>
            <a:stCxn id="12" idx="3"/>
            <a:endCxn id="6" idx="1"/>
          </p:cNvCxnSpPr>
          <p:nvPr/>
        </p:nvCxnSpPr>
        <p:spPr>
          <a:xfrm>
            <a:off x="3758601" y="3879006"/>
            <a:ext cx="2960431" cy="9921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4642657-371A-4965-9D6B-D5B9CA4A69C4}"/>
              </a:ext>
            </a:extLst>
          </p:cNvPr>
          <p:cNvCxnSpPr>
            <a:cxnSpLocks/>
            <a:stCxn id="10" idx="3"/>
            <a:endCxn id="12" idx="1"/>
          </p:cNvCxnSpPr>
          <p:nvPr/>
        </p:nvCxnSpPr>
        <p:spPr>
          <a:xfrm>
            <a:off x="1815060" y="3879006"/>
            <a:ext cx="2060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9A1BA36-23EA-4E92-B6AB-CF8DB7574E52}"/>
              </a:ext>
            </a:extLst>
          </p:cNvPr>
          <p:cNvSpPr txBox="1"/>
          <p:nvPr/>
        </p:nvSpPr>
        <p:spPr>
          <a:xfrm>
            <a:off x="1988668" y="2076113"/>
            <a:ext cx="1802423" cy="1200329"/>
          </a:xfrm>
          <a:prstGeom prst="rect">
            <a:avLst/>
          </a:prstGeom>
          <a:noFill/>
        </p:spPr>
        <p:txBody>
          <a:bodyPr wrap="square" rtlCol="0">
            <a:spAutoFit/>
          </a:bodyPr>
          <a:lstStyle/>
          <a:p>
            <a:r>
              <a:rPr lang="en-US" b="1" dirty="0"/>
              <a:t>ACT 55- reduce what hospitals can charge for pharmaceuticals</a:t>
            </a:r>
          </a:p>
        </p:txBody>
      </p:sp>
      <p:sp>
        <p:nvSpPr>
          <p:cNvPr id="13" name="TextBox 12">
            <a:extLst>
              <a:ext uri="{FF2B5EF4-FFF2-40B4-BE49-F238E27FC236}">
                <a16:creationId xmlns:a16="http://schemas.microsoft.com/office/drawing/2014/main" id="{EFFE309B-DD31-4FF5-BBEF-AFFCE308758F}"/>
              </a:ext>
            </a:extLst>
          </p:cNvPr>
          <p:cNvSpPr txBox="1"/>
          <p:nvPr/>
        </p:nvSpPr>
        <p:spPr>
          <a:xfrm rot="17403280">
            <a:off x="3468557" y="2856758"/>
            <a:ext cx="877933" cy="369332"/>
          </a:xfrm>
          <a:prstGeom prst="rect">
            <a:avLst/>
          </a:prstGeom>
          <a:noFill/>
        </p:spPr>
        <p:txBody>
          <a:bodyPr wrap="none" rtlCol="0">
            <a:spAutoFit/>
          </a:bodyPr>
          <a:lstStyle/>
          <a:p>
            <a:r>
              <a:rPr lang="en-US" dirty="0"/>
              <a:t>Reduce</a:t>
            </a:r>
          </a:p>
        </p:txBody>
      </p:sp>
      <p:sp>
        <p:nvSpPr>
          <p:cNvPr id="21" name="TextBox 20">
            <a:extLst>
              <a:ext uri="{FF2B5EF4-FFF2-40B4-BE49-F238E27FC236}">
                <a16:creationId xmlns:a16="http://schemas.microsoft.com/office/drawing/2014/main" id="{19B25D13-38A1-4374-AE2D-6D5F74276510}"/>
              </a:ext>
            </a:extLst>
          </p:cNvPr>
          <p:cNvSpPr txBox="1"/>
          <p:nvPr/>
        </p:nvSpPr>
        <p:spPr>
          <a:xfrm rot="1113377">
            <a:off x="4484579" y="3947997"/>
            <a:ext cx="877933" cy="369332"/>
          </a:xfrm>
          <a:prstGeom prst="rect">
            <a:avLst/>
          </a:prstGeom>
          <a:noFill/>
        </p:spPr>
        <p:txBody>
          <a:bodyPr wrap="none" rtlCol="0">
            <a:spAutoFit/>
          </a:bodyPr>
          <a:lstStyle/>
          <a:p>
            <a:r>
              <a:rPr lang="en-US" dirty="0"/>
              <a:t>Reduce</a:t>
            </a:r>
          </a:p>
        </p:txBody>
      </p:sp>
      <p:sp>
        <p:nvSpPr>
          <p:cNvPr id="15" name="TextBox 14">
            <a:extLst>
              <a:ext uri="{FF2B5EF4-FFF2-40B4-BE49-F238E27FC236}">
                <a16:creationId xmlns:a16="http://schemas.microsoft.com/office/drawing/2014/main" id="{36F92D53-5749-4752-951D-EF71C17D25D2}"/>
              </a:ext>
            </a:extLst>
          </p:cNvPr>
          <p:cNvSpPr txBox="1"/>
          <p:nvPr/>
        </p:nvSpPr>
        <p:spPr>
          <a:xfrm>
            <a:off x="950177" y="4862609"/>
            <a:ext cx="2391507" cy="1200329"/>
          </a:xfrm>
          <a:prstGeom prst="rect">
            <a:avLst/>
          </a:prstGeom>
          <a:noFill/>
        </p:spPr>
        <p:txBody>
          <a:bodyPr wrap="square" rtlCol="0">
            <a:spAutoFit/>
          </a:bodyPr>
          <a:lstStyle/>
          <a:p>
            <a:r>
              <a:rPr lang="en-US" dirty="0"/>
              <a:t>Less Revenue will force hospitals to reduce expenses to remain fiscally solvent</a:t>
            </a:r>
          </a:p>
        </p:txBody>
      </p:sp>
      <p:sp>
        <p:nvSpPr>
          <p:cNvPr id="24" name="Arc 23">
            <a:extLst>
              <a:ext uri="{FF2B5EF4-FFF2-40B4-BE49-F238E27FC236}">
                <a16:creationId xmlns:a16="http://schemas.microsoft.com/office/drawing/2014/main" id="{04C78C37-C88A-4FF0-B0F9-6E21B9E61AE1}"/>
              </a:ext>
            </a:extLst>
          </p:cNvPr>
          <p:cNvSpPr/>
          <p:nvPr/>
        </p:nvSpPr>
        <p:spPr>
          <a:xfrm rot="16200000" flipH="1">
            <a:off x="1611797" y="3360252"/>
            <a:ext cx="640657" cy="2171491"/>
          </a:xfrm>
          <a:prstGeom prst="arc">
            <a:avLst>
              <a:gd name="adj1" fmla="val 16199998"/>
              <a:gd name="adj2" fmla="val 5302748"/>
            </a:avLst>
          </a:prstGeom>
          <a:ln w="793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7395DC44-2E4C-41C6-9E51-C3E06384D426}"/>
              </a:ext>
            </a:extLst>
          </p:cNvPr>
          <p:cNvSpPr/>
          <p:nvPr/>
        </p:nvSpPr>
        <p:spPr>
          <a:xfrm>
            <a:off x="5039517" y="826477"/>
            <a:ext cx="2258098" cy="4016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FF09CA3-1510-4563-AE14-3975960F239D}"/>
              </a:ext>
            </a:extLst>
          </p:cNvPr>
          <p:cNvSpPr txBox="1"/>
          <p:nvPr/>
        </p:nvSpPr>
        <p:spPr>
          <a:xfrm>
            <a:off x="77617" y="555381"/>
            <a:ext cx="7293407" cy="1477328"/>
          </a:xfrm>
          <a:prstGeom prst="rect">
            <a:avLst/>
          </a:prstGeom>
          <a:noFill/>
        </p:spPr>
        <p:txBody>
          <a:bodyPr wrap="none" rtlCol="0">
            <a:spAutoFit/>
          </a:bodyPr>
          <a:lstStyle/>
          <a:p>
            <a:r>
              <a:rPr lang="en-US" b="1" dirty="0">
                <a:solidFill>
                  <a:srgbClr val="FF0000"/>
                </a:solidFill>
              </a:rPr>
              <a:t>Legislation working from the middle out;</a:t>
            </a:r>
          </a:p>
          <a:p>
            <a:pPr marL="285750" indent="-285750">
              <a:buFont typeface="Arial" panose="020B0604020202020204" pitchFamily="34" charset="0"/>
              <a:buChar char="•"/>
            </a:pPr>
            <a:r>
              <a:rPr lang="en-US" b="1" dirty="0">
                <a:solidFill>
                  <a:srgbClr val="FF0000"/>
                </a:solidFill>
              </a:rPr>
              <a:t>Give relief to commercial insurance, reduce reimbursement to hospitals</a:t>
            </a:r>
          </a:p>
          <a:p>
            <a:pPr marL="285750" indent="-285750">
              <a:buFont typeface="Arial" panose="020B0604020202020204" pitchFamily="34" charset="0"/>
              <a:buChar char="•"/>
            </a:pPr>
            <a:r>
              <a:rPr lang="en-US" b="1" dirty="0">
                <a:solidFill>
                  <a:srgbClr val="FF0000"/>
                </a:solidFill>
              </a:rPr>
              <a:t>Give relief to patients, reduce payments to hospitals</a:t>
            </a:r>
          </a:p>
          <a:p>
            <a:pPr marL="285750" indent="-285750">
              <a:buFont typeface="Arial" panose="020B0604020202020204" pitchFamily="34" charset="0"/>
              <a:buChar char="•"/>
            </a:pPr>
            <a:r>
              <a:rPr lang="en-US" b="1" dirty="0">
                <a:solidFill>
                  <a:srgbClr val="FF0000"/>
                </a:solidFill>
              </a:rPr>
              <a:t>Reduce hospital revenue</a:t>
            </a:r>
          </a:p>
          <a:p>
            <a:pPr marL="742950" lvl="1" indent="-285750">
              <a:buFont typeface="Arial" panose="020B0604020202020204" pitchFamily="34" charset="0"/>
              <a:buChar char="•"/>
            </a:pPr>
            <a:r>
              <a:rPr lang="en-US" b="1" dirty="0">
                <a:solidFill>
                  <a:srgbClr val="FF0000"/>
                </a:solidFill>
              </a:rPr>
              <a:t>Force hospitals to be more efficient</a:t>
            </a:r>
          </a:p>
        </p:txBody>
      </p:sp>
    </p:spTree>
    <p:extLst>
      <p:ext uri="{BB962C8B-B14F-4D97-AF65-F5344CB8AC3E}">
        <p14:creationId xmlns:p14="http://schemas.microsoft.com/office/powerpoint/2010/main" val="86106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10" name="Rectangle: Rounded Corners 9">
            <a:extLst>
              <a:ext uri="{FF2B5EF4-FFF2-40B4-BE49-F238E27FC236}">
                <a16:creationId xmlns:a16="http://schemas.microsoft.com/office/drawing/2014/main" id="{2E9D9015-ADC9-4ABF-B65F-BD3AA5F3BCBD}"/>
              </a:ext>
            </a:extLst>
          </p:cNvPr>
          <p:cNvSpPr/>
          <p:nvPr/>
        </p:nvSpPr>
        <p:spPr>
          <a:xfrm>
            <a:off x="77617" y="3287458"/>
            <a:ext cx="1737443" cy="118309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Hospital Expenses are too High</a:t>
            </a:r>
          </a:p>
        </p:txBody>
      </p:sp>
      <p:sp>
        <p:nvSpPr>
          <p:cNvPr id="25" name="Rectangle 24">
            <a:extLst>
              <a:ext uri="{FF2B5EF4-FFF2-40B4-BE49-F238E27FC236}">
                <a16:creationId xmlns:a16="http://schemas.microsoft.com/office/drawing/2014/main" id="{7395DC44-2E4C-41C6-9E51-C3E06384D426}"/>
              </a:ext>
            </a:extLst>
          </p:cNvPr>
          <p:cNvSpPr/>
          <p:nvPr/>
        </p:nvSpPr>
        <p:spPr>
          <a:xfrm>
            <a:off x="5039517" y="826477"/>
            <a:ext cx="2258098" cy="4016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DEA3E6-7693-4888-B82A-F7563AAA5A30}"/>
              </a:ext>
            </a:extLst>
          </p:cNvPr>
          <p:cNvSpPr txBox="1"/>
          <p:nvPr/>
        </p:nvSpPr>
        <p:spPr>
          <a:xfrm>
            <a:off x="2382716" y="2051906"/>
            <a:ext cx="6172200" cy="3416320"/>
          </a:xfrm>
          <a:prstGeom prst="rect">
            <a:avLst/>
          </a:prstGeom>
          <a:noFill/>
        </p:spPr>
        <p:txBody>
          <a:bodyPr wrap="square" rtlCol="0">
            <a:spAutoFit/>
          </a:bodyPr>
          <a:lstStyle/>
          <a:p>
            <a:r>
              <a:rPr lang="en-US" sz="2400" dirty="0"/>
              <a:t>Ways to reduce hospital operating expenses</a:t>
            </a:r>
          </a:p>
          <a:p>
            <a:pPr marL="342900" indent="-342900">
              <a:buAutoNum type="arabicPeriod"/>
            </a:pPr>
            <a:r>
              <a:rPr lang="en-US" sz="2400" dirty="0"/>
              <a:t>Reduce administrative expenses</a:t>
            </a:r>
          </a:p>
          <a:p>
            <a:pPr marL="342900" indent="-342900">
              <a:buAutoNum type="arabicPeriod"/>
            </a:pPr>
            <a:r>
              <a:rPr lang="en-US" sz="2400" dirty="0"/>
              <a:t>Lean hospital processes- more efficient, use less resources, less expensive</a:t>
            </a:r>
          </a:p>
          <a:p>
            <a:pPr marL="342900" indent="-342900">
              <a:buAutoNum type="arabicPeriod"/>
            </a:pPr>
            <a:r>
              <a:rPr lang="en-US" sz="2400" dirty="0"/>
              <a:t>Create regionalization- economies of scale, share underutilized resources</a:t>
            </a:r>
          </a:p>
          <a:p>
            <a:pPr marL="342900" indent="-342900">
              <a:buAutoNum type="arabicPeriod"/>
            </a:pPr>
            <a:r>
              <a:rPr lang="en-US" sz="2400" dirty="0"/>
              <a:t>Cut duplicative services and have all the care of a service line delivered at one hospital (economies of scale)  </a:t>
            </a:r>
          </a:p>
        </p:txBody>
      </p:sp>
    </p:spTree>
    <p:extLst>
      <p:ext uri="{BB962C8B-B14F-4D97-AF65-F5344CB8AC3E}">
        <p14:creationId xmlns:p14="http://schemas.microsoft.com/office/powerpoint/2010/main" val="3660048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cxnSp>
        <p:nvCxnSpPr>
          <p:cNvPr id="16" name="Straight Arrow Connector 15">
            <a:extLst>
              <a:ext uri="{FF2B5EF4-FFF2-40B4-BE49-F238E27FC236}">
                <a16:creationId xmlns:a16="http://schemas.microsoft.com/office/drawing/2014/main" id="{F725C49A-B4A4-4F41-A917-6DE3C5E90AAD}"/>
              </a:ext>
            </a:extLst>
          </p:cNvPr>
          <p:cNvCxnSpPr>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
        <p:nvSpPr>
          <p:cNvPr id="21" name="TextBox 20">
            <a:extLst>
              <a:ext uri="{FF2B5EF4-FFF2-40B4-BE49-F238E27FC236}">
                <a16:creationId xmlns:a16="http://schemas.microsoft.com/office/drawing/2014/main" id="{EE90FFFF-B78A-4D8B-9B57-691F9716E165}"/>
              </a:ext>
            </a:extLst>
          </p:cNvPr>
          <p:cNvSpPr txBox="1"/>
          <p:nvPr/>
        </p:nvSpPr>
        <p:spPr>
          <a:xfrm>
            <a:off x="153512" y="706887"/>
            <a:ext cx="5773230" cy="6001643"/>
          </a:xfrm>
          <a:prstGeom prst="rect">
            <a:avLst/>
          </a:prstGeom>
          <a:noFill/>
        </p:spPr>
        <p:txBody>
          <a:bodyPr wrap="square" rtlCol="0">
            <a:spAutoFit/>
          </a:bodyPr>
          <a:lstStyle/>
          <a:p>
            <a:r>
              <a:rPr lang="en-US" sz="2400" dirty="0"/>
              <a:t>Other ways to reduce what Vermonters pay for healthcare</a:t>
            </a:r>
          </a:p>
          <a:p>
            <a:pPr marL="342900" indent="-342900">
              <a:buFontTx/>
              <a:buAutoNum type="arabicPeriod"/>
            </a:pPr>
            <a:r>
              <a:rPr lang="en-US" sz="2400" dirty="0"/>
              <a:t>Repatriate care to VT hospitals from out-of-state hospitals that typically receive higher reimbursement than do VT hospitals</a:t>
            </a:r>
          </a:p>
          <a:p>
            <a:pPr marL="342900" indent="-342900">
              <a:buFontTx/>
              <a:buAutoNum type="arabicPeriod"/>
            </a:pPr>
            <a:r>
              <a:rPr lang="en-US" sz="2400" dirty="0"/>
              <a:t>Collaborative launch of new clinical service lines by multiple hospitals (SVMC and RRMC) allowing care to occur in Vermont that otherwise would be unsustainable if the service line provided care for patients in only one hospital market.</a:t>
            </a:r>
          </a:p>
          <a:p>
            <a:pPr marL="914400" lvl="1" indent="-457200">
              <a:buFont typeface="+mj-lt"/>
              <a:buAutoNum type="alphaLcParenR"/>
            </a:pPr>
            <a:r>
              <a:rPr lang="en-US" sz="2400" dirty="0"/>
              <a:t>Allergy care</a:t>
            </a:r>
          </a:p>
          <a:p>
            <a:pPr marL="914400" lvl="1" indent="-457200">
              <a:buFont typeface="+mj-lt"/>
              <a:buAutoNum type="alphaLcParenR"/>
            </a:pPr>
            <a:r>
              <a:rPr lang="en-US" sz="2400" dirty="0"/>
              <a:t>ENT care</a:t>
            </a:r>
          </a:p>
          <a:p>
            <a:pPr marL="914400" lvl="1" indent="-457200">
              <a:buFont typeface="+mj-lt"/>
              <a:buAutoNum type="alphaLcParenR"/>
            </a:pPr>
            <a:r>
              <a:rPr lang="en-US" sz="2400" dirty="0"/>
              <a:t>ERCP</a:t>
            </a:r>
          </a:p>
        </p:txBody>
      </p:sp>
    </p:spTree>
    <p:extLst>
      <p:ext uri="{BB962C8B-B14F-4D97-AF65-F5344CB8AC3E}">
        <p14:creationId xmlns:p14="http://schemas.microsoft.com/office/powerpoint/2010/main" val="987708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cxnSp>
        <p:nvCxnSpPr>
          <p:cNvPr id="16" name="Straight Arrow Connector 15">
            <a:extLst>
              <a:ext uri="{FF2B5EF4-FFF2-40B4-BE49-F238E27FC236}">
                <a16:creationId xmlns:a16="http://schemas.microsoft.com/office/drawing/2014/main" id="{F725C49A-B4A4-4F41-A917-6DE3C5E90AAD}"/>
              </a:ext>
            </a:extLst>
          </p:cNvPr>
          <p:cNvCxnSpPr>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
        <p:nvSpPr>
          <p:cNvPr id="21" name="TextBox 20">
            <a:extLst>
              <a:ext uri="{FF2B5EF4-FFF2-40B4-BE49-F238E27FC236}">
                <a16:creationId xmlns:a16="http://schemas.microsoft.com/office/drawing/2014/main" id="{EE90FFFF-B78A-4D8B-9B57-691F9716E165}"/>
              </a:ext>
            </a:extLst>
          </p:cNvPr>
          <p:cNvSpPr txBox="1"/>
          <p:nvPr/>
        </p:nvSpPr>
        <p:spPr>
          <a:xfrm>
            <a:off x="153512" y="706887"/>
            <a:ext cx="5773230" cy="4893647"/>
          </a:xfrm>
          <a:prstGeom prst="rect">
            <a:avLst/>
          </a:prstGeom>
          <a:noFill/>
        </p:spPr>
        <p:txBody>
          <a:bodyPr wrap="square" rtlCol="0">
            <a:spAutoFit/>
          </a:bodyPr>
          <a:lstStyle/>
          <a:p>
            <a:r>
              <a:rPr lang="en-US" sz="2400" dirty="0"/>
              <a:t>Third way to reduce what Vermonters pay for healthcare </a:t>
            </a:r>
          </a:p>
          <a:p>
            <a:pPr marL="457200" indent="-457200">
              <a:buFont typeface="+mj-lt"/>
              <a:buAutoNum type="arabicPeriod" startAt="3"/>
            </a:pPr>
            <a:r>
              <a:rPr lang="en-US" sz="2400" dirty="0"/>
              <a:t>Reduce unnecessary acute care healthcare utilization, particularly ED and inpatient utilization or excessive care at end-of-life, for Medicare and Medicare patients</a:t>
            </a:r>
          </a:p>
          <a:p>
            <a:pPr marL="457200" indent="-457200">
              <a:buFont typeface="+mj-lt"/>
              <a:buAutoNum type="arabicPeriod" startAt="3"/>
            </a:pPr>
            <a:endParaRPr lang="en-US" sz="2400" dirty="0"/>
          </a:p>
          <a:p>
            <a:pPr lvl="1"/>
            <a:r>
              <a:rPr lang="en-US" sz="2400" b="1" i="1" dirty="0"/>
              <a:t>How does reduction in utilization by Medicare and Medicaid patients reduce what patients with commercial insurance pay?</a:t>
            </a:r>
          </a:p>
          <a:p>
            <a:pPr marL="914400" lvl="1" indent="-457200">
              <a:buFont typeface="+mj-lt"/>
              <a:buAutoNum type="arabicPeriod" startAt="3"/>
            </a:pPr>
            <a:endParaRPr lang="en-US" sz="2400" dirty="0"/>
          </a:p>
        </p:txBody>
      </p:sp>
    </p:spTree>
    <p:extLst>
      <p:ext uri="{BB962C8B-B14F-4D97-AF65-F5344CB8AC3E}">
        <p14:creationId xmlns:p14="http://schemas.microsoft.com/office/powerpoint/2010/main" val="3864833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8D652E-CB83-4175-BB23-DD14B41778DE}"/>
              </a:ext>
            </a:extLst>
          </p:cNvPr>
          <p:cNvSpPr>
            <a:spLocks noGrp="1"/>
          </p:cNvSpPr>
          <p:nvPr>
            <p:ph type="sldNum" sz="quarter" idx="12"/>
          </p:nvPr>
        </p:nvSpPr>
        <p:spPr>
          <a:xfrm>
            <a:off x="6808280" y="5624513"/>
            <a:ext cx="2057400" cy="273844"/>
          </a:xfrm>
        </p:spPr>
        <p:txBody>
          <a:bodyPr>
            <a:normAutofit/>
          </a:bodyPr>
          <a:lstStyle/>
          <a:p>
            <a:pPr defTabSz="685800">
              <a:spcAft>
                <a:spcPts val="450"/>
              </a:spcAft>
              <a:defRPr/>
            </a:pPr>
            <a:fld id="{B096A2CE-7E7C-4D08-99D4-9E35824CF6A1}" type="slidenum">
              <a:rPr lang="en-US" sz="900">
                <a:solidFill>
                  <a:prstClr val="white"/>
                </a:solidFill>
                <a:latin typeface="Calibri" panose="020F0502020204030204"/>
              </a:rPr>
              <a:pPr defTabSz="685800">
                <a:spcAft>
                  <a:spcPts val="450"/>
                </a:spcAft>
                <a:defRPr/>
              </a:pPr>
              <a:t>10</a:t>
            </a:fld>
            <a:endParaRPr lang="en-US" sz="900">
              <a:solidFill>
                <a:prstClr val="white"/>
              </a:solidFill>
              <a:latin typeface="Calibri" panose="020F0502020204030204"/>
            </a:endParaRPr>
          </a:p>
        </p:txBody>
      </p:sp>
      <p:sp>
        <p:nvSpPr>
          <p:cNvPr id="5" name="Rectangle 4"/>
          <p:cNvSpPr/>
          <p:nvPr/>
        </p:nvSpPr>
        <p:spPr>
          <a:xfrm>
            <a:off x="467700" y="5610933"/>
            <a:ext cx="3353867" cy="300082"/>
          </a:xfrm>
          <a:prstGeom prst="rect">
            <a:avLst/>
          </a:prstGeom>
        </p:spPr>
        <p:txBody>
          <a:bodyPr wrap="none">
            <a:spAutoFit/>
          </a:bodyPr>
          <a:lstStyle/>
          <a:p>
            <a:r>
              <a:rPr lang="en-US" sz="1350" dirty="0">
                <a:hlinkClick r:id="rId3"/>
              </a:rPr>
              <a:t>Medicare's 2025 physician pay cut, explained</a:t>
            </a:r>
            <a:endParaRPr lang="en-US" sz="1350" dirty="0"/>
          </a:p>
        </p:txBody>
      </p:sp>
      <p:sp>
        <p:nvSpPr>
          <p:cNvPr id="6" name="TextBox 5"/>
          <p:cNvSpPr txBox="1"/>
          <p:nvPr/>
        </p:nvSpPr>
        <p:spPr>
          <a:xfrm>
            <a:off x="6512753" y="2412484"/>
            <a:ext cx="2648453" cy="1754326"/>
          </a:xfrm>
          <a:prstGeom prst="rect">
            <a:avLst/>
          </a:prstGeom>
          <a:noFill/>
        </p:spPr>
        <p:txBody>
          <a:bodyPr wrap="square" rtlCol="0">
            <a:spAutoFit/>
          </a:bodyPr>
          <a:lstStyle/>
          <a:p>
            <a:r>
              <a:rPr lang="en-US" b="1" dirty="0">
                <a:solidFill>
                  <a:srgbClr val="00B0F0"/>
                </a:solidFill>
              </a:rPr>
              <a:t>What doctors and hospitals get paid to take care of people on Medicare has </a:t>
            </a:r>
            <a:r>
              <a:rPr lang="en-US" b="1" u="sng" dirty="0">
                <a:solidFill>
                  <a:srgbClr val="00B0F0"/>
                </a:solidFill>
              </a:rPr>
              <a:t>decreased</a:t>
            </a:r>
            <a:r>
              <a:rPr lang="en-US" b="1" dirty="0">
                <a:solidFill>
                  <a:srgbClr val="00B0F0"/>
                </a:solidFill>
              </a:rPr>
              <a:t>, while the cost to deliver that care has increased.</a:t>
            </a:r>
          </a:p>
        </p:txBody>
      </p:sp>
      <p:sp>
        <p:nvSpPr>
          <p:cNvPr id="8" name="TextBox 7">
            <a:extLst>
              <a:ext uri="{FF2B5EF4-FFF2-40B4-BE49-F238E27FC236}">
                <a16:creationId xmlns:a16="http://schemas.microsoft.com/office/drawing/2014/main" id="{CBB5D7B7-03A7-4EF5-87A4-CFBEA6C2569D}"/>
              </a:ext>
            </a:extLst>
          </p:cNvPr>
          <p:cNvSpPr txBox="1"/>
          <p:nvPr/>
        </p:nvSpPr>
        <p:spPr>
          <a:xfrm>
            <a:off x="467700" y="185290"/>
            <a:ext cx="8056564" cy="523220"/>
          </a:xfrm>
          <a:prstGeom prst="rect">
            <a:avLst/>
          </a:prstGeom>
          <a:noFill/>
        </p:spPr>
        <p:txBody>
          <a:bodyPr wrap="none" rtlCol="0">
            <a:spAutoFit/>
          </a:bodyPr>
          <a:lstStyle/>
          <a:p>
            <a:r>
              <a:rPr lang="en-US" sz="2800" dirty="0"/>
              <a:t>Medicare pays ~80 cents to the dollar of care received</a:t>
            </a:r>
          </a:p>
        </p:txBody>
      </p:sp>
      <p:pic>
        <p:nvPicPr>
          <p:cNvPr id="9" name="Picture 8">
            <a:extLst>
              <a:ext uri="{FF2B5EF4-FFF2-40B4-BE49-F238E27FC236}">
                <a16:creationId xmlns:a16="http://schemas.microsoft.com/office/drawing/2014/main" id="{8BF96E0F-BCC3-46E1-8DAA-0AF208932013}"/>
              </a:ext>
            </a:extLst>
          </p:cNvPr>
          <p:cNvPicPr>
            <a:picLocks noChangeAspect="1"/>
          </p:cNvPicPr>
          <p:nvPr/>
        </p:nvPicPr>
        <p:blipFill>
          <a:blip r:embed="rId4"/>
          <a:stretch>
            <a:fillRect/>
          </a:stretch>
        </p:blipFill>
        <p:spPr>
          <a:xfrm>
            <a:off x="101600" y="630928"/>
            <a:ext cx="6343325" cy="4847411"/>
          </a:xfrm>
          <a:prstGeom prst="rect">
            <a:avLst/>
          </a:prstGeom>
        </p:spPr>
      </p:pic>
      <p:pic>
        <p:nvPicPr>
          <p:cNvPr id="13" name="Picture 12">
            <a:extLst>
              <a:ext uri="{FF2B5EF4-FFF2-40B4-BE49-F238E27FC236}">
                <a16:creationId xmlns:a16="http://schemas.microsoft.com/office/drawing/2014/main" id="{091E60BB-2E5A-4058-9AE8-1F40F85E630E}"/>
              </a:ext>
            </a:extLst>
          </p:cNvPr>
          <p:cNvPicPr>
            <a:picLocks noChangeAspect="1"/>
          </p:cNvPicPr>
          <p:nvPr/>
        </p:nvPicPr>
        <p:blipFill>
          <a:blip r:embed="rId5"/>
          <a:stretch>
            <a:fillRect/>
          </a:stretch>
        </p:blipFill>
        <p:spPr>
          <a:xfrm>
            <a:off x="467700" y="5962210"/>
            <a:ext cx="8345363" cy="523220"/>
          </a:xfrm>
          <a:prstGeom prst="rect">
            <a:avLst/>
          </a:prstGeom>
        </p:spPr>
      </p:pic>
      <p:sp>
        <p:nvSpPr>
          <p:cNvPr id="7" name="Rounded Rectangle 6"/>
          <p:cNvSpPr/>
          <p:nvPr/>
        </p:nvSpPr>
        <p:spPr>
          <a:xfrm>
            <a:off x="350419" y="5928083"/>
            <a:ext cx="8462644" cy="642050"/>
          </a:xfrm>
          <a:prstGeom prst="round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9CB0A01E-0CA2-4FA2-8FD9-22BCC97E572F}"/>
              </a:ext>
            </a:extLst>
          </p:cNvPr>
          <p:cNvSpPr txBox="1"/>
          <p:nvPr/>
        </p:nvSpPr>
        <p:spPr>
          <a:xfrm>
            <a:off x="1354666" y="6360759"/>
            <a:ext cx="2974789" cy="369332"/>
          </a:xfrm>
          <a:prstGeom prst="rect">
            <a:avLst/>
          </a:prstGeom>
          <a:solidFill>
            <a:schemeClr val="bg1"/>
          </a:solidFill>
        </p:spPr>
        <p:txBody>
          <a:bodyPr wrap="none" rtlCol="0">
            <a:spAutoFit/>
          </a:bodyPr>
          <a:lstStyle/>
          <a:p>
            <a:r>
              <a:rPr lang="en-US" dirty="0"/>
              <a:t>Far below the rate of inflation</a:t>
            </a:r>
          </a:p>
        </p:txBody>
      </p:sp>
    </p:spTree>
    <p:extLst>
      <p:ext uri="{BB962C8B-B14F-4D97-AF65-F5344CB8AC3E}">
        <p14:creationId xmlns:p14="http://schemas.microsoft.com/office/powerpoint/2010/main" val="2113121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8" name="Google Shape;278;p3"/>
          <p:cNvSpPr txBox="1">
            <a:spLocks noGrp="1"/>
          </p:cNvSpPr>
          <p:nvPr>
            <p:ph type="sldNum" idx="12"/>
          </p:nvPr>
        </p:nvSpPr>
        <p:spPr>
          <a:xfrm>
            <a:off x="8549642" y="1220100"/>
            <a:ext cx="243225" cy="103950"/>
          </a:xfrm>
          <a:prstGeom prst="rect">
            <a:avLst/>
          </a:prstGeom>
          <a:noFill/>
          <a:ln>
            <a:noFill/>
          </a:ln>
        </p:spPr>
        <p:txBody>
          <a:bodyPr spcFirstLastPara="1" vert="horz" wrap="square" lIns="0" tIns="0" rIns="0" bIns="0" rtlCol="0" anchor="ctr" anchorCtr="0">
            <a:noAutofit/>
          </a:bodyPr>
          <a:lstStyle/>
          <a:p>
            <a:fld id="{00000000-1234-1234-1234-123412341234}" type="slidenum">
              <a:rPr lang="en-US"/>
              <a:pPr/>
              <a:t>11</a:t>
            </a:fld>
            <a:endParaRPr/>
          </a:p>
        </p:txBody>
      </p:sp>
      <p:cxnSp>
        <p:nvCxnSpPr>
          <p:cNvPr id="27" name="Straight Connector 26">
            <a:extLst>
              <a:ext uri="{FF2B5EF4-FFF2-40B4-BE49-F238E27FC236}">
                <a16:creationId xmlns:a16="http://schemas.microsoft.com/office/drawing/2014/main" id="{DDDE5142-B030-4F11-A7B3-BC80BAA2F839}"/>
              </a:ext>
            </a:extLst>
          </p:cNvPr>
          <p:cNvCxnSpPr>
            <a:cxnSpLocks/>
          </p:cNvCxnSpPr>
          <p:nvPr/>
        </p:nvCxnSpPr>
        <p:spPr>
          <a:xfrm>
            <a:off x="1587575" y="3831897"/>
            <a:ext cx="7083679"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7FAB235-C239-4B6F-9AFF-F8EC6478D118}"/>
              </a:ext>
            </a:extLst>
          </p:cNvPr>
          <p:cNvSpPr txBox="1"/>
          <p:nvPr/>
        </p:nvSpPr>
        <p:spPr>
          <a:xfrm>
            <a:off x="2270297" y="5370825"/>
            <a:ext cx="1760931" cy="300082"/>
          </a:xfrm>
          <a:prstGeom prst="rect">
            <a:avLst/>
          </a:prstGeom>
          <a:noFill/>
        </p:spPr>
        <p:txBody>
          <a:bodyPr wrap="none" rtlCol="0">
            <a:spAutoFit/>
          </a:bodyPr>
          <a:lstStyle/>
          <a:p>
            <a:r>
              <a:rPr lang="en-US" sz="1350" dirty="0"/>
              <a:t>Non-Vermont Hospital</a:t>
            </a:r>
          </a:p>
        </p:txBody>
      </p:sp>
      <p:sp>
        <p:nvSpPr>
          <p:cNvPr id="31" name="TextBox 30">
            <a:extLst>
              <a:ext uri="{FF2B5EF4-FFF2-40B4-BE49-F238E27FC236}">
                <a16:creationId xmlns:a16="http://schemas.microsoft.com/office/drawing/2014/main" id="{08EDB3E1-8047-4A2C-9D01-E60C59810399}"/>
              </a:ext>
            </a:extLst>
          </p:cNvPr>
          <p:cNvSpPr txBox="1"/>
          <p:nvPr/>
        </p:nvSpPr>
        <p:spPr>
          <a:xfrm>
            <a:off x="712859" y="3484420"/>
            <a:ext cx="996329" cy="715581"/>
          </a:xfrm>
          <a:prstGeom prst="rect">
            <a:avLst/>
          </a:prstGeom>
          <a:noFill/>
        </p:spPr>
        <p:txBody>
          <a:bodyPr wrap="square" rtlCol="0">
            <a:spAutoFit/>
          </a:bodyPr>
          <a:lstStyle/>
          <a:p>
            <a:r>
              <a:rPr lang="en-US" sz="1350" dirty="0"/>
              <a:t>Expense to deliver care </a:t>
            </a:r>
          </a:p>
        </p:txBody>
      </p:sp>
      <p:sp>
        <p:nvSpPr>
          <p:cNvPr id="257" name="TextBox 256">
            <a:extLst>
              <a:ext uri="{FF2B5EF4-FFF2-40B4-BE49-F238E27FC236}">
                <a16:creationId xmlns:a16="http://schemas.microsoft.com/office/drawing/2014/main" id="{09976A59-1356-4C7B-A172-58AEF80B4E72}"/>
              </a:ext>
            </a:extLst>
          </p:cNvPr>
          <p:cNvSpPr txBox="1"/>
          <p:nvPr/>
        </p:nvSpPr>
        <p:spPr>
          <a:xfrm>
            <a:off x="1583283" y="3530585"/>
            <a:ext cx="670376" cy="300082"/>
          </a:xfrm>
          <a:prstGeom prst="rect">
            <a:avLst/>
          </a:prstGeom>
          <a:noFill/>
        </p:spPr>
        <p:txBody>
          <a:bodyPr wrap="none" rtlCol="0">
            <a:spAutoFit/>
          </a:bodyPr>
          <a:lstStyle/>
          <a:p>
            <a:r>
              <a:rPr lang="en-US" sz="1350" b="1" dirty="0">
                <a:solidFill>
                  <a:srgbClr val="C00000"/>
                </a:solidFill>
              </a:rPr>
              <a:t>$1,000</a:t>
            </a:r>
          </a:p>
        </p:txBody>
      </p:sp>
      <p:sp>
        <p:nvSpPr>
          <p:cNvPr id="258" name="TextBox 257">
            <a:extLst>
              <a:ext uri="{FF2B5EF4-FFF2-40B4-BE49-F238E27FC236}">
                <a16:creationId xmlns:a16="http://schemas.microsoft.com/office/drawing/2014/main" id="{31E64BF2-CECA-469D-8777-80B672164C3C}"/>
              </a:ext>
            </a:extLst>
          </p:cNvPr>
          <p:cNvSpPr txBox="1"/>
          <p:nvPr/>
        </p:nvSpPr>
        <p:spPr>
          <a:xfrm>
            <a:off x="1943101" y="4881995"/>
            <a:ext cx="893618" cy="507831"/>
          </a:xfrm>
          <a:prstGeom prst="rect">
            <a:avLst/>
          </a:prstGeom>
          <a:noFill/>
        </p:spPr>
        <p:txBody>
          <a:bodyPr wrap="square" rtlCol="0">
            <a:spAutoFit/>
          </a:bodyPr>
          <a:lstStyle/>
          <a:p>
            <a:pPr algn="ctr"/>
            <a:r>
              <a:rPr lang="en-US" sz="1350" dirty="0"/>
              <a:t>Medicare Payment</a:t>
            </a:r>
          </a:p>
        </p:txBody>
      </p:sp>
      <p:cxnSp>
        <p:nvCxnSpPr>
          <p:cNvPr id="260" name="Straight Connector 259">
            <a:extLst>
              <a:ext uri="{FF2B5EF4-FFF2-40B4-BE49-F238E27FC236}">
                <a16:creationId xmlns:a16="http://schemas.microsoft.com/office/drawing/2014/main" id="{376B0908-1626-407A-96E6-E72E536F9177}"/>
              </a:ext>
            </a:extLst>
          </p:cNvPr>
          <p:cNvCxnSpPr/>
          <p:nvPr/>
        </p:nvCxnSpPr>
        <p:spPr>
          <a:xfrm>
            <a:off x="2202873" y="3992251"/>
            <a:ext cx="540327" cy="0"/>
          </a:xfrm>
          <a:prstGeom prst="line">
            <a:avLst/>
          </a:prstGeom>
          <a:ln w="50800">
            <a:solidFill>
              <a:srgbClr val="0070C0"/>
            </a:solidFill>
          </a:ln>
        </p:spPr>
        <p:style>
          <a:lnRef idx="1">
            <a:schemeClr val="accent1"/>
          </a:lnRef>
          <a:fillRef idx="0">
            <a:schemeClr val="accent1"/>
          </a:fillRef>
          <a:effectRef idx="0">
            <a:schemeClr val="accent1"/>
          </a:effectRef>
          <a:fontRef idx="minor">
            <a:schemeClr val="tx1"/>
          </a:fontRef>
        </p:style>
      </p:cxnSp>
      <p:sp>
        <p:nvSpPr>
          <p:cNvPr id="261" name="TextBox 260">
            <a:extLst>
              <a:ext uri="{FF2B5EF4-FFF2-40B4-BE49-F238E27FC236}">
                <a16:creationId xmlns:a16="http://schemas.microsoft.com/office/drawing/2014/main" id="{255E3580-618F-4D6F-A993-A7AA9A227D84}"/>
              </a:ext>
            </a:extLst>
          </p:cNvPr>
          <p:cNvSpPr txBox="1"/>
          <p:nvPr/>
        </p:nvSpPr>
        <p:spPr>
          <a:xfrm>
            <a:off x="2254708" y="4033108"/>
            <a:ext cx="537327" cy="300082"/>
          </a:xfrm>
          <a:prstGeom prst="rect">
            <a:avLst/>
          </a:prstGeom>
          <a:noFill/>
        </p:spPr>
        <p:txBody>
          <a:bodyPr wrap="none" rtlCol="0">
            <a:spAutoFit/>
          </a:bodyPr>
          <a:lstStyle/>
          <a:p>
            <a:r>
              <a:rPr lang="en-US" sz="1350" dirty="0">
                <a:solidFill>
                  <a:srgbClr val="0070C0"/>
                </a:solidFill>
              </a:rPr>
              <a:t>$800</a:t>
            </a:r>
          </a:p>
        </p:txBody>
      </p:sp>
      <p:sp>
        <p:nvSpPr>
          <p:cNvPr id="42" name="TextBox 41">
            <a:extLst>
              <a:ext uri="{FF2B5EF4-FFF2-40B4-BE49-F238E27FC236}">
                <a16:creationId xmlns:a16="http://schemas.microsoft.com/office/drawing/2014/main" id="{9CADC2BD-234F-4B62-831B-7E678B9A90E0}"/>
              </a:ext>
            </a:extLst>
          </p:cNvPr>
          <p:cNvSpPr txBox="1"/>
          <p:nvPr/>
        </p:nvSpPr>
        <p:spPr>
          <a:xfrm>
            <a:off x="2972476" y="4881995"/>
            <a:ext cx="1058752" cy="507831"/>
          </a:xfrm>
          <a:prstGeom prst="rect">
            <a:avLst/>
          </a:prstGeom>
          <a:noFill/>
        </p:spPr>
        <p:txBody>
          <a:bodyPr wrap="square" rtlCol="0">
            <a:spAutoFit/>
          </a:bodyPr>
          <a:lstStyle/>
          <a:p>
            <a:pPr algn="ctr"/>
            <a:r>
              <a:rPr lang="en-US" sz="1350" dirty="0"/>
              <a:t>Commercial Payment</a:t>
            </a:r>
          </a:p>
        </p:txBody>
      </p:sp>
      <p:cxnSp>
        <p:nvCxnSpPr>
          <p:cNvPr id="43" name="Straight Connector 42">
            <a:extLst>
              <a:ext uri="{FF2B5EF4-FFF2-40B4-BE49-F238E27FC236}">
                <a16:creationId xmlns:a16="http://schemas.microsoft.com/office/drawing/2014/main" id="{627E4F11-3DDA-4C20-A03A-989B968630D3}"/>
              </a:ext>
            </a:extLst>
          </p:cNvPr>
          <p:cNvCxnSpPr/>
          <p:nvPr/>
        </p:nvCxnSpPr>
        <p:spPr>
          <a:xfrm>
            <a:off x="3148446" y="3489136"/>
            <a:ext cx="540327" cy="0"/>
          </a:xfrm>
          <a:prstGeom prst="line">
            <a:avLst/>
          </a:prstGeom>
          <a:ln w="50800">
            <a:solidFill>
              <a:srgbClr val="FF6600"/>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CA24EE8D-2CB9-4097-9A72-1FB49E846F15}"/>
              </a:ext>
            </a:extLst>
          </p:cNvPr>
          <p:cNvSpPr txBox="1"/>
          <p:nvPr/>
        </p:nvSpPr>
        <p:spPr>
          <a:xfrm>
            <a:off x="3124083" y="3237579"/>
            <a:ext cx="668773" cy="300082"/>
          </a:xfrm>
          <a:prstGeom prst="rect">
            <a:avLst/>
          </a:prstGeom>
          <a:noFill/>
        </p:spPr>
        <p:txBody>
          <a:bodyPr wrap="none" rtlCol="0">
            <a:spAutoFit/>
          </a:bodyPr>
          <a:lstStyle/>
          <a:p>
            <a:r>
              <a:rPr lang="en-US" sz="1350" dirty="0">
                <a:solidFill>
                  <a:srgbClr val="FF6600"/>
                </a:solidFill>
              </a:rPr>
              <a:t>$1,200</a:t>
            </a:r>
          </a:p>
        </p:txBody>
      </p:sp>
      <p:sp>
        <p:nvSpPr>
          <p:cNvPr id="48" name="Google Shape;279;p3">
            <a:extLst>
              <a:ext uri="{FF2B5EF4-FFF2-40B4-BE49-F238E27FC236}">
                <a16:creationId xmlns:a16="http://schemas.microsoft.com/office/drawing/2014/main" id="{BDB5A9B5-028F-4147-8D39-95D5B9553ED7}"/>
              </a:ext>
            </a:extLst>
          </p:cNvPr>
          <p:cNvSpPr txBox="1">
            <a:spLocks noGrp="1"/>
          </p:cNvSpPr>
          <p:nvPr>
            <p:ph type="title"/>
          </p:nvPr>
        </p:nvSpPr>
        <p:spPr>
          <a:xfrm>
            <a:off x="433913" y="1716967"/>
            <a:ext cx="5755727" cy="550575"/>
          </a:xfrm>
          <a:prstGeom prst="rect">
            <a:avLst/>
          </a:prstGeom>
          <a:noFill/>
          <a:ln>
            <a:noFill/>
          </a:ln>
        </p:spPr>
        <p:txBody>
          <a:bodyPr spcFirstLastPara="1" vert="horz" wrap="square" lIns="0" tIns="0" rIns="0" bIns="0" rtlCol="0" anchor="ctr" anchorCtr="0">
            <a:noAutofit/>
          </a:bodyPr>
          <a:lstStyle/>
          <a:p>
            <a:r>
              <a:rPr lang="en-US" sz="2400" dirty="0">
                <a:latin typeface="Average"/>
                <a:ea typeface="Average"/>
                <a:cs typeface="Average"/>
                <a:sym typeface="Average"/>
              </a:rPr>
              <a:t>How does super low Medicare payment cause super high Commercial payment? </a:t>
            </a:r>
            <a:endParaRPr sz="2700" dirty="0">
              <a:latin typeface="Average"/>
              <a:ea typeface="Average"/>
              <a:cs typeface="Average"/>
              <a:sym typeface="Average"/>
            </a:endParaRPr>
          </a:p>
        </p:txBody>
      </p:sp>
    </p:spTree>
    <p:extLst>
      <p:ext uri="{BB962C8B-B14F-4D97-AF65-F5344CB8AC3E}">
        <p14:creationId xmlns:p14="http://schemas.microsoft.com/office/powerpoint/2010/main" val="3273308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16068F3-F22B-4624-845B-FF4A2C748947}"/>
              </a:ext>
            </a:extLst>
          </p:cNvPr>
          <p:cNvSpPr txBox="1">
            <a:spLocks/>
          </p:cNvSpPr>
          <p:nvPr/>
        </p:nvSpPr>
        <p:spPr>
          <a:xfrm>
            <a:off x="308925" y="1494929"/>
            <a:ext cx="8787630" cy="384552"/>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r>
              <a:rPr lang="en-US" sz="2100" b="1" dirty="0">
                <a:solidFill>
                  <a:prstClr val="black"/>
                </a:solidFill>
                <a:latin typeface="Verdana" panose="020B0604030504040204" pitchFamily="34" charset="0"/>
                <a:ea typeface="Verdana" panose="020B0604030504040204" pitchFamily="34" charset="0"/>
              </a:rPr>
              <a:t>Let’s talk about VERMONT</a:t>
            </a:r>
          </a:p>
        </p:txBody>
      </p:sp>
      <p:pic>
        <p:nvPicPr>
          <p:cNvPr id="23" name="Picture 22"/>
          <p:cNvPicPr>
            <a:picLocks noChangeAspect="1"/>
          </p:cNvPicPr>
          <p:nvPr/>
        </p:nvPicPr>
        <p:blipFill>
          <a:blip r:embed="rId3"/>
          <a:stretch>
            <a:fillRect/>
          </a:stretch>
        </p:blipFill>
        <p:spPr>
          <a:xfrm>
            <a:off x="277242" y="1242798"/>
            <a:ext cx="695126" cy="253517"/>
          </a:xfrm>
          <a:prstGeom prst="rect">
            <a:avLst/>
          </a:prstGeom>
        </p:spPr>
      </p:pic>
      <p:pic>
        <p:nvPicPr>
          <p:cNvPr id="8" name="Picture 7">
            <a:extLst>
              <a:ext uri="{FF2B5EF4-FFF2-40B4-BE49-F238E27FC236}">
                <a16:creationId xmlns:a16="http://schemas.microsoft.com/office/drawing/2014/main" id="{D9215F76-B615-4A83-A889-94DA6ACC4B03}"/>
              </a:ext>
            </a:extLst>
          </p:cNvPr>
          <p:cNvPicPr>
            <a:picLocks noChangeAspect="1"/>
          </p:cNvPicPr>
          <p:nvPr/>
        </p:nvPicPr>
        <p:blipFill>
          <a:blip r:embed="rId4"/>
          <a:stretch>
            <a:fillRect/>
          </a:stretch>
        </p:blipFill>
        <p:spPr>
          <a:xfrm>
            <a:off x="692331" y="2510592"/>
            <a:ext cx="5481083" cy="3281755"/>
          </a:xfrm>
          <a:prstGeom prst="rect">
            <a:avLst/>
          </a:prstGeom>
        </p:spPr>
      </p:pic>
      <p:sp>
        <p:nvSpPr>
          <p:cNvPr id="9" name="TextBox 8">
            <a:extLst>
              <a:ext uri="{FF2B5EF4-FFF2-40B4-BE49-F238E27FC236}">
                <a16:creationId xmlns:a16="http://schemas.microsoft.com/office/drawing/2014/main" id="{BF9939F2-08B1-4B09-8B00-9925C080A19F}"/>
              </a:ext>
            </a:extLst>
          </p:cNvPr>
          <p:cNvSpPr txBox="1"/>
          <p:nvPr/>
        </p:nvSpPr>
        <p:spPr>
          <a:xfrm>
            <a:off x="369815" y="4996836"/>
            <a:ext cx="957313" cy="300082"/>
          </a:xfrm>
          <a:prstGeom prst="rect">
            <a:avLst/>
          </a:prstGeom>
          <a:noFill/>
        </p:spPr>
        <p:txBody>
          <a:bodyPr wrap="none" rtlCol="0">
            <a:spAutoFit/>
          </a:bodyPr>
          <a:lstStyle/>
          <a:p>
            <a:pPr defTabSz="685800"/>
            <a:r>
              <a:rPr lang="en-US" sz="1350" dirty="0">
                <a:solidFill>
                  <a:srgbClr val="00B0F0"/>
                </a:solidFill>
                <a:latin typeface="Calibri" panose="020F0502020204030204"/>
              </a:rPr>
              <a:t>Old people</a:t>
            </a:r>
          </a:p>
        </p:txBody>
      </p:sp>
      <p:sp>
        <p:nvSpPr>
          <p:cNvPr id="13" name="TextBox 12">
            <a:extLst>
              <a:ext uri="{FF2B5EF4-FFF2-40B4-BE49-F238E27FC236}">
                <a16:creationId xmlns:a16="http://schemas.microsoft.com/office/drawing/2014/main" id="{4F883DA0-A875-4077-9ED6-4E6A813C8CDB}"/>
              </a:ext>
            </a:extLst>
          </p:cNvPr>
          <p:cNvSpPr txBox="1"/>
          <p:nvPr/>
        </p:nvSpPr>
        <p:spPr>
          <a:xfrm>
            <a:off x="3533503" y="5653847"/>
            <a:ext cx="1138325" cy="300082"/>
          </a:xfrm>
          <a:prstGeom prst="rect">
            <a:avLst/>
          </a:prstGeom>
          <a:noFill/>
        </p:spPr>
        <p:txBody>
          <a:bodyPr wrap="none" rtlCol="0">
            <a:spAutoFit/>
          </a:bodyPr>
          <a:lstStyle/>
          <a:p>
            <a:pPr defTabSz="685800"/>
            <a:r>
              <a:rPr lang="en-US" sz="1350" dirty="0">
                <a:solidFill>
                  <a:srgbClr val="EB6E1F"/>
                </a:solidFill>
                <a:latin typeface="Calibri" panose="020F0502020204030204"/>
              </a:rPr>
              <a:t>Young people</a:t>
            </a:r>
          </a:p>
        </p:txBody>
      </p:sp>
      <p:sp>
        <p:nvSpPr>
          <p:cNvPr id="14" name="TextBox 13">
            <a:extLst>
              <a:ext uri="{FF2B5EF4-FFF2-40B4-BE49-F238E27FC236}">
                <a16:creationId xmlns:a16="http://schemas.microsoft.com/office/drawing/2014/main" id="{E0B5008E-0EB6-4EC2-A46B-636B173B0F58}"/>
              </a:ext>
            </a:extLst>
          </p:cNvPr>
          <p:cNvSpPr txBox="1"/>
          <p:nvPr/>
        </p:nvSpPr>
        <p:spPr>
          <a:xfrm>
            <a:off x="6831553" y="3181797"/>
            <a:ext cx="1825055" cy="830997"/>
          </a:xfrm>
          <a:prstGeom prst="rect">
            <a:avLst/>
          </a:prstGeom>
          <a:noFill/>
        </p:spPr>
        <p:txBody>
          <a:bodyPr wrap="square" rtlCol="0">
            <a:spAutoFit/>
          </a:bodyPr>
          <a:lstStyle/>
          <a:p>
            <a:pPr defTabSz="685800"/>
            <a:r>
              <a:rPr lang="en-US" sz="2400" dirty="0">
                <a:solidFill>
                  <a:prstClr val="black"/>
                </a:solidFill>
                <a:latin typeface="Calibri" panose="020F0502020204030204"/>
              </a:rPr>
              <a:t>This is called the cost shift</a:t>
            </a:r>
          </a:p>
        </p:txBody>
      </p:sp>
      <p:cxnSp>
        <p:nvCxnSpPr>
          <p:cNvPr id="16" name="Straight Arrow Connector 15">
            <a:extLst>
              <a:ext uri="{FF2B5EF4-FFF2-40B4-BE49-F238E27FC236}">
                <a16:creationId xmlns:a16="http://schemas.microsoft.com/office/drawing/2014/main" id="{7078FE93-6E62-4883-8627-E0D356AE2F5A}"/>
              </a:ext>
            </a:extLst>
          </p:cNvPr>
          <p:cNvCxnSpPr/>
          <p:nvPr/>
        </p:nvCxnSpPr>
        <p:spPr>
          <a:xfrm flipV="1">
            <a:off x="1280160" y="5017770"/>
            <a:ext cx="744583" cy="11756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ABB2EB0-4F25-40E3-B151-687A05F86253}"/>
              </a:ext>
            </a:extLst>
          </p:cNvPr>
          <p:cNvCxnSpPr>
            <a:cxnSpLocks/>
          </p:cNvCxnSpPr>
          <p:nvPr/>
        </p:nvCxnSpPr>
        <p:spPr>
          <a:xfrm flipH="1" flipV="1">
            <a:off x="3618412" y="5187588"/>
            <a:ext cx="333104" cy="391886"/>
          </a:xfrm>
          <a:prstGeom prst="straightConnector1">
            <a:avLst/>
          </a:prstGeom>
          <a:ln w="47625">
            <a:solidFill>
              <a:srgbClr val="EB6E1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494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16068F3-F22B-4624-845B-FF4A2C748947}"/>
              </a:ext>
            </a:extLst>
          </p:cNvPr>
          <p:cNvSpPr txBox="1">
            <a:spLocks/>
          </p:cNvSpPr>
          <p:nvPr/>
        </p:nvSpPr>
        <p:spPr>
          <a:xfrm>
            <a:off x="308925" y="1494929"/>
            <a:ext cx="8787630" cy="384552"/>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r>
              <a:rPr lang="en-US" sz="2100" b="1" dirty="0">
                <a:solidFill>
                  <a:prstClr val="black"/>
                </a:solidFill>
                <a:latin typeface="Verdana" panose="020B0604030504040204" pitchFamily="34" charset="0"/>
                <a:ea typeface="Verdana" panose="020B0604030504040204" pitchFamily="34" charset="0"/>
              </a:rPr>
              <a:t>Let’s talk about VERMONT</a:t>
            </a:r>
          </a:p>
        </p:txBody>
      </p:sp>
      <p:pic>
        <p:nvPicPr>
          <p:cNvPr id="23" name="Picture 22"/>
          <p:cNvPicPr>
            <a:picLocks noChangeAspect="1"/>
          </p:cNvPicPr>
          <p:nvPr/>
        </p:nvPicPr>
        <p:blipFill>
          <a:blip r:embed="rId3"/>
          <a:stretch>
            <a:fillRect/>
          </a:stretch>
        </p:blipFill>
        <p:spPr>
          <a:xfrm>
            <a:off x="277242" y="1242798"/>
            <a:ext cx="695126" cy="253517"/>
          </a:xfrm>
          <a:prstGeom prst="rect">
            <a:avLst/>
          </a:prstGeom>
        </p:spPr>
      </p:pic>
      <p:sp>
        <p:nvSpPr>
          <p:cNvPr id="4" name="TextBox 3">
            <a:extLst>
              <a:ext uri="{FF2B5EF4-FFF2-40B4-BE49-F238E27FC236}">
                <a16:creationId xmlns:a16="http://schemas.microsoft.com/office/drawing/2014/main" id="{4A00EB94-54CE-42A4-9A04-311E2E09FAD5}"/>
              </a:ext>
            </a:extLst>
          </p:cNvPr>
          <p:cNvSpPr txBox="1"/>
          <p:nvPr/>
        </p:nvSpPr>
        <p:spPr>
          <a:xfrm>
            <a:off x="124689" y="2457198"/>
            <a:ext cx="1530929" cy="2169825"/>
          </a:xfrm>
          <a:prstGeom prst="rect">
            <a:avLst/>
          </a:prstGeom>
          <a:noFill/>
        </p:spPr>
        <p:txBody>
          <a:bodyPr wrap="square" rtlCol="0">
            <a:spAutoFit/>
          </a:bodyPr>
          <a:lstStyle/>
          <a:p>
            <a:pPr defTabSz="685800"/>
            <a:r>
              <a:rPr lang="en-US" sz="2700" dirty="0">
                <a:solidFill>
                  <a:srgbClr val="00B050"/>
                </a:solidFill>
                <a:latin typeface="Calibri" panose="020F0502020204030204"/>
              </a:rPr>
              <a:t>Old people way underpay in VT!!</a:t>
            </a:r>
          </a:p>
        </p:txBody>
      </p:sp>
      <p:pic>
        <p:nvPicPr>
          <p:cNvPr id="5" name="Picture 4">
            <a:extLst>
              <a:ext uri="{FF2B5EF4-FFF2-40B4-BE49-F238E27FC236}">
                <a16:creationId xmlns:a16="http://schemas.microsoft.com/office/drawing/2014/main" id="{A434CB20-AA3A-463B-A6D8-6D3735F4CCC4}"/>
              </a:ext>
            </a:extLst>
          </p:cNvPr>
          <p:cNvPicPr>
            <a:picLocks noChangeAspect="1"/>
          </p:cNvPicPr>
          <p:nvPr/>
        </p:nvPicPr>
        <p:blipFill>
          <a:blip r:embed="rId4"/>
          <a:stretch>
            <a:fillRect/>
          </a:stretch>
        </p:blipFill>
        <p:spPr>
          <a:xfrm>
            <a:off x="1794163" y="2118177"/>
            <a:ext cx="7302392" cy="3582617"/>
          </a:xfrm>
          <a:prstGeom prst="rect">
            <a:avLst/>
          </a:prstGeom>
        </p:spPr>
      </p:pic>
    </p:spTree>
    <p:extLst>
      <p:ext uri="{BB962C8B-B14F-4D97-AF65-F5344CB8AC3E}">
        <p14:creationId xmlns:p14="http://schemas.microsoft.com/office/powerpoint/2010/main" val="1533397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16068F3-F22B-4624-845B-FF4A2C748947}"/>
              </a:ext>
            </a:extLst>
          </p:cNvPr>
          <p:cNvSpPr txBox="1">
            <a:spLocks/>
          </p:cNvSpPr>
          <p:nvPr/>
        </p:nvSpPr>
        <p:spPr>
          <a:xfrm>
            <a:off x="308925" y="1494929"/>
            <a:ext cx="8787630" cy="384552"/>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r>
              <a:rPr lang="en-US" sz="2100" b="1" dirty="0">
                <a:solidFill>
                  <a:prstClr val="black"/>
                </a:solidFill>
                <a:latin typeface="Verdana" panose="020B0604030504040204" pitchFamily="34" charset="0"/>
                <a:ea typeface="Verdana" panose="020B0604030504040204" pitchFamily="34" charset="0"/>
              </a:rPr>
              <a:t>Let’s talk about VERMONT</a:t>
            </a:r>
          </a:p>
        </p:txBody>
      </p:sp>
      <p:pic>
        <p:nvPicPr>
          <p:cNvPr id="23" name="Picture 22"/>
          <p:cNvPicPr>
            <a:picLocks noChangeAspect="1"/>
          </p:cNvPicPr>
          <p:nvPr/>
        </p:nvPicPr>
        <p:blipFill>
          <a:blip r:embed="rId3"/>
          <a:stretch>
            <a:fillRect/>
          </a:stretch>
        </p:blipFill>
        <p:spPr>
          <a:xfrm>
            <a:off x="277242" y="1242798"/>
            <a:ext cx="695126" cy="253517"/>
          </a:xfrm>
          <a:prstGeom prst="rect">
            <a:avLst/>
          </a:prstGeom>
        </p:spPr>
      </p:pic>
      <p:sp>
        <p:nvSpPr>
          <p:cNvPr id="4" name="TextBox 3">
            <a:extLst>
              <a:ext uri="{FF2B5EF4-FFF2-40B4-BE49-F238E27FC236}">
                <a16:creationId xmlns:a16="http://schemas.microsoft.com/office/drawing/2014/main" id="{4A00EB94-54CE-42A4-9A04-311E2E09FAD5}"/>
              </a:ext>
            </a:extLst>
          </p:cNvPr>
          <p:cNvSpPr txBox="1"/>
          <p:nvPr/>
        </p:nvSpPr>
        <p:spPr>
          <a:xfrm>
            <a:off x="376135" y="2003079"/>
            <a:ext cx="1530929" cy="2169825"/>
          </a:xfrm>
          <a:prstGeom prst="rect">
            <a:avLst/>
          </a:prstGeom>
          <a:noFill/>
        </p:spPr>
        <p:txBody>
          <a:bodyPr wrap="square" rtlCol="0">
            <a:spAutoFit/>
          </a:bodyPr>
          <a:lstStyle/>
          <a:p>
            <a:pPr defTabSz="685800"/>
            <a:r>
              <a:rPr lang="en-US" sz="2700" dirty="0">
                <a:solidFill>
                  <a:srgbClr val="00B050"/>
                </a:solidFill>
                <a:latin typeface="Calibri" panose="020F0502020204030204"/>
              </a:rPr>
              <a:t>There’s a ton of old people in VT!!</a:t>
            </a:r>
          </a:p>
        </p:txBody>
      </p:sp>
      <p:pic>
        <p:nvPicPr>
          <p:cNvPr id="5" name="Picture 4">
            <a:extLst>
              <a:ext uri="{FF2B5EF4-FFF2-40B4-BE49-F238E27FC236}">
                <a16:creationId xmlns:a16="http://schemas.microsoft.com/office/drawing/2014/main" id="{85AA8C6E-25AE-4E74-AF2D-B67F37BDF79E}"/>
              </a:ext>
            </a:extLst>
          </p:cNvPr>
          <p:cNvPicPr>
            <a:picLocks noChangeAspect="1"/>
          </p:cNvPicPr>
          <p:nvPr/>
        </p:nvPicPr>
        <p:blipFill>
          <a:blip r:embed="rId4"/>
          <a:stretch>
            <a:fillRect/>
          </a:stretch>
        </p:blipFill>
        <p:spPr>
          <a:xfrm>
            <a:off x="1974273" y="1879606"/>
            <a:ext cx="6822440" cy="4069189"/>
          </a:xfrm>
          <a:prstGeom prst="rect">
            <a:avLst/>
          </a:prstGeom>
        </p:spPr>
      </p:pic>
      <p:pic>
        <p:nvPicPr>
          <p:cNvPr id="8" name="Google Shape;84;p19">
            <a:extLst>
              <a:ext uri="{FF2B5EF4-FFF2-40B4-BE49-F238E27FC236}">
                <a16:creationId xmlns:a16="http://schemas.microsoft.com/office/drawing/2014/main" id="{C83256E4-C733-4FB5-B667-04C2ABED9FE8}"/>
              </a:ext>
            </a:extLst>
          </p:cNvPr>
          <p:cNvPicPr preferRelativeResize="0"/>
          <p:nvPr/>
        </p:nvPicPr>
        <p:blipFill>
          <a:blip r:embed="rId5">
            <a:alphaModFix/>
          </a:blip>
          <a:stretch>
            <a:fillRect/>
          </a:stretch>
        </p:blipFill>
        <p:spPr>
          <a:xfrm>
            <a:off x="6270512" y="59026"/>
            <a:ext cx="2421774" cy="1700357"/>
          </a:xfrm>
          <a:prstGeom prst="rect">
            <a:avLst/>
          </a:prstGeom>
          <a:noFill/>
          <a:ln>
            <a:noFill/>
          </a:ln>
        </p:spPr>
      </p:pic>
      <p:sp>
        <p:nvSpPr>
          <p:cNvPr id="2" name="TextBox 1">
            <a:extLst>
              <a:ext uri="{FF2B5EF4-FFF2-40B4-BE49-F238E27FC236}">
                <a16:creationId xmlns:a16="http://schemas.microsoft.com/office/drawing/2014/main" id="{CDFE47FA-DEC8-4D1D-835B-ADA79618227D}"/>
              </a:ext>
            </a:extLst>
          </p:cNvPr>
          <p:cNvSpPr txBox="1"/>
          <p:nvPr/>
        </p:nvSpPr>
        <p:spPr>
          <a:xfrm>
            <a:off x="7169727" y="1764701"/>
            <a:ext cx="1324985" cy="715581"/>
          </a:xfrm>
          <a:prstGeom prst="rect">
            <a:avLst/>
          </a:prstGeom>
          <a:noFill/>
        </p:spPr>
        <p:txBody>
          <a:bodyPr wrap="square" rtlCol="0">
            <a:spAutoFit/>
          </a:bodyPr>
          <a:lstStyle/>
          <a:p>
            <a:pPr defTabSz="685800"/>
            <a:r>
              <a:rPr lang="en-US" sz="1350" b="1" dirty="0" err="1">
                <a:solidFill>
                  <a:srgbClr val="FF6600"/>
                </a:solidFill>
                <a:latin typeface="Calibri" panose="020F0502020204030204"/>
              </a:rPr>
              <a:t>Gotta</a:t>
            </a:r>
            <a:r>
              <a:rPr lang="en-US" sz="1350" b="1" dirty="0">
                <a:solidFill>
                  <a:srgbClr val="FF6600"/>
                </a:solidFill>
                <a:latin typeface="Calibri" panose="020F0502020204030204"/>
              </a:rPr>
              <a:t> charge young people in VT a lot!!</a:t>
            </a:r>
          </a:p>
        </p:txBody>
      </p:sp>
      <p:cxnSp>
        <p:nvCxnSpPr>
          <p:cNvPr id="7" name="Straight Arrow Connector 6">
            <a:extLst>
              <a:ext uri="{FF2B5EF4-FFF2-40B4-BE49-F238E27FC236}">
                <a16:creationId xmlns:a16="http://schemas.microsoft.com/office/drawing/2014/main" id="{D7AD7178-4792-4870-8ED0-38EA7A2E5769}"/>
              </a:ext>
            </a:extLst>
          </p:cNvPr>
          <p:cNvCxnSpPr/>
          <p:nvPr/>
        </p:nvCxnSpPr>
        <p:spPr>
          <a:xfrm flipH="1" flipV="1">
            <a:off x="6998677" y="909204"/>
            <a:ext cx="263769" cy="850179"/>
          </a:xfrm>
          <a:prstGeom prst="straightConnector1">
            <a:avLst/>
          </a:prstGeom>
          <a:ln w="47625">
            <a:solidFill>
              <a:srgbClr val="FF993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6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16068F3-F22B-4624-845B-FF4A2C748947}"/>
              </a:ext>
            </a:extLst>
          </p:cNvPr>
          <p:cNvSpPr txBox="1">
            <a:spLocks/>
          </p:cNvSpPr>
          <p:nvPr/>
        </p:nvSpPr>
        <p:spPr>
          <a:xfrm>
            <a:off x="308925" y="1494929"/>
            <a:ext cx="8787630" cy="384552"/>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r>
              <a:rPr lang="en-US" sz="2100" b="1" dirty="0">
                <a:solidFill>
                  <a:prstClr val="black"/>
                </a:solidFill>
                <a:latin typeface="Verdana" panose="020B0604030504040204" pitchFamily="34" charset="0"/>
                <a:ea typeface="Verdana" panose="020B0604030504040204" pitchFamily="34" charset="0"/>
              </a:rPr>
              <a:t>Let’s talk about VERMONT</a:t>
            </a:r>
          </a:p>
        </p:txBody>
      </p:sp>
      <p:pic>
        <p:nvPicPr>
          <p:cNvPr id="23" name="Picture 22"/>
          <p:cNvPicPr>
            <a:picLocks noChangeAspect="1"/>
          </p:cNvPicPr>
          <p:nvPr/>
        </p:nvPicPr>
        <p:blipFill>
          <a:blip r:embed="rId3"/>
          <a:stretch>
            <a:fillRect/>
          </a:stretch>
        </p:blipFill>
        <p:spPr>
          <a:xfrm>
            <a:off x="277242" y="1242798"/>
            <a:ext cx="695126" cy="253517"/>
          </a:xfrm>
          <a:prstGeom prst="rect">
            <a:avLst/>
          </a:prstGeom>
        </p:spPr>
      </p:pic>
      <p:pic>
        <p:nvPicPr>
          <p:cNvPr id="2" name="Picture 1">
            <a:extLst>
              <a:ext uri="{FF2B5EF4-FFF2-40B4-BE49-F238E27FC236}">
                <a16:creationId xmlns:a16="http://schemas.microsoft.com/office/drawing/2014/main" id="{E45105E8-92C0-4128-8E03-20E5B4DFAE33}"/>
              </a:ext>
            </a:extLst>
          </p:cNvPr>
          <p:cNvPicPr>
            <a:picLocks noChangeAspect="1"/>
          </p:cNvPicPr>
          <p:nvPr/>
        </p:nvPicPr>
        <p:blipFill>
          <a:blip r:embed="rId4"/>
          <a:stretch>
            <a:fillRect/>
          </a:stretch>
        </p:blipFill>
        <p:spPr>
          <a:xfrm>
            <a:off x="435895" y="2118178"/>
            <a:ext cx="8272210" cy="3660947"/>
          </a:xfrm>
          <a:prstGeom prst="rect">
            <a:avLst/>
          </a:prstGeom>
        </p:spPr>
      </p:pic>
      <p:sp>
        <p:nvSpPr>
          <p:cNvPr id="6" name="TextBox 5">
            <a:extLst>
              <a:ext uri="{FF2B5EF4-FFF2-40B4-BE49-F238E27FC236}">
                <a16:creationId xmlns:a16="http://schemas.microsoft.com/office/drawing/2014/main" id="{57C7CD04-BEB2-4241-BFB0-38DEDF65338F}"/>
              </a:ext>
            </a:extLst>
          </p:cNvPr>
          <p:cNvSpPr txBox="1"/>
          <p:nvPr/>
        </p:nvSpPr>
        <p:spPr>
          <a:xfrm>
            <a:off x="4953000" y="1078876"/>
            <a:ext cx="3590278" cy="553998"/>
          </a:xfrm>
          <a:prstGeom prst="rect">
            <a:avLst/>
          </a:prstGeom>
          <a:noFill/>
        </p:spPr>
        <p:txBody>
          <a:bodyPr wrap="none" rtlCol="0">
            <a:spAutoFit/>
          </a:bodyPr>
          <a:lstStyle/>
          <a:p>
            <a:pPr defTabSz="685800"/>
            <a:r>
              <a:rPr lang="en-US" sz="3000" dirty="0">
                <a:solidFill>
                  <a:srgbClr val="00B050"/>
                </a:solidFill>
                <a:latin typeface="Calibri" panose="020F0502020204030204"/>
              </a:rPr>
              <a:t>How did we get here?</a:t>
            </a:r>
          </a:p>
        </p:txBody>
      </p:sp>
    </p:spTree>
    <p:extLst>
      <p:ext uri="{BB962C8B-B14F-4D97-AF65-F5344CB8AC3E}">
        <p14:creationId xmlns:p14="http://schemas.microsoft.com/office/powerpoint/2010/main" val="3441073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16068F3-F22B-4624-845B-FF4A2C748947}"/>
              </a:ext>
            </a:extLst>
          </p:cNvPr>
          <p:cNvSpPr txBox="1">
            <a:spLocks/>
          </p:cNvSpPr>
          <p:nvPr/>
        </p:nvSpPr>
        <p:spPr>
          <a:xfrm>
            <a:off x="308925" y="1494929"/>
            <a:ext cx="8787630" cy="384552"/>
          </a:xfrm>
          <a:prstGeom prst="rect">
            <a:avLst/>
          </a:prstGeom>
        </p:spPr>
        <p:txBody>
          <a:bodyPr vert="horz" lIns="68580" tIns="34290" rIns="68580" bIns="3429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r>
              <a:rPr lang="en-US" sz="2100" b="1" dirty="0">
                <a:solidFill>
                  <a:prstClr val="black"/>
                </a:solidFill>
                <a:latin typeface="Verdana" panose="020B0604030504040204" pitchFamily="34" charset="0"/>
                <a:ea typeface="Verdana" panose="020B0604030504040204" pitchFamily="34" charset="0"/>
              </a:rPr>
              <a:t>Let’s talk about VERMONT</a:t>
            </a:r>
          </a:p>
        </p:txBody>
      </p:sp>
      <p:pic>
        <p:nvPicPr>
          <p:cNvPr id="23" name="Picture 22"/>
          <p:cNvPicPr>
            <a:picLocks noChangeAspect="1"/>
          </p:cNvPicPr>
          <p:nvPr/>
        </p:nvPicPr>
        <p:blipFill>
          <a:blip r:embed="rId3"/>
          <a:stretch>
            <a:fillRect/>
          </a:stretch>
        </p:blipFill>
        <p:spPr>
          <a:xfrm>
            <a:off x="277242" y="1242798"/>
            <a:ext cx="695126" cy="253517"/>
          </a:xfrm>
          <a:prstGeom prst="rect">
            <a:avLst/>
          </a:prstGeom>
        </p:spPr>
      </p:pic>
      <p:pic>
        <p:nvPicPr>
          <p:cNvPr id="2" name="Picture 1">
            <a:extLst>
              <a:ext uri="{FF2B5EF4-FFF2-40B4-BE49-F238E27FC236}">
                <a16:creationId xmlns:a16="http://schemas.microsoft.com/office/drawing/2014/main" id="{3C368705-4581-49E0-91A3-B18F1226B89E}"/>
              </a:ext>
            </a:extLst>
          </p:cNvPr>
          <p:cNvPicPr>
            <a:picLocks noChangeAspect="1"/>
          </p:cNvPicPr>
          <p:nvPr/>
        </p:nvPicPr>
        <p:blipFill>
          <a:blip r:embed="rId4"/>
          <a:stretch>
            <a:fillRect/>
          </a:stretch>
        </p:blipFill>
        <p:spPr>
          <a:xfrm>
            <a:off x="128291" y="1933201"/>
            <a:ext cx="8431438" cy="3820391"/>
          </a:xfrm>
          <a:prstGeom prst="rect">
            <a:avLst/>
          </a:prstGeom>
        </p:spPr>
      </p:pic>
      <p:sp>
        <p:nvSpPr>
          <p:cNvPr id="8" name="TextBox 7">
            <a:extLst>
              <a:ext uri="{FF2B5EF4-FFF2-40B4-BE49-F238E27FC236}">
                <a16:creationId xmlns:a16="http://schemas.microsoft.com/office/drawing/2014/main" id="{024FB8CE-F1C1-451E-A7DF-3E1F52CED804}"/>
              </a:ext>
            </a:extLst>
          </p:cNvPr>
          <p:cNvSpPr txBox="1"/>
          <p:nvPr/>
        </p:nvSpPr>
        <p:spPr>
          <a:xfrm>
            <a:off x="4953000" y="1078876"/>
            <a:ext cx="3590278" cy="553998"/>
          </a:xfrm>
          <a:prstGeom prst="rect">
            <a:avLst/>
          </a:prstGeom>
          <a:noFill/>
        </p:spPr>
        <p:txBody>
          <a:bodyPr wrap="none" rtlCol="0">
            <a:spAutoFit/>
          </a:bodyPr>
          <a:lstStyle/>
          <a:p>
            <a:pPr defTabSz="685800"/>
            <a:r>
              <a:rPr lang="en-US" sz="3000" dirty="0">
                <a:solidFill>
                  <a:srgbClr val="00B050"/>
                </a:solidFill>
                <a:latin typeface="Calibri" panose="020F0502020204030204"/>
              </a:rPr>
              <a:t>How did we get here?</a:t>
            </a:r>
          </a:p>
        </p:txBody>
      </p:sp>
    </p:spTree>
    <p:extLst>
      <p:ext uri="{BB962C8B-B14F-4D97-AF65-F5344CB8AC3E}">
        <p14:creationId xmlns:p14="http://schemas.microsoft.com/office/powerpoint/2010/main" val="4109833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cxnSp>
        <p:nvCxnSpPr>
          <p:cNvPr id="16" name="Straight Arrow Connector 15">
            <a:extLst>
              <a:ext uri="{FF2B5EF4-FFF2-40B4-BE49-F238E27FC236}">
                <a16:creationId xmlns:a16="http://schemas.microsoft.com/office/drawing/2014/main" id="{F725C49A-B4A4-4F41-A917-6DE3C5E90AAD}"/>
              </a:ext>
            </a:extLst>
          </p:cNvPr>
          <p:cNvCxnSpPr>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
        <p:nvSpPr>
          <p:cNvPr id="21" name="TextBox 20">
            <a:extLst>
              <a:ext uri="{FF2B5EF4-FFF2-40B4-BE49-F238E27FC236}">
                <a16:creationId xmlns:a16="http://schemas.microsoft.com/office/drawing/2014/main" id="{EE90FFFF-B78A-4D8B-9B57-691F9716E165}"/>
              </a:ext>
            </a:extLst>
          </p:cNvPr>
          <p:cNvSpPr txBox="1"/>
          <p:nvPr/>
        </p:nvSpPr>
        <p:spPr>
          <a:xfrm>
            <a:off x="153512" y="706887"/>
            <a:ext cx="5773230" cy="5262979"/>
          </a:xfrm>
          <a:prstGeom prst="rect">
            <a:avLst/>
          </a:prstGeom>
          <a:noFill/>
        </p:spPr>
        <p:txBody>
          <a:bodyPr wrap="square" rtlCol="0">
            <a:spAutoFit/>
          </a:bodyPr>
          <a:lstStyle/>
          <a:p>
            <a:r>
              <a:rPr lang="en-US" sz="2400" dirty="0"/>
              <a:t>Third way to reduce what Vermonters pay for healthcare </a:t>
            </a:r>
          </a:p>
          <a:p>
            <a:pPr marL="457200" indent="-457200">
              <a:buFont typeface="+mj-lt"/>
              <a:buAutoNum type="arabicPeriod" startAt="3"/>
            </a:pPr>
            <a:r>
              <a:rPr lang="en-US" sz="2400" dirty="0"/>
              <a:t>Reduce unnecessary acute care healthcare utilization, particularly ED and inpatient utilization or excessive care at end-of-life, for Medicare and Medicare patients</a:t>
            </a:r>
          </a:p>
          <a:p>
            <a:pPr marL="457200" indent="-457200">
              <a:buFont typeface="+mj-lt"/>
              <a:buAutoNum type="arabicPeriod" startAt="3"/>
            </a:pPr>
            <a:endParaRPr lang="en-US" sz="2400" dirty="0"/>
          </a:p>
          <a:p>
            <a:pPr lvl="1"/>
            <a:r>
              <a:rPr lang="en-US" sz="2400" b="1" i="1" dirty="0">
                <a:highlight>
                  <a:srgbClr val="FF00FF"/>
                </a:highlight>
              </a:rPr>
              <a:t>A reduction in utilization by Medicare and Medicaid patients reduces the cost shift and allows a decrease in what patients with commercial insurance pay hospitals and lower insurance premiums</a:t>
            </a:r>
          </a:p>
          <a:p>
            <a:pPr marL="914400" lvl="1" indent="-457200">
              <a:buFont typeface="+mj-lt"/>
              <a:buAutoNum type="arabicPeriod" startAt="3"/>
            </a:pPr>
            <a:endParaRPr lang="en-US" sz="2400" dirty="0"/>
          </a:p>
        </p:txBody>
      </p:sp>
      <p:sp>
        <p:nvSpPr>
          <p:cNvPr id="2" name="TextBox 1">
            <a:extLst>
              <a:ext uri="{FF2B5EF4-FFF2-40B4-BE49-F238E27FC236}">
                <a16:creationId xmlns:a16="http://schemas.microsoft.com/office/drawing/2014/main" id="{EB11DB11-F1D1-479F-B88C-E0A0F016A42C}"/>
              </a:ext>
            </a:extLst>
          </p:cNvPr>
          <p:cNvSpPr txBox="1"/>
          <p:nvPr/>
        </p:nvSpPr>
        <p:spPr>
          <a:xfrm>
            <a:off x="730177" y="5665508"/>
            <a:ext cx="4942139" cy="923330"/>
          </a:xfrm>
          <a:prstGeom prst="rect">
            <a:avLst/>
          </a:prstGeom>
          <a:noFill/>
        </p:spPr>
        <p:txBody>
          <a:bodyPr wrap="square" rtlCol="0">
            <a:spAutoFit/>
          </a:bodyPr>
          <a:lstStyle/>
          <a:p>
            <a:r>
              <a:rPr lang="en-US" dirty="0"/>
              <a:t>This opportunity exists even if you believe that hospitals in VT are paid similar to hospitals in other states (</a:t>
            </a:r>
            <a:r>
              <a:rPr lang="en-US" dirty="0" err="1"/>
              <a:t>ie</a:t>
            </a:r>
            <a:r>
              <a:rPr lang="en-US" dirty="0"/>
              <a:t> 80 cents on the dollar)</a:t>
            </a:r>
          </a:p>
        </p:txBody>
      </p:sp>
    </p:spTree>
    <p:extLst>
      <p:ext uri="{BB962C8B-B14F-4D97-AF65-F5344CB8AC3E}">
        <p14:creationId xmlns:p14="http://schemas.microsoft.com/office/powerpoint/2010/main" val="2080401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8E5762-57E6-4EB3-891E-D728FCF7A88A}"/>
              </a:ext>
            </a:extLst>
          </p:cNvPr>
          <p:cNvSpPr txBox="1"/>
          <p:nvPr/>
        </p:nvSpPr>
        <p:spPr>
          <a:xfrm>
            <a:off x="254976" y="149470"/>
            <a:ext cx="5423408" cy="400110"/>
          </a:xfrm>
          <a:prstGeom prst="rect">
            <a:avLst/>
          </a:prstGeom>
          <a:noFill/>
        </p:spPr>
        <p:txBody>
          <a:bodyPr wrap="none" rtlCol="0">
            <a:spAutoFit/>
          </a:bodyPr>
          <a:lstStyle/>
          <a:p>
            <a:r>
              <a:rPr lang="en-US" sz="2000" dirty="0"/>
              <a:t>Flow of money in Vermont’s healthcare ecosystem</a:t>
            </a:r>
          </a:p>
        </p:txBody>
      </p:sp>
      <p:sp>
        <p:nvSpPr>
          <p:cNvPr id="5" name="Rectangle: Rounded Corners 4">
            <a:extLst>
              <a:ext uri="{FF2B5EF4-FFF2-40B4-BE49-F238E27FC236}">
                <a16:creationId xmlns:a16="http://schemas.microsoft.com/office/drawing/2014/main" id="{EF11190D-0DC2-43B9-9058-CD7E257A1396}"/>
              </a:ext>
            </a:extLst>
          </p:cNvPr>
          <p:cNvSpPr/>
          <p:nvPr/>
        </p:nvSpPr>
        <p:spPr>
          <a:xfrm>
            <a:off x="6444760" y="3156140"/>
            <a:ext cx="1829859" cy="1063870"/>
          </a:xfrm>
          <a:prstGeom prst="roundRect">
            <a:avLst/>
          </a:prstGeom>
          <a:solidFill>
            <a:schemeClr val="accent6">
              <a:lumMod val="75000"/>
            </a:schemeClr>
          </a:solid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Vermonters pay too much for healthcare</a:t>
            </a:r>
          </a:p>
        </p:txBody>
      </p:sp>
      <p:sp>
        <p:nvSpPr>
          <p:cNvPr id="6" name="TextBox 5">
            <a:extLst>
              <a:ext uri="{FF2B5EF4-FFF2-40B4-BE49-F238E27FC236}">
                <a16:creationId xmlns:a16="http://schemas.microsoft.com/office/drawing/2014/main" id="{021F6E2A-4ED6-4CDC-BA86-B1888541CD05}"/>
              </a:ext>
            </a:extLst>
          </p:cNvPr>
          <p:cNvSpPr txBox="1"/>
          <p:nvPr/>
        </p:nvSpPr>
        <p:spPr>
          <a:xfrm>
            <a:off x="6719032" y="4686504"/>
            <a:ext cx="1281313" cy="369332"/>
          </a:xfrm>
          <a:prstGeom prst="rect">
            <a:avLst/>
          </a:prstGeom>
          <a:noFill/>
        </p:spPr>
        <p:txBody>
          <a:bodyPr wrap="none" rtlCol="0">
            <a:spAutoFit/>
          </a:bodyPr>
          <a:lstStyle/>
          <a:p>
            <a:r>
              <a:rPr lang="en-US" dirty="0"/>
              <a:t>Pay for care</a:t>
            </a:r>
          </a:p>
        </p:txBody>
      </p:sp>
      <p:sp>
        <p:nvSpPr>
          <p:cNvPr id="7" name="TextBox 6">
            <a:extLst>
              <a:ext uri="{FF2B5EF4-FFF2-40B4-BE49-F238E27FC236}">
                <a16:creationId xmlns:a16="http://schemas.microsoft.com/office/drawing/2014/main" id="{2B7BB36E-DBB3-4BD4-B216-5C9D1357F83C}"/>
              </a:ext>
            </a:extLst>
          </p:cNvPr>
          <p:cNvSpPr txBox="1"/>
          <p:nvPr/>
        </p:nvSpPr>
        <p:spPr>
          <a:xfrm>
            <a:off x="6444759" y="2320314"/>
            <a:ext cx="1829860" cy="369332"/>
          </a:xfrm>
          <a:prstGeom prst="rect">
            <a:avLst/>
          </a:prstGeom>
          <a:noFill/>
        </p:spPr>
        <p:txBody>
          <a:bodyPr wrap="none" rtlCol="0">
            <a:spAutoFit/>
          </a:bodyPr>
          <a:lstStyle/>
          <a:p>
            <a:r>
              <a:rPr lang="en-US" dirty="0"/>
              <a:t>Pay for premiums</a:t>
            </a:r>
          </a:p>
        </p:txBody>
      </p:sp>
      <p:pic>
        <p:nvPicPr>
          <p:cNvPr id="8" name="Picture 7">
            <a:extLst>
              <a:ext uri="{FF2B5EF4-FFF2-40B4-BE49-F238E27FC236}">
                <a16:creationId xmlns:a16="http://schemas.microsoft.com/office/drawing/2014/main" id="{7F9F9E88-2A8D-41D3-8A8C-AEB4260FBBE7}"/>
              </a:ext>
            </a:extLst>
          </p:cNvPr>
          <p:cNvPicPr>
            <a:picLocks noChangeAspect="1"/>
          </p:cNvPicPr>
          <p:nvPr/>
        </p:nvPicPr>
        <p:blipFill>
          <a:blip r:embed="rId2"/>
          <a:stretch>
            <a:fillRect/>
          </a:stretch>
        </p:blipFill>
        <p:spPr>
          <a:xfrm>
            <a:off x="5961387" y="518802"/>
            <a:ext cx="3112300" cy="1801512"/>
          </a:xfrm>
          <a:prstGeom prst="rect">
            <a:avLst/>
          </a:prstGeom>
        </p:spPr>
      </p:pic>
      <p:cxnSp>
        <p:nvCxnSpPr>
          <p:cNvPr id="16" name="Straight Arrow Connector 15">
            <a:extLst>
              <a:ext uri="{FF2B5EF4-FFF2-40B4-BE49-F238E27FC236}">
                <a16:creationId xmlns:a16="http://schemas.microsoft.com/office/drawing/2014/main" id="{F725C49A-B4A4-4F41-A917-6DE3C5E90AAD}"/>
              </a:ext>
            </a:extLst>
          </p:cNvPr>
          <p:cNvCxnSpPr>
            <a:cxnSpLocks/>
            <a:stCxn id="5" idx="0"/>
            <a:endCxn id="7" idx="2"/>
          </p:cNvCxnSpPr>
          <p:nvPr/>
        </p:nvCxnSpPr>
        <p:spPr>
          <a:xfrm flipH="1" flipV="1">
            <a:off x="7359689" y="2689646"/>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DAF348-A3EB-40C2-963A-3A7788597FEB}"/>
              </a:ext>
            </a:extLst>
          </p:cNvPr>
          <p:cNvCxnSpPr>
            <a:stCxn id="5" idx="2"/>
            <a:endCxn id="6" idx="0"/>
          </p:cNvCxnSpPr>
          <p:nvPr/>
        </p:nvCxnSpPr>
        <p:spPr>
          <a:xfrm flipH="1">
            <a:off x="7359689" y="4220010"/>
            <a:ext cx="1" cy="4664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7192B346-2993-4BBF-8292-3D4B21F345B7}"/>
              </a:ext>
            </a:extLst>
          </p:cNvPr>
          <p:cNvPicPr>
            <a:picLocks noChangeAspect="1"/>
          </p:cNvPicPr>
          <p:nvPr/>
        </p:nvPicPr>
        <p:blipFill>
          <a:blip r:embed="rId3"/>
          <a:stretch>
            <a:fillRect/>
          </a:stretch>
        </p:blipFill>
        <p:spPr>
          <a:xfrm>
            <a:off x="6151928" y="5150664"/>
            <a:ext cx="2261895" cy="1430554"/>
          </a:xfrm>
          <a:prstGeom prst="rect">
            <a:avLst/>
          </a:prstGeom>
        </p:spPr>
      </p:pic>
      <p:sp>
        <p:nvSpPr>
          <p:cNvPr id="21" name="TextBox 20">
            <a:extLst>
              <a:ext uri="{FF2B5EF4-FFF2-40B4-BE49-F238E27FC236}">
                <a16:creationId xmlns:a16="http://schemas.microsoft.com/office/drawing/2014/main" id="{EE90FFFF-B78A-4D8B-9B57-691F9716E165}"/>
              </a:ext>
            </a:extLst>
          </p:cNvPr>
          <p:cNvSpPr txBox="1"/>
          <p:nvPr/>
        </p:nvSpPr>
        <p:spPr>
          <a:xfrm>
            <a:off x="153511" y="706887"/>
            <a:ext cx="5924859" cy="5755422"/>
          </a:xfrm>
          <a:prstGeom prst="rect">
            <a:avLst/>
          </a:prstGeom>
          <a:noFill/>
        </p:spPr>
        <p:txBody>
          <a:bodyPr wrap="square" rtlCol="0">
            <a:spAutoFit/>
          </a:bodyPr>
          <a:lstStyle/>
          <a:p>
            <a:r>
              <a:rPr lang="en-US" sz="2400" dirty="0"/>
              <a:t>How to reduce utilization by Medicare and Medicaid patients</a:t>
            </a:r>
          </a:p>
          <a:p>
            <a:pPr marL="457200" indent="-457200">
              <a:buFont typeface="+mj-lt"/>
              <a:buAutoNum type="alphaLcParenR"/>
            </a:pPr>
            <a:r>
              <a:rPr lang="en-US" sz="2000" dirty="0"/>
              <a:t>Identify patients with abnormally high utilization </a:t>
            </a:r>
          </a:p>
          <a:p>
            <a:pPr marL="914400" lvl="1" indent="-457200">
              <a:buFont typeface="Arial" panose="020B0604020202020204" pitchFamily="34" charset="0"/>
              <a:buChar char="•"/>
            </a:pPr>
            <a:r>
              <a:rPr lang="en-US" sz="2000" dirty="0"/>
              <a:t>6 or more ED visits in 6 months</a:t>
            </a:r>
          </a:p>
          <a:p>
            <a:pPr marL="914400" lvl="1" indent="-457200">
              <a:buFont typeface="Arial" panose="020B0604020202020204" pitchFamily="34" charset="0"/>
              <a:buChar char="•"/>
            </a:pPr>
            <a:r>
              <a:rPr lang="en-US" sz="2000" dirty="0"/>
              <a:t>3 or more inpatient admissions in 6 months</a:t>
            </a:r>
          </a:p>
          <a:p>
            <a:pPr marL="457200" indent="-457200">
              <a:buFont typeface="+mj-lt"/>
              <a:buAutoNum type="alphaLcParenR"/>
            </a:pPr>
            <a:r>
              <a:rPr lang="en-US" sz="2000" dirty="0"/>
              <a:t>Expand case management to identify root causes of high utilization for each patient</a:t>
            </a:r>
          </a:p>
          <a:p>
            <a:pPr marL="457200" indent="-457200">
              <a:buFont typeface="+mj-lt"/>
              <a:buAutoNum type="alphaLcParenR"/>
            </a:pPr>
            <a:r>
              <a:rPr lang="en-US" sz="2000" dirty="0"/>
              <a:t>Pilot test waiving state regulations to meet these patient’s socioeconomic needs (housing, food , transportation)</a:t>
            </a:r>
          </a:p>
          <a:p>
            <a:pPr marL="457200" indent="-457200">
              <a:buFont typeface="+mj-lt"/>
              <a:buAutoNum type="alphaLcParenR"/>
            </a:pPr>
            <a:r>
              <a:rPr lang="en-US" sz="2000" dirty="0"/>
              <a:t>Monitor results to determine if utilization declined</a:t>
            </a:r>
          </a:p>
          <a:p>
            <a:pPr marL="457200" indent="-457200">
              <a:buFont typeface="+mj-lt"/>
              <a:buAutoNum type="alphaLcParenR"/>
            </a:pPr>
            <a:endParaRPr lang="en-US" sz="2000" dirty="0"/>
          </a:p>
          <a:p>
            <a:r>
              <a:rPr lang="en-US" sz="2000" dirty="0"/>
              <a:t>For Medicare patients consider interventions to reduce end-of-life utilization</a:t>
            </a:r>
          </a:p>
          <a:p>
            <a:pPr marL="342900" indent="-342900">
              <a:buFont typeface="Arial" panose="020B0604020202020204" pitchFamily="34" charset="0"/>
              <a:buChar char="•"/>
            </a:pPr>
            <a:r>
              <a:rPr lang="en-US" sz="2000" dirty="0"/>
              <a:t>Encourage advanced directives</a:t>
            </a:r>
          </a:p>
          <a:p>
            <a:pPr marL="342900" indent="-342900">
              <a:buFont typeface="Arial" panose="020B0604020202020204" pitchFamily="34" charset="0"/>
              <a:buChar char="•"/>
            </a:pPr>
            <a:r>
              <a:rPr lang="en-US" sz="2000" dirty="0"/>
              <a:t>Expand palliative and hospice care)</a:t>
            </a:r>
          </a:p>
          <a:p>
            <a:r>
              <a:rPr lang="en-US" sz="2000" dirty="0"/>
              <a:t>Launch a state-wide discussion on end-of-life care and make a concerted effort to reduce end-of-life utilization</a:t>
            </a:r>
          </a:p>
        </p:txBody>
      </p:sp>
    </p:spTree>
    <p:extLst>
      <p:ext uri="{BB962C8B-B14F-4D97-AF65-F5344CB8AC3E}">
        <p14:creationId xmlns:p14="http://schemas.microsoft.com/office/powerpoint/2010/main" val="830576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AD320F-E983-4A9F-AEEB-F24620934001}"/>
              </a:ext>
            </a:extLst>
          </p:cNvPr>
          <p:cNvSpPr txBox="1"/>
          <p:nvPr/>
        </p:nvSpPr>
        <p:spPr>
          <a:xfrm flipH="1">
            <a:off x="3500118" y="2641600"/>
            <a:ext cx="3134362" cy="584775"/>
          </a:xfrm>
          <a:prstGeom prst="rect">
            <a:avLst/>
          </a:prstGeom>
          <a:noFill/>
        </p:spPr>
        <p:txBody>
          <a:bodyPr wrap="square" rtlCol="0">
            <a:spAutoFit/>
          </a:bodyPr>
          <a:lstStyle/>
          <a:p>
            <a:r>
              <a:rPr lang="en-US" sz="3200" dirty="0"/>
              <a:t>Appendix</a:t>
            </a:r>
          </a:p>
        </p:txBody>
      </p:sp>
    </p:spTree>
    <p:extLst>
      <p:ext uri="{BB962C8B-B14F-4D97-AF65-F5344CB8AC3E}">
        <p14:creationId xmlns:p14="http://schemas.microsoft.com/office/powerpoint/2010/main" val="351953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311700" y="3008100"/>
            <a:ext cx="8520600" cy="841800"/>
          </a:xfrm>
          <a:prstGeom prst="rect">
            <a:avLst/>
          </a:prstGeom>
        </p:spPr>
        <p:txBody>
          <a:bodyPr spcFirstLastPara="1" vert="horz" wrap="square" lIns="91425" tIns="91425" rIns="91425" bIns="91425" rtlCol="0" anchor="ctr" anchorCtr="0">
            <a:normAutofit fontScale="90000"/>
          </a:bodyPr>
          <a:lstStyle/>
          <a:p>
            <a:r>
              <a:rPr lang="en" dirty="0"/>
              <a:t>Preliminary insurance data viz</a:t>
            </a:r>
            <a:endParaRPr dirty="0"/>
          </a:p>
          <a:p>
            <a:endParaRPr dirty="0"/>
          </a:p>
          <a:p>
            <a:r>
              <a:rPr lang="en" sz="2650" dirty="0"/>
              <a:t>Sources:</a:t>
            </a:r>
            <a:endParaRPr sz="2650" dirty="0"/>
          </a:p>
          <a:p>
            <a:pPr marL="457200" indent="-380047">
              <a:buSzPct val="100000"/>
              <a:buChar char="-"/>
            </a:pPr>
            <a:r>
              <a:rPr lang="en" sz="2650" dirty="0"/>
              <a:t>2020 Decennial Census - citywide data</a:t>
            </a:r>
            <a:endParaRPr sz="2650" dirty="0"/>
          </a:p>
          <a:p>
            <a:pPr marL="457200" indent="-380047">
              <a:buSzPct val="100000"/>
              <a:buChar char="-"/>
            </a:pPr>
            <a:r>
              <a:rPr lang="en" sz="2650" dirty="0"/>
              <a:t>KFF insurance estimator</a:t>
            </a:r>
            <a:endParaRPr sz="2650" dirty="0"/>
          </a:p>
          <a:p>
            <a:endParaRPr dirty="0"/>
          </a:p>
        </p:txBody>
      </p:sp>
      <p:sp>
        <p:nvSpPr>
          <p:cNvPr id="2" name="TextBox 1">
            <a:extLst>
              <a:ext uri="{FF2B5EF4-FFF2-40B4-BE49-F238E27FC236}">
                <a16:creationId xmlns:a16="http://schemas.microsoft.com/office/drawing/2014/main" id="{4B576A46-6773-4E84-B1E1-AA82900851C8}"/>
              </a:ext>
            </a:extLst>
          </p:cNvPr>
          <p:cNvSpPr txBox="1"/>
          <p:nvPr/>
        </p:nvSpPr>
        <p:spPr>
          <a:xfrm>
            <a:off x="626532" y="965201"/>
            <a:ext cx="7501467" cy="461665"/>
          </a:xfrm>
          <a:prstGeom prst="rect">
            <a:avLst/>
          </a:prstGeom>
          <a:noFill/>
        </p:spPr>
        <p:txBody>
          <a:bodyPr wrap="square" rtlCol="0">
            <a:spAutoFit/>
          </a:bodyPr>
          <a:lstStyle/>
          <a:p>
            <a:r>
              <a:rPr lang="en-US" sz="2400" dirty="0">
                <a:solidFill>
                  <a:srgbClr val="FF0000"/>
                </a:solidFill>
              </a:rPr>
              <a:t>Insurance Premiums in Vermont are abnormally high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6"/>
          <p:cNvPicPr preferRelativeResize="0"/>
          <p:nvPr/>
        </p:nvPicPr>
        <p:blipFill>
          <a:blip r:embed="rId3">
            <a:alphaModFix/>
          </a:blip>
          <a:stretch>
            <a:fillRect/>
          </a:stretch>
        </p:blipFill>
        <p:spPr>
          <a:xfrm>
            <a:off x="1" y="857250"/>
            <a:ext cx="9144001" cy="5093486"/>
          </a:xfrm>
          <a:prstGeom prst="rect">
            <a:avLst/>
          </a:prstGeom>
          <a:noFill/>
          <a:ln>
            <a:noFill/>
          </a:ln>
        </p:spPr>
      </p:pic>
      <p:sp>
        <p:nvSpPr>
          <p:cNvPr id="2" name="TextBox 1">
            <a:extLst>
              <a:ext uri="{FF2B5EF4-FFF2-40B4-BE49-F238E27FC236}">
                <a16:creationId xmlns:a16="http://schemas.microsoft.com/office/drawing/2014/main" id="{493C6FAA-3E73-4036-ACBB-7003C15EB2DA}"/>
              </a:ext>
            </a:extLst>
          </p:cNvPr>
          <p:cNvSpPr txBox="1"/>
          <p:nvPr/>
        </p:nvSpPr>
        <p:spPr>
          <a:xfrm>
            <a:off x="117765" y="857250"/>
            <a:ext cx="3894015" cy="253916"/>
          </a:xfrm>
          <a:prstGeom prst="rect">
            <a:avLst/>
          </a:prstGeom>
          <a:solidFill>
            <a:schemeClr val="lt1"/>
          </a:solidFill>
        </p:spPr>
        <p:txBody>
          <a:bodyPr wrap="none" rtlCol="0">
            <a:spAutoFit/>
          </a:bodyPr>
          <a:lstStyle/>
          <a:p>
            <a:r>
              <a:rPr lang="en-US" sz="1050" dirty="0"/>
              <a:t>Insurance rates by age, state, and rural urban (4 zip codes per state)</a:t>
            </a:r>
          </a:p>
        </p:txBody>
      </p:sp>
      <p:sp>
        <p:nvSpPr>
          <p:cNvPr id="3" name="TextBox 2">
            <a:extLst>
              <a:ext uri="{FF2B5EF4-FFF2-40B4-BE49-F238E27FC236}">
                <a16:creationId xmlns:a16="http://schemas.microsoft.com/office/drawing/2014/main" id="{A970E4A1-9FE2-43EE-948A-3D013C1894B6}"/>
              </a:ext>
            </a:extLst>
          </p:cNvPr>
          <p:cNvSpPr txBox="1"/>
          <p:nvPr/>
        </p:nvSpPr>
        <p:spPr>
          <a:xfrm>
            <a:off x="6047508" y="5193723"/>
            <a:ext cx="1607128" cy="923330"/>
          </a:xfrm>
          <a:prstGeom prst="rect">
            <a:avLst/>
          </a:prstGeom>
          <a:noFill/>
        </p:spPr>
        <p:txBody>
          <a:bodyPr wrap="square" rtlCol="0">
            <a:spAutoFit/>
          </a:bodyPr>
          <a:lstStyle/>
          <a:p>
            <a:pPr algn="ctr"/>
            <a:r>
              <a:rPr lang="en-US" dirty="0"/>
              <a:t>VT high rates and flat across ages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p:cNvPicPr preferRelativeResize="0"/>
          <p:nvPr/>
        </p:nvPicPr>
        <p:blipFill>
          <a:blip r:embed="rId3">
            <a:alphaModFix/>
          </a:blip>
          <a:stretch>
            <a:fillRect/>
          </a:stretch>
        </p:blipFill>
        <p:spPr>
          <a:xfrm>
            <a:off x="909125" y="857250"/>
            <a:ext cx="7325750" cy="5143500"/>
          </a:xfrm>
          <a:prstGeom prst="rect">
            <a:avLst/>
          </a:prstGeom>
          <a:noFill/>
          <a:ln>
            <a:noFill/>
          </a:ln>
        </p:spPr>
      </p:pic>
      <p:sp>
        <p:nvSpPr>
          <p:cNvPr id="2" name="TextBox 1">
            <a:extLst>
              <a:ext uri="{FF2B5EF4-FFF2-40B4-BE49-F238E27FC236}">
                <a16:creationId xmlns:a16="http://schemas.microsoft.com/office/drawing/2014/main" id="{F86692D1-1EDB-4779-9493-F17D403B210E}"/>
              </a:ext>
            </a:extLst>
          </p:cNvPr>
          <p:cNvSpPr txBox="1"/>
          <p:nvPr/>
        </p:nvSpPr>
        <p:spPr>
          <a:xfrm>
            <a:off x="44868" y="1314450"/>
            <a:ext cx="893619" cy="900246"/>
          </a:xfrm>
          <a:prstGeom prst="rect">
            <a:avLst/>
          </a:prstGeom>
          <a:noFill/>
        </p:spPr>
        <p:txBody>
          <a:bodyPr wrap="square" rtlCol="0">
            <a:spAutoFit/>
          </a:bodyPr>
          <a:lstStyle/>
          <a:p>
            <a:r>
              <a:rPr lang="en-US" sz="1050" dirty="0"/>
              <a:t>Combine zip codes to create one curve per state</a:t>
            </a:r>
          </a:p>
        </p:txBody>
      </p:sp>
      <p:sp>
        <p:nvSpPr>
          <p:cNvPr id="3" name="TextBox 2">
            <a:extLst>
              <a:ext uri="{FF2B5EF4-FFF2-40B4-BE49-F238E27FC236}">
                <a16:creationId xmlns:a16="http://schemas.microsoft.com/office/drawing/2014/main" id="{42CA1BFE-8EC5-409A-A76F-AC21C244F702}"/>
              </a:ext>
            </a:extLst>
          </p:cNvPr>
          <p:cNvSpPr txBox="1"/>
          <p:nvPr/>
        </p:nvSpPr>
        <p:spPr>
          <a:xfrm>
            <a:off x="1669473" y="2263488"/>
            <a:ext cx="2043546" cy="1200329"/>
          </a:xfrm>
          <a:prstGeom prst="rect">
            <a:avLst/>
          </a:prstGeom>
          <a:noFill/>
        </p:spPr>
        <p:txBody>
          <a:bodyPr wrap="square" rtlCol="0">
            <a:spAutoFit/>
          </a:bodyPr>
          <a:lstStyle/>
          <a:p>
            <a:r>
              <a:rPr lang="en-US" dirty="0"/>
              <a:t>VT very, very high health insurance rates for young people</a:t>
            </a:r>
          </a:p>
        </p:txBody>
      </p:sp>
      <p:sp>
        <p:nvSpPr>
          <p:cNvPr id="5" name="TextBox 4">
            <a:extLst>
              <a:ext uri="{FF2B5EF4-FFF2-40B4-BE49-F238E27FC236}">
                <a16:creationId xmlns:a16="http://schemas.microsoft.com/office/drawing/2014/main" id="{E51F3FB0-862E-4E0A-A25A-11BE23498F9C}"/>
              </a:ext>
            </a:extLst>
          </p:cNvPr>
          <p:cNvSpPr txBox="1"/>
          <p:nvPr/>
        </p:nvSpPr>
        <p:spPr>
          <a:xfrm>
            <a:off x="7474528" y="2925951"/>
            <a:ext cx="1669473" cy="923330"/>
          </a:xfrm>
          <a:prstGeom prst="rect">
            <a:avLst/>
          </a:prstGeom>
          <a:noFill/>
        </p:spPr>
        <p:txBody>
          <a:bodyPr wrap="square" rtlCol="0">
            <a:spAutoFit/>
          </a:bodyPr>
          <a:lstStyle/>
          <a:p>
            <a:r>
              <a:rPr lang="en-US" dirty="0"/>
              <a:t>VT high health insurance rates for old people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p:cNvPicPr preferRelativeResize="0"/>
          <p:nvPr/>
        </p:nvPicPr>
        <p:blipFill>
          <a:blip r:embed="rId3">
            <a:alphaModFix/>
          </a:blip>
          <a:stretch>
            <a:fillRect/>
          </a:stretch>
        </p:blipFill>
        <p:spPr>
          <a:xfrm>
            <a:off x="909125" y="857250"/>
            <a:ext cx="7325750" cy="5143500"/>
          </a:xfrm>
          <a:prstGeom prst="rect">
            <a:avLst/>
          </a:prstGeom>
          <a:noFill/>
          <a:ln>
            <a:noFill/>
          </a:ln>
        </p:spPr>
      </p:pic>
      <p:sp>
        <p:nvSpPr>
          <p:cNvPr id="2" name="TextBox 1">
            <a:extLst>
              <a:ext uri="{FF2B5EF4-FFF2-40B4-BE49-F238E27FC236}">
                <a16:creationId xmlns:a16="http://schemas.microsoft.com/office/drawing/2014/main" id="{94EB77E8-8D68-4B26-A8D4-D072C5731FB2}"/>
              </a:ext>
            </a:extLst>
          </p:cNvPr>
          <p:cNvSpPr txBox="1"/>
          <p:nvPr/>
        </p:nvSpPr>
        <p:spPr>
          <a:xfrm>
            <a:off x="2029034" y="5075504"/>
            <a:ext cx="292068" cy="215444"/>
          </a:xfrm>
          <a:prstGeom prst="rect">
            <a:avLst/>
          </a:prstGeom>
          <a:noFill/>
        </p:spPr>
        <p:txBody>
          <a:bodyPr wrap="none" rtlCol="0">
            <a:spAutoFit/>
          </a:bodyPr>
          <a:lstStyle/>
          <a:p>
            <a:r>
              <a:rPr lang="en-US" sz="800" dirty="0">
                <a:solidFill>
                  <a:srgbClr val="00B050"/>
                </a:solidFill>
              </a:rPr>
              <a:t>VT</a:t>
            </a:r>
          </a:p>
        </p:txBody>
      </p:sp>
      <p:sp>
        <p:nvSpPr>
          <p:cNvPr id="4" name="TextBox 3">
            <a:extLst>
              <a:ext uri="{FF2B5EF4-FFF2-40B4-BE49-F238E27FC236}">
                <a16:creationId xmlns:a16="http://schemas.microsoft.com/office/drawing/2014/main" id="{C1521AB0-4EAA-491B-BA1A-334F08549761}"/>
              </a:ext>
            </a:extLst>
          </p:cNvPr>
          <p:cNvSpPr txBox="1"/>
          <p:nvPr/>
        </p:nvSpPr>
        <p:spPr>
          <a:xfrm>
            <a:off x="3336116" y="4987804"/>
            <a:ext cx="292068" cy="215444"/>
          </a:xfrm>
          <a:prstGeom prst="rect">
            <a:avLst/>
          </a:prstGeom>
          <a:noFill/>
        </p:spPr>
        <p:txBody>
          <a:bodyPr wrap="none" rtlCol="0">
            <a:spAutoFit/>
          </a:bodyPr>
          <a:lstStyle/>
          <a:p>
            <a:r>
              <a:rPr lang="en-US" sz="800" dirty="0">
                <a:solidFill>
                  <a:srgbClr val="00B050"/>
                </a:solidFill>
              </a:rPr>
              <a:t>VT</a:t>
            </a:r>
          </a:p>
        </p:txBody>
      </p:sp>
      <p:sp>
        <p:nvSpPr>
          <p:cNvPr id="5" name="TextBox 4">
            <a:extLst>
              <a:ext uri="{FF2B5EF4-FFF2-40B4-BE49-F238E27FC236}">
                <a16:creationId xmlns:a16="http://schemas.microsoft.com/office/drawing/2014/main" id="{DCE614FB-F4F9-4010-9944-B7A84D117ED7}"/>
              </a:ext>
            </a:extLst>
          </p:cNvPr>
          <p:cNvSpPr txBox="1"/>
          <p:nvPr/>
        </p:nvSpPr>
        <p:spPr>
          <a:xfrm>
            <a:off x="4630964" y="4880828"/>
            <a:ext cx="292068" cy="215444"/>
          </a:xfrm>
          <a:prstGeom prst="rect">
            <a:avLst/>
          </a:prstGeom>
          <a:noFill/>
        </p:spPr>
        <p:txBody>
          <a:bodyPr wrap="none" rtlCol="0">
            <a:spAutoFit/>
          </a:bodyPr>
          <a:lstStyle/>
          <a:p>
            <a:r>
              <a:rPr lang="en-US" sz="800" dirty="0">
                <a:solidFill>
                  <a:srgbClr val="00B050"/>
                </a:solidFill>
              </a:rPr>
              <a:t>VT</a:t>
            </a:r>
          </a:p>
        </p:txBody>
      </p:sp>
      <p:sp>
        <p:nvSpPr>
          <p:cNvPr id="6" name="TextBox 5">
            <a:extLst>
              <a:ext uri="{FF2B5EF4-FFF2-40B4-BE49-F238E27FC236}">
                <a16:creationId xmlns:a16="http://schemas.microsoft.com/office/drawing/2014/main" id="{8F0737DF-5260-4B3E-8DDF-B9E34D47CAB8}"/>
              </a:ext>
            </a:extLst>
          </p:cNvPr>
          <p:cNvSpPr txBox="1"/>
          <p:nvPr/>
        </p:nvSpPr>
        <p:spPr>
          <a:xfrm>
            <a:off x="5939160" y="4346879"/>
            <a:ext cx="292068" cy="215444"/>
          </a:xfrm>
          <a:prstGeom prst="rect">
            <a:avLst/>
          </a:prstGeom>
          <a:noFill/>
        </p:spPr>
        <p:txBody>
          <a:bodyPr wrap="none" rtlCol="0">
            <a:spAutoFit/>
          </a:bodyPr>
          <a:lstStyle/>
          <a:p>
            <a:r>
              <a:rPr lang="en-US" sz="800" dirty="0">
                <a:solidFill>
                  <a:srgbClr val="00B050"/>
                </a:solidFill>
              </a:rPr>
              <a:t>VT</a:t>
            </a:r>
          </a:p>
        </p:txBody>
      </p:sp>
      <p:sp>
        <p:nvSpPr>
          <p:cNvPr id="7" name="TextBox 6">
            <a:extLst>
              <a:ext uri="{FF2B5EF4-FFF2-40B4-BE49-F238E27FC236}">
                <a16:creationId xmlns:a16="http://schemas.microsoft.com/office/drawing/2014/main" id="{42DCA18A-1FF5-4BCA-A478-78F949D4C9B4}"/>
              </a:ext>
            </a:extLst>
          </p:cNvPr>
          <p:cNvSpPr txBox="1"/>
          <p:nvPr/>
        </p:nvSpPr>
        <p:spPr>
          <a:xfrm>
            <a:off x="7240698" y="3639372"/>
            <a:ext cx="292068" cy="215444"/>
          </a:xfrm>
          <a:prstGeom prst="rect">
            <a:avLst/>
          </a:prstGeom>
          <a:noFill/>
        </p:spPr>
        <p:txBody>
          <a:bodyPr wrap="none" rtlCol="0">
            <a:spAutoFit/>
          </a:bodyPr>
          <a:lstStyle/>
          <a:p>
            <a:r>
              <a:rPr lang="en-US" sz="800" dirty="0">
                <a:solidFill>
                  <a:srgbClr val="00B050"/>
                </a:solidFill>
              </a:rPr>
              <a:t>VT</a:t>
            </a:r>
          </a:p>
        </p:txBody>
      </p:sp>
      <p:cxnSp>
        <p:nvCxnSpPr>
          <p:cNvPr id="8" name="Straight Connector 7">
            <a:extLst>
              <a:ext uri="{FF2B5EF4-FFF2-40B4-BE49-F238E27FC236}">
                <a16:creationId xmlns:a16="http://schemas.microsoft.com/office/drawing/2014/main" id="{01E70A75-398C-4E5B-9738-B51175F6BEBE}"/>
              </a:ext>
            </a:extLst>
          </p:cNvPr>
          <p:cNvCxnSpPr>
            <a:endCxn id="4" idx="1"/>
          </p:cNvCxnSpPr>
          <p:nvPr/>
        </p:nvCxnSpPr>
        <p:spPr>
          <a:xfrm flipV="1">
            <a:off x="2345146" y="5095526"/>
            <a:ext cx="990970" cy="10772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4B320FD-B5EA-48D2-A441-74C8D3C12A8F}"/>
              </a:ext>
            </a:extLst>
          </p:cNvPr>
          <p:cNvCxnSpPr>
            <a:cxnSpLocks/>
            <a:stCxn id="4" idx="3"/>
            <a:endCxn id="5" idx="1"/>
          </p:cNvCxnSpPr>
          <p:nvPr/>
        </p:nvCxnSpPr>
        <p:spPr>
          <a:xfrm flipV="1">
            <a:off x="3628184" y="4988550"/>
            <a:ext cx="1002780" cy="10697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6F33BE1-722A-410D-95A2-1E8CE5AF8985}"/>
              </a:ext>
            </a:extLst>
          </p:cNvPr>
          <p:cNvCxnSpPr>
            <a:cxnSpLocks/>
          </p:cNvCxnSpPr>
          <p:nvPr/>
        </p:nvCxnSpPr>
        <p:spPr>
          <a:xfrm flipV="1">
            <a:off x="6268621" y="3854817"/>
            <a:ext cx="921889" cy="492063"/>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A5F611B-2DE7-45B0-B367-8346E0C73984}"/>
              </a:ext>
            </a:extLst>
          </p:cNvPr>
          <p:cNvCxnSpPr>
            <a:cxnSpLocks/>
          </p:cNvCxnSpPr>
          <p:nvPr/>
        </p:nvCxnSpPr>
        <p:spPr>
          <a:xfrm flipV="1">
            <a:off x="4947076" y="4507923"/>
            <a:ext cx="978736" cy="41832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841C4DB-48C5-4EA4-AB90-9437D921FA68}"/>
              </a:ext>
            </a:extLst>
          </p:cNvPr>
          <p:cNvSpPr txBox="1"/>
          <p:nvPr/>
        </p:nvSpPr>
        <p:spPr>
          <a:xfrm>
            <a:off x="351943" y="4926249"/>
            <a:ext cx="1770678" cy="553998"/>
          </a:xfrm>
          <a:prstGeom prst="rect">
            <a:avLst/>
          </a:prstGeom>
          <a:noFill/>
        </p:spPr>
        <p:txBody>
          <a:bodyPr wrap="square" rtlCol="0">
            <a:spAutoFit/>
          </a:bodyPr>
          <a:lstStyle/>
          <a:p>
            <a:r>
              <a:rPr lang="en-US" sz="1000" dirty="0">
                <a:solidFill>
                  <a:srgbClr val="00B050"/>
                </a:solidFill>
              </a:rPr>
              <a:t>What insurance rates could look like that would attract young people to VT</a:t>
            </a:r>
          </a:p>
        </p:txBody>
      </p:sp>
      <p:sp>
        <p:nvSpPr>
          <p:cNvPr id="27" name="TextBox 26">
            <a:extLst>
              <a:ext uri="{FF2B5EF4-FFF2-40B4-BE49-F238E27FC236}">
                <a16:creationId xmlns:a16="http://schemas.microsoft.com/office/drawing/2014/main" id="{88CB7C04-DEDD-4D41-BC89-26E7BBDF4913}"/>
              </a:ext>
            </a:extLst>
          </p:cNvPr>
          <p:cNvSpPr txBox="1"/>
          <p:nvPr/>
        </p:nvSpPr>
        <p:spPr>
          <a:xfrm>
            <a:off x="820295" y="2998114"/>
            <a:ext cx="1302327" cy="430887"/>
          </a:xfrm>
          <a:prstGeom prst="rect">
            <a:avLst/>
          </a:prstGeom>
          <a:noFill/>
        </p:spPr>
        <p:txBody>
          <a:bodyPr wrap="square" rtlCol="0">
            <a:spAutoFit/>
          </a:bodyPr>
          <a:lstStyle/>
          <a:p>
            <a:r>
              <a:rPr lang="en-US" sz="1100" dirty="0">
                <a:solidFill>
                  <a:srgbClr val="FF0000"/>
                </a:solidFill>
              </a:rPr>
              <a:t>Current VT insurance rates</a:t>
            </a:r>
          </a:p>
        </p:txBody>
      </p:sp>
    </p:spTree>
    <p:extLst>
      <p:ext uri="{BB962C8B-B14F-4D97-AF65-F5344CB8AC3E}">
        <p14:creationId xmlns:p14="http://schemas.microsoft.com/office/powerpoint/2010/main" val="3879449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7"/>
          <p:cNvPicPr preferRelativeResize="0"/>
          <p:nvPr/>
        </p:nvPicPr>
        <p:blipFill>
          <a:blip r:embed="rId3">
            <a:alphaModFix/>
          </a:blip>
          <a:stretch>
            <a:fillRect/>
          </a:stretch>
        </p:blipFill>
        <p:spPr>
          <a:xfrm>
            <a:off x="945376" y="857250"/>
            <a:ext cx="7253249" cy="5143500"/>
          </a:xfrm>
          <a:prstGeom prst="rect">
            <a:avLst/>
          </a:prstGeom>
          <a:noFill/>
          <a:ln>
            <a:noFill/>
          </a:ln>
        </p:spPr>
      </p:pic>
      <p:sp>
        <p:nvSpPr>
          <p:cNvPr id="2" name="TextBox 1">
            <a:extLst>
              <a:ext uri="{FF2B5EF4-FFF2-40B4-BE49-F238E27FC236}">
                <a16:creationId xmlns:a16="http://schemas.microsoft.com/office/drawing/2014/main" id="{898860DF-860C-48CB-8B0E-D289594BE7FC}"/>
              </a:ext>
            </a:extLst>
          </p:cNvPr>
          <p:cNvSpPr txBox="1"/>
          <p:nvPr/>
        </p:nvSpPr>
        <p:spPr>
          <a:xfrm>
            <a:off x="221674" y="1106632"/>
            <a:ext cx="928255" cy="923330"/>
          </a:xfrm>
          <a:prstGeom prst="rect">
            <a:avLst/>
          </a:prstGeom>
          <a:noFill/>
        </p:spPr>
        <p:txBody>
          <a:bodyPr wrap="square" rtlCol="0">
            <a:spAutoFit/>
          </a:bodyPr>
          <a:lstStyle/>
          <a:p>
            <a:r>
              <a:rPr lang="en-US" dirty="0"/>
              <a:t>All 208 zip codes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20"/>
          <p:cNvPicPr preferRelativeResize="0"/>
          <p:nvPr/>
        </p:nvPicPr>
        <p:blipFill rotWithShape="1">
          <a:blip r:embed="rId3">
            <a:alphaModFix/>
          </a:blip>
          <a:srcRect t="1584"/>
          <a:stretch/>
        </p:blipFill>
        <p:spPr>
          <a:xfrm>
            <a:off x="394275" y="1009650"/>
            <a:ext cx="8355465" cy="4991100"/>
          </a:xfrm>
          <a:prstGeom prst="rect">
            <a:avLst/>
          </a:prstGeom>
          <a:noFill/>
          <a:ln>
            <a:noFill/>
          </a:ln>
        </p:spPr>
      </p:pic>
      <p:sp>
        <p:nvSpPr>
          <p:cNvPr id="90" name="Google Shape;90;p20"/>
          <p:cNvSpPr txBox="1"/>
          <p:nvPr/>
        </p:nvSpPr>
        <p:spPr>
          <a:xfrm>
            <a:off x="0" y="2721537"/>
            <a:ext cx="832500" cy="1262100"/>
          </a:xfrm>
          <a:prstGeom prst="rect">
            <a:avLst/>
          </a:prstGeom>
          <a:solidFill>
            <a:schemeClr val="lt1"/>
          </a:solidFill>
          <a:ln>
            <a:noFill/>
          </a:ln>
        </p:spPr>
        <p:txBody>
          <a:bodyPr spcFirstLastPara="1" wrap="square" lIns="91425" tIns="91425" rIns="91425" bIns="91425" anchor="t" anchorCtr="0">
            <a:spAutoFit/>
          </a:bodyPr>
          <a:lstStyle/>
          <a:p>
            <a:pPr algn="r"/>
            <a:r>
              <a:rPr lang="en" sz="1000">
                <a:solidFill>
                  <a:schemeClr val="dk2"/>
                </a:solidFill>
              </a:rPr>
              <a:t>Average price, weighted by prop of age group, for each zipcode</a:t>
            </a:r>
            <a:endParaRPr sz="1000">
              <a:solidFill>
                <a:schemeClr val="dk2"/>
              </a:solidFill>
            </a:endParaRPr>
          </a:p>
        </p:txBody>
      </p:sp>
      <p:sp>
        <p:nvSpPr>
          <p:cNvPr id="2" name="TextBox 1">
            <a:extLst>
              <a:ext uri="{FF2B5EF4-FFF2-40B4-BE49-F238E27FC236}">
                <a16:creationId xmlns:a16="http://schemas.microsoft.com/office/drawing/2014/main" id="{9CDE569C-94CB-43D9-B378-72C4B5ACA1D2}"/>
              </a:ext>
            </a:extLst>
          </p:cNvPr>
          <p:cNvSpPr txBox="1"/>
          <p:nvPr/>
        </p:nvSpPr>
        <p:spPr>
          <a:xfrm>
            <a:off x="124690" y="1397001"/>
            <a:ext cx="7329057" cy="646331"/>
          </a:xfrm>
          <a:prstGeom prst="rect">
            <a:avLst/>
          </a:prstGeom>
          <a:noFill/>
        </p:spPr>
        <p:txBody>
          <a:bodyPr wrap="square" rtlCol="0">
            <a:spAutoFit/>
          </a:bodyPr>
          <a:lstStyle/>
          <a:p>
            <a:r>
              <a:rPr lang="en-US" dirty="0"/>
              <a:t>208 zip codes normalized for % of population of each age- VT health insurance still some of the most expensive in the nation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3008100"/>
            <a:ext cx="8520600" cy="841800"/>
          </a:xfrm>
          <a:prstGeom prst="rect">
            <a:avLst/>
          </a:prstGeom>
        </p:spPr>
        <p:txBody>
          <a:bodyPr spcFirstLastPara="1" vert="horz" wrap="square" lIns="91425" tIns="91425" rIns="91425" bIns="91425" rtlCol="0" anchor="ctr" anchorCtr="0">
            <a:normAutofit fontScale="90000"/>
          </a:bodyPr>
          <a:lstStyle/>
          <a:p>
            <a:r>
              <a:rPr lang="en"/>
              <a:t>Vermont population vs other states</a:t>
            </a:r>
            <a:endParaRPr/>
          </a:p>
          <a:p>
            <a:r>
              <a:rPr lang="en" sz="2650"/>
              <a:t>Source: 2020 Decennial Census - Statewide data</a:t>
            </a:r>
            <a:endParaRPr sz="2650"/>
          </a:p>
        </p:txBody>
      </p:sp>
      <p:sp>
        <p:nvSpPr>
          <p:cNvPr id="3" name="TextBox 2">
            <a:extLst>
              <a:ext uri="{FF2B5EF4-FFF2-40B4-BE49-F238E27FC236}">
                <a16:creationId xmlns:a16="http://schemas.microsoft.com/office/drawing/2014/main" id="{23797600-92F9-4940-A57B-645C777791FB}"/>
              </a:ext>
            </a:extLst>
          </p:cNvPr>
          <p:cNvSpPr txBox="1"/>
          <p:nvPr/>
        </p:nvSpPr>
        <p:spPr>
          <a:xfrm>
            <a:off x="626532" y="965201"/>
            <a:ext cx="7501467" cy="830997"/>
          </a:xfrm>
          <a:prstGeom prst="rect">
            <a:avLst/>
          </a:prstGeom>
          <a:noFill/>
        </p:spPr>
        <p:txBody>
          <a:bodyPr wrap="square" rtlCol="0">
            <a:spAutoFit/>
          </a:bodyPr>
          <a:lstStyle/>
          <a:p>
            <a:r>
              <a:rPr lang="en-US" sz="2400" dirty="0">
                <a:solidFill>
                  <a:srgbClr val="FF0000"/>
                </a:solidFill>
              </a:rPr>
              <a:t>Population demographics in Vermont are abnormal- lots of older folks, very few young folks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105863" y="857250"/>
            <a:ext cx="6932276"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105863" y="857250"/>
            <a:ext cx="6932276" cy="5143500"/>
          </a:xfrm>
          <a:prstGeom prst="rect">
            <a:avLst/>
          </a:prstGeom>
          <a:noFill/>
          <a:ln>
            <a:noFill/>
          </a:ln>
        </p:spPr>
      </p:pic>
      <p:cxnSp>
        <p:nvCxnSpPr>
          <p:cNvPr id="3" name="Straight Arrow Connector 2">
            <a:extLst>
              <a:ext uri="{FF2B5EF4-FFF2-40B4-BE49-F238E27FC236}">
                <a16:creationId xmlns:a16="http://schemas.microsoft.com/office/drawing/2014/main" id="{E6CBE5CF-0999-43FB-AF8D-A1779B8314C6}"/>
              </a:ext>
            </a:extLst>
          </p:cNvPr>
          <p:cNvCxnSpPr/>
          <p:nvPr/>
        </p:nvCxnSpPr>
        <p:spPr>
          <a:xfrm flipV="1">
            <a:off x="3061855" y="3087833"/>
            <a:ext cx="0" cy="1939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C73634F-B9EF-437B-822A-589D69CDA960}"/>
              </a:ext>
            </a:extLst>
          </p:cNvPr>
          <p:cNvCxnSpPr>
            <a:cxnSpLocks/>
          </p:cNvCxnSpPr>
          <p:nvPr/>
        </p:nvCxnSpPr>
        <p:spPr>
          <a:xfrm>
            <a:off x="5444837" y="3053197"/>
            <a:ext cx="0" cy="2285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577755-7351-4C7E-9573-58B552EE62B0}"/>
              </a:ext>
            </a:extLst>
          </p:cNvPr>
          <p:cNvSpPr txBox="1"/>
          <p:nvPr/>
        </p:nvSpPr>
        <p:spPr>
          <a:xfrm>
            <a:off x="3061856" y="4118052"/>
            <a:ext cx="2687779" cy="923330"/>
          </a:xfrm>
          <a:prstGeom prst="rect">
            <a:avLst/>
          </a:prstGeom>
          <a:noFill/>
        </p:spPr>
        <p:txBody>
          <a:bodyPr wrap="square" rtlCol="0">
            <a:spAutoFit/>
          </a:bodyPr>
          <a:lstStyle/>
          <a:p>
            <a:pPr algn="ctr"/>
            <a:r>
              <a:rPr lang="en-US" dirty="0"/>
              <a:t>VT needs more young people and fewer older people</a:t>
            </a:r>
          </a:p>
        </p:txBody>
      </p:sp>
    </p:spTree>
    <p:extLst>
      <p:ext uri="{BB962C8B-B14F-4D97-AF65-F5344CB8AC3E}">
        <p14:creationId xmlns:p14="http://schemas.microsoft.com/office/powerpoint/2010/main" val="28467235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099E7FDF9CF140AD60E153A6C4B42B" ma:contentTypeVersion="13" ma:contentTypeDescription="Create a new document." ma:contentTypeScope="" ma:versionID="ec5d422e3ec4d7ff1299284bbc48ae85">
  <xsd:schema xmlns:xsd="http://www.w3.org/2001/XMLSchema" xmlns:xs="http://www.w3.org/2001/XMLSchema" xmlns:p="http://schemas.microsoft.com/office/2006/metadata/properties" xmlns:ns2="c89e416c-4c29-47f7-9a79-f2bb4fe9a69b" xmlns:ns3="9e753d32-3d0e-4b0c-ba17-17810b6b2dee" targetNamespace="http://schemas.microsoft.com/office/2006/metadata/properties" ma:root="true" ma:fieldsID="4f12c25262964174e22d8543b5737c91" ns2:_="" ns3:_="">
    <xsd:import namespace="c89e416c-4c29-47f7-9a79-f2bb4fe9a69b"/>
    <xsd:import namespace="9e753d32-3d0e-4b0c-ba17-17810b6b2dee"/>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LengthInSeconds" minOccurs="0"/>
                <xsd:element ref="ns3:MediaServiceSearchProperties" minOccurs="0"/>
                <xsd:element ref="ns3:MediaServiceObjectDetectorVersions" minOccurs="0"/>
                <xsd:element ref="ns3:MediaServiceGenerationTime" minOccurs="0"/>
                <xsd:element ref="ns3:MediaServiceEventHashCode"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e416c-4c29-47f7-9a79-f2bb4fe9a69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1" nillable="true" ma:displayName="Taxonomy Catch All Column" ma:hidden="true" ma:list="{e894a1d2-6f5b-41bc-b314-476ab9b1f8d6}" ma:internalName="TaxCatchAll" ma:showField="CatchAllData" ma:web="c89e416c-4c29-47f7-9a79-f2bb4fe9a6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e753d32-3d0e-4b0c-ba17-17810b6b2de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b405ef0-1b2e-414d-886f-c62305e76806"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9e753d32-3d0e-4b0c-ba17-17810b6b2dee">
      <Terms xmlns="http://schemas.microsoft.com/office/infopath/2007/PartnerControls"/>
    </lcf76f155ced4ddcb4097134ff3c332f>
    <TaxCatchAll xmlns="c89e416c-4c29-47f7-9a79-f2bb4fe9a69b" xsi:nil="true"/>
    <_dlc_DocId xmlns="c89e416c-4c29-47f7-9a79-f2bb4fe9a69b">73WRFNMZF6N2-353167544-4637</_dlc_DocId>
    <_dlc_DocIdUrl xmlns="c89e416c-4c29-47f7-9a79-f2bb4fe9a69b">
      <Url>https://vermontgov.sharepoint.com/teams/AHS-COHealthCareReformTeam/_layouts/15/DocIdRedir.aspx?ID=73WRFNMZF6N2-353167544-4637</Url>
      <Description>73WRFNMZF6N2-353167544-4637</Description>
    </_dlc_DocIdUrl>
  </documentManagement>
</p:properties>
</file>

<file path=customXml/itemProps1.xml><?xml version="1.0" encoding="utf-8"?>
<ds:datastoreItem xmlns:ds="http://schemas.openxmlformats.org/officeDocument/2006/customXml" ds:itemID="{3870FE7C-9FEF-4AB5-886E-61EF0991B022}"/>
</file>

<file path=customXml/itemProps2.xml><?xml version="1.0" encoding="utf-8"?>
<ds:datastoreItem xmlns:ds="http://schemas.openxmlformats.org/officeDocument/2006/customXml" ds:itemID="{14EBA041-A2AC-4584-B8B1-0DB6E3D43272}"/>
</file>

<file path=customXml/itemProps3.xml><?xml version="1.0" encoding="utf-8"?>
<ds:datastoreItem xmlns:ds="http://schemas.openxmlformats.org/officeDocument/2006/customXml" ds:itemID="{D61E1CB7-D4BC-4B43-AB81-7A616A812E2E}"/>
</file>

<file path=customXml/itemProps4.xml><?xml version="1.0" encoding="utf-8"?>
<ds:datastoreItem xmlns:ds="http://schemas.openxmlformats.org/officeDocument/2006/customXml" ds:itemID="{7A85B97D-C94C-4592-990F-D25E235FC257}"/>
</file>

<file path=docProps/app.xml><?xml version="1.0" encoding="utf-8"?>
<Properties xmlns="http://schemas.openxmlformats.org/officeDocument/2006/extended-properties" xmlns:vt="http://schemas.openxmlformats.org/officeDocument/2006/docPropsVTypes">
  <Template>Office Theme</Template>
  <TotalTime>373</TotalTime>
  <Words>1012</Words>
  <Application>Microsoft Office PowerPoint</Application>
  <PresentationFormat>On-screen Show (4:3)</PresentationFormat>
  <Paragraphs>150</Paragraphs>
  <Slides>28</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Average</vt:lpstr>
      <vt:lpstr>Calibri</vt:lpstr>
      <vt:lpstr>Calibri Light</vt:lpstr>
      <vt:lpstr>Verdana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does super low Medicare payment cause super high Commercial payment?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Preliminary insurance data viz  Sources: 2020 Decennial Census - citywide data KFF insurance estimator </vt:lpstr>
      <vt:lpstr>PowerPoint Presentation</vt:lpstr>
      <vt:lpstr>PowerPoint Presentation</vt:lpstr>
      <vt:lpstr>PowerPoint Presentation</vt:lpstr>
      <vt:lpstr>PowerPoint Presentation</vt:lpstr>
      <vt:lpstr>PowerPoint Presentation</vt:lpstr>
      <vt:lpstr>Vermont population vs other states Source: 2020 Decennial Census - Statewide data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Trimarchi, James</dc:creator>
  <cp:lastModifiedBy>Trimarchi, James</cp:lastModifiedBy>
  <cp:revision>20</cp:revision>
  <dcterms:created xsi:type="dcterms:W3CDTF">2025-12-08T18:40:48Z</dcterms:created>
  <dcterms:modified xsi:type="dcterms:W3CDTF">2026-01-01T19:28:46Z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0x0101009A099E7FDF9CF140AD60E153A6C4B42B</vt:lpwstr>
  </property>
  <property fmtid="{D5CDD505-2E9C-101B-9397-08002B2CF9AE}" pid="3" name="_dlc_DocIdItemGuid">
    <vt:lpwstr>a83a1350-ce6b-4ff6-afbc-215297412cc2</vt:lpwstr>
  </property>
</Properties>
</file>